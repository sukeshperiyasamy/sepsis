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Poppins Semi-Bold" charset="1" panose="00000700000000000000"/>
      <p:regular r:id="rId22"/>
    </p:embeddedFont>
    <p:embeddedFont>
      <p:font typeface="Canva Sans" charset="1" panose="020B0503030501040103"/>
      <p:regular r:id="rId23"/>
    </p:embeddedFont>
    <p:embeddedFont>
      <p:font typeface="Canva Sans Bold" charset="1" panose="020B0803030501040103"/>
      <p:regular r:id="rId24"/>
    </p:embeddedFont>
    <p:embeddedFont>
      <p:font typeface="Poppins Medium" charset="1" panose="000006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58600" y="-256127"/>
            <a:ext cx="8916790" cy="10799254"/>
            <a:chOff x="0" y="0"/>
            <a:chExt cx="777062" cy="941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7062" cy="941111"/>
            </a:xfrm>
            <a:custGeom>
              <a:avLst/>
              <a:gdLst/>
              <a:ahLst/>
              <a:cxnLst/>
              <a:rect r="r" b="b" t="t" l="l"/>
              <a:pathLst>
                <a:path h="941111" w="777062">
                  <a:moveTo>
                    <a:pt x="0" y="0"/>
                  </a:moveTo>
                  <a:lnTo>
                    <a:pt x="573862" y="0"/>
                  </a:lnTo>
                  <a:lnTo>
                    <a:pt x="777062" y="470556"/>
                  </a:lnTo>
                  <a:lnTo>
                    <a:pt x="573862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322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05138" y="3411922"/>
            <a:ext cx="2513340" cy="3463157"/>
            <a:chOff x="0" y="0"/>
            <a:chExt cx="682999" cy="941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999" cy="941111"/>
            </a:xfrm>
            <a:custGeom>
              <a:avLst/>
              <a:gdLst/>
              <a:ahLst/>
              <a:cxnLst/>
              <a:rect r="r" b="b" t="t" l="l"/>
              <a:pathLst>
                <a:path h="941111" w="682999">
                  <a:moveTo>
                    <a:pt x="0" y="0"/>
                  </a:moveTo>
                  <a:lnTo>
                    <a:pt x="479799" y="0"/>
                  </a:lnTo>
                  <a:lnTo>
                    <a:pt x="682999" y="470556"/>
                  </a:lnTo>
                  <a:lnTo>
                    <a:pt x="479799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7AA8">
                <a:alpha val="6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38100"/>
              <a:ext cx="428999" cy="979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68630" y="3411922"/>
            <a:ext cx="2513340" cy="3463157"/>
            <a:chOff x="0" y="0"/>
            <a:chExt cx="682999" cy="941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999" cy="941111"/>
            </a:xfrm>
            <a:custGeom>
              <a:avLst/>
              <a:gdLst/>
              <a:ahLst/>
              <a:cxnLst/>
              <a:rect r="r" b="b" t="t" l="l"/>
              <a:pathLst>
                <a:path h="941111" w="682999">
                  <a:moveTo>
                    <a:pt x="0" y="0"/>
                  </a:moveTo>
                  <a:lnTo>
                    <a:pt x="479799" y="0"/>
                  </a:lnTo>
                  <a:lnTo>
                    <a:pt x="682999" y="470556"/>
                  </a:lnTo>
                  <a:lnTo>
                    <a:pt x="479799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AA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428999" cy="979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1037589" y="4886269"/>
            <a:ext cx="514462" cy="514462"/>
            <a:chOff x="0" y="0"/>
            <a:chExt cx="135496" cy="1354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496" cy="135496"/>
            </a:xfrm>
            <a:custGeom>
              <a:avLst/>
              <a:gdLst/>
              <a:ahLst/>
              <a:cxnLst/>
              <a:rect r="r" b="b" t="t" l="l"/>
              <a:pathLst>
                <a:path h="135496" w="135496">
                  <a:moveTo>
                    <a:pt x="0" y="0"/>
                  </a:moveTo>
                  <a:lnTo>
                    <a:pt x="135496" y="0"/>
                  </a:lnTo>
                  <a:lnTo>
                    <a:pt x="135496" y="135496"/>
                  </a:lnTo>
                  <a:lnTo>
                    <a:pt x="0" y="135496"/>
                  </a:lnTo>
                  <a:close/>
                </a:path>
              </a:pathLst>
            </a:custGeom>
            <a:solidFill>
              <a:srgbClr val="F8BB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5496" cy="17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257231" y="106549"/>
            <a:ext cx="514462" cy="514462"/>
            <a:chOff x="0" y="0"/>
            <a:chExt cx="135496" cy="135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496" cy="135496"/>
            </a:xfrm>
            <a:custGeom>
              <a:avLst/>
              <a:gdLst/>
              <a:ahLst/>
              <a:cxnLst/>
              <a:rect r="r" b="b" t="t" l="l"/>
              <a:pathLst>
                <a:path h="135496" w="135496">
                  <a:moveTo>
                    <a:pt x="0" y="0"/>
                  </a:moveTo>
                  <a:lnTo>
                    <a:pt x="135496" y="0"/>
                  </a:lnTo>
                  <a:lnTo>
                    <a:pt x="135496" y="135496"/>
                  </a:lnTo>
                  <a:lnTo>
                    <a:pt x="0" y="135496"/>
                  </a:lnTo>
                  <a:close/>
                </a:path>
              </a:pathLst>
            </a:custGeom>
            <a:solidFill>
              <a:srgbClr val="F8BB8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5496" cy="17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3909646"/>
            <a:ext cx="10931040" cy="255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6"/>
              </a:lnSpc>
            </a:pPr>
            <a:r>
              <a:rPr lang="en-US" sz="6704" spc="-160" b="true">
                <a:solidFill>
                  <a:srgbClr val="737AA8"/>
                </a:solidFill>
                <a:latin typeface="Poppins Bold"/>
                <a:ea typeface="Poppins Bold"/>
                <a:cs typeface="Poppins Bold"/>
                <a:sym typeface="Poppins Bold"/>
              </a:rPr>
              <a:t>SERS-Based Nanobiosensor Workflow for Sepsis Diagnostics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678" y="711901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584026" y="-256127"/>
            <a:ext cx="9326880" cy="10799254"/>
            <a:chOff x="0" y="0"/>
            <a:chExt cx="812800" cy="9411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941111"/>
            </a:xfrm>
            <a:custGeom>
              <a:avLst/>
              <a:gdLst/>
              <a:ahLst/>
              <a:cxnLst/>
              <a:rect r="r" b="b" t="t" l="l"/>
              <a:pathLst>
                <a:path h="941111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470556"/>
                  </a:lnTo>
                  <a:lnTo>
                    <a:pt x="609600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7AA8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77800" y="-38100"/>
              <a:ext cx="558800" cy="979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0293" y="1466858"/>
            <a:ext cx="3434003" cy="7353284"/>
            <a:chOff x="0" y="0"/>
            <a:chExt cx="4578671" cy="980437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326766" cy="9804378"/>
              <a:chOff x="0" y="0"/>
              <a:chExt cx="415321" cy="94111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15321" cy="941111"/>
              </a:xfrm>
              <a:custGeom>
                <a:avLst/>
                <a:gdLst/>
                <a:ahLst/>
                <a:cxnLst/>
                <a:rect r="r" b="b" t="t" l="l"/>
                <a:pathLst>
                  <a:path h="941111" w="415321">
                    <a:moveTo>
                      <a:pt x="0" y="0"/>
                    </a:moveTo>
                    <a:lnTo>
                      <a:pt x="212121" y="0"/>
                    </a:lnTo>
                    <a:lnTo>
                      <a:pt x="415321" y="470556"/>
                    </a:lnTo>
                    <a:lnTo>
                      <a:pt x="212121" y="941111"/>
                    </a:lnTo>
                    <a:lnTo>
                      <a:pt x="0" y="941111"/>
                    </a:lnTo>
                    <a:lnTo>
                      <a:pt x="203200" y="4705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737AA8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77800" y="-38100"/>
                <a:ext cx="161321" cy="9792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2700000">
              <a:off x="3802931" y="4580867"/>
              <a:ext cx="642644" cy="642644"/>
              <a:chOff x="0" y="0"/>
              <a:chExt cx="135496" cy="13549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5496" cy="135496"/>
              </a:xfrm>
              <a:custGeom>
                <a:avLst/>
                <a:gdLst/>
                <a:ahLst/>
                <a:cxnLst/>
                <a:rect r="r" b="b" t="t" l="l"/>
                <a:pathLst>
                  <a:path h="135496" w="135496">
                    <a:moveTo>
                      <a:pt x="0" y="0"/>
                    </a:moveTo>
                    <a:lnTo>
                      <a:pt x="135496" y="0"/>
                    </a:lnTo>
                    <a:lnTo>
                      <a:pt x="135496" y="135496"/>
                    </a:lnTo>
                    <a:lnTo>
                      <a:pt x="0" y="135496"/>
                    </a:lnTo>
                    <a:close/>
                  </a:path>
                </a:pathLst>
              </a:custGeom>
              <a:solidFill>
                <a:srgbClr val="F8BB8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35496" cy="1735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4905393" y="1169696"/>
            <a:ext cx="11593948" cy="340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7"/>
              </a:lnSpc>
            </a:pPr>
            <a:r>
              <a:rPr lang="en-US" sz="2805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Approximately 49 million sepsis cases globally (2020) with ~11 million deaths.</a:t>
            </a:r>
          </a:p>
          <a:p>
            <a:pPr algn="just">
              <a:lnSpc>
                <a:spcPts val="3927"/>
              </a:lnSpc>
            </a:pPr>
            <a:r>
              <a:rPr lang="en-US" sz="2805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Early detection and treatment are critical; delays increase mortality.</a:t>
            </a:r>
          </a:p>
          <a:p>
            <a:pPr algn="just">
              <a:lnSpc>
                <a:spcPts val="3927"/>
              </a:lnSpc>
            </a:pPr>
            <a:r>
              <a:rPr lang="en-US" sz="2805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Sepsis is a major contributor to hospital fatalities and ICU burden.</a:t>
            </a:r>
          </a:p>
          <a:p>
            <a:pPr algn="just">
              <a:lnSpc>
                <a:spcPts val="392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-1090132">
            <a:off x="14546681" y="-1235514"/>
            <a:ext cx="3905319" cy="4114800"/>
          </a:xfrm>
          <a:custGeom>
            <a:avLst/>
            <a:gdLst/>
            <a:ahLst/>
            <a:cxnLst/>
            <a:rect r="r" b="b" t="t" l="l"/>
            <a:pathLst>
              <a:path h="4114800" w="3905319">
                <a:moveTo>
                  <a:pt x="0" y="0"/>
                </a:moveTo>
                <a:lnTo>
                  <a:pt x="3905320" y="0"/>
                </a:lnTo>
                <a:lnTo>
                  <a:pt x="3905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778246" y="4434962"/>
            <a:ext cx="9815289" cy="5852038"/>
          </a:xfrm>
          <a:custGeom>
            <a:avLst/>
            <a:gdLst/>
            <a:ahLst/>
            <a:cxnLst/>
            <a:rect r="r" b="b" t="t" l="l"/>
            <a:pathLst>
              <a:path h="5852038" w="9815289">
                <a:moveTo>
                  <a:pt x="0" y="0"/>
                </a:moveTo>
                <a:lnTo>
                  <a:pt x="9815289" y="0"/>
                </a:lnTo>
                <a:lnTo>
                  <a:pt x="9815289" y="5852038"/>
                </a:lnTo>
                <a:lnTo>
                  <a:pt x="0" y="58520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2303" r="0" b="-565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80080" y="237363"/>
            <a:ext cx="8279104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Clinical Urgency of 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ep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04448" y="4755363"/>
            <a:ext cx="6933365" cy="1276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4"/>
              </a:lnSpc>
            </a:pPr>
            <a:r>
              <a:rPr lang="en-US" sz="4019" spc="-56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Limitations of Current Diagno</a:t>
            </a:r>
            <a:r>
              <a:rPr lang="en-US" sz="4019" spc="-56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stics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217299" y="-453824"/>
            <a:ext cx="24263550" cy="11194649"/>
            <a:chOff x="0" y="0"/>
            <a:chExt cx="2342447" cy="10807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42447" cy="1080752"/>
            </a:xfrm>
            <a:custGeom>
              <a:avLst/>
              <a:gdLst/>
              <a:ahLst/>
              <a:cxnLst/>
              <a:rect r="r" b="b" t="t" l="l"/>
              <a:pathLst>
                <a:path h="1080752" w="2342447">
                  <a:moveTo>
                    <a:pt x="2139247" y="0"/>
                  </a:moveTo>
                  <a:lnTo>
                    <a:pt x="0" y="0"/>
                  </a:lnTo>
                  <a:lnTo>
                    <a:pt x="203200" y="1080752"/>
                  </a:lnTo>
                  <a:lnTo>
                    <a:pt x="2342447" y="1080752"/>
                  </a:lnTo>
                  <a:lnTo>
                    <a:pt x="2139247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139247" cy="1118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798886" y="632113"/>
            <a:ext cx="14516919" cy="3756263"/>
            <a:chOff x="0" y="0"/>
            <a:chExt cx="1818138" cy="4704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8138" cy="470444"/>
            </a:xfrm>
            <a:custGeom>
              <a:avLst/>
              <a:gdLst/>
              <a:ahLst/>
              <a:cxnLst/>
              <a:rect r="r" b="b" t="t" l="l"/>
              <a:pathLst>
                <a:path h="470444" w="1818138">
                  <a:moveTo>
                    <a:pt x="1614938" y="0"/>
                  </a:moveTo>
                  <a:lnTo>
                    <a:pt x="0" y="0"/>
                  </a:lnTo>
                  <a:lnTo>
                    <a:pt x="203200" y="470444"/>
                  </a:lnTo>
                  <a:lnTo>
                    <a:pt x="1818138" y="470444"/>
                  </a:lnTo>
                  <a:lnTo>
                    <a:pt x="1614938" y="0"/>
                  </a:ln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-38100"/>
              <a:ext cx="1614938" cy="508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49700" y="565438"/>
            <a:ext cx="11611470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Why Bacterial-Specific Biomarkers?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9700" y="1757325"/>
            <a:ext cx="14697803" cy="263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3469" indent="-32673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Early diagnosis and improved clinical outcomes.</a:t>
            </a:r>
          </a:p>
          <a:p>
            <a:pPr algn="just" marL="653469" indent="-32673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Directly indicate the presence of bacteria (not just host inflammation).</a:t>
            </a:r>
          </a:p>
          <a:p>
            <a:pPr algn="just" marL="653469" indent="-326735" lvl="1">
              <a:lnSpc>
                <a:spcPts val="4237"/>
              </a:lnSpc>
              <a:buFont typeface="Arial"/>
              <a:buChar char="•"/>
            </a:pPr>
            <a:r>
              <a:rPr lang="en-US" sz="3026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Enable Gram classification. Reduce unnecessary broad-spectrum antibiotic use and combat AMR.</a:t>
            </a:r>
          </a:p>
          <a:p>
            <a:pPr algn="just">
              <a:lnSpc>
                <a:spcPts val="4237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646434" y="4560380"/>
            <a:ext cx="10289122" cy="5042806"/>
          </a:xfrm>
          <a:custGeom>
            <a:avLst/>
            <a:gdLst/>
            <a:ahLst/>
            <a:cxnLst/>
            <a:rect r="r" b="b" t="t" l="l"/>
            <a:pathLst>
              <a:path h="5042806" w="10289122">
                <a:moveTo>
                  <a:pt x="0" y="0"/>
                </a:moveTo>
                <a:lnTo>
                  <a:pt x="10289122" y="0"/>
                </a:lnTo>
                <a:lnTo>
                  <a:pt x="10289122" y="5042806"/>
                </a:lnTo>
                <a:lnTo>
                  <a:pt x="0" y="5042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157" r="0" b="-952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678" y="711901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97071" y="2779822"/>
            <a:ext cx="3430815" cy="4727356"/>
            <a:chOff x="0" y="0"/>
            <a:chExt cx="682999" cy="9411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2999" cy="941111"/>
            </a:xfrm>
            <a:custGeom>
              <a:avLst/>
              <a:gdLst/>
              <a:ahLst/>
              <a:cxnLst/>
              <a:rect r="r" b="b" t="t" l="l"/>
              <a:pathLst>
                <a:path h="941111" w="682999">
                  <a:moveTo>
                    <a:pt x="0" y="0"/>
                  </a:moveTo>
                  <a:lnTo>
                    <a:pt x="479799" y="0"/>
                  </a:lnTo>
                  <a:lnTo>
                    <a:pt x="682999" y="470556"/>
                  </a:lnTo>
                  <a:lnTo>
                    <a:pt x="479799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AA8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77800" y="-38100"/>
              <a:ext cx="428999" cy="979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087471" y="0"/>
            <a:ext cx="11975130" cy="10287000"/>
            <a:chOff x="0" y="0"/>
            <a:chExt cx="540693" cy="464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0693" cy="464472"/>
            </a:xfrm>
            <a:custGeom>
              <a:avLst/>
              <a:gdLst/>
              <a:ahLst/>
              <a:cxnLst/>
              <a:rect r="r" b="b" t="t" l="l"/>
              <a:pathLst>
                <a:path h="464472" w="540693">
                  <a:moveTo>
                    <a:pt x="203200" y="0"/>
                  </a:moveTo>
                  <a:lnTo>
                    <a:pt x="540693" y="0"/>
                  </a:lnTo>
                  <a:lnTo>
                    <a:pt x="337493" y="464472"/>
                  </a:lnTo>
                  <a:lnTo>
                    <a:pt x="0" y="464472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14467" t="0" r="-1446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8436" y="4385839"/>
            <a:ext cx="5179259" cy="5901161"/>
            <a:chOff x="0" y="0"/>
            <a:chExt cx="406400" cy="4630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463045"/>
            </a:xfrm>
            <a:custGeom>
              <a:avLst/>
              <a:gdLst/>
              <a:ahLst/>
              <a:cxnLst/>
              <a:rect r="r" b="b" t="t" l="l"/>
              <a:pathLst>
                <a:path h="46304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63045"/>
                  </a:lnTo>
                  <a:lnTo>
                    <a:pt x="0" y="46304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AA8">
                <a:alpha val="6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203200" cy="50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12346984" y="4886269"/>
            <a:ext cx="514462" cy="514462"/>
            <a:chOff x="0" y="0"/>
            <a:chExt cx="135496" cy="1354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496" cy="135496"/>
            </a:xfrm>
            <a:custGeom>
              <a:avLst/>
              <a:gdLst/>
              <a:ahLst/>
              <a:cxnLst/>
              <a:rect r="r" b="b" t="t" l="l"/>
              <a:pathLst>
                <a:path h="135496" w="135496">
                  <a:moveTo>
                    <a:pt x="0" y="0"/>
                  </a:moveTo>
                  <a:lnTo>
                    <a:pt x="135496" y="0"/>
                  </a:lnTo>
                  <a:lnTo>
                    <a:pt x="135496" y="135496"/>
                  </a:lnTo>
                  <a:lnTo>
                    <a:pt x="0" y="135496"/>
                  </a:lnTo>
                  <a:close/>
                </a:path>
              </a:pathLst>
            </a:custGeom>
            <a:solidFill>
              <a:srgbClr val="F8BB8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5496" cy="17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588957">
            <a:off x="2184407" y="-2338388"/>
            <a:ext cx="5249441" cy="4676775"/>
          </a:xfrm>
          <a:custGeom>
            <a:avLst/>
            <a:gdLst/>
            <a:ahLst/>
            <a:cxnLst/>
            <a:rect r="r" b="b" t="t" l="l"/>
            <a:pathLst>
              <a:path h="4676775" w="5249441">
                <a:moveTo>
                  <a:pt x="0" y="0"/>
                </a:moveTo>
                <a:lnTo>
                  <a:pt x="5249441" y="0"/>
                </a:lnTo>
                <a:lnTo>
                  <a:pt x="5249441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15" id="15"/>
          <p:cNvGraphicFramePr/>
          <p:nvPr/>
        </p:nvGraphicFramePr>
        <p:xfrm>
          <a:off x="723900" y="1028700"/>
          <a:ext cx="9429750" cy="5657850"/>
        </p:xfrm>
        <a:graphic>
          <a:graphicData uri="http://schemas.openxmlformats.org/presentationml/2006/ole">
            <p:oleObj imgW="11315700" imgH="75438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40436" y="0"/>
            <a:ext cx="11975130" cy="10287000"/>
            <a:chOff x="0" y="0"/>
            <a:chExt cx="540693" cy="464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0693" cy="464472"/>
            </a:xfrm>
            <a:custGeom>
              <a:avLst/>
              <a:gdLst/>
              <a:ahLst/>
              <a:cxnLst/>
              <a:rect r="r" b="b" t="t" l="l"/>
              <a:pathLst>
                <a:path h="464472" w="540693">
                  <a:moveTo>
                    <a:pt x="203200" y="0"/>
                  </a:moveTo>
                  <a:lnTo>
                    <a:pt x="540693" y="0"/>
                  </a:lnTo>
                  <a:lnTo>
                    <a:pt x="337493" y="464472"/>
                  </a:lnTo>
                  <a:lnTo>
                    <a:pt x="0" y="464472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14467" t="0" r="-1446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18436" y="4385839"/>
            <a:ext cx="5179259" cy="5901161"/>
            <a:chOff x="0" y="0"/>
            <a:chExt cx="406400" cy="4630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" cy="463045"/>
            </a:xfrm>
            <a:custGeom>
              <a:avLst/>
              <a:gdLst/>
              <a:ahLst/>
              <a:cxnLst/>
              <a:rect r="r" b="b" t="t" l="l"/>
              <a:pathLst>
                <a:path h="463045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63045"/>
                  </a:lnTo>
                  <a:lnTo>
                    <a:pt x="0" y="46304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7AA8">
                <a:alpha val="6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203200" cy="501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588957">
            <a:off x="2184407" y="-2338388"/>
            <a:ext cx="5249441" cy="4676775"/>
          </a:xfrm>
          <a:custGeom>
            <a:avLst/>
            <a:gdLst/>
            <a:ahLst/>
            <a:cxnLst/>
            <a:rect r="r" b="b" t="t" l="l"/>
            <a:pathLst>
              <a:path h="4676775" w="5249441">
                <a:moveTo>
                  <a:pt x="0" y="0"/>
                </a:moveTo>
                <a:lnTo>
                  <a:pt x="5249441" y="0"/>
                </a:lnTo>
                <a:lnTo>
                  <a:pt x="5249441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77709" y="527678"/>
            <a:ext cx="13832743" cy="93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7"/>
              </a:lnSpc>
            </a:pP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Propos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ed Ba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er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al Biomarker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</a:t>
            </a:r>
            <a:r>
              <a:rPr lang="en-US" sz="5754" spc="-80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panel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1762" y="2359731"/>
            <a:ext cx="13273117" cy="477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9860" indent="-294930" lvl="1">
              <a:lnSpc>
                <a:spcPts val="3824"/>
              </a:lnSpc>
              <a:buFont typeface="Arial"/>
              <a:buChar char="•"/>
            </a:pPr>
            <a:r>
              <a:rPr lang="en-US" sz="2732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Universal Bacterial Detection: Peptidoglycan fragments (N-acetylmuramic acid)</a:t>
            </a:r>
          </a:p>
          <a:p>
            <a:pPr algn="just">
              <a:lnSpc>
                <a:spcPts val="3824"/>
              </a:lnSpc>
            </a:pPr>
            <a:r>
              <a:rPr lang="en-US" sz="2732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Reason : Present in ALL bacteria, absent in viruses/fungi/parasites . Direct bacterial confirmation.Unique to bacterial peptidoglycan only.</a:t>
            </a:r>
          </a:p>
          <a:p>
            <a:pPr algn="just" marL="589860" indent="-294930" lvl="1">
              <a:lnSpc>
                <a:spcPts val="3824"/>
              </a:lnSpc>
              <a:buFont typeface="Arial"/>
              <a:buChar char="•"/>
            </a:pPr>
            <a:r>
              <a:rPr lang="en-US" sz="2732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Gram-negative: Lipopolysaccharide (LPS) — lipid A &amp; O-antigen .</a:t>
            </a:r>
          </a:p>
          <a:p>
            <a:pPr algn="just">
              <a:lnSpc>
                <a:spcPts val="3824"/>
              </a:lnSpc>
            </a:pPr>
            <a:r>
              <a:rPr lang="en-US" sz="2732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Reason :present Only in Gram-negative bacteria, absent in all other organisms.Strong enhancement, endotoxin correlation </a:t>
            </a:r>
          </a:p>
          <a:p>
            <a:pPr algn="just" marL="589860" indent="-294930" lvl="1">
              <a:lnSpc>
                <a:spcPts val="3824"/>
              </a:lnSpc>
              <a:buFont typeface="Arial"/>
              <a:buChar char="•"/>
            </a:pPr>
            <a:r>
              <a:rPr lang="en-US" sz="2732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Gram-positive: Lipoteichoic acid (LTA) and wall teichoic acids (WTA).</a:t>
            </a:r>
          </a:p>
          <a:p>
            <a:pPr algn="just">
              <a:lnSpc>
                <a:spcPts val="3824"/>
              </a:lnSpc>
            </a:pPr>
            <a:r>
              <a:rPr lang="en-US" sz="2732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Reason : present Only in Gram-positive bacteria , surface accessibility </a:t>
            </a:r>
          </a:p>
          <a:p>
            <a:pPr algn="just">
              <a:lnSpc>
                <a:spcPts val="382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70065" y="4476423"/>
            <a:ext cx="7132117" cy="4078125"/>
          </a:xfrm>
          <a:custGeom>
            <a:avLst/>
            <a:gdLst/>
            <a:ahLst/>
            <a:cxnLst/>
            <a:rect r="r" b="b" t="t" l="l"/>
            <a:pathLst>
              <a:path h="4078125" w="7132117">
                <a:moveTo>
                  <a:pt x="0" y="0"/>
                </a:moveTo>
                <a:lnTo>
                  <a:pt x="7132117" y="0"/>
                </a:lnTo>
                <a:lnTo>
                  <a:pt x="7132117" y="4078126"/>
                </a:lnTo>
                <a:lnTo>
                  <a:pt x="0" y="4078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932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673" y="237363"/>
            <a:ext cx="9321860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SERS Nanobiosensor: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4433" y="1399842"/>
            <a:ext cx="16857749" cy="215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SERS = Surface-Enhanced Raman Spectroscopy; provides molecular fingerprints.</a:t>
            </a:r>
          </a:p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Plasmonic nanostructures (Ag/Au) create strong local fields (hotspots).</a:t>
            </a:r>
          </a:p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Combine SERS substrate with capture probes (aptamers/antibodies) for selectivity.</a:t>
            </a:r>
          </a:p>
          <a:p>
            <a:pPr algn="just">
              <a:lnSpc>
                <a:spcPts val="432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84673" y="3483942"/>
            <a:ext cx="9321860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SERS Fundamentals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0887" y="4646754"/>
            <a:ext cx="9788951" cy="428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Raman scattering measures vibrational modes; specific peaks = molecule signature.</a:t>
            </a:r>
          </a:p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Electromagnetic enhancement from plasmon resonance scales..</a:t>
            </a:r>
          </a:p>
          <a:p>
            <a:pPr algn="just">
              <a:lnSpc>
                <a:spcPts val="4326"/>
              </a:lnSpc>
            </a:pPr>
            <a:r>
              <a:rPr lang="en-US" sz="309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Hotspots (nanogaps) give the largest enhancement; single-molecule sensitivity possible.</a:t>
            </a:r>
          </a:p>
          <a:p>
            <a:pPr algn="just">
              <a:lnSpc>
                <a:spcPts val="432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678" y="711901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3900" y="-66991"/>
            <a:ext cx="13206787" cy="88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1"/>
              </a:lnSpc>
            </a:pP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Nanomateri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ls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&amp; S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 Des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g</a:t>
            </a:r>
            <a:r>
              <a:rPr lang="en-US" sz="5382" spc="-75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12182" y="923925"/>
            <a:ext cx="14049350" cy="353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Choice of metal (Ag stronger SERS; Au more stable) affects resonance.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Particle geometry (stars, rods, gaps) tunes hotspot intensity.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Substrate uniformity &amp; reproducible fabrication are essential for clinical use.</a:t>
            </a:r>
          </a:p>
          <a:p>
            <a:pPr algn="just">
              <a:lnSpc>
                <a:spcPts val="47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090132">
            <a:off x="14546681" y="-1235514"/>
            <a:ext cx="3905319" cy="4114800"/>
          </a:xfrm>
          <a:custGeom>
            <a:avLst/>
            <a:gdLst/>
            <a:ahLst/>
            <a:cxnLst/>
            <a:rect r="r" b="b" t="t" l="l"/>
            <a:pathLst>
              <a:path h="4114800" w="3905319">
                <a:moveTo>
                  <a:pt x="0" y="0"/>
                </a:moveTo>
                <a:lnTo>
                  <a:pt x="3905320" y="0"/>
                </a:lnTo>
                <a:lnTo>
                  <a:pt x="390532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23900" y="4406530"/>
            <a:ext cx="15474100" cy="80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2"/>
              </a:lnSpc>
            </a:pPr>
            <a:r>
              <a:rPr lang="en-US" sz="4920" spc="-68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Excitation Wavelength</a:t>
            </a:r>
            <a:r>
              <a:rPr lang="en-US" sz="4920" spc="-68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sz="4920" spc="-68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&amp; Pr</a:t>
            </a:r>
            <a:r>
              <a:rPr lang="en-US" sz="4920" spc="-68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actical</a:t>
            </a:r>
            <a:r>
              <a:rPr lang="en-US" sz="4920" spc="-68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Cons</a:t>
            </a:r>
            <a:r>
              <a:rPr lang="en-US" sz="4920" spc="-68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iderations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2182" y="5311308"/>
            <a:ext cx="14761725" cy="421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Common lasers: 532 nm (resonant dyes), 633 nm, 785 nm (bio-friendly), 1064 nm (high autofluorescence samples).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Balance: stronger scattering (shorter λ) vs. fluorescence/background and sample heating.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Laser power and exposure time must be optimized for clinical samples.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7674" y="2552974"/>
            <a:ext cx="12752653" cy="7483069"/>
          </a:xfrm>
          <a:custGeom>
            <a:avLst/>
            <a:gdLst/>
            <a:ahLst/>
            <a:cxnLst/>
            <a:rect r="r" b="b" t="t" l="l"/>
            <a:pathLst>
              <a:path h="7483069" w="12752653">
                <a:moveTo>
                  <a:pt x="0" y="0"/>
                </a:moveTo>
                <a:lnTo>
                  <a:pt x="12752652" y="0"/>
                </a:lnTo>
                <a:lnTo>
                  <a:pt x="12752652" y="7483069"/>
                </a:lnTo>
                <a:lnTo>
                  <a:pt x="0" y="7483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38" r="0" b="-613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908" y="692611"/>
            <a:ext cx="1651218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Objective: To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 reproducible plasmonic substrate with strong Raman enhancement for bacterial biomarker detection (LPS, LTA, PGN).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88957">
            <a:off x="2184407" y="-2338388"/>
            <a:ext cx="5249441" cy="4676775"/>
          </a:xfrm>
          <a:custGeom>
            <a:avLst/>
            <a:gdLst/>
            <a:ahLst/>
            <a:cxnLst/>
            <a:rect r="r" b="b" t="t" l="l"/>
            <a:pathLst>
              <a:path h="4676775" w="5249441">
                <a:moveTo>
                  <a:pt x="0" y="0"/>
                </a:moveTo>
                <a:lnTo>
                  <a:pt x="5249441" y="0"/>
                </a:lnTo>
                <a:lnTo>
                  <a:pt x="5249441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6138044" cy="10287000"/>
          </a:xfrm>
          <a:custGeom>
            <a:avLst/>
            <a:gdLst/>
            <a:ahLst/>
            <a:cxnLst/>
            <a:rect r="r" b="b" t="t" l="l"/>
            <a:pathLst>
              <a:path h="10287000" w="6138044">
                <a:moveTo>
                  <a:pt x="0" y="0"/>
                </a:moveTo>
                <a:lnTo>
                  <a:pt x="6138044" y="0"/>
                </a:lnTo>
                <a:lnTo>
                  <a:pt x="61380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0477" y="2964495"/>
            <a:ext cx="3650682" cy="217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20"/>
              </a:lnSpc>
            </a:pPr>
            <a:r>
              <a:rPr lang="en-US" sz="622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</a:t>
            </a:r>
          </a:p>
          <a:p>
            <a:pPr algn="ctr">
              <a:lnSpc>
                <a:spcPts val="8720"/>
              </a:lnSpc>
            </a:pPr>
            <a:r>
              <a:rPr lang="en-US" sz="622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</a:t>
            </a:r>
            <a:r>
              <a:rPr lang="en-US" b="true" sz="622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eline: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93870" y="578700"/>
            <a:ext cx="13300260" cy="833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6"/>
              </a:lnSpc>
            </a:pPr>
            <a:r>
              <a:rPr lang="en-US" sz="5078" spc="-71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Diagnostic Wo</a:t>
            </a:r>
            <a:r>
              <a:rPr lang="en-US" sz="5078" spc="-71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rkflow </a:t>
            </a:r>
            <a:r>
              <a:rPr lang="en-US" sz="5078" spc="-71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(P</a:t>
            </a:r>
            <a:r>
              <a:rPr lang="en-US" sz="5078" spc="-71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at</a:t>
            </a:r>
            <a:r>
              <a:rPr lang="en-US" sz="5078" spc="-71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sz="5078" spc="-71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</a:t>
            </a:r>
            <a:r>
              <a:rPr lang="en-US" sz="5078" spc="-71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→ Answer)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88957">
            <a:off x="2184407" y="-2338388"/>
            <a:ext cx="5249441" cy="4676775"/>
          </a:xfrm>
          <a:custGeom>
            <a:avLst/>
            <a:gdLst/>
            <a:ahLst/>
            <a:cxnLst/>
            <a:rect r="r" b="b" t="t" l="l"/>
            <a:pathLst>
              <a:path h="4676775" w="5249441">
                <a:moveTo>
                  <a:pt x="0" y="0"/>
                </a:moveTo>
                <a:lnTo>
                  <a:pt x="5249441" y="0"/>
                </a:lnTo>
                <a:lnTo>
                  <a:pt x="5249441" y="4676775"/>
                </a:lnTo>
                <a:lnTo>
                  <a:pt x="0" y="4676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0651" y="1449002"/>
            <a:ext cx="14986697" cy="8456076"/>
          </a:xfrm>
          <a:custGeom>
            <a:avLst/>
            <a:gdLst/>
            <a:ahLst/>
            <a:cxnLst/>
            <a:rect r="r" b="b" t="t" l="l"/>
            <a:pathLst>
              <a:path h="8456076" w="14986697">
                <a:moveTo>
                  <a:pt x="0" y="0"/>
                </a:moveTo>
                <a:lnTo>
                  <a:pt x="14986698" y="0"/>
                </a:lnTo>
                <a:lnTo>
                  <a:pt x="14986698" y="8456076"/>
                </a:lnTo>
                <a:lnTo>
                  <a:pt x="0" y="8456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546" r="0" b="-9388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976200" y="1969206"/>
          <a:ext cx="7543800" cy="3143250"/>
        </p:xfrm>
        <a:graphic>
          <a:graphicData uri="http://schemas.openxmlformats.org/presentationml/2006/ole">
            <p:oleObj imgW="9042400" imgH="4648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782066"/>
            <a:ext cx="12015193" cy="54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3883" spc="-93" b="true">
                <a:solidFill>
                  <a:srgbClr val="737AA8"/>
                </a:solidFill>
                <a:latin typeface="Poppins Bold"/>
                <a:ea typeface="Poppins Bold"/>
                <a:cs typeface="Poppins Bold"/>
                <a:sym typeface="Poppins Bold"/>
              </a:rPr>
              <a:t>Competitive Advantage &amp; Market Differentiation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80829" y="7831768"/>
            <a:ext cx="125263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Message: With the help of this project we envision to bridge the gap between speed and specificity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0081" y="6247359"/>
            <a:ext cx="16259477" cy="2917666"/>
          </a:xfrm>
          <a:custGeom>
            <a:avLst/>
            <a:gdLst/>
            <a:ahLst/>
            <a:cxnLst/>
            <a:rect r="r" b="b" t="t" l="l"/>
            <a:pathLst>
              <a:path h="2917666" w="16259477">
                <a:moveTo>
                  <a:pt x="0" y="0"/>
                </a:moveTo>
                <a:lnTo>
                  <a:pt x="16259476" y="0"/>
                </a:lnTo>
                <a:lnTo>
                  <a:pt x="16259476" y="2917666"/>
                </a:lnTo>
                <a:lnTo>
                  <a:pt x="0" y="2917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4254" y="-1468825"/>
            <a:ext cx="8728916" cy="10157284"/>
            <a:chOff x="0" y="0"/>
            <a:chExt cx="6985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4"/>
              <a:stretch>
                <a:fillRect l="-76384" t="0" r="-15350" b="-9848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965381" y="-8040261"/>
            <a:ext cx="10101962" cy="11755011"/>
            <a:chOff x="0" y="0"/>
            <a:chExt cx="6985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4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63630" y="3609817"/>
            <a:ext cx="3558139" cy="4140379"/>
            <a:chOff x="0" y="0"/>
            <a:chExt cx="6985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737AA8">
                <a:alpha val="6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71560" y="0"/>
            <a:ext cx="2652083" cy="3086060"/>
            <a:chOff x="0" y="0"/>
            <a:chExt cx="6985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AA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11125"/>
              <a:ext cx="698500" cy="56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2700000">
            <a:off x="9763243" y="2188885"/>
            <a:ext cx="514462" cy="514462"/>
            <a:chOff x="0" y="0"/>
            <a:chExt cx="135496" cy="1354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96" cy="135496"/>
            </a:xfrm>
            <a:custGeom>
              <a:avLst/>
              <a:gdLst/>
              <a:ahLst/>
              <a:cxnLst/>
              <a:rect r="r" b="b" t="t" l="l"/>
              <a:pathLst>
                <a:path h="135496" w="135496">
                  <a:moveTo>
                    <a:pt x="0" y="0"/>
                  </a:moveTo>
                  <a:lnTo>
                    <a:pt x="135496" y="0"/>
                  </a:lnTo>
                  <a:lnTo>
                    <a:pt x="135496" y="135496"/>
                  </a:lnTo>
                  <a:lnTo>
                    <a:pt x="0" y="135496"/>
                  </a:lnTo>
                  <a:close/>
                </a:path>
              </a:pathLst>
            </a:custGeom>
            <a:solidFill>
              <a:srgbClr val="F8BB8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5496" cy="17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78956" y="570718"/>
            <a:ext cx="7715250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Clinical Utility &amp; I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1950" y="1826870"/>
            <a:ext cx="8782050" cy="188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9"/>
              </a:lnSpc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Rapid Gram-level info enables earlier targeted antibiotics (improves survival).</a:t>
            </a:r>
          </a:p>
          <a:p>
            <a:pPr algn="just">
              <a:lnSpc>
                <a:spcPts val="2549"/>
              </a:lnSpc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Less empiric broad-spectrum use → supports antimicrobial stewardship.</a:t>
            </a:r>
          </a:p>
          <a:p>
            <a:pPr algn="just">
              <a:lnSpc>
                <a:spcPts val="2549"/>
              </a:lnSpc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• Portable SERS devices can enable near-patient, point-of-care testing in ED/ICU.</a:t>
            </a:r>
          </a:p>
          <a:p>
            <a:pPr algn="just">
              <a:lnSpc>
                <a:spcPts val="254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4268372"/>
            <a:ext cx="7715250" cy="79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4"/>
              </a:lnSpc>
            </a:pP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Challenges &amp; Road</a:t>
            </a:r>
            <a:r>
              <a:rPr lang="en-US" sz="4800" spc="-67" b="true">
                <a:solidFill>
                  <a:srgbClr val="737AA8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1950" y="5632382"/>
            <a:ext cx="8782050" cy="345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3204" indent="-196602" lvl="1">
              <a:lnSpc>
                <a:spcPts val="2549"/>
              </a:lnSpc>
              <a:buFont typeface="Arial"/>
              <a:buChar char="•"/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Extensive literature review done and finalization of biomarker process .</a:t>
            </a:r>
          </a:p>
          <a:p>
            <a:pPr algn="just" marL="393204" indent="-196602" lvl="1">
              <a:lnSpc>
                <a:spcPts val="2549"/>
              </a:lnSpc>
              <a:buFont typeface="Arial"/>
              <a:buChar char="•"/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SERS simulations initiation to optimize spectral response and substrate design.</a:t>
            </a:r>
          </a:p>
          <a:p>
            <a:pPr algn="just" marL="393204" indent="-196602" lvl="1">
              <a:lnSpc>
                <a:spcPts val="2549"/>
              </a:lnSpc>
              <a:buFont typeface="Arial"/>
              <a:buChar char="•"/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Next: experimental validation of simulation results using standard samples.</a:t>
            </a:r>
          </a:p>
          <a:p>
            <a:pPr algn="just" marL="393204" indent="-196602" lvl="1">
              <a:lnSpc>
                <a:spcPts val="2549"/>
              </a:lnSpc>
              <a:buFont typeface="Arial"/>
              <a:buChar char="•"/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Prototype fabrication and spectral benchmarking planned in next phase.</a:t>
            </a:r>
          </a:p>
          <a:p>
            <a:pPr algn="just" marL="393204" indent="-196602" lvl="1">
              <a:lnSpc>
                <a:spcPts val="2549"/>
              </a:lnSpc>
              <a:buFont typeface="Arial"/>
              <a:buChar char="•"/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Key challenges: ensuring signal reproducibility, substrate uniformity, and scaling for real-world use.</a:t>
            </a:r>
          </a:p>
          <a:p>
            <a:pPr algn="just">
              <a:lnSpc>
                <a:spcPts val="2549"/>
              </a:lnSpc>
            </a:pPr>
            <a:r>
              <a:rPr lang="en-US" sz="1821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Long-term goal: translate optimized SERS workflow into a portable sepsis diagnostic device.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6813" y="123825"/>
            <a:ext cx="12696821" cy="1330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6"/>
              </a:lnSpc>
            </a:pPr>
            <a:r>
              <a:rPr lang="en-US" sz="9600" spc="-230" b="true">
                <a:solidFill>
                  <a:srgbClr val="737AA8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6813" y="1875726"/>
            <a:ext cx="17754374" cy="1022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Singer M. et al., The Third International Consensus Definitions for Sepsis and Septic Shock (Sepsis-3). JAMA. 2016.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Kundu A. et al., SERS detection of sepsis biomarkers on Ag–BP platform. Sensors/Diagnostics, 2022.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Hung S. K. et al., Current Evidence and Limitations of Biomarkers for Detecting Sepsis. Biomedicines, 2020.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4. Hassan M. et al., Advances in Bacterial Detection Using SERS. Biosensors (2024).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5. Raetz CRH, Whitfield C., Lipopolysaccharide endotoxins. Annu Rev Biochem. 2002.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6. NICE Guideline NG51, Sepsis: recognition, diagnosis and early management. 2017.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7. Recent reviews on sepsis biomarkers and SERS-based diagnostics (2023–2025).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8.Evans L, et al. Crit Care Med. 2021;49(11):e1063-e1143.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10.He R‑R, et al. Sepsis biomarkers: advances and applications. IJMS 2024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9.Wang A, et al. Chem Soc Rev. 2024;53:1108-1132.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11.Langer J, et al. ACS Nano. 2019;14(1):28-117.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12,Karmacharya et al., “Nanoplasmonic SERS on Fidget Spinner for Digital Bacterial Identification,” Microsyst. Nanoeng., 2025</a:t>
            </a:r>
          </a:p>
          <a:p>
            <a:pPr algn="l">
              <a:lnSpc>
                <a:spcPts val="3721"/>
              </a:lnSpc>
            </a:pPr>
            <a:r>
              <a:rPr lang="en-US" sz="2658" b="true">
                <a:solidFill>
                  <a:srgbClr val="171C2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13.Kundu A. et al., “Ultrasensitive and Label-Free Detection of Prognostic and Diagnostic Biomarkers of Sepsis on a AgNP-laden Black Phosphorus–Based SERS Platform,” Sensors &amp; Diagnostics, 2022.</a:t>
            </a:r>
          </a:p>
          <a:p>
            <a:pPr algn="l">
              <a:lnSpc>
                <a:spcPts val="3721"/>
              </a:lnSpc>
            </a:pPr>
          </a:p>
          <a:p>
            <a:pPr algn="l">
              <a:lnSpc>
                <a:spcPts val="3721"/>
              </a:lnSpc>
            </a:pPr>
          </a:p>
          <a:p>
            <a:pPr algn="l">
              <a:lnSpc>
                <a:spcPts val="3721"/>
              </a:lnSpc>
            </a:pPr>
          </a:p>
          <a:p>
            <a:pPr algn="l">
              <a:lnSpc>
                <a:spcPts val="3721"/>
              </a:lnSpc>
            </a:pPr>
          </a:p>
          <a:p>
            <a:pPr algn="l">
              <a:lnSpc>
                <a:spcPts val="3721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58600" y="-256127"/>
            <a:ext cx="8916790" cy="10799254"/>
            <a:chOff x="0" y="0"/>
            <a:chExt cx="777062" cy="941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7062" cy="941111"/>
            </a:xfrm>
            <a:custGeom>
              <a:avLst/>
              <a:gdLst/>
              <a:ahLst/>
              <a:cxnLst/>
              <a:rect r="r" b="b" t="t" l="l"/>
              <a:pathLst>
                <a:path h="941111" w="777062">
                  <a:moveTo>
                    <a:pt x="0" y="0"/>
                  </a:moveTo>
                  <a:lnTo>
                    <a:pt x="573862" y="0"/>
                  </a:lnTo>
                  <a:lnTo>
                    <a:pt x="777062" y="470556"/>
                  </a:lnTo>
                  <a:lnTo>
                    <a:pt x="573862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322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05138" y="3411922"/>
            <a:ext cx="2513340" cy="3463157"/>
            <a:chOff x="0" y="0"/>
            <a:chExt cx="682999" cy="9411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999" cy="941111"/>
            </a:xfrm>
            <a:custGeom>
              <a:avLst/>
              <a:gdLst/>
              <a:ahLst/>
              <a:cxnLst/>
              <a:rect r="r" b="b" t="t" l="l"/>
              <a:pathLst>
                <a:path h="941111" w="682999">
                  <a:moveTo>
                    <a:pt x="0" y="0"/>
                  </a:moveTo>
                  <a:lnTo>
                    <a:pt x="479799" y="0"/>
                  </a:lnTo>
                  <a:lnTo>
                    <a:pt x="682999" y="470556"/>
                  </a:lnTo>
                  <a:lnTo>
                    <a:pt x="479799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7AA8">
                <a:alpha val="6980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38100"/>
              <a:ext cx="428999" cy="979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68630" y="3411922"/>
            <a:ext cx="2513340" cy="3463157"/>
            <a:chOff x="0" y="0"/>
            <a:chExt cx="682999" cy="941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999" cy="941111"/>
            </a:xfrm>
            <a:custGeom>
              <a:avLst/>
              <a:gdLst/>
              <a:ahLst/>
              <a:cxnLst/>
              <a:rect r="r" b="b" t="t" l="l"/>
              <a:pathLst>
                <a:path h="941111" w="682999">
                  <a:moveTo>
                    <a:pt x="0" y="0"/>
                  </a:moveTo>
                  <a:lnTo>
                    <a:pt x="479799" y="0"/>
                  </a:lnTo>
                  <a:lnTo>
                    <a:pt x="682999" y="470556"/>
                  </a:lnTo>
                  <a:lnTo>
                    <a:pt x="479799" y="941111"/>
                  </a:lnTo>
                  <a:lnTo>
                    <a:pt x="0" y="941111"/>
                  </a:lnTo>
                  <a:lnTo>
                    <a:pt x="203200" y="470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737AA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77800" y="-38100"/>
              <a:ext cx="428999" cy="979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1037589" y="4886269"/>
            <a:ext cx="514462" cy="514462"/>
            <a:chOff x="0" y="0"/>
            <a:chExt cx="135496" cy="1354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496" cy="135496"/>
            </a:xfrm>
            <a:custGeom>
              <a:avLst/>
              <a:gdLst/>
              <a:ahLst/>
              <a:cxnLst/>
              <a:rect r="r" b="b" t="t" l="l"/>
              <a:pathLst>
                <a:path h="135496" w="135496">
                  <a:moveTo>
                    <a:pt x="0" y="0"/>
                  </a:moveTo>
                  <a:lnTo>
                    <a:pt x="135496" y="0"/>
                  </a:lnTo>
                  <a:lnTo>
                    <a:pt x="135496" y="135496"/>
                  </a:lnTo>
                  <a:lnTo>
                    <a:pt x="0" y="135496"/>
                  </a:lnTo>
                  <a:close/>
                </a:path>
              </a:pathLst>
            </a:custGeom>
            <a:solidFill>
              <a:srgbClr val="F8BB8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5496" cy="17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257231" y="4886269"/>
            <a:ext cx="514462" cy="514462"/>
            <a:chOff x="0" y="0"/>
            <a:chExt cx="135496" cy="1354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496" cy="135496"/>
            </a:xfrm>
            <a:custGeom>
              <a:avLst/>
              <a:gdLst/>
              <a:ahLst/>
              <a:cxnLst/>
              <a:rect r="r" b="b" t="t" l="l"/>
              <a:pathLst>
                <a:path h="135496" w="135496">
                  <a:moveTo>
                    <a:pt x="0" y="0"/>
                  </a:moveTo>
                  <a:lnTo>
                    <a:pt x="135496" y="0"/>
                  </a:lnTo>
                  <a:lnTo>
                    <a:pt x="135496" y="135496"/>
                  </a:lnTo>
                  <a:lnTo>
                    <a:pt x="0" y="135496"/>
                  </a:lnTo>
                  <a:close/>
                </a:path>
              </a:pathLst>
            </a:custGeom>
            <a:solidFill>
              <a:srgbClr val="F8BB8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5496" cy="17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60844" y="3107919"/>
            <a:ext cx="7078306" cy="429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48"/>
              </a:lnSpc>
            </a:pPr>
            <a:r>
              <a:rPr lang="en-US" sz="16613" spc="-398" b="true">
                <a:solidFill>
                  <a:srgbClr val="737AA8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l">
              <a:lnSpc>
                <a:spcPts val="15948"/>
              </a:lnSpc>
            </a:pPr>
            <a:r>
              <a:rPr lang="en-US" sz="16613" spc="-398" b="true">
                <a:solidFill>
                  <a:srgbClr val="737AA8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DAG1JowCgX4</dc:identifier>
  <dcterms:modified xsi:type="dcterms:W3CDTF">2011-08-01T06:04:30Z</dcterms:modified>
  <cp:revision>1</cp:revision>
  <dc:title>SERS-Based Nanobiosensor Workflow for Sepsis Diagnostics</dc:title>
</cp:coreProperties>
</file>