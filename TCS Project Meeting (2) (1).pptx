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" ContentType="image/tif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8"/>
  </p:notesMasterIdLst>
  <p:sldIdLst>
    <p:sldId id="350" r:id="rId2"/>
    <p:sldId id="351" r:id="rId3"/>
    <p:sldId id="352" r:id="rId4"/>
    <p:sldId id="353" r:id="rId5"/>
    <p:sldId id="291" r:id="rId6"/>
    <p:sldId id="262" r:id="rId7"/>
    <p:sldId id="329" r:id="rId8"/>
    <p:sldId id="299" r:id="rId9"/>
    <p:sldId id="332" r:id="rId10"/>
    <p:sldId id="333" r:id="rId11"/>
    <p:sldId id="306" r:id="rId12"/>
    <p:sldId id="331" r:id="rId13"/>
    <p:sldId id="307" r:id="rId14"/>
    <p:sldId id="334" r:id="rId15"/>
    <p:sldId id="335" r:id="rId16"/>
    <p:sldId id="336" r:id="rId17"/>
    <p:sldId id="349" r:id="rId18"/>
    <p:sldId id="260" r:id="rId19"/>
    <p:sldId id="319" r:id="rId20"/>
    <p:sldId id="261" r:id="rId21"/>
    <p:sldId id="263" r:id="rId22"/>
    <p:sldId id="348" r:id="rId23"/>
    <p:sldId id="264" r:id="rId24"/>
    <p:sldId id="338" r:id="rId25"/>
    <p:sldId id="265" r:id="rId26"/>
    <p:sldId id="323" r:id="rId27"/>
    <p:sldId id="266" r:id="rId28"/>
    <p:sldId id="267" r:id="rId29"/>
    <p:sldId id="305" r:id="rId30"/>
    <p:sldId id="340" r:id="rId31"/>
    <p:sldId id="339" r:id="rId32"/>
    <p:sldId id="321" r:id="rId33"/>
    <p:sldId id="271" r:id="rId34"/>
    <p:sldId id="274" r:id="rId35"/>
    <p:sldId id="303" r:id="rId36"/>
    <p:sldId id="341" r:id="rId37"/>
    <p:sldId id="308" r:id="rId38"/>
    <p:sldId id="309" r:id="rId39"/>
    <p:sldId id="310" r:id="rId40"/>
    <p:sldId id="311" r:id="rId41"/>
    <p:sldId id="312" r:id="rId42"/>
    <p:sldId id="313" r:id="rId43"/>
    <p:sldId id="343" r:id="rId44"/>
    <p:sldId id="345" r:id="rId45"/>
    <p:sldId id="314" r:id="rId46"/>
    <p:sldId id="315" r:id="rId47"/>
    <p:sldId id="316" r:id="rId48"/>
    <p:sldId id="317" r:id="rId49"/>
    <p:sldId id="318" r:id="rId50"/>
    <p:sldId id="320" r:id="rId51"/>
    <p:sldId id="330" r:id="rId52"/>
    <p:sldId id="322" r:id="rId53"/>
    <p:sldId id="324" r:id="rId54"/>
    <p:sldId id="325" r:id="rId55"/>
    <p:sldId id="326" r:id="rId56"/>
    <p:sldId id="327" r:id="rId5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1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3B3C7A1-A9BA-4B05-A48A-3A17A0F36E7A}" type="doc">
      <dgm:prSet loTypeId="urn:microsoft.com/office/officeart/2005/8/layout/chevron2" loCatId="list" qsTypeId="urn:microsoft.com/office/officeart/2005/8/quickstyle/simple1#1" qsCatId="simple" csTypeId="urn:microsoft.com/office/officeart/2005/8/colors/colorful5#1" csCatId="colorful" phldr="1"/>
      <dgm:spPr/>
      <dgm:t>
        <a:bodyPr/>
        <a:lstStyle/>
        <a:p>
          <a:endParaRPr lang="en-IN"/>
        </a:p>
      </dgm:t>
    </dgm:pt>
    <dgm:pt modelId="{764ED15E-E142-4FD4-89E7-D66B63D33724}">
      <dgm:prSet phldrT="[Text]" phldr="0" custT="1"/>
      <dgm:spPr/>
      <dgm:t>
        <a:bodyPr/>
        <a:lstStyle/>
        <a:p>
          <a:r>
            <a:rPr lang="en-US" sz="1200" b="1" dirty="0"/>
            <a:t>Biomarker Discovery</a:t>
          </a:r>
          <a:endParaRPr lang="en-IN" sz="1200" b="1" dirty="0"/>
        </a:p>
      </dgm:t>
    </dgm:pt>
    <dgm:pt modelId="{63405EAF-52B6-435C-AECD-67E9455DDFC2}" type="parTrans" cxnId="{B1548EBC-0BC9-46B2-81D4-48FFA6F60B6F}">
      <dgm:prSet/>
      <dgm:spPr/>
      <dgm:t>
        <a:bodyPr/>
        <a:lstStyle/>
        <a:p>
          <a:endParaRPr lang="en-IN"/>
        </a:p>
      </dgm:t>
    </dgm:pt>
    <dgm:pt modelId="{6E769B02-77A8-4FB3-B2D1-A673D776D8E0}" type="sibTrans" cxnId="{B1548EBC-0BC9-46B2-81D4-48FFA6F60B6F}">
      <dgm:prSet/>
      <dgm:spPr/>
      <dgm:t>
        <a:bodyPr/>
        <a:lstStyle/>
        <a:p>
          <a:endParaRPr lang="en-IN"/>
        </a:p>
      </dgm:t>
    </dgm:pt>
    <dgm:pt modelId="{7A0652A0-F270-459E-9B63-C1B19ECB4E8F}">
      <dgm:prSet phldrT="[Text]"/>
      <dgm:spPr/>
      <dgm:t>
        <a:bodyPr/>
        <a:lstStyle/>
        <a:p>
          <a:pPr>
            <a:buNone/>
          </a:pPr>
          <a:r>
            <a:rPr lang="en-US" dirty="0">
              <a:latin typeface="Calibri" pitchFamily="34" charset="0"/>
              <a:ea typeface="Calibri" pitchFamily="34" charset="-122"/>
              <a:cs typeface="Calibri" pitchFamily="34" charset="-120"/>
            </a:rPr>
            <a:t>Identify bacterial biomarkers of Gram-positive and Gram-negative sepsis using Raman spectroscopy and purified components.</a:t>
          </a:r>
          <a:endParaRPr lang="en-IN" dirty="0"/>
        </a:p>
      </dgm:t>
    </dgm:pt>
    <dgm:pt modelId="{F51D307D-D66C-4C42-A600-3B9C93AAC59A}" type="parTrans" cxnId="{031A7981-4FC6-486E-B223-AED73858231F}">
      <dgm:prSet/>
      <dgm:spPr/>
      <dgm:t>
        <a:bodyPr/>
        <a:lstStyle/>
        <a:p>
          <a:endParaRPr lang="en-IN"/>
        </a:p>
      </dgm:t>
    </dgm:pt>
    <dgm:pt modelId="{F8F6CF18-4B63-40A2-B468-2C30FC474A19}" type="sibTrans" cxnId="{031A7981-4FC6-486E-B223-AED73858231F}">
      <dgm:prSet/>
      <dgm:spPr/>
      <dgm:t>
        <a:bodyPr/>
        <a:lstStyle/>
        <a:p>
          <a:endParaRPr lang="en-IN"/>
        </a:p>
      </dgm:t>
    </dgm:pt>
    <dgm:pt modelId="{19A51B66-CE3D-45BC-A10B-E8E91B541DFF}">
      <dgm:prSet phldrT="[Text]" phldr="0" custT="1"/>
      <dgm:spPr/>
      <dgm:t>
        <a:bodyPr/>
        <a:lstStyle/>
        <a:p>
          <a:r>
            <a:rPr lang="en-US" sz="1050" b="1" dirty="0"/>
            <a:t>SERS Platform</a:t>
          </a:r>
        </a:p>
        <a:p>
          <a:r>
            <a:rPr lang="en-IN" sz="1050" b="1" dirty="0"/>
            <a:t>Development</a:t>
          </a:r>
        </a:p>
      </dgm:t>
    </dgm:pt>
    <dgm:pt modelId="{38285698-D86B-48B4-A025-B3A9F7DF9102}" type="parTrans" cxnId="{29D91FFA-E81D-4EF7-AD45-39E5D5E6F9DB}">
      <dgm:prSet/>
      <dgm:spPr/>
      <dgm:t>
        <a:bodyPr/>
        <a:lstStyle/>
        <a:p>
          <a:endParaRPr lang="en-IN"/>
        </a:p>
      </dgm:t>
    </dgm:pt>
    <dgm:pt modelId="{152BD0A0-E6E5-410B-83C5-15EEB83F6971}" type="sibTrans" cxnId="{29D91FFA-E81D-4EF7-AD45-39E5D5E6F9DB}">
      <dgm:prSet/>
      <dgm:spPr/>
      <dgm:t>
        <a:bodyPr/>
        <a:lstStyle/>
        <a:p>
          <a:endParaRPr lang="en-IN"/>
        </a:p>
      </dgm:t>
    </dgm:pt>
    <dgm:pt modelId="{646DEA5F-1C34-44C9-A7F4-BCF9B50DDBAB}">
      <dgm:prSet phldrT="[Text]"/>
      <dgm:spPr/>
      <dgm:t>
        <a:bodyPr/>
        <a:lstStyle/>
        <a:p>
          <a:pPr>
            <a:buNone/>
          </a:pPr>
          <a:r>
            <a:rPr lang="en-US">
              <a:latin typeface="Calibri" pitchFamily="34" charset="0"/>
              <a:ea typeface="Calibri" pitchFamily="34" charset="-122"/>
              <a:cs typeface="Calibri" pitchFamily="34" charset="-120"/>
            </a:rPr>
            <a:t>Develop and optimize a SERS-enabled nanosensor chip with enhanced Raman signals.</a:t>
          </a:r>
          <a:endParaRPr lang="en-IN" dirty="0"/>
        </a:p>
      </dgm:t>
    </dgm:pt>
    <dgm:pt modelId="{6D951396-68EC-48E9-9DB1-2672F2E5F125}" type="parTrans" cxnId="{29FF91A1-1AB5-4AA5-A245-CAF7C9C5E301}">
      <dgm:prSet/>
      <dgm:spPr/>
      <dgm:t>
        <a:bodyPr/>
        <a:lstStyle/>
        <a:p>
          <a:endParaRPr lang="en-IN"/>
        </a:p>
      </dgm:t>
    </dgm:pt>
    <dgm:pt modelId="{1EDD10A8-5498-4F68-8C18-057EA5D9BEE2}" type="sibTrans" cxnId="{29FF91A1-1AB5-4AA5-A245-CAF7C9C5E301}">
      <dgm:prSet/>
      <dgm:spPr/>
      <dgm:t>
        <a:bodyPr/>
        <a:lstStyle/>
        <a:p>
          <a:endParaRPr lang="en-IN"/>
        </a:p>
      </dgm:t>
    </dgm:pt>
    <dgm:pt modelId="{FDC5927B-DC8D-478F-8884-7B3755822293}">
      <dgm:prSet phldrT="[Text]" phldr="0" custT="1"/>
      <dgm:spPr/>
      <dgm:t>
        <a:bodyPr/>
        <a:lstStyle/>
        <a:p>
          <a:r>
            <a:rPr lang="en-US" sz="1050" b="1" dirty="0"/>
            <a:t>AI-integrated Raman Analysis</a:t>
          </a:r>
          <a:endParaRPr lang="en-IN" sz="1050" b="1" dirty="0"/>
        </a:p>
      </dgm:t>
    </dgm:pt>
    <dgm:pt modelId="{6F49A345-70A6-4578-8F1D-87A071BF33B0}" type="parTrans" cxnId="{619706A6-2FD0-4C74-BE2C-C415A12014E4}">
      <dgm:prSet/>
      <dgm:spPr/>
      <dgm:t>
        <a:bodyPr/>
        <a:lstStyle/>
        <a:p>
          <a:endParaRPr lang="en-IN"/>
        </a:p>
      </dgm:t>
    </dgm:pt>
    <dgm:pt modelId="{E0178F1F-798D-40E8-9F3E-751B714B51AD}" type="sibTrans" cxnId="{619706A6-2FD0-4C74-BE2C-C415A12014E4}">
      <dgm:prSet/>
      <dgm:spPr/>
      <dgm:t>
        <a:bodyPr/>
        <a:lstStyle/>
        <a:p>
          <a:endParaRPr lang="en-IN"/>
        </a:p>
      </dgm:t>
    </dgm:pt>
    <dgm:pt modelId="{26D28C3C-F4CD-46D5-80E4-3428B933F322}">
      <dgm:prSet phldrT="[Text]"/>
      <dgm:spPr/>
      <dgm:t>
        <a:bodyPr/>
        <a:lstStyle/>
        <a:p>
          <a:pPr>
            <a:buNone/>
          </a:pPr>
          <a:r>
            <a:rPr lang="en-US">
              <a:latin typeface="Calibri" pitchFamily="34" charset="0"/>
              <a:ea typeface="Calibri" pitchFamily="34" charset="-122"/>
              <a:cs typeface="Calibri" pitchFamily="34" charset="-120"/>
            </a:rPr>
            <a:t>Develop machine-learning approaches for automated Raman spectral classification.</a:t>
          </a:r>
          <a:endParaRPr lang="en-IN" dirty="0"/>
        </a:p>
      </dgm:t>
    </dgm:pt>
    <dgm:pt modelId="{E7AFC6EA-E30E-4A2B-8F31-5555D2A9F5BC}" type="parTrans" cxnId="{51F99D60-E3AF-4D16-8384-B9C2ABC4AA14}">
      <dgm:prSet/>
      <dgm:spPr/>
      <dgm:t>
        <a:bodyPr/>
        <a:lstStyle/>
        <a:p>
          <a:endParaRPr lang="en-IN"/>
        </a:p>
      </dgm:t>
    </dgm:pt>
    <dgm:pt modelId="{98245D69-3F8D-4991-8529-C6CC7E725C9D}" type="sibTrans" cxnId="{51F99D60-E3AF-4D16-8384-B9C2ABC4AA14}">
      <dgm:prSet/>
      <dgm:spPr/>
      <dgm:t>
        <a:bodyPr/>
        <a:lstStyle/>
        <a:p>
          <a:endParaRPr lang="en-IN"/>
        </a:p>
      </dgm:t>
    </dgm:pt>
    <dgm:pt modelId="{BCA8C93D-C7C8-485A-BB13-BBA0E4242BAC}">
      <dgm:prSet phldrT="[Text]" phldr="0" custT="1"/>
      <dgm:spPr/>
      <dgm:t>
        <a:bodyPr/>
        <a:lstStyle/>
        <a:p>
          <a:r>
            <a:rPr lang="en-US" sz="1200" b="1" dirty="0"/>
            <a:t>Clinical Validation</a:t>
          </a:r>
          <a:endParaRPr lang="en-IN" sz="1200" b="1" dirty="0"/>
        </a:p>
      </dgm:t>
    </dgm:pt>
    <dgm:pt modelId="{13BC2606-3EE1-40BF-B27F-ECC004F553FD}" type="parTrans" cxnId="{137806D4-2E82-466D-82CE-C609C82F2890}">
      <dgm:prSet/>
      <dgm:spPr/>
      <dgm:t>
        <a:bodyPr/>
        <a:lstStyle/>
        <a:p>
          <a:endParaRPr lang="en-IN"/>
        </a:p>
      </dgm:t>
    </dgm:pt>
    <dgm:pt modelId="{F7CBF893-4AAF-4E7B-B01D-EABEAA65BBE9}" type="sibTrans" cxnId="{137806D4-2E82-466D-82CE-C609C82F2890}">
      <dgm:prSet/>
      <dgm:spPr/>
      <dgm:t>
        <a:bodyPr/>
        <a:lstStyle/>
        <a:p>
          <a:endParaRPr lang="en-IN"/>
        </a:p>
      </dgm:t>
    </dgm:pt>
    <dgm:pt modelId="{120B1AA5-8ED2-4BB0-9C6B-E2394E12735E}">
      <dgm:prSet phldrT="[Text]" phldr="0"/>
      <dgm:spPr/>
      <dgm:t>
        <a:bodyPr/>
        <a:lstStyle/>
        <a:p>
          <a:r>
            <a:rPr lang="en-US" b="1" dirty="0"/>
            <a:t>Point-of-care Prototype</a:t>
          </a:r>
          <a:endParaRPr lang="en-IN" b="1" dirty="0"/>
        </a:p>
      </dgm:t>
    </dgm:pt>
    <dgm:pt modelId="{D5BFCB35-A9AF-47DF-B7C1-D4F33AC0B8DC}" type="parTrans" cxnId="{22C0B045-D06A-43F8-BA2C-60DD755EDEC7}">
      <dgm:prSet/>
      <dgm:spPr/>
      <dgm:t>
        <a:bodyPr/>
        <a:lstStyle/>
        <a:p>
          <a:endParaRPr lang="en-IN"/>
        </a:p>
      </dgm:t>
    </dgm:pt>
    <dgm:pt modelId="{6A341D37-C156-4AE2-B580-E2D423F0B8B4}" type="sibTrans" cxnId="{22C0B045-D06A-43F8-BA2C-60DD755EDEC7}">
      <dgm:prSet/>
      <dgm:spPr/>
      <dgm:t>
        <a:bodyPr/>
        <a:lstStyle/>
        <a:p>
          <a:endParaRPr lang="en-IN"/>
        </a:p>
      </dgm:t>
    </dgm:pt>
    <dgm:pt modelId="{2FBA8680-B122-4C1E-AC50-44C8988CE70D}">
      <dgm:prSet/>
      <dgm:spPr/>
      <dgm:t>
        <a:bodyPr/>
        <a:lstStyle/>
        <a:p>
          <a:pPr>
            <a:buNone/>
          </a:pPr>
          <a:r>
            <a:rPr lang="en-US" dirty="0">
              <a:latin typeface="Calibri" pitchFamily="34" charset="0"/>
              <a:ea typeface="Calibri" pitchFamily="34" charset="-122"/>
              <a:cs typeface="Calibri" pitchFamily="34" charset="-120"/>
            </a:rPr>
            <a:t>Evaluate the sensor on clinical isolates and patient samples for sensitivity and specificity.</a:t>
          </a:r>
          <a:endParaRPr lang="en-IN" dirty="0"/>
        </a:p>
      </dgm:t>
    </dgm:pt>
    <dgm:pt modelId="{62215FB3-3711-441C-A9F1-C5E0B70EE119}" type="parTrans" cxnId="{646C9EF8-7A17-4D8B-8413-281CD0B9A533}">
      <dgm:prSet/>
      <dgm:spPr/>
      <dgm:t>
        <a:bodyPr/>
        <a:lstStyle/>
        <a:p>
          <a:endParaRPr lang="en-IN"/>
        </a:p>
      </dgm:t>
    </dgm:pt>
    <dgm:pt modelId="{E36FC915-9005-414D-B9CE-9FC2D99554D4}" type="sibTrans" cxnId="{646C9EF8-7A17-4D8B-8413-281CD0B9A533}">
      <dgm:prSet/>
      <dgm:spPr/>
      <dgm:t>
        <a:bodyPr/>
        <a:lstStyle/>
        <a:p>
          <a:endParaRPr lang="en-IN"/>
        </a:p>
      </dgm:t>
    </dgm:pt>
    <dgm:pt modelId="{08349C7F-ED77-4210-8FA8-A72D0835EEE9}">
      <dgm:prSet/>
      <dgm:spPr/>
      <dgm:t>
        <a:bodyPr/>
        <a:lstStyle/>
        <a:p>
          <a:pPr>
            <a:buNone/>
          </a:pPr>
          <a:r>
            <a:rPr lang="en-US" dirty="0">
              <a:latin typeface="Calibri" pitchFamily="34" charset="0"/>
              <a:ea typeface="Calibri" pitchFamily="34" charset="-122"/>
              <a:cs typeface="Calibri" pitchFamily="34" charset="-120"/>
            </a:rPr>
            <a:t>Integrate sensing and analysis into a portable Raman-based point-of-care system.</a:t>
          </a:r>
          <a:endParaRPr lang="en-IN" dirty="0"/>
        </a:p>
      </dgm:t>
    </dgm:pt>
    <dgm:pt modelId="{7F8AC869-2FE6-4D4E-B220-796A3BA556F6}" type="parTrans" cxnId="{FE69D17C-A9FD-4FB7-8680-C476429178F7}">
      <dgm:prSet/>
      <dgm:spPr/>
      <dgm:t>
        <a:bodyPr/>
        <a:lstStyle/>
        <a:p>
          <a:endParaRPr lang="en-IN"/>
        </a:p>
      </dgm:t>
    </dgm:pt>
    <dgm:pt modelId="{6F17011E-982B-4DA1-81E8-D4943D9C14D2}" type="sibTrans" cxnId="{FE69D17C-A9FD-4FB7-8680-C476429178F7}">
      <dgm:prSet/>
      <dgm:spPr/>
      <dgm:t>
        <a:bodyPr/>
        <a:lstStyle/>
        <a:p>
          <a:endParaRPr lang="en-IN"/>
        </a:p>
      </dgm:t>
    </dgm:pt>
    <dgm:pt modelId="{2AD6EA2F-6AAE-4A97-9CB0-27FB4C81250C}" type="pres">
      <dgm:prSet presAssocID="{13B3C7A1-A9BA-4B05-A48A-3A17A0F36E7A}" presName="linearFlow" presStyleCnt="0">
        <dgm:presLayoutVars>
          <dgm:dir/>
          <dgm:animLvl val="lvl"/>
          <dgm:resizeHandles val="exact"/>
        </dgm:presLayoutVars>
      </dgm:prSet>
      <dgm:spPr/>
    </dgm:pt>
    <dgm:pt modelId="{F002B3FB-9DC1-4701-B952-02125A2C096B}" type="pres">
      <dgm:prSet presAssocID="{764ED15E-E142-4FD4-89E7-D66B63D33724}" presName="composite" presStyleCnt="0"/>
      <dgm:spPr/>
    </dgm:pt>
    <dgm:pt modelId="{2B4019EE-4699-4EDB-90D8-F34B4DABE53B}" type="pres">
      <dgm:prSet presAssocID="{764ED15E-E142-4FD4-89E7-D66B63D33724}" presName="parentText" presStyleLbl="alignNode1" presStyleIdx="0" presStyleCnt="5">
        <dgm:presLayoutVars>
          <dgm:chMax val="1"/>
          <dgm:bulletEnabled val="1"/>
        </dgm:presLayoutVars>
      </dgm:prSet>
      <dgm:spPr/>
    </dgm:pt>
    <dgm:pt modelId="{AF686027-4DF5-40D1-8131-DB6A29F7E7A2}" type="pres">
      <dgm:prSet presAssocID="{764ED15E-E142-4FD4-89E7-D66B63D33724}" presName="descendantText" presStyleLbl="alignAcc1" presStyleIdx="0" presStyleCnt="5">
        <dgm:presLayoutVars>
          <dgm:bulletEnabled val="1"/>
        </dgm:presLayoutVars>
      </dgm:prSet>
      <dgm:spPr/>
    </dgm:pt>
    <dgm:pt modelId="{48798E30-7170-4E03-A342-62EF7A21AE15}" type="pres">
      <dgm:prSet presAssocID="{6E769B02-77A8-4FB3-B2D1-A673D776D8E0}" presName="sp" presStyleCnt="0"/>
      <dgm:spPr/>
    </dgm:pt>
    <dgm:pt modelId="{059DE065-20D5-448B-82CA-D63734FDF2BA}" type="pres">
      <dgm:prSet presAssocID="{19A51B66-CE3D-45BC-A10B-E8E91B541DFF}" presName="composite" presStyleCnt="0"/>
      <dgm:spPr/>
    </dgm:pt>
    <dgm:pt modelId="{27F01BEC-1276-4859-B639-591CE3A46BA8}" type="pres">
      <dgm:prSet presAssocID="{19A51B66-CE3D-45BC-A10B-E8E91B541DFF}" presName="parentText" presStyleLbl="alignNode1" presStyleIdx="1" presStyleCnt="5">
        <dgm:presLayoutVars>
          <dgm:chMax val="1"/>
          <dgm:bulletEnabled val="1"/>
        </dgm:presLayoutVars>
      </dgm:prSet>
      <dgm:spPr/>
    </dgm:pt>
    <dgm:pt modelId="{141E3FB8-B353-43EB-933A-6725D09FB2BF}" type="pres">
      <dgm:prSet presAssocID="{19A51B66-CE3D-45BC-A10B-E8E91B541DFF}" presName="descendantText" presStyleLbl="alignAcc1" presStyleIdx="1" presStyleCnt="5">
        <dgm:presLayoutVars>
          <dgm:bulletEnabled val="1"/>
        </dgm:presLayoutVars>
      </dgm:prSet>
      <dgm:spPr/>
    </dgm:pt>
    <dgm:pt modelId="{056A6E01-540C-4468-9F58-97A69F8B4C06}" type="pres">
      <dgm:prSet presAssocID="{152BD0A0-E6E5-410B-83C5-15EEB83F6971}" presName="sp" presStyleCnt="0"/>
      <dgm:spPr/>
    </dgm:pt>
    <dgm:pt modelId="{32672D0B-29EC-42E3-8D6D-8197605EED89}" type="pres">
      <dgm:prSet presAssocID="{FDC5927B-DC8D-478F-8884-7B3755822293}" presName="composite" presStyleCnt="0"/>
      <dgm:spPr/>
    </dgm:pt>
    <dgm:pt modelId="{9CC77929-509D-4632-AEE2-29B8EBEB08D5}" type="pres">
      <dgm:prSet presAssocID="{FDC5927B-DC8D-478F-8884-7B3755822293}" presName="parentText" presStyleLbl="alignNode1" presStyleIdx="2" presStyleCnt="5">
        <dgm:presLayoutVars>
          <dgm:chMax val="1"/>
          <dgm:bulletEnabled val="1"/>
        </dgm:presLayoutVars>
      </dgm:prSet>
      <dgm:spPr/>
    </dgm:pt>
    <dgm:pt modelId="{6D91575E-87E3-4D62-95A5-D99D9AEDDFF9}" type="pres">
      <dgm:prSet presAssocID="{FDC5927B-DC8D-478F-8884-7B3755822293}" presName="descendantText" presStyleLbl="alignAcc1" presStyleIdx="2" presStyleCnt="5">
        <dgm:presLayoutVars>
          <dgm:bulletEnabled val="1"/>
        </dgm:presLayoutVars>
      </dgm:prSet>
      <dgm:spPr/>
    </dgm:pt>
    <dgm:pt modelId="{191F7F0D-8FA1-49BB-8BF5-E63623488D7A}" type="pres">
      <dgm:prSet presAssocID="{E0178F1F-798D-40E8-9F3E-751B714B51AD}" presName="sp" presStyleCnt="0"/>
      <dgm:spPr/>
    </dgm:pt>
    <dgm:pt modelId="{81EBB11A-BCFE-4213-84F3-7E54CB5FF1CF}" type="pres">
      <dgm:prSet presAssocID="{BCA8C93D-C7C8-485A-BB13-BBA0E4242BAC}" presName="composite" presStyleCnt="0"/>
      <dgm:spPr/>
    </dgm:pt>
    <dgm:pt modelId="{8062C0F5-5509-4755-B175-CA65E7F417B3}" type="pres">
      <dgm:prSet presAssocID="{BCA8C93D-C7C8-485A-BB13-BBA0E4242BAC}" presName="parentText" presStyleLbl="alignNode1" presStyleIdx="3" presStyleCnt="5">
        <dgm:presLayoutVars>
          <dgm:chMax val="1"/>
          <dgm:bulletEnabled val="1"/>
        </dgm:presLayoutVars>
      </dgm:prSet>
      <dgm:spPr/>
    </dgm:pt>
    <dgm:pt modelId="{652008C1-A741-42BE-B53C-C128ACF93980}" type="pres">
      <dgm:prSet presAssocID="{BCA8C93D-C7C8-485A-BB13-BBA0E4242BAC}" presName="descendantText" presStyleLbl="alignAcc1" presStyleIdx="3" presStyleCnt="5">
        <dgm:presLayoutVars>
          <dgm:bulletEnabled val="1"/>
        </dgm:presLayoutVars>
      </dgm:prSet>
      <dgm:spPr/>
    </dgm:pt>
    <dgm:pt modelId="{6C33941E-421F-442F-9AD3-C328AB3C21D2}" type="pres">
      <dgm:prSet presAssocID="{F7CBF893-4AAF-4E7B-B01D-EABEAA65BBE9}" presName="sp" presStyleCnt="0"/>
      <dgm:spPr/>
    </dgm:pt>
    <dgm:pt modelId="{AF3538D0-A47A-4915-98F0-CE79E07C617F}" type="pres">
      <dgm:prSet presAssocID="{120B1AA5-8ED2-4BB0-9C6B-E2394E12735E}" presName="composite" presStyleCnt="0"/>
      <dgm:spPr/>
    </dgm:pt>
    <dgm:pt modelId="{719EEB4C-28C7-4D48-8402-9F7D7346D6BA}" type="pres">
      <dgm:prSet presAssocID="{120B1AA5-8ED2-4BB0-9C6B-E2394E12735E}" presName="parentText" presStyleLbl="alignNode1" presStyleIdx="4" presStyleCnt="5">
        <dgm:presLayoutVars>
          <dgm:chMax val="1"/>
          <dgm:bulletEnabled val="1"/>
        </dgm:presLayoutVars>
      </dgm:prSet>
      <dgm:spPr/>
    </dgm:pt>
    <dgm:pt modelId="{F8C238A0-A6DE-4730-B18C-01C20C5244B9}" type="pres">
      <dgm:prSet presAssocID="{120B1AA5-8ED2-4BB0-9C6B-E2394E12735E}" presName="descendantText" presStyleLbl="alignAcc1" presStyleIdx="4" presStyleCnt="5">
        <dgm:presLayoutVars>
          <dgm:bulletEnabled val="1"/>
        </dgm:presLayoutVars>
      </dgm:prSet>
      <dgm:spPr/>
    </dgm:pt>
  </dgm:ptLst>
  <dgm:cxnLst>
    <dgm:cxn modelId="{EBA56D05-7223-4CBC-863B-4469CFC547B9}" type="presOf" srcId="{BCA8C93D-C7C8-485A-BB13-BBA0E4242BAC}" destId="{8062C0F5-5509-4755-B175-CA65E7F417B3}" srcOrd="0" destOrd="0" presId="urn:microsoft.com/office/officeart/2005/8/layout/chevron2"/>
    <dgm:cxn modelId="{F611D316-E35F-4229-A852-A7D8FFA9CDFD}" type="presOf" srcId="{2FBA8680-B122-4C1E-AC50-44C8988CE70D}" destId="{652008C1-A741-42BE-B53C-C128ACF93980}" srcOrd="0" destOrd="0" presId="urn:microsoft.com/office/officeart/2005/8/layout/chevron2"/>
    <dgm:cxn modelId="{51F99D60-E3AF-4D16-8384-B9C2ABC4AA14}" srcId="{FDC5927B-DC8D-478F-8884-7B3755822293}" destId="{26D28C3C-F4CD-46D5-80E4-3428B933F322}" srcOrd="0" destOrd="0" parTransId="{E7AFC6EA-E30E-4A2B-8F31-5555D2A9F5BC}" sibTransId="{98245D69-3F8D-4991-8529-C6CC7E725C9D}"/>
    <dgm:cxn modelId="{22C0B045-D06A-43F8-BA2C-60DD755EDEC7}" srcId="{13B3C7A1-A9BA-4B05-A48A-3A17A0F36E7A}" destId="{120B1AA5-8ED2-4BB0-9C6B-E2394E12735E}" srcOrd="4" destOrd="0" parTransId="{D5BFCB35-A9AF-47DF-B7C1-D4F33AC0B8DC}" sibTransId="{6A341D37-C156-4AE2-B580-E2D423F0B8B4}"/>
    <dgm:cxn modelId="{D92B9648-3AB8-4AF3-A79B-8C1CD0DA2366}" type="presOf" srcId="{13B3C7A1-A9BA-4B05-A48A-3A17A0F36E7A}" destId="{2AD6EA2F-6AAE-4A97-9CB0-27FB4C81250C}" srcOrd="0" destOrd="0" presId="urn:microsoft.com/office/officeart/2005/8/layout/chevron2"/>
    <dgm:cxn modelId="{FE69D17C-A9FD-4FB7-8680-C476429178F7}" srcId="{120B1AA5-8ED2-4BB0-9C6B-E2394E12735E}" destId="{08349C7F-ED77-4210-8FA8-A72D0835EEE9}" srcOrd="0" destOrd="0" parTransId="{7F8AC869-2FE6-4D4E-B220-796A3BA556F6}" sibTransId="{6F17011E-982B-4DA1-81E8-D4943D9C14D2}"/>
    <dgm:cxn modelId="{031A7981-4FC6-486E-B223-AED73858231F}" srcId="{764ED15E-E142-4FD4-89E7-D66B63D33724}" destId="{7A0652A0-F270-459E-9B63-C1B19ECB4E8F}" srcOrd="0" destOrd="0" parTransId="{F51D307D-D66C-4C42-A600-3B9C93AAC59A}" sibTransId="{F8F6CF18-4B63-40A2-B468-2C30FC474A19}"/>
    <dgm:cxn modelId="{55EFE186-0D0E-4289-8CA2-3D0118C7523A}" type="presOf" srcId="{7A0652A0-F270-459E-9B63-C1B19ECB4E8F}" destId="{AF686027-4DF5-40D1-8131-DB6A29F7E7A2}" srcOrd="0" destOrd="0" presId="urn:microsoft.com/office/officeart/2005/8/layout/chevron2"/>
    <dgm:cxn modelId="{FF8E7A8B-F4C8-44D4-BD33-68D86EE43505}" type="presOf" srcId="{26D28C3C-F4CD-46D5-80E4-3428B933F322}" destId="{6D91575E-87E3-4D62-95A5-D99D9AEDDFF9}" srcOrd="0" destOrd="0" presId="urn:microsoft.com/office/officeart/2005/8/layout/chevron2"/>
    <dgm:cxn modelId="{FD06C693-864F-4843-9F17-6F6070C03D9B}" type="presOf" srcId="{FDC5927B-DC8D-478F-8884-7B3755822293}" destId="{9CC77929-509D-4632-AEE2-29B8EBEB08D5}" srcOrd="0" destOrd="0" presId="urn:microsoft.com/office/officeart/2005/8/layout/chevron2"/>
    <dgm:cxn modelId="{29FF91A1-1AB5-4AA5-A245-CAF7C9C5E301}" srcId="{19A51B66-CE3D-45BC-A10B-E8E91B541DFF}" destId="{646DEA5F-1C34-44C9-A7F4-BCF9B50DDBAB}" srcOrd="0" destOrd="0" parTransId="{6D951396-68EC-48E9-9DB1-2672F2E5F125}" sibTransId="{1EDD10A8-5498-4F68-8C18-057EA5D9BEE2}"/>
    <dgm:cxn modelId="{C3787BA2-F3E2-4198-A612-5BDFC4CE8A50}" type="presOf" srcId="{08349C7F-ED77-4210-8FA8-A72D0835EEE9}" destId="{F8C238A0-A6DE-4730-B18C-01C20C5244B9}" srcOrd="0" destOrd="0" presId="urn:microsoft.com/office/officeart/2005/8/layout/chevron2"/>
    <dgm:cxn modelId="{619706A6-2FD0-4C74-BE2C-C415A12014E4}" srcId="{13B3C7A1-A9BA-4B05-A48A-3A17A0F36E7A}" destId="{FDC5927B-DC8D-478F-8884-7B3755822293}" srcOrd="2" destOrd="0" parTransId="{6F49A345-70A6-4578-8F1D-87A071BF33B0}" sibTransId="{E0178F1F-798D-40E8-9F3E-751B714B51AD}"/>
    <dgm:cxn modelId="{E46A10AB-4DDD-4DED-BDF9-A5ACE6ADF85D}" type="presOf" srcId="{646DEA5F-1C34-44C9-A7F4-BCF9B50DDBAB}" destId="{141E3FB8-B353-43EB-933A-6725D09FB2BF}" srcOrd="0" destOrd="0" presId="urn:microsoft.com/office/officeart/2005/8/layout/chevron2"/>
    <dgm:cxn modelId="{CC68E7B9-8B7B-4C6B-8638-B7993FE7B478}" type="presOf" srcId="{764ED15E-E142-4FD4-89E7-D66B63D33724}" destId="{2B4019EE-4699-4EDB-90D8-F34B4DABE53B}" srcOrd="0" destOrd="0" presId="urn:microsoft.com/office/officeart/2005/8/layout/chevron2"/>
    <dgm:cxn modelId="{B1548EBC-0BC9-46B2-81D4-48FFA6F60B6F}" srcId="{13B3C7A1-A9BA-4B05-A48A-3A17A0F36E7A}" destId="{764ED15E-E142-4FD4-89E7-D66B63D33724}" srcOrd="0" destOrd="0" parTransId="{63405EAF-52B6-435C-AECD-67E9455DDFC2}" sibTransId="{6E769B02-77A8-4FB3-B2D1-A673D776D8E0}"/>
    <dgm:cxn modelId="{50E62ACC-1061-42FE-AA29-0580BFEE0793}" type="presOf" srcId="{19A51B66-CE3D-45BC-A10B-E8E91B541DFF}" destId="{27F01BEC-1276-4859-B639-591CE3A46BA8}" srcOrd="0" destOrd="0" presId="urn:microsoft.com/office/officeart/2005/8/layout/chevron2"/>
    <dgm:cxn modelId="{137806D4-2E82-466D-82CE-C609C82F2890}" srcId="{13B3C7A1-A9BA-4B05-A48A-3A17A0F36E7A}" destId="{BCA8C93D-C7C8-485A-BB13-BBA0E4242BAC}" srcOrd="3" destOrd="0" parTransId="{13BC2606-3EE1-40BF-B27F-ECC004F553FD}" sibTransId="{F7CBF893-4AAF-4E7B-B01D-EABEAA65BBE9}"/>
    <dgm:cxn modelId="{46C61BDD-0673-4178-8686-BA99DB7D88F0}" type="presOf" srcId="{120B1AA5-8ED2-4BB0-9C6B-E2394E12735E}" destId="{719EEB4C-28C7-4D48-8402-9F7D7346D6BA}" srcOrd="0" destOrd="0" presId="urn:microsoft.com/office/officeart/2005/8/layout/chevron2"/>
    <dgm:cxn modelId="{646C9EF8-7A17-4D8B-8413-281CD0B9A533}" srcId="{BCA8C93D-C7C8-485A-BB13-BBA0E4242BAC}" destId="{2FBA8680-B122-4C1E-AC50-44C8988CE70D}" srcOrd="0" destOrd="0" parTransId="{62215FB3-3711-441C-A9F1-C5E0B70EE119}" sibTransId="{E36FC915-9005-414D-B9CE-9FC2D99554D4}"/>
    <dgm:cxn modelId="{29D91FFA-E81D-4EF7-AD45-39E5D5E6F9DB}" srcId="{13B3C7A1-A9BA-4B05-A48A-3A17A0F36E7A}" destId="{19A51B66-CE3D-45BC-A10B-E8E91B541DFF}" srcOrd="1" destOrd="0" parTransId="{38285698-D86B-48B4-A025-B3A9F7DF9102}" sibTransId="{152BD0A0-E6E5-410B-83C5-15EEB83F6971}"/>
    <dgm:cxn modelId="{2CA3507C-C5FB-4147-9B6C-29D2B7EDE66E}" type="presParOf" srcId="{2AD6EA2F-6AAE-4A97-9CB0-27FB4C81250C}" destId="{F002B3FB-9DC1-4701-B952-02125A2C096B}" srcOrd="0" destOrd="0" presId="urn:microsoft.com/office/officeart/2005/8/layout/chevron2"/>
    <dgm:cxn modelId="{8CC597EB-65CB-4469-A86C-11E80B36E5A8}" type="presParOf" srcId="{F002B3FB-9DC1-4701-B952-02125A2C096B}" destId="{2B4019EE-4699-4EDB-90D8-F34B4DABE53B}" srcOrd="0" destOrd="0" presId="urn:microsoft.com/office/officeart/2005/8/layout/chevron2"/>
    <dgm:cxn modelId="{9A11E243-C412-42B6-9F26-9611E1D22844}" type="presParOf" srcId="{F002B3FB-9DC1-4701-B952-02125A2C096B}" destId="{AF686027-4DF5-40D1-8131-DB6A29F7E7A2}" srcOrd="1" destOrd="0" presId="urn:microsoft.com/office/officeart/2005/8/layout/chevron2"/>
    <dgm:cxn modelId="{E8DF71A4-2057-4F0B-96BF-26DD6C0705AF}" type="presParOf" srcId="{2AD6EA2F-6AAE-4A97-9CB0-27FB4C81250C}" destId="{48798E30-7170-4E03-A342-62EF7A21AE15}" srcOrd="1" destOrd="0" presId="urn:microsoft.com/office/officeart/2005/8/layout/chevron2"/>
    <dgm:cxn modelId="{9926B403-4DC0-417B-91B0-76F7D0002FD3}" type="presParOf" srcId="{2AD6EA2F-6AAE-4A97-9CB0-27FB4C81250C}" destId="{059DE065-20D5-448B-82CA-D63734FDF2BA}" srcOrd="2" destOrd="0" presId="urn:microsoft.com/office/officeart/2005/8/layout/chevron2"/>
    <dgm:cxn modelId="{3FF1A457-E4D6-450E-B62C-A1B7D561F0C8}" type="presParOf" srcId="{059DE065-20D5-448B-82CA-D63734FDF2BA}" destId="{27F01BEC-1276-4859-B639-591CE3A46BA8}" srcOrd="0" destOrd="0" presId="urn:microsoft.com/office/officeart/2005/8/layout/chevron2"/>
    <dgm:cxn modelId="{48226A15-B743-4B9C-B24E-526D28D51FAD}" type="presParOf" srcId="{059DE065-20D5-448B-82CA-D63734FDF2BA}" destId="{141E3FB8-B353-43EB-933A-6725D09FB2BF}" srcOrd="1" destOrd="0" presId="urn:microsoft.com/office/officeart/2005/8/layout/chevron2"/>
    <dgm:cxn modelId="{89C1FCF2-079C-4FA3-B1EB-2AD1DC58095B}" type="presParOf" srcId="{2AD6EA2F-6AAE-4A97-9CB0-27FB4C81250C}" destId="{056A6E01-540C-4468-9F58-97A69F8B4C06}" srcOrd="3" destOrd="0" presId="urn:microsoft.com/office/officeart/2005/8/layout/chevron2"/>
    <dgm:cxn modelId="{0FB37CEE-E70C-43EB-BFCC-B549713338AF}" type="presParOf" srcId="{2AD6EA2F-6AAE-4A97-9CB0-27FB4C81250C}" destId="{32672D0B-29EC-42E3-8D6D-8197605EED89}" srcOrd="4" destOrd="0" presId="urn:microsoft.com/office/officeart/2005/8/layout/chevron2"/>
    <dgm:cxn modelId="{C9C4287A-FE70-4F7C-83F6-BBC2CA75E04D}" type="presParOf" srcId="{32672D0B-29EC-42E3-8D6D-8197605EED89}" destId="{9CC77929-509D-4632-AEE2-29B8EBEB08D5}" srcOrd="0" destOrd="0" presId="urn:microsoft.com/office/officeart/2005/8/layout/chevron2"/>
    <dgm:cxn modelId="{786EA6D9-F794-4292-82DC-FF227D6CFFE9}" type="presParOf" srcId="{32672D0B-29EC-42E3-8D6D-8197605EED89}" destId="{6D91575E-87E3-4D62-95A5-D99D9AEDDFF9}" srcOrd="1" destOrd="0" presId="urn:microsoft.com/office/officeart/2005/8/layout/chevron2"/>
    <dgm:cxn modelId="{F75D7809-9E91-46DC-B562-500DFF14BC68}" type="presParOf" srcId="{2AD6EA2F-6AAE-4A97-9CB0-27FB4C81250C}" destId="{191F7F0D-8FA1-49BB-8BF5-E63623488D7A}" srcOrd="5" destOrd="0" presId="urn:microsoft.com/office/officeart/2005/8/layout/chevron2"/>
    <dgm:cxn modelId="{E7C17C64-517A-4DE9-873D-D669BD9309D9}" type="presParOf" srcId="{2AD6EA2F-6AAE-4A97-9CB0-27FB4C81250C}" destId="{81EBB11A-BCFE-4213-84F3-7E54CB5FF1CF}" srcOrd="6" destOrd="0" presId="urn:microsoft.com/office/officeart/2005/8/layout/chevron2"/>
    <dgm:cxn modelId="{907CDA23-0F8E-480D-8051-AF0727F10ADE}" type="presParOf" srcId="{81EBB11A-BCFE-4213-84F3-7E54CB5FF1CF}" destId="{8062C0F5-5509-4755-B175-CA65E7F417B3}" srcOrd="0" destOrd="0" presId="urn:microsoft.com/office/officeart/2005/8/layout/chevron2"/>
    <dgm:cxn modelId="{9DA3AC0F-1468-4E73-9D66-82AF6F0C1DB2}" type="presParOf" srcId="{81EBB11A-BCFE-4213-84F3-7E54CB5FF1CF}" destId="{652008C1-A741-42BE-B53C-C128ACF93980}" srcOrd="1" destOrd="0" presId="urn:microsoft.com/office/officeart/2005/8/layout/chevron2"/>
    <dgm:cxn modelId="{95A276A9-8483-4E48-A216-D904C7AA8BE7}" type="presParOf" srcId="{2AD6EA2F-6AAE-4A97-9CB0-27FB4C81250C}" destId="{6C33941E-421F-442F-9AD3-C328AB3C21D2}" srcOrd="7" destOrd="0" presId="urn:microsoft.com/office/officeart/2005/8/layout/chevron2"/>
    <dgm:cxn modelId="{B7304DA0-F970-4842-BE26-2E725DA1CF9F}" type="presParOf" srcId="{2AD6EA2F-6AAE-4A97-9CB0-27FB4C81250C}" destId="{AF3538D0-A47A-4915-98F0-CE79E07C617F}" srcOrd="8" destOrd="0" presId="urn:microsoft.com/office/officeart/2005/8/layout/chevron2"/>
    <dgm:cxn modelId="{B1178BEF-F5A5-4BAA-BBE1-3626E2773D03}" type="presParOf" srcId="{AF3538D0-A47A-4915-98F0-CE79E07C617F}" destId="{719EEB4C-28C7-4D48-8402-9F7D7346D6BA}" srcOrd="0" destOrd="0" presId="urn:microsoft.com/office/officeart/2005/8/layout/chevron2"/>
    <dgm:cxn modelId="{1922F436-59FF-4C4A-9276-B04A0B480771}" type="presParOf" srcId="{AF3538D0-A47A-4915-98F0-CE79E07C617F}" destId="{F8C238A0-A6DE-4730-B18C-01C20C5244B9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019EE-4699-4EDB-90D8-F34B4DABE53B}">
      <dsp:nvSpPr>
        <dsp:cNvPr id="0" name=""/>
        <dsp:cNvSpPr/>
      </dsp:nvSpPr>
      <dsp:spPr>
        <a:xfrm rot="5400000">
          <a:off x="-176238" y="180562"/>
          <a:ext cx="1174924" cy="822447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Biomarker Discovery</a:t>
          </a:r>
          <a:endParaRPr lang="en-IN" sz="1200" b="1" kern="1200" dirty="0"/>
        </a:p>
      </dsp:txBody>
      <dsp:txXfrm rot="-5400000">
        <a:off x="1" y="415548"/>
        <a:ext cx="822447" cy="352477"/>
      </dsp:txXfrm>
    </dsp:sp>
    <dsp:sp modelId="{AF686027-4DF5-40D1-8131-DB6A29F7E7A2}">
      <dsp:nvSpPr>
        <dsp:cNvPr id="0" name=""/>
        <dsp:cNvSpPr/>
      </dsp:nvSpPr>
      <dsp:spPr>
        <a:xfrm rot="5400000">
          <a:off x="4413413" y="-3586641"/>
          <a:ext cx="763700" cy="7945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Identify bacterial biomarkers of Gram-positive and Gram-negative sepsis using Raman spectroscopy and purified components.</a:t>
          </a:r>
          <a:endParaRPr lang="en-IN" sz="2200" kern="1200" dirty="0"/>
        </a:p>
      </dsp:txBody>
      <dsp:txXfrm rot="-5400000">
        <a:off x="822448" y="41605"/>
        <a:ext cx="7908351" cy="689138"/>
      </dsp:txXfrm>
    </dsp:sp>
    <dsp:sp modelId="{27F01BEC-1276-4859-B639-591CE3A46BA8}">
      <dsp:nvSpPr>
        <dsp:cNvPr id="0" name=""/>
        <dsp:cNvSpPr/>
      </dsp:nvSpPr>
      <dsp:spPr>
        <a:xfrm rot="5400000">
          <a:off x="-176238" y="1239336"/>
          <a:ext cx="1174924" cy="822447"/>
        </a:xfrm>
        <a:prstGeom prst="chevron">
          <a:avLst/>
        </a:prstGeom>
        <a:solidFill>
          <a:schemeClr val="accent5">
            <a:hueOff val="-1689636"/>
            <a:satOff val="-4355"/>
            <a:lumOff val="-2941"/>
            <a:alphaOff val="0"/>
          </a:schemeClr>
        </a:solidFill>
        <a:ln w="1270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SERS Platform</a:t>
          </a: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/>
            <a:t>Development</a:t>
          </a:r>
        </a:p>
      </dsp:txBody>
      <dsp:txXfrm rot="-5400000">
        <a:off x="1" y="1474322"/>
        <a:ext cx="822447" cy="352477"/>
      </dsp:txXfrm>
    </dsp:sp>
    <dsp:sp modelId="{141E3FB8-B353-43EB-933A-6725D09FB2BF}">
      <dsp:nvSpPr>
        <dsp:cNvPr id="0" name=""/>
        <dsp:cNvSpPr/>
      </dsp:nvSpPr>
      <dsp:spPr>
        <a:xfrm rot="5400000">
          <a:off x="4413212" y="-2527667"/>
          <a:ext cx="764102" cy="7945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1689636"/>
              <a:satOff val="-4355"/>
              <a:lumOff val="-29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>
              <a:latin typeface="Calibri" pitchFamily="34" charset="0"/>
              <a:ea typeface="Calibri" pitchFamily="34" charset="-122"/>
              <a:cs typeface="Calibri" pitchFamily="34" charset="-120"/>
            </a:rPr>
            <a:t>Develop and optimize a SERS-enabled nanosensor chip with enhanced Raman signals.</a:t>
          </a:r>
          <a:endParaRPr lang="en-IN" sz="2200" kern="1200" dirty="0"/>
        </a:p>
      </dsp:txBody>
      <dsp:txXfrm rot="-5400000">
        <a:off x="822447" y="1100398"/>
        <a:ext cx="7908332" cy="689502"/>
      </dsp:txXfrm>
    </dsp:sp>
    <dsp:sp modelId="{9CC77929-509D-4632-AEE2-29B8EBEB08D5}">
      <dsp:nvSpPr>
        <dsp:cNvPr id="0" name=""/>
        <dsp:cNvSpPr/>
      </dsp:nvSpPr>
      <dsp:spPr>
        <a:xfrm rot="5400000">
          <a:off x="-176238" y="2298109"/>
          <a:ext cx="1174924" cy="822447"/>
        </a:xfrm>
        <a:prstGeom prst="chevron">
          <a:avLst/>
        </a:prstGeom>
        <a:solidFill>
          <a:schemeClr val="accent5">
            <a:hueOff val="-3379271"/>
            <a:satOff val="-8710"/>
            <a:lumOff val="-5883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AI-integrated Raman Analysis</a:t>
          </a:r>
          <a:endParaRPr lang="en-IN" sz="1050" b="1" kern="1200" dirty="0"/>
        </a:p>
      </dsp:txBody>
      <dsp:txXfrm rot="-5400000">
        <a:off x="1" y="2533095"/>
        <a:ext cx="822447" cy="352477"/>
      </dsp:txXfrm>
    </dsp:sp>
    <dsp:sp modelId="{6D91575E-87E3-4D62-95A5-D99D9AEDDFF9}">
      <dsp:nvSpPr>
        <dsp:cNvPr id="0" name=""/>
        <dsp:cNvSpPr/>
      </dsp:nvSpPr>
      <dsp:spPr>
        <a:xfrm rot="5400000">
          <a:off x="4413413" y="-1469094"/>
          <a:ext cx="763700" cy="7945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3379271"/>
              <a:satOff val="-8710"/>
              <a:lumOff val="-5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>
              <a:latin typeface="Calibri" pitchFamily="34" charset="0"/>
              <a:ea typeface="Calibri" pitchFamily="34" charset="-122"/>
              <a:cs typeface="Calibri" pitchFamily="34" charset="-120"/>
            </a:rPr>
            <a:t>Develop machine-learning approaches for automated Raman spectral classification.</a:t>
          </a:r>
          <a:endParaRPr lang="en-IN" sz="2200" kern="1200" dirty="0"/>
        </a:p>
      </dsp:txBody>
      <dsp:txXfrm rot="-5400000">
        <a:off x="822448" y="2159152"/>
        <a:ext cx="7908351" cy="689138"/>
      </dsp:txXfrm>
    </dsp:sp>
    <dsp:sp modelId="{8062C0F5-5509-4755-B175-CA65E7F417B3}">
      <dsp:nvSpPr>
        <dsp:cNvPr id="0" name=""/>
        <dsp:cNvSpPr/>
      </dsp:nvSpPr>
      <dsp:spPr>
        <a:xfrm rot="5400000">
          <a:off x="-176238" y="3356883"/>
          <a:ext cx="1174924" cy="822447"/>
        </a:xfrm>
        <a:prstGeom prst="chevron">
          <a:avLst/>
        </a:prstGeom>
        <a:solidFill>
          <a:schemeClr val="accent5">
            <a:hueOff val="-5068907"/>
            <a:satOff val="-13064"/>
            <a:lumOff val="-8824"/>
            <a:alphaOff val="0"/>
          </a:schemeClr>
        </a:solidFill>
        <a:ln w="1270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Clinical Validation</a:t>
          </a:r>
          <a:endParaRPr lang="en-IN" sz="1200" b="1" kern="1200" dirty="0"/>
        </a:p>
      </dsp:txBody>
      <dsp:txXfrm rot="-5400000">
        <a:off x="1" y="3591869"/>
        <a:ext cx="822447" cy="352477"/>
      </dsp:txXfrm>
    </dsp:sp>
    <dsp:sp modelId="{652008C1-A741-42BE-B53C-C128ACF93980}">
      <dsp:nvSpPr>
        <dsp:cNvPr id="0" name=""/>
        <dsp:cNvSpPr/>
      </dsp:nvSpPr>
      <dsp:spPr>
        <a:xfrm rot="5400000">
          <a:off x="4413413" y="-410321"/>
          <a:ext cx="763700" cy="7945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5068907"/>
              <a:satOff val="-13064"/>
              <a:lumOff val="-88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Evaluate the sensor on clinical isolates and patient samples for sensitivity and specificity.</a:t>
          </a:r>
          <a:endParaRPr lang="en-IN" sz="2200" kern="1200" dirty="0"/>
        </a:p>
      </dsp:txBody>
      <dsp:txXfrm rot="-5400000">
        <a:off x="822448" y="3217925"/>
        <a:ext cx="7908351" cy="689138"/>
      </dsp:txXfrm>
    </dsp:sp>
    <dsp:sp modelId="{719EEB4C-28C7-4D48-8402-9F7D7346D6BA}">
      <dsp:nvSpPr>
        <dsp:cNvPr id="0" name=""/>
        <dsp:cNvSpPr/>
      </dsp:nvSpPr>
      <dsp:spPr>
        <a:xfrm rot="5400000">
          <a:off x="-176238" y="4415656"/>
          <a:ext cx="1174924" cy="822447"/>
        </a:xfrm>
        <a:prstGeom prst="chevron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Point-of-care Prototype</a:t>
          </a:r>
          <a:endParaRPr lang="en-IN" sz="1100" b="1" kern="1200" dirty="0"/>
        </a:p>
      </dsp:txBody>
      <dsp:txXfrm rot="-5400000">
        <a:off x="1" y="4650642"/>
        <a:ext cx="822447" cy="352477"/>
      </dsp:txXfrm>
    </dsp:sp>
    <dsp:sp modelId="{F8C238A0-A6DE-4730-B18C-01C20C5244B9}">
      <dsp:nvSpPr>
        <dsp:cNvPr id="0" name=""/>
        <dsp:cNvSpPr/>
      </dsp:nvSpPr>
      <dsp:spPr>
        <a:xfrm rot="5400000">
          <a:off x="4413413" y="648452"/>
          <a:ext cx="763700" cy="7945632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64" tIns="13970" rIns="13970" bIns="1397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200" kern="1200" dirty="0">
              <a:latin typeface="Calibri" pitchFamily="34" charset="0"/>
              <a:ea typeface="Calibri" pitchFamily="34" charset="-122"/>
              <a:cs typeface="Calibri" pitchFamily="34" charset="-120"/>
            </a:rPr>
            <a:t>Integrate sensing and analysis into a portable Raman-based point-of-care system.</a:t>
          </a:r>
          <a:endParaRPr lang="en-IN" sz="2200" kern="1200" dirty="0"/>
        </a:p>
      </dsp:txBody>
      <dsp:txXfrm rot="-5400000">
        <a:off x="822448" y="4276699"/>
        <a:ext cx="7908351" cy="6891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Yearly review. Narrative: reference fingerprints established for all three biomarkers, two SERS substrate generations built and validated, NAM and LTA trials completed, artifact-screening criterion established. Key remaining challenge is reproducible biomarker detection.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4367E-9DA8-A2E1-CBF4-04737D29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71B516-C09A-6D8E-8B07-CEBB75EFF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6F01D6-6BE0-7F08-2038-703D8B5C7E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439721-2EF5-4A31-73CB-6EFA488F47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842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A7A6F-7E4D-99F5-BDD9-AE5CAA311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6BAB84-79B4-A69B-7FC6-EC3BD65865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C7B3-799A-1516-D85F-5BD206FB2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3E258-190F-411E-9257-22F2BAAFB118}" type="datetimeFigureOut">
              <a:rPr lang="en-IN" smtClean="0"/>
              <a:t>01-09-2026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A96E18-2172-15CE-21BD-8EFAFCB72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617A6-6E01-4936-0DD9-01E7AF220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BCE3D-A45F-4C70-BE81-C8AB61B85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016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if"/><Relationship Id="rId2" Type="http://schemas.openxmlformats.org/officeDocument/2006/relationships/image" Target="../media/image4.t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14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5058" y="773946"/>
            <a:ext cx="9798423" cy="2529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Intelligent Sensor System for Early Prediction of Sepsis in Neonates &amp; High-Risk Adults</a:t>
            </a:r>
            <a:endParaRPr lang="en-US" sz="4000" dirty="0">
              <a:solidFill>
                <a:srgbClr val="0000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38200" y="16256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Yearly Project Progress Review</a:t>
            </a:r>
            <a:endParaRPr lang="en-US" sz="2000" dirty="0">
              <a:solidFill>
                <a:srgbClr val="C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03642" y="3558989"/>
            <a:ext cx="105156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Team:</a:t>
            </a:r>
          </a:p>
          <a:p>
            <a:pPr marL="0" indent="0">
              <a:buNone/>
            </a:pPr>
            <a:endParaRPr lang="en-US" sz="2000" b="1" dirty="0">
              <a:solidFill>
                <a:srgbClr val="C00000"/>
              </a:solidFill>
              <a:latin typeface="Arial" panose="020B0604020202020204" pitchFamily="34" charset="0"/>
              <a:ea typeface="Calibri" pitchFamily="34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PI: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Prof. Ajay Agarwal, IIT Jodhpur  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Co-PIs: 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Dr. Sudip Bhattacharya, IIT Jodhpur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	 Prof. (Dr.) Neeraj, AIIMS Jodhpur 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	 Dr. Sanjay </a:t>
            </a:r>
            <a:r>
              <a:rPr lang="en-US" sz="2000" dirty="0" err="1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Kimbahune</a:t>
            </a:r>
            <a:r>
              <a:rPr lang="en-US" sz="2000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Dr. Paramita Kar Choudhary, &amp; Dr. Sujit Shinde - TCS</a:t>
            </a:r>
            <a:endParaRPr lang="en-US" sz="2800" dirty="0">
              <a:solidFill>
                <a:srgbClr val="0000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8B96E-9349-AB37-8447-FA7C878777A8}"/>
              </a:ext>
            </a:extLst>
          </p:cNvPr>
          <p:cNvSpPr txBox="1"/>
          <p:nvPr/>
        </p:nvSpPr>
        <p:spPr>
          <a:xfrm>
            <a:off x="9987280" y="6052094"/>
            <a:ext cx="1656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01 Sept 2026</a:t>
            </a:r>
            <a:endParaRPr lang="en-IN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4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23520" y="1905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Project Background &amp; Problem Statement</a:t>
            </a:r>
            <a:endParaRPr lang="en-US" sz="4000" b="1" dirty="0">
              <a:solidFill>
                <a:srgbClr val="0000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AE97B0A-7B89-3710-32CD-0EEB16CBE2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667" r="20434"/>
          <a:stretch>
            <a:fillRect/>
          </a:stretch>
        </p:blipFill>
        <p:spPr>
          <a:xfrm>
            <a:off x="7616929" y="1115060"/>
            <a:ext cx="4575071" cy="5262880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7AFA710-982E-0F1C-46FA-05AB0A1205C0}"/>
              </a:ext>
            </a:extLst>
          </p:cNvPr>
          <p:cNvSpPr txBox="1"/>
          <p:nvPr/>
        </p:nvSpPr>
        <p:spPr>
          <a:xfrm>
            <a:off x="152400" y="971550"/>
            <a:ext cx="7386320" cy="5427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Sepsis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is a dysregulated host response to infection and a leading cause of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mortality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in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neonates &amp; critically ill adults.</a:t>
            </a:r>
            <a:endParaRPr lang="en-US" sz="2000" b="1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According to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WHO fact-sheet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(2024), there are </a:t>
            </a: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48.9mn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cases of sepsis reported each year globally and 11mn deaths are caused by sepsis. 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Around 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84-85%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of sepsis cases and deaths occur in low- &amp; middle-income countries (LMICs). </a:t>
            </a: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India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has 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11.3mn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 cases &amp; </a:t>
            </a:r>
            <a:r>
              <a:rPr lang="en-IN" sz="2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2.9mn deaths </a:t>
            </a: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due to sepsis each year, and reported highest number of sepsis-related neonatal deaths as per 2021 data.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b="1" dirty="0">
                <a:solidFill>
                  <a:srgbClr val="FF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Delayed diagnosis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is a major problem since current diagnosis depends on blood culture (24–72 h), immunoassays and PCR are accurate, but slow and infrastructure-heavy.</a:t>
            </a:r>
          </a:p>
          <a:p>
            <a:pPr marL="342900" indent="-342900"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The project aims to develop a </a:t>
            </a:r>
            <a:r>
              <a:rPr lang="en-US" sz="2000" b="1" dirty="0">
                <a:solidFill>
                  <a:srgbClr val="008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fast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, </a:t>
            </a:r>
            <a:r>
              <a:rPr lang="en-US" sz="2000" b="1" dirty="0">
                <a:solidFill>
                  <a:srgbClr val="008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reliable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008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point-of-care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 method to detect sepsis.</a:t>
            </a:r>
            <a:endParaRPr lang="en-US" sz="2000" dirty="0">
              <a:solidFill>
                <a:srgbClr val="000000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7322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19B8-6F42-6520-BDE2-E073C7434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2AA825C1-2190-09F7-5501-23C7CED9DAEA}"/>
              </a:ext>
            </a:extLst>
          </p:cNvPr>
          <p:cNvSpPr/>
          <p:nvPr/>
        </p:nvSpPr>
        <p:spPr>
          <a:xfrm>
            <a:off x="662795" y="199465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00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Proposed Solution &amp; Methodology</a:t>
            </a:r>
            <a:endParaRPr lang="en-US" sz="4000" b="1" dirty="0">
              <a:solidFill>
                <a:srgbClr val="0000FF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29295BC-E471-6E26-42EC-C70EE5757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887" y="995838"/>
            <a:ext cx="8849360" cy="4732283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BFA62289-2994-6C27-0735-6D334C7DA056}"/>
              </a:ext>
            </a:extLst>
          </p:cNvPr>
          <p:cNvGrpSpPr/>
          <p:nvPr/>
        </p:nvGrpSpPr>
        <p:grpSpPr>
          <a:xfrm>
            <a:off x="1584960" y="6059967"/>
            <a:ext cx="8453120" cy="505064"/>
            <a:chOff x="1584960" y="6230302"/>
            <a:chExt cx="8453120" cy="505064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89F0E277-48CF-98AF-E963-516B912A827C}"/>
                </a:ext>
              </a:extLst>
            </p:cNvPr>
            <p:cNvSpPr/>
            <p:nvPr/>
          </p:nvSpPr>
          <p:spPr>
            <a:xfrm>
              <a:off x="1584960" y="6289040"/>
              <a:ext cx="1686560" cy="378460"/>
            </a:xfrm>
            <a:prstGeom prst="ellipse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Biomarker</a:t>
              </a:r>
              <a:endParaRPr lang="en-IN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2AF12275-8D79-43E9-7AB6-19D5C14DD345}"/>
                </a:ext>
              </a:extLst>
            </p:cNvPr>
            <p:cNvSpPr/>
            <p:nvPr/>
          </p:nvSpPr>
          <p:spPr>
            <a:xfrm>
              <a:off x="3749040" y="6289040"/>
              <a:ext cx="1686560" cy="378460"/>
            </a:xfrm>
            <a:prstGeom prst="ellipse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SERS</a:t>
              </a:r>
              <a:endParaRPr lang="en-IN" dirty="0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83361C5-DA9C-5C02-6AAB-F602FBF4E9FF}"/>
                </a:ext>
              </a:extLst>
            </p:cNvPr>
            <p:cNvSpPr/>
            <p:nvPr/>
          </p:nvSpPr>
          <p:spPr>
            <a:xfrm>
              <a:off x="5913122" y="6289040"/>
              <a:ext cx="1686560" cy="378460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AI</a:t>
              </a:r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D889C64-F378-22AA-EB87-164D877A64F9}"/>
                </a:ext>
              </a:extLst>
            </p:cNvPr>
            <p:cNvSpPr txBox="1"/>
            <p:nvPr/>
          </p:nvSpPr>
          <p:spPr>
            <a:xfrm>
              <a:off x="3360238" y="6298168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</a:t>
              </a:r>
              <a:endParaRPr lang="en-IN" b="1" dirty="0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DAA2BB0-253E-FFA3-F917-D8747C0AB6D3}"/>
                </a:ext>
              </a:extLst>
            </p:cNvPr>
            <p:cNvSpPr txBox="1"/>
            <p:nvPr/>
          </p:nvSpPr>
          <p:spPr>
            <a:xfrm>
              <a:off x="5524320" y="6289040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+</a:t>
              </a:r>
              <a:endParaRPr lang="en-IN" b="1" dirty="0"/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87AE15E-C54F-A261-4F0D-3CD8C9FEE479}"/>
                </a:ext>
              </a:extLst>
            </p:cNvPr>
            <p:cNvCxnSpPr/>
            <p:nvPr/>
          </p:nvCxnSpPr>
          <p:spPr>
            <a:xfrm>
              <a:off x="7802880" y="6473706"/>
              <a:ext cx="680720" cy="9128"/>
            </a:xfrm>
            <a:prstGeom prst="straightConnector1">
              <a:avLst/>
            </a:prstGeom>
            <a:ln w="38100"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98AD1ADF-6A02-8093-07F8-F32784B279C9}"/>
                </a:ext>
              </a:extLst>
            </p:cNvPr>
            <p:cNvSpPr/>
            <p:nvPr/>
          </p:nvSpPr>
          <p:spPr>
            <a:xfrm>
              <a:off x="8808720" y="6230302"/>
              <a:ext cx="1229360" cy="505064"/>
            </a:xfrm>
            <a:prstGeom prst="roundRect">
              <a:avLst/>
            </a:prstGeom>
            <a:solidFill>
              <a:srgbClr val="7030A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Sepsis</a:t>
              </a:r>
            </a:p>
            <a:p>
              <a:pPr algn="ctr"/>
              <a:r>
                <a:rPr lang="en-US" dirty="0"/>
                <a:t>Diagnosis</a:t>
              </a:r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4008882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8CD72-138B-648D-D187-35F5EEBB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73D5E-6896-AB2B-300D-E19B5E963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" y="123825"/>
            <a:ext cx="10534650" cy="720725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Project Objectives</a:t>
            </a:r>
            <a:endParaRPr lang="en-IN" b="1" dirty="0">
              <a:solidFill>
                <a:srgbClr val="0000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712B257-1548-B2FB-D24E-2927008F80F0}"/>
              </a:ext>
            </a:extLst>
          </p:cNvPr>
          <p:cNvGraphicFramePr/>
          <p:nvPr/>
        </p:nvGraphicFramePr>
        <p:xfrm>
          <a:off x="1452880" y="1140882"/>
          <a:ext cx="876808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F3DCF51-F8EE-47CB-E746-775E26BAB820}"/>
              </a:ext>
            </a:extLst>
          </p:cNvPr>
          <p:cNvSpPr/>
          <p:nvPr/>
        </p:nvSpPr>
        <p:spPr>
          <a:xfrm>
            <a:off x="731520" y="1488860"/>
            <a:ext cx="264160" cy="2743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  <a:endParaRPr lang="en-IN" dirty="0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D5BB22AE-3F2C-9B7B-00D0-1034872AEA52}"/>
              </a:ext>
            </a:extLst>
          </p:cNvPr>
          <p:cNvSpPr/>
          <p:nvPr/>
        </p:nvSpPr>
        <p:spPr>
          <a:xfrm>
            <a:off x="731520" y="2590800"/>
            <a:ext cx="264160" cy="2743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  <a:endParaRPr lang="en-IN" dirty="0"/>
          </a:p>
        </p:txBody>
      </p:sp>
      <p:sp>
        <p:nvSpPr>
          <p:cNvPr id="12" name="Flowchart: Connector 11">
            <a:extLst>
              <a:ext uri="{FF2B5EF4-FFF2-40B4-BE49-F238E27FC236}">
                <a16:creationId xmlns:a16="http://schemas.microsoft.com/office/drawing/2014/main" id="{76400B3A-50A1-F4DF-CD8C-8C8F2D5652EA}"/>
              </a:ext>
            </a:extLst>
          </p:cNvPr>
          <p:cNvSpPr/>
          <p:nvPr/>
        </p:nvSpPr>
        <p:spPr>
          <a:xfrm>
            <a:off x="731520" y="3575895"/>
            <a:ext cx="264160" cy="2743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  <a:endParaRPr lang="en-IN" dirty="0"/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EAC70704-F789-5F9E-EC51-067B4DD6D85F}"/>
              </a:ext>
            </a:extLst>
          </p:cNvPr>
          <p:cNvSpPr/>
          <p:nvPr/>
        </p:nvSpPr>
        <p:spPr>
          <a:xfrm>
            <a:off x="731520" y="4631685"/>
            <a:ext cx="264160" cy="2743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  <a:endParaRPr lang="en-IN" dirty="0"/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20D3E863-DF0F-CFF7-399D-456FB8132D00}"/>
              </a:ext>
            </a:extLst>
          </p:cNvPr>
          <p:cNvSpPr/>
          <p:nvPr/>
        </p:nvSpPr>
        <p:spPr>
          <a:xfrm>
            <a:off x="731520" y="5687475"/>
            <a:ext cx="264160" cy="27432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6412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822F-495D-0D51-FE11-8013F4A48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8D7E7728-2F65-21BB-75EA-DC85F1702794}"/>
              </a:ext>
            </a:extLst>
          </p:cNvPr>
          <p:cNvSpPr txBox="1"/>
          <p:nvPr/>
        </p:nvSpPr>
        <p:spPr>
          <a:xfrm>
            <a:off x="107160" y="111065"/>
            <a:ext cx="10479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00FF"/>
                </a:solidFill>
              </a:rPr>
              <a:t>Raman Spectroscopy for Molecular Analysis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79CE45-6BCE-2239-B5AE-1719BC93AAE7}"/>
              </a:ext>
            </a:extLst>
          </p:cNvPr>
          <p:cNvSpPr txBox="1"/>
          <p:nvPr/>
        </p:nvSpPr>
        <p:spPr>
          <a:xfrm>
            <a:off x="245166" y="978496"/>
            <a:ext cx="113665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A non-destructive spectroscopic technique used to study molecular vibrations and chemical composition.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A50021"/>
                </a:solidFill>
              </a:rPr>
              <a:t>Based on inelastic scattering of monochromatic light (typically from a laser).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Provides molecular fingerprints for qualitative and quantitative analysis.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A50021"/>
                </a:solidFill>
              </a:rPr>
              <a:t>Useful for detecting chemical structures, polymorphs, and material phases.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dirty="0">
                <a:solidFill>
                  <a:srgbClr val="0000FF"/>
                </a:solidFill>
              </a:rPr>
              <a:t>Widely applied in biomedical diagnostics, pharmaceuticals, forensics, and materials science.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4AC77F-E921-C1C2-E1E1-7D2693E54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57" y="3607518"/>
            <a:ext cx="6310152" cy="3187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281142-F372-2760-B38C-FAEDD866D25D}"/>
              </a:ext>
            </a:extLst>
          </p:cNvPr>
          <p:cNvSpPr txBox="1"/>
          <p:nvPr/>
        </p:nvSpPr>
        <p:spPr>
          <a:xfrm>
            <a:off x="245166" y="4309844"/>
            <a:ext cx="5012633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2400" b="1" dirty="0">
                <a:solidFill>
                  <a:srgbClr val="A50021"/>
                </a:solidFill>
              </a:rPr>
              <a:t>Limitations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0000FF"/>
                </a:solidFill>
              </a:rPr>
              <a:t>Signal is weak, so bulk sample is required for detectable signal.</a:t>
            </a:r>
          </a:p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400" dirty="0">
                <a:solidFill>
                  <a:srgbClr val="A50021"/>
                </a:solidFill>
              </a:rPr>
              <a:t>Not suitable for trace analysis.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6A55718-9761-6A34-6A77-D192D486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554316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3C575-CB88-C1CA-2D6C-F8A946742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51962C0-DF21-6998-F161-D7ACE88A893C}"/>
              </a:ext>
            </a:extLst>
          </p:cNvPr>
          <p:cNvSpPr txBox="1"/>
          <p:nvPr/>
        </p:nvSpPr>
        <p:spPr>
          <a:xfrm>
            <a:off x="221872" y="159207"/>
            <a:ext cx="87955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b="1" dirty="0">
                <a:solidFill>
                  <a:srgbClr val="0000FF"/>
                </a:solidFill>
              </a:rPr>
              <a:t>Surface Enhanced Raman Scattering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7E6B03D-C120-B3C1-C691-7956280B979F}"/>
              </a:ext>
            </a:extLst>
          </p:cNvPr>
          <p:cNvSpPr txBox="1"/>
          <p:nvPr/>
        </p:nvSpPr>
        <p:spPr>
          <a:xfrm>
            <a:off x="221872" y="1080479"/>
            <a:ext cx="1096864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SERS enhances the Raman signal of trace molecules present at the nano-gaps on the sensor surface.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A50021"/>
                </a:solidFill>
              </a:rPr>
              <a:t>The enhancement is an effect of localized surface plasmonic resonance (LSPR) created by the noble metal nanoparticles on sensor surface.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0000FF"/>
                </a:solidFill>
              </a:rPr>
              <a:t>Two or more overlapping LSPR regions create ultrasensitive locations called ‘hotspots.’ 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800" dirty="0">
                <a:solidFill>
                  <a:srgbClr val="A50021"/>
                </a:solidFill>
              </a:rPr>
              <a:t>Such </a:t>
            </a:r>
            <a:r>
              <a:rPr lang="en-US" sz="2800" dirty="0" err="1">
                <a:solidFill>
                  <a:srgbClr val="A50021"/>
                </a:solidFill>
              </a:rPr>
              <a:t>nanosensors</a:t>
            </a:r>
            <a:r>
              <a:rPr lang="en-US" sz="2800" dirty="0">
                <a:solidFill>
                  <a:srgbClr val="A50021"/>
                </a:solidFill>
              </a:rPr>
              <a:t> may be used for trace contamination detection, trace biomarker detection for early diagnostics etc.</a:t>
            </a:r>
            <a:endParaRPr lang="en-US" sz="2800" dirty="0">
              <a:solidFill>
                <a:srgbClr val="0000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C32A45-58A2-1BFD-3A8F-76556918F6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858" y="4820239"/>
            <a:ext cx="3860270" cy="192016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9B0FFA5-7D6E-E614-5BEC-13E15EB1E8F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721"/>
          <a:stretch>
            <a:fillRect/>
          </a:stretch>
        </p:blipFill>
        <p:spPr>
          <a:xfrm>
            <a:off x="3960109" y="4959136"/>
            <a:ext cx="4341254" cy="188184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2C2DDA5-3017-4A03-7743-6698269234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68" t="29014" r="18482" b="19708"/>
          <a:stretch>
            <a:fillRect/>
          </a:stretch>
        </p:blipFill>
        <p:spPr>
          <a:xfrm>
            <a:off x="201545" y="5158755"/>
            <a:ext cx="3689923" cy="1548114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AE3FD5A-8F9B-A17C-2307-0A4905ECC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b="1" dirty="0"/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9062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WHERE THIS YEAR SITS IN THE FULL PROGRAMME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Overall Project Roadmap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characterization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08026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8842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8" name="Shape 6"/>
          <p:cNvSpPr/>
          <p:nvPr/>
        </p:nvSpPr>
        <p:spPr>
          <a:xfrm>
            <a:off x="2801722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9" name="Text 7"/>
          <p:cNvSpPr/>
          <p:nvPr/>
        </p:nvSpPr>
        <p:spPr>
          <a:xfrm>
            <a:off x="2865730" y="151790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modelling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5730" y="208026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1923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2" name="Shape 10"/>
          <p:cNvSpPr/>
          <p:nvPr/>
        </p:nvSpPr>
        <p:spPr>
          <a:xfrm>
            <a:off x="5054803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3" name="Text 11"/>
          <p:cNvSpPr/>
          <p:nvPr/>
        </p:nvSpPr>
        <p:spPr>
          <a:xfrm>
            <a:off x="5118811" y="151790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 Raman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reference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18811" y="208026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5005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6" name="Shape 14"/>
          <p:cNvSpPr/>
          <p:nvPr/>
        </p:nvSpPr>
        <p:spPr>
          <a:xfrm>
            <a:off x="7307885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7" name="Text 15"/>
          <p:cNvSpPr/>
          <p:nvPr/>
        </p:nvSpPr>
        <p:spPr>
          <a:xfrm>
            <a:off x="7371893" y="151790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substrate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development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1893" y="208026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8086" y="200710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20" name="Shape 18"/>
          <p:cNvSpPr/>
          <p:nvPr/>
        </p:nvSpPr>
        <p:spPr>
          <a:xfrm>
            <a:off x="9560966" y="146304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21" name="Text 19"/>
          <p:cNvSpPr/>
          <p:nvPr/>
        </p:nvSpPr>
        <p:spPr>
          <a:xfrm>
            <a:off x="9624974" y="151790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biomarker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testing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24974" y="208026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In progress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48640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24" name="Text 22"/>
          <p:cNvSpPr/>
          <p:nvPr/>
        </p:nvSpPr>
        <p:spPr>
          <a:xfrm>
            <a:off x="612648" y="307238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Reproducible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detection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" y="363474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Next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618842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27" name="Shape 25"/>
          <p:cNvSpPr/>
          <p:nvPr/>
        </p:nvSpPr>
        <p:spPr>
          <a:xfrm>
            <a:off x="2801722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28" name="Text 26"/>
          <p:cNvSpPr/>
          <p:nvPr/>
        </p:nvSpPr>
        <p:spPr>
          <a:xfrm>
            <a:off x="2865730" y="307238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Bacterial isolate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validation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65730" y="363474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71923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31" name="Shape 29"/>
          <p:cNvSpPr/>
          <p:nvPr/>
        </p:nvSpPr>
        <p:spPr>
          <a:xfrm>
            <a:off x="5054803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32" name="Text 30"/>
          <p:cNvSpPr/>
          <p:nvPr/>
        </p:nvSpPr>
        <p:spPr>
          <a:xfrm>
            <a:off x="5118811" y="307238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Clinical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validation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5118811" y="363474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25005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35" name="Shape 33"/>
          <p:cNvSpPr/>
          <p:nvPr/>
        </p:nvSpPr>
        <p:spPr>
          <a:xfrm>
            <a:off x="7307885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36" name="Text 34"/>
          <p:cNvSpPr/>
          <p:nvPr/>
        </p:nvSpPr>
        <p:spPr>
          <a:xfrm>
            <a:off x="7371893" y="307238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AI / ML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classification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71893" y="363474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9378086" y="35615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39" name="Shape 37"/>
          <p:cNvSpPr/>
          <p:nvPr/>
        </p:nvSpPr>
        <p:spPr>
          <a:xfrm>
            <a:off x="9560966" y="3017520"/>
            <a:ext cx="2051914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40" name="Text 38"/>
          <p:cNvSpPr/>
          <p:nvPr/>
        </p:nvSpPr>
        <p:spPr>
          <a:xfrm>
            <a:off x="9624974" y="3072384"/>
            <a:ext cx="1923898" cy="592531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Point-of-care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4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prototype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624974" y="3634740"/>
            <a:ext cx="1923898" cy="56784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48640" y="46634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868680" y="4864608"/>
            <a:ext cx="104241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Position after year one: 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computational and experimental Raman foundation is in place and the sensing hardware exists and is validated. The programme now turns from </a:t>
            </a:r>
            <a:r>
              <a:rPr lang="en-US" sz="20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building the capability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 to </a:t>
            </a: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achieving reproducible biomarker detection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 — the gateway to all later phases.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 Characterization Workflow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5" name="Text 3"/>
          <p:cNvSpPr/>
          <p:nvPr/>
        </p:nvSpPr>
        <p:spPr>
          <a:xfrm>
            <a:off x="612648" y="1563624"/>
            <a:ext cx="1923898" cy="7022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/ LPS / LTA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selected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240280"/>
            <a:ext cx="1923898" cy="6729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Gram +/- cell-wall targets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18842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8" name="Shape 6"/>
          <p:cNvSpPr/>
          <p:nvPr/>
        </p:nvSpPr>
        <p:spPr>
          <a:xfrm>
            <a:off x="2801722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2865730" y="1563625"/>
            <a:ext cx="1923898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modelling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5730" y="1996793"/>
            <a:ext cx="1923898" cy="7461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Full molecule (NAM)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Fragments (LPS, LTA)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71923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2" name="Shape 10"/>
          <p:cNvSpPr/>
          <p:nvPr/>
        </p:nvSpPr>
        <p:spPr>
          <a:xfrm>
            <a:off x="5054803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3" name="Text 11"/>
          <p:cNvSpPr/>
          <p:nvPr/>
        </p:nvSpPr>
        <p:spPr>
          <a:xfrm>
            <a:off x="5118811" y="1563624"/>
            <a:ext cx="1923898" cy="7022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 Raman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measurement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118811" y="2240280"/>
            <a:ext cx="1923898" cy="6729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Acquisition optimized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by SNR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125005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6" name="Shape 14"/>
          <p:cNvSpPr/>
          <p:nvPr/>
        </p:nvSpPr>
        <p:spPr>
          <a:xfrm>
            <a:off x="7307885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7" name="Text 15"/>
          <p:cNvSpPr/>
          <p:nvPr/>
        </p:nvSpPr>
        <p:spPr>
          <a:xfrm>
            <a:off x="7371893" y="1563624"/>
            <a:ext cx="1923898" cy="7022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Reference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spectrum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71893" y="2240280"/>
            <a:ext cx="1923898" cy="6729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Theory vs. experiment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comparison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8086" y="216712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0" name="Shape 18"/>
          <p:cNvSpPr/>
          <p:nvPr/>
        </p:nvSpPr>
        <p:spPr>
          <a:xfrm>
            <a:off x="9560966" y="1508760"/>
            <a:ext cx="2051914" cy="146304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1" name="Text 19"/>
          <p:cNvSpPr/>
          <p:nvPr/>
        </p:nvSpPr>
        <p:spPr>
          <a:xfrm>
            <a:off x="9624974" y="1563624"/>
            <a:ext cx="1923898" cy="70225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testing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24974" y="2240280"/>
            <a:ext cx="1923898" cy="67299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On fabricated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substrates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Applied per biomarker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506810"/>
              </p:ext>
            </p:extLst>
          </p:nvPr>
        </p:nvGraphicFramePr>
        <p:xfrm>
          <a:off x="548640" y="3771798"/>
          <a:ext cx="11064240" cy="2672080"/>
        </p:xfrm>
        <a:graphic>
          <a:graphicData uri="http://schemas.openxmlformats.org/drawingml/2006/table">
            <a:tbl>
              <a:tblPr/>
              <a:tblGrid>
                <a:gridCol w="112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25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332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Biomarker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DFT approach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Pure Raman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Reference outcome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SERS stage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NAM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Full-molecule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Optimized powder Raman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(25 s, 80% power, SNR 95.91)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30/41 matched, MAE 5.73 cm⁻¹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643 cm⁻¹ candidate (net +16.8% vs. blank)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LPS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5-fragment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Optimized powder Raman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(60 s, 20% power, 30 acc.)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26/43 peaks matched (Hungarian), MAE 3.9 cm⁻¹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Not yet performed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LTA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3-fragment DFT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Powder Raman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5/7 bands DFT-supported; 1093.2 cm⁻¹ strongest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Trial on Sensor 2 — artifacts screened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METHODOLOGY · HOW MEASUREMENTS ARE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 dirty="0">
                <a:solidFill>
                  <a:srgbClr val="0000FF"/>
                </a:solidFill>
                <a:latin typeface="Arial" panose="020B0604020202020204"/>
              </a:rPr>
              <a:t>Raman &amp; SERS Experimental Setup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282662"/>
              </p:ext>
            </p:extLst>
          </p:nvPr>
        </p:nvGraphicFramePr>
        <p:xfrm>
          <a:off x="548640" y="1417320"/>
          <a:ext cx="11064240" cy="31272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6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Parameter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Detail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Spectrometer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B&amp;W Tek (Metrohm) i-Raman Plus, BWS465-785H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Excitation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785 nm laser, Class 3B, 2048-pixel detector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Resolution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≈1.4 cm⁻¹ / pixel; range ≈ −46 to 2842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Objective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20× Plan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Substrate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Ag-coated etched-Si (“black-Si”) SERS chip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Sample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Analyte or R6G, drop-cast on substrate, air-dried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Laser power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Set via 0–100 instrument scale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Acquisition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5–60 s integration, 3–30 accumulations, 400–1800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0" i="0" spc="120">
                <a:solidFill>
                  <a:srgbClr val="C00000"/>
                </a:solidFill>
                <a:latin typeface="Arial" panose="020B0604020202020204"/>
              </a:rPr>
              <a:t>METHODOLOGY · THE SENSING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SERS Substrate: Physical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12600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Si wafer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00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Bare crystalline silicon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55520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420112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84072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HF / AgNO₃ etch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4072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One-step MACE bath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26992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1584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55544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Black-Si + 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5544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Etched, silver-coated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98464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163056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27016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Analyte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16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Drop-cast, air-dried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69936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034528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098488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785 nm laser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8488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Excitation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41408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906000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969960" y="1472184"/>
            <a:ext cx="157896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 i="0">
                <a:solidFill>
                  <a:srgbClr val="000000"/>
                </a:solidFill>
                <a:latin typeface="Arial" panose="020B0604020202020204"/>
              </a:rPr>
              <a:t>Enhanced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960" y="2103120"/>
            <a:ext cx="1578960" cy="6309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0" i="0">
                <a:solidFill>
                  <a:srgbClr val="000000"/>
                </a:solidFill>
                <a:latin typeface="Arial" panose="020B0604020202020204"/>
              </a:rPr>
              <a:t>Plasmonic 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3880" y="5609360"/>
            <a:ext cx="11064240" cy="7238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ts val="17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400" b="0" i="0" dirty="0">
                <a:solidFill>
                  <a:srgbClr val="000000"/>
                </a:solidFill>
                <a:latin typeface="Arial" panose="020B0604020202020204"/>
              </a:rPr>
              <a:t>Two substrate </a:t>
            </a:r>
            <a:r>
              <a:rPr lang="en-IN" sz="1400" dirty="0">
                <a:solidFill>
                  <a:srgbClr val="000000"/>
                </a:solidFill>
                <a:latin typeface="Arial" panose="020B0604020202020204"/>
              </a:rPr>
              <a:t>types</a:t>
            </a:r>
            <a:r>
              <a:rPr sz="1400" b="0" i="0" dirty="0">
                <a:solidFill>
                  <a:srgbClr val="000000"/>
                </a:solidFill>
                <a:latin typeface="Arial" panose="020B0604020202020204"/>
              </a:rPr>
              <a:t> validated as SERS-active with R6G: Sensor 1 (Ag/Si) and Sensor 2 (Ag/black-Si, MACE) — 2-minute etch gave the strongest response.</a:t>
            </a:r>
          </a:p>
          <a:p>
            <a:pPr marL="228600" indent="-228600">
              <a:lnSpc>
                <a:spcPts val="17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1400" b="0" i="0" dirty="0">
                <a:solidFill>
                  <a:srgbClr val="000000"/>
                </a:solidFill>
                <a:latin typeface="Arial" panose="020B0604020202020204"/>
              </a:rPr>
              <a:t>Silver is deposited and silicon is etched simultaneously in one bath (metal-assisted chemical etching) — no separate deposition step.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3ECE479C-4812-ABDB-0861-08F8AF46A2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910" t="30666" r="31712" b="13995"/>
          <a:stretch>
            <a:fillRect/>
          </a:stretch>
        </p:blipFill>
        <p:spPr>
          <a:xfrm>
            <a:off x="727858" y="2866706"/>
            <a:ext cx="876883" cy="188199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E0EEC08-C056-A5A2-B0C4-DBDBE6A109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44" t="22251" r="60663" b="40241"/>
          <a:stretch>
            <a:fillRect/>
          </a:stretch>
        </p:blipFill>
        <p:spPr>
          <a:xfrm>
            <a:off x="2038640" y="3322583"/>
            <a:ext cx="2088352" cy="130000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95603665-8CA6-CA09-9F65-472ADF6B139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727" t="49998" r="9766" b="15081"/>
          <a:stretch>
            <a:fillRect/>
          </a:stretch>
        </p:blipFill>
        <p:spPr>
          <a:xfrm>
            <a:off x="4374332" y="3348256"/>
            <a:ext cx="1541383" cy="1193584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192EA065-6B06-CF6F-4D8C-2EA06A9B201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6867" t="46775" r="26414" b="19262"/>
          <a:stretch>
            <a:fillRect/>
          </a:stretch>
        </p:blipFill>
        <p:spPr>
          <a:xfrm>
            <a:off x="6272754" y="3303153"/>
            <a:ext cx="1597182" cy="1296295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EC8C380C-E21F-9F9D-C3E1-10299E80063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92" y="3304968"/>
            <a:ext cx="1706880" cy="1280160"/>
          </a:xfrm>
          <a:prstGeom prst="rect">
            <a:avLst/>
          </a:prstGeom>
        </p:spPr>
      </p:pic>
      <p:pic>
        <p:nvPicPr>
          <p:cNvPr id="43" name="Image 1" descr="/sessions/dreamy-funny-johnson/mnt/outputs/ppt_build/media/image34.png">
            <a:extLst>
              <a:ext uri="{FF2B5EF4-FFF2-40B4-BE49-F238E27FC236}">
                <a16:creationId xmlns:a16="http://schemas.microsoft.com/office/drawing/2014/main" id="{47BCCC4A-2BBC-A5D2-BA85-D5F6EB2DA8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70227" y="3405656"/>
            <a:ext cx="1760218" cy="10058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DEVELOPMENT STORY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Substrate Development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Ag/Si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571500" y="2115818"/>
            <a:ext cx="1630680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AgNO₃-assisted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reduction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43328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8" name="Shape 6"/>
          <p:cNvSpPr/>
          <p:nvPr/>
        </p:nvSpPr>
        <p:spPr>
          <a:xfrm>
            <a:off x="2426208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2490216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validation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90216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activity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confirmed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20896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2" name="Shape 10"/>
          <p:cNvSpPr/>
          <p:nvPr/>
        </p:nvSpPr>
        <p:spPr>
          <a:xfrm>
            <a:off x="4303776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3" name="Text 11"/>
          <p:cNvSpPr/>
          <p:nvPr/>
        </p:nvSpPr>
        <p:spPr>
          <a:xfrm>
            <a:off x="4367784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2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Ag/black-Si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67784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MACE with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HF + AgNO₃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98464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7" name="Text 15"/>
          <p:cNvSpPr/>
          <p:nvPr/>
        </p:nvSpPr>
        <p:spPr>
          <a:xfrm>
            <a:off x="6245352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Etch-time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optimization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45352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 / 5 / 10 min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compared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76032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1" name="Text 19"/>
          <p:cNvSpPr/>
          <p:nvPr/>
        </p:nvSpPr>
        <p:spPr>
          <a:xfrm>
            <a:off x="8122920" y="1455149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Best condition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2-minute etch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04632" y="2105626"/>
            <a:ext cx="1585498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highest response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among variants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53600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4" name="Shape 22"/>
          <p:cNvSpPr/>
          <p:nvPr/>
        </p:nvSpPr>
        <p:spPr>
          <a:xfrm>
            <a:off x="993648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5" name="Text 23"/>
          <p:cNvSpPr/>
          <p:nvPr/>
        </p:nvSpPr>
        <p:spPr>
          <a:xfrm>
            <a:off x="10000488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trials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00488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and LTA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evaluated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27" name="Image 0" descr="/sessions/dreamy-funny-johnson/mnt/outputs/ppt_build/media/image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574" y="3108960"/>
            <a:ext cx="4256532" cy="2432304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48640" y="5541264"/>
            <a:ext cx="5170843" cy="8869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on Sensor 2 across the three etch times: the 2-minute substrate gives the strongest response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29" name="Image 1" descr="/sessions/dreamy-funny-johnson/mnt/outputs/ppt_build/media/image3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4274" y="3108960"/>
            <a:ext cx="4256532" cy="2432304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472518" y="5541263"/>
            <a:ext cx="5140362" cy="39337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and NAM on the best-performing 2-minute etch substrate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SUBSTRATE OPTIMIZATION METHOD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Optimization of Silicon Etching Time Using R6G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5" name="Text 3"/>
          <p:cNvSpPr/>
          <p:nvPr/>
        </p:nvSpPr>
        <p:spPr>
          <a:xfrm>
            <a:off x="612648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Si substrate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612648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Bare silicon wafer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243328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8" name="Shape 6"/>
          <p:cNvSpPr/>
          <p:nvPr/>
        </p:nvSpPr>
        <p:spPr>
          <a:xfrm>
            <a:off x="2426208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9" name="Text 7"/>
          <p:cNvSpPr/>
          <p:nvPr/>
        </p:nvSpPr>
        <p:spPr>
          <a:xfrm>
            <a:off x="2490216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HF etching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90216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 / 3 / 5 / 10 min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120896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2" name="Shape 10"/>
          <p:cNvSpPr/>
          <p:nvPr/>
        </p:nvSpPr>
        <p:spPr>
          <a:xfrm>
            <a:off x="4303776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3" name="Text 11"/>
          <p:cNvSpPr/>
          <p:nvPr/>
        </p:nvSpPr>
        <p:spPr>
          <a:xfrm>
            <a:off x="4367784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 NP deposition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67784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AgNO₃ reduction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98464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6" name="Shape 14"/>
          <p:cNvSpPr/>
          <p:nvPr/>
        </p:nvSpPr>
        <p:spPr>
          <a:xfrm>
            <a:off x="6181344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17" name="Text 15"/>
          <p:cNvSpPr/>
          <p:nvPr/>
        </p:nvSpPr>
        <p:spPr>
          <a:xfrm>
            <a:off x="6245352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dilution series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225990" y="2148840"/>
            <a:ext cx="1621536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High → medium → low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876032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0" name="Shape 18"/>
          <p:cNvSpPr/>
          <p:nvPr/>
        </p:nvSpPr>
        <p:spPr>
          <a:xfrm>
            <a:off x="8058912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1" name="Text 19"/>
          <p:cNvSpPr/>
          <p:nvPr/>
        </p:nvSpPr>
        <p:spPr>
          <a:xfrm>
            <a:off x="8122920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Raman / SERS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2920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Signal + peak quality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53600" y="207568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4" name="Shape 22"/>
          <p:cNvSpPr/>
          <p:nvPr/>
        </p:nvSpPr>
        <p:spPr>
          <a:xfrm>
            <a:off x="9936480" y="1463040"/>
            <a:ext cx="1676400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pPr>
              <a:lnSpc>
                <a:spcPct val="80000"/>
              </a:lnSpc>
            </a:pPr>
            <a:endParaRPr lang="en-IN" sz="3200"/>
          </a:p>
        </p:txBody>
      </p:sp>
      <p:sp>
        <p:nvSpPr>
          <p:cNvPr id="25" name="Text 23"/>
          <p:cNvSpPr/>
          <p:nvPr/>
        </p:nvSpPr>
        <p:spPr>
          <a:xfrm>
            <a:off x="10000488" y="1517904"/>
            <a:ext cx="1548384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Optimum condition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10000488" y="2148840"/>
            <a:ext cx="1548384" cy="6309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Best etch + detection limit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ct val="80000"/>
              </a:lnSpc>
              <a:buNone/>
            </a:pP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Text 2"/>
          <p:cNvSpPr/>
          <p:nvPr/>
        </p:nvSpPr>
        <p:spPr>
          <a:xfrm>
            <a:off x="548640" y="3450000"/>
            <a:ext cx="5486400" cy="2000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Effect of etching time on Ag nanoparticle formation and SERS enhancement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Lowest detectable R6G concentration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Optimum substrate condition giving strong, reproducible and well-defined peaks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8" name="TextBox 26"/>
          <p:cNvSpPr txBox="1"/>
          <p:nvPr/>
        </p:nvSpPr>
        <p:spPr>
          <a:xfrm>
            <a:off x="548640" y="3108960"/>
            <a:ext cx="2597571" cy="30777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2000" b="1" dirty="0">
                <a:latin typeface="Arial" panose="020B0604020202020204"/>
              </a:rPr>
              <a:t>What we're determining</a:t>
            </a: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007991"/>
              </p:ext>
            </p:extLst>
          </p:nvPr>
        </p:nvGraphicFramePr>
        <p:xfrm>
          <a:off x="6172200" y="3108960"/>
          <a:ext cx="5440680" cy="2590800"/>
        </p:xfrm>
        <a:graphic>
          <a:graphicData uri="http://schemas.openxmlformats.org/drawingml/2006/table">
            <a:tbl>
              <a:tblPr/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0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Etching time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R6G concentration series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Response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2 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High → 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Compare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3 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High → 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Compare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5 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High → 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Compare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10 min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High → Low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Compare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" name="TextBox 27"/>
          <p:cNvSpPr txBox="1"/>
          <p:nvPr/>
        </p:nvSpPr>
        <p:spPr>
          <a:xfrm>
            <a:off x="548640" y="5700000"/>
            <a:ext cx="11064240" cy="6155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i="1">
                <a:latin typeface="Arial" panose="020B0604020202020204"/>
              </a:rPr>
              <a:t>Optimum substrate condition = the etching condition showing the highest and most reproducible R6G SERS response at low concentration.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CONFIRMING THE HARDWARE WORKS, BEFORE TESTING BIOMARKERS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— Substrate Validation Probe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26775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90282" y="1427717"/>
            <a:ext cx="1060255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is a SERS substrate validation probe — not a sepsis biomarker.  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Its SERS activity confirms the substrate functions; it is not evidence of biomarker detection.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0" descr="/sessions/dreamy-funny-johnson/mnt/outputs/ppt_build/media/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041" y="2240280"/>
            <a:ext cx="4465597" cy="28895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512978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 — R6G concentration-response, 1 nM–1 mM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8" name="Image 1" descr="/sessions/dreamy-funny-johnson/mnt/outputs/ppt_build/media/image3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4224" y="2240280"/>
            <a:ext cx="5056632" cy="28895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172200" y="5129784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2 — R6G response across 2, 5 and 10-minute etch substrates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548640" y="5532120"/>
            <a:ext cx="5440680" cy="8686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1" name="Text 7"/>
          <p:cNvSpPr/>
          <p:nvPr/>
        </p:nvSpPr>
        <p:spPr>
          <a:xfrm>
            <a:off x="777240" y="5623560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 (Ag/Si)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8"/>
          <p:cNvSpPr/>
          <p:nvPr/>
        </p:nvSpPr>
        <p:spPr>
          <a:xfrm>
            <a:off x="777240" y="5933382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SERS-active; measurable concentration response across the tested R6G range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172200" y="5532120"/>
            <a:ext cx="5440680" cy="8686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800"/>
          </a:p>
        </p:txBody>
      </p:sp>
      <p:sp>
        <p:nvSpPr>
          <p:cNvPr id="14" name="Text 10"/>
          <p:cNvSpPr/>
          <p:nvPr/>
        </p:nvSpPr>
        <p:spPr>
          <a:xfrm>
            <a:off x="6400800" y="5623560"/>
            <a:ext cx="4983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2 (Ag/black-Si, MACE)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400800" y="5942347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8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SERS-active; 2-minute etch best among the three variants (SNR ≈343 vs. 188 at 10 min vs. 38 at 5 min)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SAMPLE PREPARATION · HIGH PRIORITY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Sample Preparation and Concentration Series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9075059"/>
              </p:ext>
            </p:extLst>
          </p:nvPr>
        </p:nvGraphicFramePr>
        <p:xfrm>
          <a:off x="548640" y="1363530"/>
          <a:ext cx="10468984" cy="20504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230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181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4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58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664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0000">
                <a:tc>
                  <a:txBody>
                    <a:bodyPr/>
                    <a:lstStyle/>
                    <a:p>
                      <a:pPr marL="0" indent="0"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Biomarker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800" b="1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Stock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Solvent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Concentrations tested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800" b="1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Deposition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NAM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 mg/mL (3.41 mM)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 water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 mg/mL 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2–3 µL/spot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LPS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 mg/mL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 water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>
                          <a:solidFill>
                            <a:srgbClr val="000000"/>
                          </a:solidFill>
                          <a:latin typeface="Arial" panose="020B0604020202020204"/>
                          <a:sym typeface="+mn-ea"/>
                        </a:rPr>
                        <a:t>1 mg/mL </a:t>
                      </a:r>
                      <a:endParaRPr sz="1800" b="0" i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  <a:p>
                      <a:pPr marL="0" indent="0"/>
                      <a:endParaRPr sz="1800" b="0" i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2.0 µL/spot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LTA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 mg/mL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 water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IN"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-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IN" sz="18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-</a:t>
                      </a:r>
                      <a:endParaRPr sz="1800" b="0" i="0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726519"/>
            <a:ext cx="11064240" cy="224676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Powder weighed on an analytical balance (±0.1 mg), dissolved directly in DI water — chosen over PBS/DMSO/ethanol so phosphate peaks don't overlap the 800–1100 cm⁻¹ fingerprint region.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LPS and LTA solutions are characteristically hazy (micelle formation) — normal, and not filtered out.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LPS/LTA vortexed (2 min) and bath-sonicated (5–15 min) at the stock stage and before every dilution.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Deposited inside a hydrophobic barrier ring (black-Si is superhydrophilic), then air-dried.</a:t>
            </a:r>
          </a:p>
          <a:p>
            <a:pPr marL="228600" indent="-228600">
              <a:lnSpc>
                <a:spcPct val="900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Measurement order per substrate: same-session blank → R6G activity check → analyte across ≥3 (commonly ≥9) spots.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METHODOLOGY · WHY DILUTE?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Rationale for Systematic Dilution Study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12600" y="1472184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High concentration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00" y="2103120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Dense analyte at surface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255520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ounded Rectangle 7"/>
          <p:cNvSpPr/>
          <p:nvPr/>
        </p:nvSpPr>
        <p:spPr>
          <a:xfrm>
            <a:off x="2420112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2484072" y="1472184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Possible crowding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84072" y="2103120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Interaction (hypothesis)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26992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4291584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4355544" y="1472184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Systematic dilution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55544" y="2103120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Stepwise decade series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98464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6163056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6227016" y="1472184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Reduced interaction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27016" y="2103120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...and reduced signal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869936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ounded Rectangle 19"/>
          <p:cNvSpPr/>
          <p:nvPr/>
        </p:nvSpPr>
        <p:spPr>
          <a:xfrm>
            <a:off x="8034528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8098488" y="1472184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Compare SNR &amp; shape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8488" y="2103120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Across concentrations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741408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4" name="Rounded Rectangle 23"/>
          <p:cNvSpPr/>
          <p:nvPr/>
        </p:nvSpPr>
        <p:spPr>
          <a:xfrm>
            <a:off x="9906000" y="1417320"/>
            <a:ext cx="1706880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5" name="TextBox 24"/>
          <p:cNvSpPr txBox="1"/>
          <p:nvPr/>
        </p:nvSpPr>
        <p:spPr>
          <a:xfrm>
            <a:off x="9969960" y="1409429"/>
            <a:ext cx="157896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 dirty="0">
                <a:solidFill>
                  <a:srgbClr val="000000"/>
                </a:solidFill>
                <a:latin typeface="Arial" panose="020B0604020202020204"/>
              </a:rPr>
              <a:t>Optimum concentration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9960" y="1914855"/>
            <a:ext cx="1578960" cy="830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 dirty="0">
                <a:solidFill>
                  <a:srgbClr val="000000"/>
                </a:solidFill>
                <a:latin typeface="Arial" panose="020B0604020202020204"/>
              </a:rPr>
              <a:t>Lowest reproducible spectrum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36495"/>
            <a:ext cx="11064240" cy="2312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lnSpc>
                <a:spcPts val="1700"/>
              </a:lnSpc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>
                <a:solidFill>
                  <a:srgbClr val="000000"/>
                </a:solidFill>
                <a:latin typeface="Arial" panose="020B0604020202020204"/>
              </a:rPr>
              <a:t>Systematic dilution separates three possible causes of a weak or absent signal: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86495"/>
            <a:ext cx="3627120" cy="85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9" name="TextBox 28"/>
          <p:cNvSpPr txBox="1"/>
          <p:nvPr/>
        </p:nvSpPr>
        <p:spPr>
          <a:xfrm>
            <a:off x="868680" y="3895998"/>
            <a:ext cx="298704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① Insufficient enhancement</a:t>
            </a:r>
          </a:p>
          <a:p>
            <a:r>
              <a:rPr sz="1400" b="0" i="0">
                <a:solidFill>
                  <a:srgbClr val="000000"/>
                </a:solidFill>
                <a:latin typeface="Arial" panose="020B0604020202020204"/>
              </a:rPr>
              <a:t>The substrate itself is under-performing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67200" y="3886495"/>
            <a:ext cx="3627120" cy="85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1" name="TextBox 30"/>
          <p:cNvSpPr txBox="1"/>
          <p:nvPr/>
        </p:nvSpPr>
        <p:spPr>
          <a:xfrm>
            <a:off x="4587240" y="3895998"/>
            <a:ext cx="298704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② Too little analyte</a:t>
            </a:r>
          </a:p>
          <a:p>
            <a:r>
              <a:rPr sz="1400" b="0" i="0">
                <a:solidFill>
                  <a:srgbClr val="000000"/>
                </a:solidFill>
                <a:latin typeface="Arial" panose="020B0604020202020204"/>
              </a:rPr>
              <a:t>Not enough molecules reach the surface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85760" y="3886495"/>
            <a:ext cx="3627120" cy="85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33" name="TextBox 32"/>
          <p:cNvSpPr txBox="1"/>
          <p:nvPr/>
        </p:nvSpPr>
        <p:spPr>
          <a:xfrm>
            <a:off x="8305800" y="3895997"/>
            <a:ext cx="298704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>
                <a:solidFill>
                  <a:srgbClr val="000000"/>
                </a:solidFill>
                <a:latin typeface="Arial" panose="020B0604020202020204"/>
              </a:rPr>
              <a:t>③ Poor adsorption chemistry</a:t>
            </a:r>
          </a:p>
          <a:p>
            <a:r>
              <a:rPr sz="1400" b="0" i="0">
                <a:solidFill>
                  <a:srgbClr val="000000"/>
                </a:solidFill>
                <a:latin typeface="Arial" panose="020B0604020202020204"/>
              </a:rPr>
              <a:t>Analyte doesn't stick to bare silver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PLANNED EXPERIMENT ·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Effect of Biomarker Concentration on Raman/SERS Response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65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80420" y="1434544"/>
            <a:ext cx="10642002" cy="6155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700" b="1" i="0" dirty="0">
                <a:solidFill>
                  <a:srgbClr val="000000"/>
                </a:solidFill>
                <a:latin typeface="Arial" panose="020B0604020202020204"/>
              </a:rPr>
              <a:t>Planned experiment — not yet completed.  </a:t>
            </a:r>
            <a:r>
              <a:rPr sz="1700" b="0" i="0" dirty="0">
                <a:solidFill>
                  <a:srgbClr val="000000"/>
                </a:solidFill>
                <a:latin typeface="Arial" panose="020B0604020202020204"/>
              </a:rPr>
              <a:t>Concentration-dependent SERS response has not yet been systematically measured for NAM, LPS, or LTA; the design below defines how it will be executed.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1174569"/>
              </p:ext>
            </p:extLst>
          </p:nvPr>
        </p:nvGraphicFramePr>
        <p:xfrm>
          <a:off x="1004434" y="2627489"/>
          <a:ext cx="4800000" cy="2694432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Step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Concentration (mg/mL)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Stock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Dilution 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0.1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Dilution 2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0.01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Dilution 3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0.001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Dilution 4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0.0001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Dilution 5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0.00001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651196" y="2627489"/>
            <a:ext cx="4537801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700" b="1" i="0" dirty="0">
                <a:solidFill>
                  <a:srgbClr val="000000"/>
                </a:solidFill>
                <a:latin typeface="Arial" panose="020B0604020202020204"/>
              </a:rPr>
              <a:t>Parameters to be tracked at each step: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1197" y="3138659"/>
            <a:ext cx="4025768" cy="215443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28600" indent="-2286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 dirty="0">
                <a:solidFill>
                  <a:srgbClr val="000000"/>
                </a:solidFill>
                <a:latin typeface="Arial" panose="020B0604020202020204"/>
              </a:rPr>
              <a:t>Peak intensity (height &amp; area)</a:t>
            </a:r>
          </a:p>
          <a:p>
            <a:pPr marL="228600" indent="-2286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 dirty="0">
                <a:solidFill>
                  <a:srgbClr val="000000"/>
                </a:solidFill>
                <a:latin typeface="Arial" panose="020B0604020202020204"/>
              </a:rPr>
              <a:t>SNR (≥ 3 detection threshold)</a:t>
            </a:r>
          </a:p>
          <a:p>
            <a:pPr marL="228600" indent="-2286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 dirty="0">
                <a:solidFill>
                  <a:srgbClr val="000000"/>
                </a:solidFill>
                <a:latin typeface="Arial" panose="020B0604020202020204"/>
              </a:rPr>
              <a:t>Peak position (±5 cm⁻¹ tolerance)</a:t>
            </a:r>
          </a:p>
          <a:p>
            <a:pPr marL="228600" indent="-2286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 dirty="0">
                <a:solidFill>
                  <a:srgbClr val="000000"/>
                </a:solidFill>
                <a:latin typeface="Arial" panose="020B0604020202020204"/>
              </a:rPr>
              <a:t>Peak appearance / disappearance</a:t>
            </a:r>
          </a:p>
          <a:p>
            <a:pPr marL="228600" indent="-228600">
              <a:spcAft>
                <a:spcPts val="600"/>
              </a:spcAft>
              <a:buFont typeface="Wingdings" panose="05000000000000000000" pitchFamily="2" charset="2"/>
              <a:buChar char="v"/>
            </a:pPr>
            <a:r>
              <a:rPr sz="2000" b="0" i="0" dirty="0">
                <a:solidFill>
                  <a:srgbClr val="000000"/>
                </a:solidFill>
                <a:latin typeface="Arial" panose="020B0604020202020204"/>
              </a:rPr>
              <a:t>Reproducibility (spot-to-spot &amp; substrate-to-substrate, CV)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15A368-FE48-0C5A-5D07-8ACB0CAD6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6588" y="522514"/>
            <a:ext cx="7360024" cy="62586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EB52FD-F550-5A2E-6E69-25A0D7A78783}"/>
              </a:ext>
            </a:extLst>
          </p:cNvPr>
          <p:cNvSpPr txBox="1"/>
          <p:nvPr/>
        </p:nvSpPr>
        <p:spPr>
          <a:xfrm>
            <a:off x="537882" y="230022"/>
            <a:ext cx="27730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b="1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Preprocessing Workflow</a:t>
            </a:r>
          </a:p>
        </p:txBody>
      </p:sp>
    </p:spTree>
    <p:extLst>
      <p:ext uri="{BB962C8B-B14F-4D97-AF65-F5344CB8AC3E}">
        <p14:creationId xmlns:p14="http://schemas.microsoft.com/office/powerpoint/2010/main" val="29152704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TARGET SELECTION RATIONALE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Why NAM, LTA and LPS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0F0F0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417320"/>
            <a:ext cx="3639312" cy="960120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74520"/>
            <a:ext cx="3639312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63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NAM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6596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N-Acetylmuramic Acid</a:t>
            </a:r>
            <a:endParaRPr lang="en-US" dirty="0"/>
          </a:p>
        </p:txBody>
      </p:sp>
      <p:sp>
        <p:nvSpPr>
          <p:cNvPr id="9" name="Text 7"/>
          <p:cNvSpPr txBox="1"/>
          <p:nvPr/>
        </p:nvSpPr>
        <p:spPr>
          <a:xfrm>
            <a:off x="677551" y="251460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A sugar unique to the peptidoglycan backbone of the bacterial cell wall — present in both Gram-positive and Gram-negative bacteria, absent from human biomolecules.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79392" y="141732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0F0F0"/>
          </a:solidFill>
          <a:ln/>
        </p:spPr>
      </p:sp>
      <p:sp>
        <p:nvSpPr>
          <p:cNvPr id="11" name="Shape 9"/>
          <p:cNvSpPr/>
          <p:nvPr/>
        </p:nvSpPr>
        <p:spPr>
          <a:xfrm>
            <a:off x="4279392" y="1417320"/>
            <a:ext cx="3639312" cy="960120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9392" y="1874520"/>
            <a:ext cx="3639312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07992" y="1463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LTA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507992" y="196596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Lipoteichoic Acid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4499743" y="251460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A defining structural component of the Gram-positive cell wall, anchored in the cytoplasmic membrane and threaded through the peptidoglycan layer.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8101584" y="1417320"/>
            <a:ext cx="3639312" cy="4206240"/>
          </a:xfrm>
          <a:prstGeom prst="roundRect">
            <a:avLst>
              <a:gd name="adj" fmla="val 2513"/>
            </a:avLst>
          </a:prstGeom>
          <a:solidFill>
            <a:srgbClr val="F0F0F0"/>
          </a:solidFill>
          <a:ln/>
        </p:spPr>
      </p:sp>
      <p:sp>
        <p:nvSpPr>
          <p:cNvPr id="17" name="Shape 15"/>
          <p:cNvSpPr/>
          <p:nvPr/>
        </p:nvSpPr>
        <p:spPr>
          <a:xfrm>
            <a:off x="8101584" y="1417320"/>
            <a:ext cx="3639312" cy="960120"/>
          </a:xfrm>
          <a:prstGeom prst="roundRect">
            <a:avLst>
              <a:gd name="adj" fmla="val 9524"/>
            </a:avLst>
          </a:prstGeom>
          <a:solidFill>
            <a:srgbClr val="00000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01584" y="1874520"/>
            <a:ext cx="3639312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30184" y="1463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LPS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1965960"/>
            <a:ext cx="3182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FFFF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Lipopolysaccharide</a:t>
            </a:r>
            <a:endParaRPr lang="en-US" dirty="0"/>
          </a:p>
        </p:txBody>
      </p:sp>
      <p:sp>
        <p:nvSpPr>
          <p:cNvPr id="21" name="Text 19"/>
          <p:cNvSpPr txBox="1"/>
          <p:nvPr/>
        </p:nvSpPr>
        <p:spPr>
          <a:xfrm>
            <a:off x="8321935" y="2514600"/>
            <a:ext cx="318211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The major glycolipid of the Gram-negative outer membrane and the principal driver of the host inflammatory response in sepsis (endotoxin).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580644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All three biomarkers are structural cell-wall components, not host-response signals.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8191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SUPPORTING DETAIL FOR OBJECTIVE 1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397647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Structure, Simulated Spectrum and Peak Matching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448" y="1326662"/>
            <a:ext cx="2743200" cy="20522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72628" y="3429000"/>
            <a:ext cx="3348995" cy="33473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DFT-optimised NAM structure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05" y="4072397"/>
            <a:ext cx="6189993" cy="14880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0329" y="5792464"/>
            <a:ext cx="6257365" cy="41111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DFT-simulated Raman spectrum of NAM </a:t>
            </a:r>
          </a:p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(full-molecule model)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5"/>
          <p:cNvSpPr/>
          <p:nvPr/>
        </p:nvSpPr>
        <p:spPr>
          <a:xfrm>
            <a:off x="7439184" y="91117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Representative matched peaks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393379"/>
              </p:ext>
            </p:extLst>
          </p:nvPr>
        </p:nvGraphicFramePr>
        <p:xfrm>
          <a:off x="6645897" y="1335474"/>
          <a:ext cx="5303521" cy="551688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32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Experimental (cm⁻¹)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Simulated (cm⁻¹)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Assignment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872.0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872.97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γ(CH₂) hydroxymethyl wagging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1044.0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1042.20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ν(C–O) + δ(C–O–H)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458.0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460.45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Skeletal bending / ring torsion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646.0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640.15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Skeletal deformation + δ(C–C–O)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7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1726.0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1722.82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Amide I: ν(C=O)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58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745.0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731.27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γ(O–H) carboxylic acid out-of-plane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NAM · SAMPLE, INSTRUMENT AND REFERENCE SPECTRUM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N-Acetylmuramic Acid — Setup and Powder Raman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502920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Sigma-Aldrich NAM, ≥98% purity, α/β anomer.</a:t>
            </a:r>
            <a:endParaRPr lang="en-US" sz="2000" dirty="0"/>
          </a:p>
          <a:p>
            <a:pPr marL="177800" indent="-177800">
              <a:spcAft>
                <a:spcPts val="1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B&amp;W Tek i-Raman Plus, 785 nm, 400–1800 cm⁻¹ analysis window, &lt;3.5 cm⁻¹ resolution.</a:t>
            </a:r>
            <a:endParaRPr lang="en-US" sz="2000" dirty="0"/>
          </a:p>
          <a:p>
            <a:pPr marL="177800" indent="-177800">
              <a:spcAft>
                <a:spcPts val="1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Two datasets: April optimisation grid (98 spectra, finds safe settings) and May replicate set (104 spectra) — the reference spectrum used throughout is the mean of 22 independent replicates.</a:t>
            </a:r>
            <a:endParaRPr lang="en-US" sz="2000" dirty="0"/>
          </a:p>
          <a:p>
            <a:pPr marL="177800" indent="-177800">
              <a:spcAft>
                <a:spcPts val="13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Damage threshold established: safe up to 90% power / 30 s; 90% / 60 s destroyed the sample and is excluded from all analysis.</a:t>
            </a:r>
            <a:endParaRPr lang="en-US" sz="2000" dirty="0"/>
          </a:p>
        </p:txBody>
      </p:sp>
      <p:pic>
        <p:nvPicPr>
          <p:cNvPr id="5" name="Image 0" descr="/sessions/dreamy-funny-johnson/mnt/outputs/ppt_build/images/NAM/im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685139"/>
            <a:ext cx="5989320" cy="299466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6" name="Text 3"/>
          <p:cNvSpPr txBox="1"/>
          <p:nvPr/>
        </p:nvSpPr>
        <p:spPr>
          <a:xfrm>
            <a:off x="5806440" y="4989981"/>
            <a:ext cx="5925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Reference experimental spectrum — mean of replicate measurements, ±1 SD shaded (source: NAM report, Fig. 2).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NAM · POWDER RAMAN VS. DFT (Β) AND PUBLISHED LITERATURE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Experimental Agreement Across Two Independent Checks</a:t>
            </a:r>
            <a:endParaRPr lang="en-US" sz="2800" dirty="0"/>
          </a:p>
        </p:txBody>
      </p:sp>
      <p:pic>
        <p:nvPicPr>
          <p:cNvPr id="4" name="Image 0" descr="/sessions/dreamy-funny-johnson/mnt/outputs/ppt_build/images/NAM/im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14500"/>
            <a:ext cx="6949440" cy="347472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234940"/>
            <a:ext cx="6949440" cy="8162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Experimental powder Raman overlaid on the β-anomer DFT simulation (source: NAM report, Fig. 5).</a:t>
            </a:r>
            <a:endParaRPr lang="en-US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0674049"/>
              </p:ext>
            </p:extLst>
          </p:nvPr>
        </p:nvGraphicFramePr>
        <p:xfrm>
          <a:off x="7635240" y="1704639"/>
          <a:ext cx="4096512" cy="356616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6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Result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vs. DFT (β-anomer), ±18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30 / 41 bands matched · MAE 5.73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vs. Kouach-Alix et al. (1994),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J. Mol. Struct. 327, ±20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Most bands find a literature counterpart; residual offsets attributed to literature sample being pure crystalline α-anomer vs. present α/β powder mixture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 5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99A1C4-6308-855B-9EEB-01255061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9293"/>
            <a:ext cx="11057965" cy="6634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740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NAM · SERS VALIDATION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The Strongest NAM SERS Candidate: 643 cm⁻¹</a:t>
            </a:r>
            <a:endParaRPr lang="en-US" sz="2800" dirty="0"/>
          </a:p>
        </p:txBody>
      </p:sp>
      <p:pic>
        <p:nvPicPr>
          <p:cNvPr id="4" name="Image 0" descr="/sessions/dreamy-funny-johnson/mnt/uploads/Fig_NAM_643cm1_Strongest_Candid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391" y="1280160"/>
            <a:ext cx="6087979" cy="525780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8229600" y="1417320"/>
            <a:ext cx="3502152" cy="777240"/>
          </a:xfrm>
          <a:prstGeom prst="roundRect">
            <a:avLst>
              <a:gd name="adj" fmla="val 8235"/>
            </a:avLst>
          </a:prstGeom>
          <a:solidFill>
            <a:srgbClr val="F0F0F0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12480" y="14904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DFT (β)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1746504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640 cm⁻¹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0" y="2313432"/>
            <a:ext cx="3502152" cy="777240"/>
          </a:xfrm>
          <a:prstGeom prst="roundRect">
            <a:avLst>
              <a:gd name="adj" fmla="val 8235"/>
            </a:avLst>
          </a:prstGeom>
          <a:solidFill>
            <a:srgbClr val="F0F0F0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412480" y="23865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Powder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412480" y="26426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646 cm⁻¹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8229600" y="3209544"/>
            <a:ext cx="3502152" cy="777240"/>
          </a:xfrm>
          <a:prstGeom prst="roundRect">
            <a:avLst>
              <a:gd name="adj" fmla="val 8235"/>
            </a:avLst>
          </a:prstGeom>
          <a:solidFill>
            <a:srgbClr val="F0F0F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412480" y="32826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SERS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3538728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643 cm⁻¹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8229600" y="4105656"/>
            <a:ext cx="3502152" cy="1280160"/>
          </a:xfrm>
          <a:prstGeom prst="roundRect">
            <a:avLst>
              <a:gd name="adj" fmla="val 4516"/>
            </a:avLst>
          </a:prstGeom>
          <a:solidFill>
            <a:srgbClr val="000000">
              <a:alpha val="12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412480" y="4089158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25.6%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of NAM SERS spectra (n=43) show this peak, vs. </a:t>
            </a:r>
            <a:r>
              <a:rPr lang="en-US" sz="2000" b="1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8.8%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of matched blank substrate spectra (n=80) — net +16.8 pts.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OBJECTIVE 2 · THREE-WAY EVIDENCE CHAIN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NAM: DFT → Powder → SERS → Blank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612600" y="1472184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DFT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00" y="2103120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640 cm⁻¹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9814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8" name="Rounded Rectangle 7"/>
          <p:cNvSpPr/>
          <p:nvPr/>
        </p:nvSpPr>
        <p:spPr>
          <a:xfrm>
            <a:off x="2794406" y="141732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9" name="TextBox 8"/>
          <p:cNvSpPr txBox="1"/>
          <p:nvPr/>
        </p:nvSpPr>
        <p:spPr>
          <a:xfrm>
            <a:off x="2858366" y="1472184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Powder Raman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8366" y="2103120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646 cm⁻¹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75580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5040172" y="141732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3" name="TextBox 12"/>
          <p:cNvSpPr txBox="1"/>
          <p:nvPr/>
        </p:nvSpPr>
        <p:spPr>
          <a:xfrm>
            <a:off x="5104132" y="1472184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SERS (mean)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4132" y="2103120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643 cm⁻¹, n = 43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21346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7285938" y="141732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7" name="TextBox 16"/>
          <p:cNvSpPr txBox="1"/>
          <p:nvPr/>
        </p:nvSpPr>
        <p:spPr>
          <a:xfrm>
            <a:off x="7349898" y="1472184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Matched blank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9898" y="2103120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25.6% vs. 8.8%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67112" y="199416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0" name="Rounded Rectangle 19"/>
          <p:cNvSpPr/>
          <p:nvPr/>
        </p:nvSpPr>
        <p:spPr>
          <a:xfrm>
            <a:off x="9531704" y="141732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21" name="TextBox 20"/>
          <p:cNvSpPr txBox="1"/>
          <p:nvPr/>
        </p:nvSpPr>
        <p:spPr>
          <a:xfrm>
            <a:off x="9595664" y="1472184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1" i="0">
                <a:solidFill>
                  <a:srgbClr val="000000"/>
                </a:solidFill>
                <a:latin typeface="Arial" panose="020B0604020202020204"/>
              </a:rPr>
              <a:t>Strongest candidate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5664" y="2103120"/>
            <a:ext cx="1953254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b="0" i="0">
                <a:solidFill>
                  <a:srgbClr val="000000"/>
                </a:solidFill>
                <a:latin typeface="Arial" panose="020B0604020202020204"/>
              </a:rPr>
              <a:t>Net +16.8 points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9854878"/>
              </p:ext>
            </p:extLst>
          </p:nvPr>
        </p:nvGraphicFramePr>
        <p:xfrm>
          <a:off x="548640" y="3050000"/>
          <a:ext cx="11064240" cy="204825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6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Evidence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NAM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640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Powder Raman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646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SERS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643 cm⁻¹ (n = 43, 2-minute-etch substrate)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Blank control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25.6% of NAM spectra vs. 8.8% of matched blanks (net +16.8 points)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Status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Strongest candidate — not yet a confirmed detection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NAM · FINAL VALIDATED SERS ASSESSMENT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Powder vs. SERS — Blank-Validated Outcome</a:t>
            </a:r>
            <a:endParaRPr lang="en-US" sz="2800" dirty="0"/>
          </a:p>
        </p:txBody>
      </p:sp>
      <p:pic>
        <p:nvPicPr>
          <p:cNvPr id="4" name="Image 0" descr="/sessions/dreamy-funny-johnson/mnt/outputs/ppt_build/images/NAM/im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0991"/>
            <a:ext cx="7315200" cy="3918857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365569"/>
            <a:ext cx="7315200" cy="7662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Red × = excluded substrate artifact. Green ★ = best validated NAM candidate (source: NAM report, Fig. 15).</a:t>
            </a: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681977"/>
              </p:ext>
            </p:extLst>
          </p:nvPr>
        </p:nvGraphicFramePr>
        <p:xfrm>
          <a:off x="7909560" y="1381460"/>
          <a:ext cx="3822192" cy="2286000"/>
        </p:xfrm>
        <a:graphic>
          <a:graphicData uri="http://schemas.openxmlformats.org/drawingml/2006/table">
            <a:tbl>
              <a:tblPr/>
              <a:tblGrid>
                <a:gridCol w="1691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Category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Count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Peaks / notes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Excluded — substrate artifact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2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1004, 1127 cm⁻¹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Best-supported candidate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643 cm⁻¹ (net +16.8% vs. blank)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Unconfirmed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26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Low single-spectrum reproducibility</a:t>
                      </a:r>
                      <a:endParaRPr lang="en-US" sz="14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005482" y="3999155"/>
            <a:ext cx="3726270" cy="2485209"/>
          </a:xfrm>
          <a:prstGeom prst="roundRect">
            <a:avLst>
              <a:gd name="adj" fmla="val 3137"/>
            </a:avLst>
          </a:prstGeom>
          <a:solidFill>
            <a:srgbClr val="F5F5F5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092440" y="4118028"/>
            <a:ext cx="3474720" cy="1475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SERS's only unambiguous feature </a:t>
            </a: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is the 517 cm⁻¹ Si phonon line, confirmed via a bare-Si reference and excluded from all NAM peak lists.
Of 29 candidate SERS peaks: 2 excluded as artifacts, 1 best-supported candidate, 26 remain unconfirmed rather than proven or disproven.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THREE-FRAGMENT DFT APPROACH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LTA Fragment Models and Composite Spectrum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44562"/>
            <a:ext cx="2286000" cy="13548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07238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(a) Glycerol-phosphate backbone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801" y="1371600"/>
            <a:ext cx="1972559" cy="170078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926080" y="307238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(b) D-alanine substituent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8" name="Image 2" descr="/sessions/dreamy-funny-johnson/mnt/outputs/ppt_build/media/image2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1484573"/>
            <a:ext cx="2286000" cy="147483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303520" y="3072384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(c) GlcNAc substituent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33" name="Table 0"/>
          <p:cNvGraphicFramePr>
            <a:graphicFrameLocks noGrp="1"/>
          </p:cNvGraphicFramePr>
          <p:nvPr/>
        </p:nvGraphicFramePr>
        <p:xfrm>
          <a:off x="548640" y="3657600"/>
          <a:ext cx="7040880" cy="1389888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Component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DFT-supported band(s)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Glycerol-phosphate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620.1, 1184.6 cm⁻¹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D-alanine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999.9 cm⁻¹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GlcNAc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1093.2, 1602.4 cm⁻¹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" name="Image 3" descr="/sessions/dreamy-funny-johnson/mnt/outputs/ppt_build/media/image2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5296" y="1371600"/>
            <a:ext cx="2314688" cy="2066544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7772400" y="343814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(d) Simulated spectra of the three LTA fragments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14" name="Image 4" descr="/sessions/dreamy-funny-johnson/mnt/outputs/ppt_build/media/image2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4202806"/>
            <a:ext cx="3840480" cy="125045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772400" y="5769864"/>
            <a:ext cx="38404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(e) Fragment-level DFT reference used for qualitative comparison (not a weighted intact-molecule model)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LTA · EXPERIMENTAL POWDER RAMAN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Seven Reproducible Bands, 12 Measurement Spots</a:t>
            </a:r>
            <a:endParaRPr lang="en-US" sz="2800" dirty="0"/>
          </a:p>
        </p:txBody>
      </p:sp>
      <p:pic>
        <p:nvPicPr>
          <p:cNvPr id="4" name="Image 0" descr="/sessions/dreamy-funny-johnson/mnt/outputs/ppt_build/images/LTA/im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08685"/>
            <a:ext cx="6903720" cy="373207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5386474"/>
            <a:ext cx="6903720" cy="60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All 12 individual spot spectra (grey) and the averaged spectrum (black) with the 7 characteristic peaks marked (source: LTA report, Fig. 1).</a:t>
            </a:r>
            <a:endParaRPr lang="en-US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5373113"/>
              </p:ext>
            </p:extLst>
          </p:nvPr>
        </p:nvGraphicFramePr>
        <p:xfrm>
          <a:off x="7589520" y="1371600"/>
          <a:ext cx="4142232" cy="3200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33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Peak (cm⁻¹)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SD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Detect.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Int. CV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620.1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0.83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12/12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10.7%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794.5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0.94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12/12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7.8%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999.9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0.45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12/12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19.9%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1093.2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1.95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11/12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37.5%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1184.6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1.72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11/12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13.2%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1602.4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0.61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12/12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13.2%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1784.2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0.00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6/12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14.9%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7589520" y="4574269"/>
            <a:ext cx="4142232" cy="6768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Position highly reproducible (SD ≤ 1.95 cm⁻¹) throughout; intensity is not — trust position over intensity.</a:t>
            </a: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LTA · FRAGMENT-LEVEL DFT VS. EXPERIMENT</a:t>
            </a:r>
            <a:endParaRPr lang="en-US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Isolated Building Blocks, Not the Intact Molecule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93146"/>
            <a:ext cx="11274552" cy="986880"/>
          </a:xfrm>
          <a:prstGeom prst="roundRect">
            <a:avLst>
              <a:gd name="adj" fmla="val 10000"/>
            </a:avLst>
          </a:prstGeom>
          <a:solidFill>
            <a:srgbClr val="000000">
              <a:alpha val="1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35409"/>
            <a:ext cx="10881360" cy="727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The intact, phosphodiester-linked LTA polymer could NOT be modelled — the whole-molecule Gaussian run failed before reaching the Raman stage. All DFT comparisons here use 3 isolated fragments only: glycerol-phosphate, D-alanine, and GlcNAc.</a:t>
            </a:r>
            <a:endParaRPr lang="en-US" sz="1600" dirty="0"/>
          </a:p>
        </p:txBody>
      </p:sp>
      <p:pic>
        <p:nvPicPr>
          <p:cNvPr id="6" name="Image 0" descr="/sessions/dreamy-funny-johnson/mnt/outputs/ppt_build/images/LTA/im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42399"/>
            <a:ext cx="6889173" cy="356616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3333853"/>
              </p:ext>
            </p:extLst>
          </p:nvPr>
        </p:nvGraphicFramePr>
        <p:xfrm>
          <a:off x="7662187" y="2539819"/>
          <a:ext cx="4142232" cy="356616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Result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Value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Matched within ±15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5 / 7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MAE (matched bands)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7.2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RMSE (matched bands)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8.0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Duplicate DFT assignments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0 (clean 1:1)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Unmatched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794.5, 1784.2 cm⁻¹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OBJECTIVE 2 · A METHODOLOGICAL ACHIEVEMENT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LTA — SERS Trial and Artifact Validation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44752"/>
            <a:ext cx="7040880" cy="2560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23944"/>
            <a:ext cx="70408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Pixel-level zoom of the apparent 1095 cm⁻¹ feature (SP_45/46/47) — the signal occupies a single detector pixel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Shape 3"/>
          <p:cNvSpPr/>
          <p:nvPr/>
        </p:nvSpPr>
        <p:spPr>
          <a:xfrm>
            <a:off x="7818120" y="137160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Text 4"/>
          <p:cNvSpPr/>
          <p:nvPr/>
        </p:nvSpPr>
        <p:spPr>
          <a:xfrm>
            <a:off x="8001000" y="14264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Candidate peak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Text 5"/>
          <p:cNvSpPr/>
          <p:nvPr/>
        </p:nvSpPr>
        <p:spPr>
          <a:xfrm>
            <a:off x="8001000" y="170078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apparent feature at 1095 cm⁻¹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Shape 6"/>
          <p:cNvSpPr/>
          <p:nvPr/>
        </p:nvSpPr>
        <p:spPr>
          <a:xfrm>
            <a:off x="9601200" y="2048256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7"/>
          <p:cNvSpPr/>
          <p:nvPr/>
        </p:nvSpPr>
        <p:spPr>
          <a:xfrm>
            <a:off x="7818120" y="2185416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8"/>
          <p:cNvSpPr/>
          <p:nvPr/>
        </p:nvSpPr>
        <p:spPr>
          <a:xfrm>
            <a:off x="8001000" y="224028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SNR screening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001000" y="2514600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 of 15 spots met SNR ≥ 3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9601200" y="2862072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Shape 11"/>
          <p:cNvSpPr/>
          <p:nvPr/>
        </p:nvSpPr>
        <p:spPr>
          <a:xfrm>
            <a:off x="7818120" y="2999232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2"/>
          <p:cNvSpPr/>
          <p:nvPr/>
        </p:nvSpPr>
        <p:spPr>
          <a:xfrm>
            <a:off x="8001000" y="305409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Pixel-level validation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001000" y="3328416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spectra inspected pixel by pixel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9601200" y="3675888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5"/>
          <p:cNvSpPr/>
          <p:nvPr/>
        </p:nvSpPr>
        <p:spPr>
          <a:xfrm>
            <a:off x="7818120" y="3813048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6"/>
          <p:cNvSpPr/>
          <p:nvPr/>
        </p:nvSpPr>
        <p:spPr>
          <a:xfrm>
            <a:off x="8001000" y="386791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Single-pixel origin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8001000" y="4142232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traced to one fixed detector pixel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1" name="Shape 18"/>
          <p:cNvSpPr/>
          <p:nvPr/>
        </p:nvSpPr>
        <p:spPr>
          <a:xfrm>
            <a:off x="9601200" y="4489704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Shape 19"/>
          <p:cNvSpPr/>
          <p:nvPr/>
        </p:nvSpPr>
        <p:spPr>
          <a:xfrm>
            <a:off x="7818120" y="4626864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0"/>
          <p:cNvSpPr/>
          <p:nvPr/>
        </p:nvSpPr>
        <p:spPr>
          <a:xfrm>
            <a:off x="8001000" y="468172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Detector artifact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001000" y="4956048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a genuine Raman band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Shape 22"/>
          <p:cNvSpPr/>
          <p:nvPr/>
        </p:nvSpPr>
        <p:spPr>
          <a:xfrm>
            <a:off x="9601200" y="5303520"/>
            <a:ext cx="146304" cy="137160"/>
          </a:xfrm>
          <a:prstGeom prst="down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Shape 23"/>
          <p:cNvSpPr/>
          <p:nvPr/>
        </p:nvSpPr>
        <p:spPr>
          <a:xfrm>
            <a:off x="7818120" y="5440680"/>
            <a:ext cx="379476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7" name="Text 24"/>
          <p:cNvSpPr/>
          <p:nvPr/>
        </p:nvSpPr>
        <p:spPr>
          <a:xfrm>
            <a:off x="8001000" y="549554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Rejected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001000" y="5769864"/>
            <a:ext cx="3429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reclassified NOT DETECTED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48640" y="4709160"/>
            <a:ext cx="704088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7"/>
          <p:cNvSpPr/>
          <p:nvPr/>
        </p:nvSpPr>
        <p:spPr>
          <a:xfrm>
            <a:off x="822960" y="4756670"/>
            <a:ext cx="6492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Why this matters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2960" y="5138928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 genuine Raman band on this instrument should exhibit a multi-pixel width; a single-pixel spike is a detector artifact. This screening prevented a false-positive LTA result. A second candidate, 1602 cm⁻¹, was separately found to coincide with the blank substrate and is likewise reclassified an artifact — no band yet reaches three-way (DFT + powder + SERS) confirmation.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OBJECTIVE 2 · ARTIFACT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LTA: Blank-Controlled Peak Validation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86400" cy="150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51767"/>
            <a:ext cx="4846320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1602 cm⁻¹ — Substrate artifact</a:t>
            </a:r>
          </a:p>
          <a:p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Observed at 1602.4 cm⁻¹ (Δ = 2.7 cm⁻¹ vs. DFT) — but an essentially identical peak (Δ = 0.3 cm⁻¹) appears in the same-session blank. Reclassified as a substrate artifact, not an LTA signal.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417320"/>
            <a:ext cx="5486400" cy="150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551767"/>
            <a:ext cx="4846320" cy="123110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1400" b="1" i="0" dirty="0">
                <a:solidFill>
                  <a:srgbClr val="000000"/>
                </a:solidFill>
                <a:latin typeface="Arial" panose="020B0604020202020204"/>
              </a:rPr>
              <a:t>1095 cm⁻¹ — Retracted</a:t>
            </a:r>
          </a:p>
          <a:p>
            <a:r>
              <a:rPr sz="1400" b="0" i="0" dirty="0">
                <a:solidFill>
                  <a:srgbClr val="000000"/>
                </a:solidFill>
                <a:latin typeface="Arial" panose="020B0604020202020204"/>
              </a:rPr>
              <a:t>A prior positive claim (apparent SNR 7–9) recurred at the identical single pixel across three consecutive spectra, while a real band spans 4–5 pixels on this instrument. Rejected as a detector artifact and retracted.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528" y="3350000"/>
            <a:ext cx="10985351" cy="830996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3354327"/>
            <a:ext cx="10424160" cy="830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00000"/>
                </a:solidFill>
                <a:latin typeface="Arial" panose="020B0604020202020204"/>
              </a:rPr>
              <a:t>1093.2 cm⁻¹ powder reference — status unchanged.  </a:t>
            </a:r>
            <a:r>
              <a:rPr b="0" i="0" dirty="0">
                <a:solidFill>
                  <a:srgbClr val="000000"/>
                </a:solidFill>
                <a:latin typeface="Arial" panose="020B0604020202020204"/>
              </a:rPr>
              <a:t>Remains the strongest LTA powder reference band (DFT- and literature-adjacent), but SERS detection at this position is still pending / insufficient evidence — not confirmed.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600" b="0" i="0" spc="120">
                <a:solidFill>
                  <a:srgbClr val="C00000"/>
                </a:solidFill>
                <a:latin typeface="Arial" panose="020B0604020202020204"/>
              </a:rPr>
              <a:t>OBJECTIVE 1 · GRAM-POSITIVE 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29323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 dirty="0">
                <a:solidFill>
                  <a:srgbClr val="0000FF"/>
                </a:solidFill>
                <a:latin typeface="Arial" panose="020B0604020202020204"/>
              </a:rPr>
              <a:t>LTA: Powder Reference → DFT Support → SERS Validation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0200392"/>
              </p:ext>
            </p:extLst>
          </p:nvPr>
        </p:nvGraphicFramePr>
        <p:xfrm>
          <a:off x="548640" y="1587649"/>
          <a:ext cx="10083501" cy="370636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40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65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79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Powder band (cm⁻¹)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 support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SERS status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620.1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Yes (Δ = 5.8 cm⁻¹, glycerol-phosphate)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Unconfirmed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794.5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 match ≤ 15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Unconfirmed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999.9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Yes (Δ = 9.2 cm⁻¹, D-alanine)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Unconfirmed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1093.2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Yes (Δ = 12.7 cm⁻¹, GlcNAc)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IN" sz="24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detector artifact </a:t>
                      </a:r>
                      <a:endParaRPr lang="en-IN" sz="2000" b="0" i="0" dirty="0">
                        <a:solidFill>
                          <a:srgbClr val="000000"/>
                        </a:solidFill>
                        <a:latin typeface="Arial" panose="020B0604020202020204"/>
                      </a:endParaRP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1184.6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Yes (Δ = 5.7 cm⁻¹, glycerol-phosphate)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Unconfirmed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1602.4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Yes (Δ = 2.7 cm⁻¹, GlcNAc)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Substrate artifact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1784.2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 match ≤ 15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Not detected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FIVE-FRAGMENT DFT APPROACH</a:t>
            </a:r>
            <a:endParaRPr lang="en-US" sz="20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LPS Fragment Models and Simulated Spectra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35BAB87C-6ADA-6BB1-E154-BB5779B6D996}"/>
              </a:ext>
            </a:extLst>
          </p:cNvPr>
          <p:cNvGrpSpPr/>
          <p:nvPr/>
        </p:nvGrpSpPr>
        <p:grpSpPr>
          <a:xfrm>
            <a:off x="548640" y="1526107"/>
            <a:ext cx="6995160" cy="1674293"/>
            <a:chOff x="548640" y="1526107"/>
            <a:chExt cx="6995160" cy="1674293"/>
          </a:xfrm>
        </p:grpSpPr>
        <p:pic>
          <p:nvPicPr>
            <p:cNvPr id="4" name="Image 0" descr="/sessions/dreamy-funny-johnson/mnt/outputs/ppt_build/media/image13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8640" y="1824126"/>
              <a:ext cx="1325880" cy="612851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548640" y="2889504"/>
              <a:ext cx="132588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-122"/>
                  <a:cs typeface="Arial" panose="020B0604020202020204" pitchFamily="34" charset="-120"/>
                </a:rPr>
                <a:t>(a) Kdo</a:t>
              </a:r>
              <a:endParaRPr lang="en-US" dirty="0">
                <a:solidFill>
                  <a:srgbClr val="000000"/>
                </a:solidFill>
                <a:latin typeface="Arial" panose="020B0604020202020204"/>
                <a:ea typeface="Calibri" panose="020F0502020204030204"/>
                <a:cs typeface="Arial" panose="020B0604020202020204"/>
              </a:endParaRPr>
            </a:p>
          </p:txBody>
        </p:sp>
        <p:pic>
          <p:nvPicPr>
            <p:cNvPr id="6" name="Image 1" descr="/sessions/dreamy-funny-johnson/mnt/outputs/ppt_build/media/image14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65960" y="1550739"/>
              <a:ext cx="1325880" cy="1159625"/>
            </a:xfrm>
            <a:prstGeom prst="rect">
              <a:avLst/>
            </a:prstGeom>
          </p:spPr>
        </p:pic>
        <p:sp>
          <p:nvSpPr>
            <p:cNvPr id="7" name="Text 3"/>
            <p:cNvSpPr/>
            <p:nvPr/>
          </p:nvSpPr>
          <p:spPr>
            <a:xfrm>
              <a:off x="1965960" y="2889504"/>
              <a:ext cx="132588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-122"/>
                  <a:cs typeface="Arial" panose="020B0604020202020204" pitchFamily="34" charset="-120"/>
                </a:rPr>
                <a:t>(b)</a:t>
              </a:r>
              <a:endParaRPr lang="en-US" dirty="0">
                <a:solidFill>
                  <a:srgbClr val="000000"/>
                </a:solidFill>
                <a:latin typeface="Arial" panose="020B0604020202020204"/>
                <a:ea typeface="Calibri" panose="020F0502020204030204"/>
                <a:cs typeface="Arial" panose="020B0604020202020204"/>
              </a:endParaRPr>
            </a:p>
          </p:txBody>
        </p:sp>
        <p:pic>
          <p:nvPicPr>
            <p:cNvPr id="8" name="Image 2" descr="/sessions/dreamy-funny-johnson/mnt/outputs/ppt_build/media/image15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83280" y="1610308"/>
              <a:ext cx="1325880" cy="1040489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3383280" y="2889504"/>
              <a:ext cx="132588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-122"/>
                  <a:cs typeface="Arial" panose="020B0604020202020204" pitchFamily="34" charset="-120"/>
                </a:rPr>
                <a:t>(c)</a:t>
              </a:r>
              <a:endParaRPr lang="en-US" dirty="0">
                <a:solidFill>
                  <a:srgbClr val="000000"/>
                </a:solidFill>
                <a:latin typeface="Arial" panose="020B0604020202020204"/>
                <a:ea typeface="Calibri" panose="020F0502020204030204"/>
                <a:cs typeface="Arial" panose="020B0604020202020204"/>
              </a:endParaRPr>
            </a:p>
          </p:txBody>
        </p:sp>
        <p:pic>
          <p:nvPicPr>
            <p:cNvPr id="10" name="Image 3" descr="/sessions/dreamy-funny-johnson/mnt/outputs/ppt_build/media/image16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0600" y="1526107"/>
              <a:ext cx="1325880" cy="1208891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4800600" y="2889504"/>
              <a:ext cx="132588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-122"/>
                  <a:cs typeface="Arial" panose="020B0604020202020204" pitchFamily="34" charset="-120"/>
                </a:rPr>
                <a:t>(d)</a:t>
              </a:r>
              <a:endParaRPr lang="en-US" dirty="0">
                <a:solidFill>
                  <a:srgbClr val="000000"/>
                </a:solidFill>
                <a:latin typeface="Arial" panose="020B0604020202020204"/>
                <a:ea typeface="Calibri" panose="020F0502020204030204"/>
                <a:cs typeface="Arial" panose="020B0604020202020204"/>
              </a:endParaRPr>
            </a:p>
          </p:txBody>
        </p:sp>
        <p:pic>
          <p:nvPicPr>
            <p:cNvPr id="12" name="Image 4" descr="/sessions/dreamy-funny-johnson/mnt/outputs/ppt_build/media/image17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217920" y="1895761"/>
              <a:ext cx="1325880" cy="469583"/>
            </a:xfrm>
            <a:prstGeom prst="rect">
              <a:avLst/>
            </a:prstGeom>
          </p:spPr>
        </p:pic>
        <p:sp>
          <p:nvSpPr>
            <p:cNvPr id="13" name="Text 6"/>
            <p:cNvSpPr/>
            <p:nvPr/>
          </p:nvSpPr>
          <p:spPr>
            <a:xfrm>
              <a:off x="6217920" y="2889504"/>
              <a:ext cx="1325880" cy="310896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ctr">
                <a:buNone/>
              </a:pPr>
              <a:r>
                <a:rPr lang="en-US" dirty="0">
                  <a:solidFill>
                    <a:srgbClr val="000000"/>
                  </a:solidFill>
                  <a:latin typeface="Arial" panose="020B0604020202020204" pitchFamily="34" charset="0"/>
                  <a:ea typeface="Calibri" panose="020F0502020204030204" pitchFamily="34" charset="-122"/>
                  <a:cs typeface="Arial" panose="020B0604020202020204" pitchFamily="34" charset="-120"/>
                </a:rPr>
                <a:t>(e)</a:t>
              </a:r>
              <a:endParaRPr lang="en-US" dirty="0">
                <a:solidFill>
                  <a:srgbClr val="000000"/>
                </a:solidFill>
                <a:latin typeface="Arial" panose="020B0604020202020204"/>
                <a:ea typeface="Calibri" panose="020F0502020204030204"/>
                <a:cs typeface="Arial" panose="020B0604020202020204"/>
              </a:endParaRPr>
            </a:p>
          </p:txBody>
        </p:sp>
      </p:grpSp>
      <p:sp>
        <p:nvSpPr>
          <p:cNvPr id="14" name="Text 7"/>
          <p:cNvSpPr/>
          <p:nvPr/>
        </p:nvSpPr>
        <p:spPr>
          <a:xfrm>
            <a:off x="548640" y="3364992"/>
            <a:ext cx="68580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</a:t>
            </a:r>
            <a:r>
              <a:rPr lang="en-US" sz="14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a) Kdo, identified in the report; (b)–(e) the four further fragments — D-glucosamine, L-glycero-D-manno-heptose, myristic acid and phosphoric acid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8"/>
          <p:cNvSpPr/>
          <p:nvPr/>
        </p:nvSpPr>
        <p:spPr>
          <a:xfrm>
            <a:off x="548640" y="393192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Structural role of each DFT fragment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012421"/>
              </p:ext>
            </p:extLst>
          </p:nvPr>
        </p:nvGraphicFramePr>
        <p:xfrm>
          <a:off x="548640" y="4251960"/>
          <a:ext cx="6858000" cy="2377440"/>
        </p:xfrm>
        <a:graphic>
          <a:graphicData uri="http://schemas.openxmlformats.org/drawingml/2006/table">
            <a:tbl>
              <a:tblPr/>
              <a:tblGrid>
                <a:gridCol w="3530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7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Fragment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Structural role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Kdo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Core sugar (inner core)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Heptose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Backbone sugar (core)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D-glucosamine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Backbone sugar (lipid A)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Myristic acid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Lipid A acyl chain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Phosphoric acid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Phosphate group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7" name="Image 5" descr="/sessions/dreamy-funny-johnson/mnt/outputs/ppt_build/media/image18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80960" y="1516198"/>
            <a:ext cx="3931920" cy="4246227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680960" y="5907024"/>
            <a:ext cx="393192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Simulated Raman spectra of the five LPS fragments (normalised, 500–3500 cm⁻¹)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LPS · EXPERIMENTAL RAMAN SPECTRUM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43 Bands Across Three Structural Envelopes</a:t>
            </a:r>
            <a:endParaRPr lang="en-US" sz="2800" dirty="0"/>
          </a:p>
        </p:txBody>
      </p:sp>
      <p:pic>
        <p:nvPicPr>
          <p:cNvPr id="4" name="Image 0" descr="/sessions/dreamy-funny-johnson/mnt/outputs/ppt_build/images/LPS/im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611" y="1371600"/>
            <a:ext cx="7263731" cy="3063240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48056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Raman spectrum of LPS powder (E. coli O111:B4, phenol-extracted, S-type), major bands marked, n=43 (source: LPS report, Fig. 1).</a:t>
            </a:r>
            <a:endParaRPr lang="en-US" sz="1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115105"/>
              </p:ext>
            </p:extLst>
          </p:nvPr>
        </p:nvGraphicFramePr>
        <p:xfrm>
          <a:off x="546848" y="5024714"/>
          <a:ext cx="10434918" cy="1371600"/>
        </p:xfrm>
        <a:graphic>
          <a:graphicData uri="http://schemas.openxmlformats.org/drawingml/2006/table">
            <a:tbl>
              <a:tblPr/>
              <a:tblGrid>
                <a:gridCol w="29620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107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620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Region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Envelope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Dominant band</a:t>
                      </a:r>
                      <a:endParaRPr lang="en-US" sz="18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&lt; 700 cm⁻¹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Skeletal / ring deformation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900–1200 cm⁻¹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Carbohydrate–phosphate backbone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~1090 cm⁻¹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1300–1450 cm⁻¹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Lipid / methylene envelope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~1350 cm⁻¹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C0000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LPS · COMPARISON WITH REPORTED LITERATURE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00FF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3 of 4 Literature Bands Confirmed Within Tolerance</a:t>
            </a:r>
            <a:endParaRPr lang="en-US" sz="2800" dirty="0"/>
          </a:p>
        </p:txBody>
      </p:sp>
      <p:pic>
        <p:nvPicPr>
          <p:cNvPr id="4" name="Image 0" descr="/sessions/dreamy-funny-johnson/mnt/outputs/ppt_build/images/LPS/im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03464"/>
            <a:ext cx="7406640" cy="3273832"/>
          </a:xfrm>
          <a:prstGeom prst="rect">
            <a:avLst/>
          </a:prstGeom>
          <a:effectLst>
            <a:outerShdw blurRad="76200" dist="25400" dir="5400000" algn="bl" rotWithShape="0">
              <a:srgbClr val="999999">
                <a:alpha val="35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457200" y="4723016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Experimental LPS spectrum compared with literature-reported Raman bands (source: LPS report, Fig. 5).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63698"/>
              </p:ext>
            </p:extLst>
          </p:nvPr>
        </p:nvGraphicFramePr>
        <p:xfrm>
          <a:off x="8036500" y="1371600"/>
          <a:ext cx="3695252" cy="3383280"/>
        </p:xfrm>
        <a:graphic>
          <a:graphicData uri="http://schemas.openxmlformats.org/drawingml/2006/table">
            <a:tbl>
              <a:tblPr/>
              <a:tblGrid>
                <a:gridCol w="686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45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1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26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Lit. (cm⁻¹)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Exp. (cm⁻¹)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Δ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Assignment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850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902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+52 (outside)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—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989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972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-17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Carbohydrate ring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1131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1124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-7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Lipid acyl chain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1330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1354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+24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000000"/>
                          </a:solidFill>
                          <a:latin typeface="Arial" pitchFamily="34" charset="0"/>
                          <a:ea typeface="Calibri" pitchFamily="34" charset="-122"/>
                          <a:cs typeface="Arial" pitchFamily="34" charset="-120"/>
                        </a:rPr>
                        <a:t>Phospholipid CH₂</a:t>
                      </a:r>
                      <a:endParaRPr lang="en-US" sz="1600" dirty="0">
                        <a:latin typeface="Arial" charset="0"/>
                        <a:ea typeface="Calibri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8219380" y="5135520"/>
            <a:ext cx="3695252" cy="10309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595959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3 of 4 literature bands (989, 1131, 1330) fall in close agreement; 850 cm⁻¹ falls outside the ±25 cm⁻¹ project tolerance.</a:t>
            </a:r>
            <a:endParaRPr lang="en-US" dirty="0"/>
          </a:p>
        </p:txBody>
      </p:sp>
      <p:sp>
        <p:nvSpPr>
          <p:cNvPr id="8" name="Text 4"/>
          <p:cNvSpPr txBox="1"/>
          <p:nvPr/>
        </p:nvSpPr>
        <p:spPr>
          <a:xfrm>
            <a:off x="11548872" y="654710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Calibri" pitchFamily="34" charset="-122"/>
                <a:cs typeface="Arial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AN EXPERIMENT STILL TO BE PERFORMED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LPS — Current SERS Status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8680" y="1572768"/>
            <a:ext cx="104241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LPS SERS measurement has NOT YET been performed.</a:t>
            </a:r>
            <a:endParaRPr lang="en-US" sz="2400" b="1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104241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 LPS SERS spectrum or pure-reference-versus-SERS comparison exists at this stage. LPS SERS remains a planned next experiment, following optimization of the NAM and LTA substrate/adsorption conditions.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731520" y="29535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 Raman characterization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731520" y="3593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4340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4526280" y="29535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/ fragment modelling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2628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4526280" y="3593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138160" y="278892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321040" y="295351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Pure-reference comparison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(Hungarian peak-to-mode assignment)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321040" y="359359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Text 16"/>
          <p:cNvSpPr/>
          <p:nvPr/>
        </p:nvSpPr>
        <p:spPr>
          <a:xfrm>
            <a:off x="8321040" y="359359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731520" y="450799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— Sensor 1 (Ag/Si)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3152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31520" y="51480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yet performed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4340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4" name="Text 22"/>
          <p:cNvSpPr/>
          <p:nvPr/>
        </p:nvSpPr>
        <p:spPr>
          <a:xfrm>
            <a:off x="4526280" y="450799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— Sensor 2 (Ag/black-Si)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2628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4526280" y="51480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yet performed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138160" y="4343400"/>
            <a:ext cx="36118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8" name="Text 26"/>
          <p:cNvSpPr/>
          <p:nvPr/>
        </p:nvSpPr>
        <p:spPr>
          <a:xfrm>
            <a:off x="8321040" y="4507992"/>
            <a:ext cx="32461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detection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321040" y="5148072"/>
            <a:ext cx="22860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8321040" y="5148072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Planned next experiment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580644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868680" y="5897880"/>
            <a:ext cx="104241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performed  ≠  not detected. 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LPS reference work is complete; only the SERS measurement step remains outstanding.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OBJECTIVE 1 · GRAM-NEGATIVE MARKER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LPS: Current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8102049"/>
              </p:ext>
            </p:extLst>
          </p:nvPr>
        </p:nvGraphicFramePr>
        <p:xfrm>
          <a:off x="548640" y="1417320"/>
          <a:ext cx="11064240" cy="240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64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Stage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Status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Powder Raman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Done — 43 peaks identified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 (5 fragments)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Done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DFT–powder comparison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⚠ Moderate — 26/43 matched, MAE 3.9 cm⁻¹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Reference bands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⚠ 7 candidate bands — not yet a high-confidence set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000">
                <a:tc>
                  <a:txBody>
                    <a:bodyPr/>
                    <a:lstStyle/>
                    <a:p>
                      <a:pPr marL="0" indent="0"/>
                      <a:r>
                        <a:rPr sz="20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SERS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20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NOT PERFORMED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563880" y="4360197"/>
            <a:ext cx="11064240" cy="7500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99524" y="4458199"/>
            <a:ext cx="10424160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b="1" i="0" dirty="0">
                <a:solidFill>
                  <a:srgbClr val="000000"/>
                </a:solidFill>
                <a:latin typeface="Arial" panose="020B0604020202020204"/>
              </a:rPr>
              <a:t>No LPS SERS data exists yet.  </a:t>
            </a:r>
            <a:r>
              <a:rPr b="0" i="0" dirty="0">
                <a:solidFill>
                  <a:srgbClr val="000000"/>
                </a:solidFill>
                <a:latin typeface="Arial" panose="020B0604020202020204"/>
              </a:rPr>
              <a:t>This is explicitly “not performed,” not a negative result</a:t>
            </a:r>
            <a:r>
              <a:rPr lang="en-IN" b="0" i="0" dirty="0">
                <a:solidFill>
                  <a:srgbClr val="000000"/>
                </a:solidFill>
                <a:latin typeface="Arial" panose="020B0604020202020204"/>
              </a:rPr>
              <a:t>.</a:t>
            </a:r>
            <a:r>
              <a:rPr b="0" i="0" dirty="0">
                <a:solidFill>
                  <a:srgbClr val="000000"/>
                </a:solidFill>
                <a:latin typeface="Arial" panose="020B0604020202020204"/>
              </a:rPr>
              <a:t> LPS SERS is the next highest-priority experiment.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912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EVERY SAMPLE, EVERY STAGE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Consolidated Experimental Results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4259851"/>
              </p:ext>
            </p:extLst>
          </p:nvPr>
        </p:nvGraphicFramePr>
        <p:xfrm>
          <a:off x="548640" y="1354480"/>
          <a:ext cx="11064240" cy="38100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Sample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Pure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DFT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SERS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⚠  643 cm⁻¹ candidate (net +16.8% vs. blank)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⚠  1095 &amp; 1602 cm⁻¹ artifacts; 1093.2 cm⁻¹ unconfirmed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—  Not yet performed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R6G (validation probe)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—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7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✓  SERS-active on both substrate generations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229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✓  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3749040" y="5229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⚠  Attempted / in progress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Text 4"/>
          <p:cNvSpPr/>
          <p:nvPr/>
        </p:nvSpPr>
        <p:spPr>
          <a:xfrm>
            <a:off x="6949440" y="522920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—  Not performed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Shape 5"/>
          <p:cNvSpPr/>
          <p:nvPr/>
        </p:nvSpPr>
        <p:spPr>
          <a:xfrm>
            <a:off x="548640" y="5686400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6"/>
          <p:cNvSpPr/>
          <p:nvPr/>
        </p:nvSpPr>
        <p:spPr>
          <a:xfrm>
            <a:off x="726141" y="5823560"/>
            <a:ext cx="10748683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Reading this table: 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reference layer (Pure Raman + DFT) is complete for all three biomarkers. On the SERS layer, NAM now has a matched-blank-validated candidate (643 cm⁻¹); LTA's two candidate peaks are explained as artifacts; LPS SERS remains to be measured.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WHAT THIS YEAR DELIVERED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Key Scientific Achievements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4980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749808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1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52144" y="151790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Three biomarkers characterized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9808" y="199339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NAM, LPS and LTA selected and fully characterized as Gram +/- cell-wall targets.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454456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44568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946904" y="151790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Raman modelling 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544568" y="199339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Full-molecule model for NAM; validated fragment-based approach for LPS and LTA.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38160" y="137160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Shape 13"/>
          <p:cNvSpPr/>
          <p:nvPr/>
        </p:nvSpPr>
        <p:spPr>
          <a:xfrm>
            <a:off x="8339328" y="155448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6" name="Text 14"/>
          <p:cNvSpPr/>
          <p:nvPr/>
        </p:nvSpPr>
        <p:spPr>
          <a:xfrm>
            <a:off x="8339328" y="155448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741664" y="151790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 Raman reference spectra established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199339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Optimized, reproducible reference spectra for all three biomarkers.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Shape 18"/>
          <p:cNvSpPr/>
          <p:nvPr/>
        </p:nvSpPr>
        <p:spPr>
          <a:xfrm>
            <a:off x="74980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Text 19"/>
          <p:cNvSpPr/>
          <p:nvPr/>
        </p:nvSpPr>
        <p:spPr>
          <a:xfrm>
            <a:off x="749808" y="3108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52144" y="307238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30/41 NAM bands matched with DFT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49808" y="354787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MAE 5.73 cm⁻¹ — β-anomer confirmed as reference model via a statistical test rejecting the alternative α-anomer hypothesis.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4340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5" name="Shape 23"/>
          <p:cNvSpPr/>
          <p:nvPr/>
        </p:nvSpPr>
        <p:spPr>
          <a:xfrm>
            <a:off x="454456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4544568" y="3108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5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946904" y="307238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Two SERS substrate types fabricated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44568" y="354787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 (Ag/Si) and Sensor 2 (Ag/black-Si via MACE).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38160" y="292608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Shape 28"/>
          <p:cNvSpPr/>
          <p:nvPr/>
        </p:nvSpPr>
        <p:spPr>
          <a:xfrm>
            <a:off x="8339328" y="31089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1" name="Text 29"/>
          <p:cNvSpPr/>
          <p:nvPr/>
        </p:nvSpPr>
        <p:spPr>
          <a:xfrm>
            <a:off x="8339328" y="310896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6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41664" y="307238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Both substrates demonstrated SERS activity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39328" y="354787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Confirmed independently using the R6G validation probe.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Shape 33"/>
          <p:cNvSpPr/>
          <p:nvPr/>
        </p:nvSpPr>
        <p:spPr>
          <a:xfrm>
            <a:off x="74980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Text 34"/>
          <p:cNvSpPr/>
          <p:nvPr/>
        </p:nvSpPr>
        <p:spPr>
          <a:xfrm>
            <a:off x="749808" y="46634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7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152144" y="462686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Best MACE condition identified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49808" y="510235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2-minute etch outperformed the 5- and 10-minute Sensor 2 variants.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34340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40" name="Shape 38"/>
          <p:cNvSpPr/>
          <p:nvPr/>
        </p:nvSpPr>
        <p:spPr>
          <a:xfrm>
            <a:off x="454456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Text 39"/>
          <p:cNvSpPr/>
          <p:nvPr/>
        </p:nvSpPr>
        <p:spPr>
          <a:xfrm>
            <a:off x="4544568" y="46634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8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946904" y="462686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and LTA SERS trials 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544568" y="510235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NAM's 643 cm⁻¹ candidate passed matched-blank validation (net +16.8%); LTA trial screened two artifact peaks.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38160" y="4480560"/>
            <a:ext cx="361188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45" name="Shape 43"/>
          <p:cNvSpPr/>
          <p:nvPr/>
        </p:nvSpPr>
        <p:spPr>
          <a:xfrm>
            <a:off x="8339328" y="46634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46" name="Text 44"/>
          <p:cNvSpPr/>
          <p:nvPr/>
        </p:nvSpPr>
        <p:spPr>
          <a:xfrm>
            <a:off x="8339328" y="46634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9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741664" y="4626864"/>
            <a:ext cx="28346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Artifact-screening criterion established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8339328" y="5102352"/>
            <a:ext cx="324612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Multi-pixel peak-width AND matched-blank statistical validation now applied project-wide — prevented false positives and surfaced NAM's strongest candidate.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OBJECTIVE → WORK PERFORMED → STATUS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Progress Against Original Objectives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Shape 3"/>
          <p:cNvSpPr/>
          <p:nvPr/>
        </p:nvSpPr>
        <p:spPr>
          <a:xfrm>
            <a:off x="777240" y="1627632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777240" y="162763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1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Text 5"/>
          <p:cNvSpPr/>
          <p:nvPr/>
        </p:nvSpPr>
        <p:spPr>
          <a:xfrm>
            <a:off x="1325880" y="1417320"/>
            <a:ext cx="2606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 Discovery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Text 6"/>
          <p:cNvSpPr/>
          <p:nvPr/>
        </p:nvSpPr>
        <p:spPr>
          <a:xfrm>
            <a:off x="4023360" y="1417320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+ optimized pure-powder Raman for NAM, LTA and LPS; theory-vs-experiment comparison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75320" y="1737360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Shape 8"/>
          <p:cNvSpPr/>
          <p:nvPr/>
        </p:nvSpPr>
        <p:spPr>
          <a:xfrm>
            <a:off x="8275320" y="1737360"/>
            <a:ext cx="1730045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10378440" y="1417320"/>
            <a:ext cx="1143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Substantially complete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359152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Shape 11"/>
          <p:cNvSpPr/>
          <p:nvPr/>
        </p:nvSpPr>
        <p:spPr>
          <a:xfrm>
            <a:off x="777240" y="2615184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777240" y="2615184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325880" y="2404872"/>
            <a:ext cx="2606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SERS-Based Sensing Technology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23360" y="2404872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Two substrate generations fabricated and validated with R6G; NAM's 643 cm⁻¹ candidate identified, LTA trial completed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275320" y="2724912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8" name="Shape 16"/>
          <p:cNvSpPr/>
          <p:nvPr/>
        </p:nvSpPr>
        <p:spPr>
          <a:xfrm>
            <a:off x="8275320" y="2724912"/>
            <a:ext cx="905256" cy="164592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9" name="Text 17"/>
          <p:cNvSpPr/>
          <p:nvPr/>
        </p:nvSpPr>
        <p:spPr>
          <a:xfrm>
            <a:off x="10378440" y="2404872"/>
            <a:ext cx="1143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In progress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346704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1" name="Shape 19"/>
          <p:cNvSpPr/>
          <p:nvPr/>
        </p:nvSpPr>
        <p:spPr>
          <a:xfrm>
            <a:off x="777240" y="3602736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2" name="Text 20"/>
          <p:cNvSpPr/>
          <p:nvPr/>
        </p:nvSpPr>
        <p:spPr>
          <a:xfrm>
            <a:off x="777240" y="3602736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3392424"/>
            <a:ext cx="2606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AI-Integrated Raman Analysis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23360" y="3392424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Structured Raman datasets and preprocessing pipeline provide the foundation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8275320" y="3712464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Shape 24"/>
          <p:cNvSpPr/>
          <p:nvPr/>
        </p:nvSpPr>
        <p:spPr>
          <a:xfrm>
            <a:off x="8275320" y="3712464"/>
            <a:ext cx="164592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7" name="Text 25"/>
          <p:cNvSpPr/>
          <p:nvPr/>
        </p:nvSpPr>
        <p:spPr>
          <a:xfrm>
            <a:off x="10378440" y="3392424"/>
            <a:ext cx="1143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started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48640" y="4334256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Shape 27"/>
          <p:cNvSpPr/>
          <p:nvPr/>
        </p:nvSpPr>
        <p:spPr>
          <a:xfrm>
            <a:off x="777240" y="459028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0" name="Text 28"/>
          <p:cNvSpPr/>
          <p:nvPr/>
        </p:nvSpPr>
        <p:spPr>
          <a:xfrm>
            <a:off x="777240" y="4590288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325880" y="4379976"/>
            <a:ext cx="2606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Clinical Validation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023360" y="4379976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Requires reproducible biomarker detection first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275320" y="4700016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4" name="Text 32"/>
          <p:cNvSpPr/>
          <p:nvPr/>
        </p:nvSpPr>
        <p:spPr>
          <a:xfrm>
            <a:off x="10378440" y="4379976"/>
            <a:ext cx="1143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Not started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5321808"/>
            <a:ext cx="11064240" cy="896112"/>
          </a:xfrm>
          <a:prstGeom prst="roundRect">
            <a:avLst>
              <a:gd name="adj" fmla="val 6122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6" name="Shape 34"/>
          <p:cNvSpPr/>
          <p:nvPr/>
        </p:nvSpPr>
        <p:spPr>
          <a:xfrm>
            <a:off x="777240" y="557784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37" name="Text 35"/>
          <p:cNvSpPr/>
          <p:nvPr/>
        </p:nvSpPr>
        <p:spPr>
          <a:xfrm>
            <a:off x="777240" y="5577840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5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25880" y="5367528"/>
            <a:ext cx="260604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Point-of-Care Prototype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023360" y="5367528"/>
            <a:ext cx="41148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Requires validated sensing and analysis components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75320" y="5687568"/>
            <a:ext cx="201168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1" name="Text 39"/>
          <p:cNvSpPr/>
          <p:nvPr/>
        </p:nvSpPr>
        <p:spPr>
          <a:xfrm>
            <a:off x="10378440" y="5367528"/>
            <a:ext cx="1143000" cy="8046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 stage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Progress bars are indicative of stage completion, not quantitative metrics.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AGAINST THE FOUR PROPOSAL DELIVERABLES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Deliverable Progress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777240" y="1508760"/>
            <a:ext cx="365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1</a:t>
            </a:r>
            <a:endParaRPr lang="en-US" sz="3200" b="1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1234440" y="1508760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Raman spectral library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977640" y="1508760"/>
            <a:ext cx="2468880" cy="7955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4114800" y="1645920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Reference dataset established;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expansion ongoing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29400" y="1508760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Pure-standard Raman reference data established for NAM, LTA and LPS, cross-validated against DFT. Expansion to additional bacterial components continues.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777240" y="2715768"/>
            <a:ext cx="365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</a:t>
            </a:r>
            <a:endParaRPr lang="en-US" sz="3200" b="1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34440" y="2715768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chip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977640" y="2715768"/>
            <a:ext cx="2468880" cy="84124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3977640" y="2761488"/>
            <a:ext cx="2468880" cy="7498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Two generations fabricated &amp;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validated; optimization ongoing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2715768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 (Ag/Si) and Sensor 2 (Ag/black-Si, MACE) both fabricated and confirmed SERS-active with R6G; best etch condition identified. NAM SERS on the 2-minute-etch substrate has produced a matched-blank-validated candidate at 643 cm⁻¹.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777240" y="3922776"/>
            <a:ext cx="365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</a:t>
            </a:r>
            <a:endParaRPr lang="en-US" sz="3200" b="1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34440" y="3922776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AI-based Raman analysis algorithm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977640" y="4059936"/>
            <a:ext cx="2468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4114800" y="4059936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Data-generation /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preparation stage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29400" y="3922776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Structured Raman datasets and a consistent preprocessing pipeline are being produced — the required input for model development in a later phase.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992624"/>
            <a:ext cx="11064240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777240" y="5129784"/>
            <a:ext cx="365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</a:t>
            </a:r>
            <a:endParaRPr lang="en-US" sz="3200" b="1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34440" y="5129784"/>
            <a:ext cx="2743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Point-of-care prototype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069080" y="5266944"/>
            <a:ext cx="237744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4114800" y="5266944"/>
            <a:ext cx="233172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Future stage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629400" y="5129784"/>
            <a:ext cx="4800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Depends on validated sensing and analysis components; scheduled for a later phase of the programme.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 · IN PROGRESS · NEXT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Current Project Status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777240" y="1536192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modelling — NAM, LTA, LPS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 Raman characterization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Reference spectra established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 substrate fabrication (2 generations)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substrate validation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SERS trial (643 cm⁻¹ candidate)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LTA SERS trial (1095, 1602 cm⁻¹ artifacts ruled out)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Artifact-screening criterion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9" name="Text 7"/>
          <p:cNvSpPr/>
          <p:nvPr/>
        </p:nvSpPr>
        <p:spPr>
          <a:xfrm>
            <a:off x="4572000" y="1536192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IN PROGRESS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4572000" y="205740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Substrate optimization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 adsorption optimization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Measurement reproducibility improvement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Raman reference library expansion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138160" y="1371600"/>
            <a:ext cx="3611880" cy="4480560"/>
          </a:xfrm>
          <a:prstGeom prst="roundRect">
            <a:avLst>
              <a:gd name="adj" fmla="val 1519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3" name="Text 11"/>
          <p:cNvSpPr/>
          <p:nvPr/>
        </p:nvSpPr>
        <p:spPr>
          <a:xfrm>
            <a:off x="8366760" y="1536192"/>
            <a:ext cx="315468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NEXT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366760" y="1901952"/>
            <a:ext cx="3154680" cy="13716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5" name="Text 13"/>
          <p:cNvSpPr/>
          <p:nvPr/>
        </p:nvSpPr>
        <p:spPr>
          <a:xfrm>
            <a:off x="8366760" y="2057400"/>
            <a:ext cx="3154680" cy="3657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LPS SERS measurement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Concentration-dependent NAM detection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Concentration-dependent LTA detection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6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Further substrate optimization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critical path runs through reproducible biomarker detection — every later objective depends on it.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IMMEDIATE EXPERIMENTS VS. LATER PROJECT PHASES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Next Steps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IMMEDIATE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Next experiments in the current work package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68680" y="23408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868680" y="23408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1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Text 7"/>
          <p:cNvSpPr/>
          <p:nvPr/>
        </p:nvSpPr>
        <p:spPr>
          <a:xfrm>
            <a:off x="1261872" y="22860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Optimize substrate fabrication and reproducibility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68680" y="288950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1" name="Text 9"/>
          <p:cNvSpPr/>
          <p:nvPr/>
        </p:nvSpPr>
        <p:spPr>
          <a:xfrm>
            <a:off x="868680" y="288950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261872" y="283464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Optimize biomarker–surface adsorption conditions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8680" y="343814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4" name="Text 12"/>
          <p:cNvSpPr/>
          <p:nvPr/>
        </p:nvSpPr>
        <p:spPr>
          <a:xfrm>
            <a:off x="868680" y="343814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261872" y="338328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Improve measurement reproducibility across batches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39867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7" name="Text 15"/>
          <p:cNvSpPr/>
          <p:nvPr/>
        </p:nvSpPr>
        <p:spPr>
          <a:xfrm>
            <a:off x="868680" y="398678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261872" y="393192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Perform LPS SERS measurement on both substrates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" y="453542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0" name="Text 18"/>
          <p:cNvSpPr/>
          <p:nvPr/>
        </p:nvSpPr>
        <p:spPr>
          <a:xfrm>
            <a:off x="868680" y="453542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5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261872" y="448056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Confirm the 643 cm⁻¹ NAM candidate with a concentration series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68680" y="508406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3" name="Text 21"/>
          <p:cNvSpPr/>
          <p:nvPr/>
        </p:nvSpPr>
        <p:spPr>
          <a:xfrm>
            <a:off x="868680" y="5084064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6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261872" y="5029200"/>
            <a:ext cx="448056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Target 1093.2 cm⁻¹ in a new LTA SERS measurement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172200" y="1371600"/>
            <a:ext cx="54406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26" name="Text 24"/>
          <p:cNvSpPr/>
          <p:nvPr/>
        </p:nvSpPr>
        <p:spPr>
          <a:xfrm>
            <a:off x="6446520" y="1554480"/>
            <a:ext cx="48920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kern="0" spc="8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LATER PROJECT PHASES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446520" y="18745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Sequenced after reproducible detection is achieved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46520" y="233172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29" name="Text 27"/>
          <p:cNvSpPr/>
          <p:nvPr/>
        </p:nvSpPr>
        <p:spPr>
          <a:xfrm>
            <a:off x="6446520" y="233172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Phase 2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35240" y="2276856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Validation on cultured bacterial / clinical isolates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446520" y="310896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2" name="Text 30"/>
          <p:cNvSpPr/>
          <p:nvPr/>
        </p:nvSpPr>
        <p:spPr>
          <a:xfrm>
            <a:off x="6446520" y="310896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Phase 3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635240" y="3054096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Clinical patient-sample validation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446520" y="388620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5" name="Text 33"/>
          <p:cNvSpPr/>
          <p:nvPr/>
        </p:nvSpPr>
        <p:spPr>
          <a:xfrm>
            <a:off x="6446520" y="388620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Phase 4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635240" y="3831336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AI / ML Raman classification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46520" y="4663440"/>
            <a:ext cx="10515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38" name="Text 36"/>
          <p:cNvSpPr/>
          <p:nvPr/>
        </p:nvSpPr>
        <p:spPr>
          <a:xfrm>
            <a:off x="6446520" y="4663440"/>
            <a:ext cx="10515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Phase 5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635240" y="4608576"/>
            <a:ext cx="3703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Point-of-care prototype development</a:t>
            </a: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CROSS-BIOMARKER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NAM vs LTA vs LPS: Overall Status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8240210"/>
              </p:ext>
            </p:extLst>
          </p:nvPr>
        </p:nvGraphicFramePr>
        <p:xfrm>
          <a:off x="548640" y="1417320"/>
          <a:ext cx="11064240" cy="379564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88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Parameter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NAM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LTA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1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LPS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Pure powder Raman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Full molecule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Fragments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Fragments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DFT–powder comparison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⚠ Exploratory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Reference bands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30/41 matched (refined)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7 powder bands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 high-confidence set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SERS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(643 cm⁻¹ candidate)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 trial (no confirmed match)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Not performed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Blank control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✓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—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Validated SERS candidate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643 cm⁻¹ (strongest, not confirmed)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None confirmed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—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Next step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Concentration series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Optimization / validation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800" b="0" i="0" dirty="0">
                          <a:solidFill>
                            <a:srgbClr val="000000"/>
                          </a:solidFill>
                          <a:latin typeface="Arial" panose="020B0604020202020204"/>
                        </a:rPr>
                        <a:t>SERS measurement</a:t>
                      </a:r>
                    </a:p>
                  </a:txBody>
                  <a:tcPr marR="45720" marT="18288" marB="18288" anchor="ctr">
                    <a:lnL w="9525" cap="flat" cmpd="sng" algn="ctr">
                      <a:solidFill>
                        <a:srgbClr val="000000"/>
                      </a:solidFill>
                    </a:lnL>
                    <a:lnR w="9525" cap="flat" cmpd="sng" algn="ctr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</a:lnT>
                    <a:lnB w="9525" cap="flat" cmpd="sng" algn="ctr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1064240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0" i="0" spc="120" dirty="0">
                <a:solidFill>
                  <a:srgbClr val="C00000"/>
                </a:solidFill>
                <a:latin typeface="Arial" panose="020B0604020202020204"/>
              </a:rPr>
              <a:t>TRANSLATION · FROM BENCH TO BEDSIDE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900" b="1" i="0">
                <a:solidFill>
                  <a:srgbClr val="0000FF"/>
                </a:solidFill>
                <a:latin typeface="Arial" panose="020B0604020202020204"/>
              </a:rPr>
              <a:t>Clinical Translation &amp; End-User Pathway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00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" name="TextBox 4"/>
          <p:cNvSpPr txBox="1"/>
          <p:nvPr/>
        </p:nvSpPr>
        <p:spPr>
          <a:xfrm>
            <a:off x="612600" y="1654864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Clinical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00" y="2285800"/>
            <a:ext cx="195325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Sepsis, delayed diagnosis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29814" y="217684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8" name="Rounded Rectangle 7"/>
          <p:cNvSpPr/>
          <p:nvPr/>
        </p:nvSpPr>
        <p:spPr>
          <a:xfrm>
            <a:off x="2794406" y="160000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9" name="TextBox 8"/>
          <p:cNvSpPr txBox="1"/>
          <p:nvPr/>
        </p:nvSpPr>
        <p:spPr>
          <a:xfrm>
            <a:off x="2858366" y="1654864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Biomarker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8366" y="2285800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NAM / LPS / LTA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75580" y="217684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2" name="Rounded Rectangle 11"/>
          <p:cNvSpPr/>
          <p:nvPr/>
        </p:nvSpPr>
        <p:spPr>
          <a:xfrm>
            <a:off x="5040172" y="160000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3" name="TextBox 12"/>
          <p:cNvSpPr txBox="1"/>
          <p:nvPr/>
        </p:nvSpPr>
        <p:spPr>
          <a:xfrm>
            <a:off x="5104132" y="1654864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SERS sensor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4132" y="2285800"/>
            <a:ext cx="1953254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Substrate + measurement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121346" y="217684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7285938" y="160000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7349898" y="1654864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AI interpretation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49898" y="2285800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Spectral classification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67112" y="2176848"/>
            <a:ext cx="164592" cy="146304"/>
          </a:xfrm>
          <a:prstGeom prst="rightArrow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0" name="Rounded Rectangle 19"/>
          <p:cNvSpPr/>
          <p:nvPr/>
        </p:nvSpPr>
        <p:spPr>
          <a:xfrm>
            <a:off x="9531704" y="1600000"/>
            <a:ext cx="2081174" cy="13000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9595664" y="1654864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1" i="0">
                <a:solidFill>
                  <a:srgbClr val="000000"/>
                </a:solidFill>
                <a:latin typeface="Arial" panose="020B0604020202020204"/>
              </a:rPr>
              <a:t>Point-of-care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95664" y="2285800"/>
            <a:ext cx="1953254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600" b="0" i="0">
                <a:solidFill>
                  <a:srgbClr val="000000"/>
                </a:solidFill>
                <a:latin typeface="Arial" panose="020B0604020202020204"/>
              </a:rPr>
              <a:t>Bedside deployment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Conclusion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1472184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4" name="Text 2"/>
          <p:cNvSpPr/>
          <p:nvPr/>
        </p:nvSpPr>
        <p:spPr>
          <a:xfrm>
            <a:off x="1097280" y="1417320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Established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computational and experimental Raman foundation — DFT models and pure reference spectra for NAM, LTA and LPS.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" y="2185416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6" name="Text 4"/>
          <p:cNvSpPr/>
          <p:nvPr/>
        </p:nvSpPr>
        <p:spPr>
          <a:xfrm>
            <a:off x="1097280" y="2130552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Developed and validated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two types of SERS substrates, both confirmed SERS-active using R6G.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22960" y="2898648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8" name="Text 6"/>
          <p:cNvSpPr/>
          <p:nvPr/>
        </p:nvSpPr>
        <p:spPr>
          <a:xfrm>
            <a:off x="1097280" y="2843784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Completed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and LTA SERS trials — identified NAM's first matched-blank-validated candidate (643 cm⁻¹) and ruled out two LTA artifact peaks (1095, 1602 cm⁻¹).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611880"/>
            <a:ext cx="64008" cy="502920"/>
          </a:xfrm>
          <a:prstGeom prst="roundRect">
            <a:avLst>
              <a:gd name="adj" fmla="val 42857"/>
            </a:avLst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 sz="2400"/>
          </a:p>
        </p:txBody>
      </p:sp>
      <p:sp>
        <p:nvSpPr>
          <p:cNvPr id="10" name="Text 8"/>
          <p:cNvSpPr/>
          <p:nvPr/>
        </p:nvSpPr>
        <p:spPr>
          <a:xfrm>
            <a:off x="1097280" y="3557016"/>
            <a:ext cx="1024128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Established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 rigorous approach for distinguishing genuine spectral features from detector artifacts.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4526280"/>
            <a:ext cx="10515600" cy="105156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</p:spPr>
        <p:txBody>
          <a:bodyPr/>
          <a:lstStyle/>
          <a:p>
            <a:endParaRPr lang="en-IN" sz="240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996696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key next challenge:  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confirming the 643 cm⁻¹ NAM candidate with a concentration series, and extending matched-blank validation to LPS and LTA (targeting 1093.2 cm⁻¹).</a:t>
            </a:r>
            <a:endParaRPr lang="en-US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6053328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286000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Thank You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3246120"/>
            <a:ext cx="13716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34747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Questions and discussion</a:t>
            </a:r>
            <a:endParaRPr lang="en-US" sz="19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5120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7432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/ Additional Results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22960" y="3611880"/>
            <a:ext cx="1371600" cy="27432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Supporting technical detail for discussion and Q&amp;A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COMPUTATIONAL PARAMETERS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DFT Computational Parameters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548640" y="1417320"/>
          <a:ext cx="11064240" cy="33223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NAM (full molecule)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LTA fragments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LPS fragments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Functional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B3LYP-D3BJ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B3LYP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B3LYP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Basis set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6-311++G(d,p)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6-31G(d)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6-31G(d)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Job type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 + Freq +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 + Freq + Raman (Gaussian 09)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 + Freq + Raman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Solvation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Gas phase (none)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Not stated in 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Not stated in 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Grid / SCF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UltraFine / Tight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Resources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16 processors, 48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16 cores, 56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16 cores, 56 GB RAM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Pure-standard Raman acquisition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53" name="Table 1"/>
          <p:cNvGraphicFramePr>
            <a:graphicFrameLocks noGrp="1"/>
          </p:cNvGraphicFramePr>
          <p:nvPr/>
        </p:nvGraphicFramePr>
        <p:xfrm>
          <a:off x="548640" y="5166360"/>
          <a:ext cx="11064240" cy="15849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Parameter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NAM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LTA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LPS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Sample form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High-purity powder (~98%)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Powder / prepared solution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Powder / prepared solution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Excitation source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785 nm laser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Optimum condition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25 s integration, 80% power,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best SNR = 95.91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1600"/>
                        <a:t>20 s integration, power level 20,</a:t>
                      </a:r>
                      <a:endParaRPr lang="en-US" sz="1600" b="0" dirty="0">
                        <a:solidFill>
                          <a:srgbClr val="000000"/>
                        </a:solidFill>
                        <a:latin typeface="Arial" panose="020B060402020202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60 s integration, 20% power,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30 accumulations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SELECTING THE REFERENCE MEASUREMENT CONDITION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NAM Acquisition Optimisation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062727"/>
            <a:ext cx="6583680" cy="233021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084064"/>
            <a:ext cx="6583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Experimental Raman spectra of pure NAM powder across laser power / integration-time settings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140919"/>
            <a:ext cx="4297680" cy="2173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315200" y="5084064"/>
            <a:ext cx="4297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SNR map across the tested parameter combinations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Shape 4"/>
          <p:cNvSpPr/>
          <p:nvPr/>
        </p:nvSpPr>
        <p:spPr>
          <a:xfrm>
            <a:off x="548640" y="5532120"/>
            <a:ext cx="11064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5"/>
          <p:cNvSpPr/>
          <p:nvPr/>
        </p:nvSpPr>
        <p:spPr>
          <a:xfrm>
            <a:off x="868680" y="5687568"/>
            <a:ext cx="104241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Selected condition:  25 s integration · 80% laser power · best SNR = 95.91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   — chosen by comparing SNR across all tested combinations. The reference spectrum used throughout is the mean of 22 replicates from the May replicate set (sets R2+R4).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PRIOR SENSOR-LEVEL DATA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NAM SERS Trial Detail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7312"/>
            <a:ext cx="3657600" cy="2235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07822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(1 mg/mL) on Sensor 1 vs. blank-substrate spectrum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2506" y="1371600"/>
            <a:ext cx="3247949" cy="270662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43400" y="407822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~243 cm⁻¹ candidate peak intensity vs. NAM concentration (mean ± SD)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8" name="Image 2" descr="/sessions/dreamy-funny-johnson/mnt/outputs/ppt_build/media/image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1706009"/>
            <a:ext cx="3566160" cy="203780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0" y="407822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NAM on Sensor 2 across 2, 5 and 10-minute etch substrates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548640" y="4526280"/>
          <a:ext cx="11064240" cy="159004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59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Category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Detail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Excluded — substrate artifact (2 peaks)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1004 cm⁻¹ (35.0% of blanks vs. 11.6% with NAM) and 1127 cm⁻¹ (37.5% vs. 2.3%) — more common in the blank, so excluded as substrate features.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Best-supported NAM candidate (1 peak)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643 cm⁻¹ — seen in 25.6% of NAM spectra vs. 8.8% of matched blanks (net +16.8%). Aligns with the 646 cm⁻¹ powder Raman band and 640 cm⁻¹ DFT mode (skeletal deformation + δ(C–C–O)).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Unconfirmed (26 peaks)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Low single-spectrum reproducibility on both NAM and blank sides. The two contamination-risk peaks (1381, 1573 cm⁻¹) stayed clean in both datasets.</a:t>
                      </a:r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SERIAL DILUTION PROTOCOL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NAM Concentration-Series Preparation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27" name="Table 0"/>
          <p:cNvGraphicFramePr>
            <a:graphicFrameLocks noGrp="1"/>
          </p:cNvGraphicFramePr>
          <p:nvPr/>
        </p:nvGraphicFramePr>
        <p:xfrm>
          <a:off x="548640" y="1417320"/>
          <a:ext cx="11064240" cy="3200400"/>
        </p:xfrm>
        <a:graphic>
          <a:graphicData uri="http://schemas.openxmlformats.org/drawingml/2006/table">
            <a:tbl>
              <a:tblPr/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4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Volume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Final concentration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Stock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Dilution 1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mL stock + 9 mL DI water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0.1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Dilution 2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mL of 0.1 mg/mL + 9 mL DI water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0.01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Dilution 3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mL of 0.01 mg/mL + 9 mL DI water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0.001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Dilution 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mL of 0.001 mg/mL + 9 mL DI water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0.0001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Dilution 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 mL of 0.0001 mg/mL + 9 mL DI water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0.00001 mg/mL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84632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Ten-fold serial dilution in DI water — stock through 10⁻⁵ mg/mL, the concentration series used for SERS concentration-response testing.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HUNGARIAN PEAK-TO-MODE ASSIGNMENT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LPS Experimental Spectrum and Composite Fits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303" y="1371600"/>
            <a:ext cx="4161355" cy="28895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261104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Experimental LPS powder spectrum (60 s, 20% power, 30 accumulations)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470001"/>
            <a:ext cx="5440680" cy="26927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72200" y="4261104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DFT vibrational modes of the five LPS fragments (178 modes) matched to the experimental spectrum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8" name="Text 4"/>
          <p:cNvSpPr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Model fit quality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graphicFrame>
        <p:nvGraphicFramePr>
          <p:cNvPr id="32" name="Table 0"/>
          <p:cNvGraphicFramePr>
            <a:graphicFrameLocks noGrp="1"/>
          </p:cNvGraphicFramePr>
          <p:nvPr/>
        </p:nvGraphicFramePr>
        <p:xfrm>
          <a:off x="548640" y="5074920"/>
          <a:ext cx="11064240" cy="100584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Matching approach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Peaks / DFT modes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Peaks matched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Mean absolute error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All matched (Hungarian, ±15 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43 / 178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26 (60%)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3.9 cm⁻¹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Closely matched (Δ ≤ 5 cm⁻¹)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43 / 178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Calibri" panose="020F0502020204030204"/>
                          <a:cs typeface="Arial" panose="020B0604020202020204"/>
                        </a:rPr>
                        <a:t>1.6 cm⁻¹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548640" y="6126480"/>
            <a:ext cx="110642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Seven bands form the characteristic LPS Raman fingerprint: 721, 748, 1659 and 1693 cm⁻¹ agree directly with DFT; 972, 1124 and 1354 cm⁻¹ are additionally confirmed against literature LPS/endotoxin Raman bands (989, 1131 and 1330 cm⁻¹).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2, 2-MINUTE ETCH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LTA SERS Trial, All Measurement Spots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99329"/>
            <a:ext cx="7223760" cy="34398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266944"/>
            <a:ext cx="72237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LTA on Sensor 2 (2-minute etch) — all 15 measurement spots overlaid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01000" y="1417320"/>
            <a:ext cx="3611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Peak-validation methodology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8001000" y="178308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8211312" y="189280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SNR acceptance threshold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9" name="Text 6"/>
          <p:cNvSpPr/>
          <p:nvPr/>
        </p:nvSpPr>
        <p:spPr>
          <a:xfrm>
            <a:off x="8211312" y="216712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 minimum SNR of 3, reproducible across replicate spots, is required for a candidate SERS peak to be accepted.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8001000" y="324612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211312" y="335584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Peak-width validity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11312" y="363016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 genuine Raman band should exhibit a multi-pixel width consistent with the instrument response; a single-pixel spike is treated as a detector artifact.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8001000" y="4709160"/>
            <a:ext cx="36118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8211312" y="48188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Applied consistently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11312" y="5093208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Established from the LTA investigation and applied to all subsequent SERS peak validation.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48640" y="5715000"/>
            <a:ext cx="72237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i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Outcome: the apparent 1095 cm⁻¹ feature (4 of 15 spots at SNR ≥ 3) failed the peak-width criterion and was rejected as a detector artifact. A separate 1602 cm⁻¹ SERS candidate was also assessed and found to coincide with an identical blank-substrate peak (Δ = 0.3 cm⁻¹) — reclassified a substrate artifact, not an LTA signal.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BLANK, CONCENTRATION SERIES AND REPRODUCIBILITY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Sensor 1 (Ag/Si) R6G Validation Detail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4272"/>
            <a:ext cx="3566160" cy="1981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43814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Blank substrate — five spectra overlaid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165" y="1371600"/>
            <a:ext cx="3193750" cy="20665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343814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concentration-response, 1 nM–1 mM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8" name="Image 2" descr="/sessions/dreamy-funny-johnson/mnt/outputs/ppt_build/media/imag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4172" y="1371600"/>
            <a:ext cx="3099816" cy="20665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280" y="343814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R6G concentration series (stacked)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10" name="Image 3" descr="/sessions/dreamy-funny-johnson/mnt/outputs/ppt_build/media/image3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3876" y="3977640"/>
            <a:ext cx="3950208" cy="197510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8640" y="5952744"/>
            <a:ext cx="544068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39-spectrum acquisition sweep used for reproducibility assessment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6172200" y="3977640"/>
            <a:ext cx="544068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4605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7"/>
          <p:cNvSpPr/>
          <p:nvPr/>
        </p:nvSpPr>
        <p:spPr>
          <a:xfrm>
            <a:off x="6446520" y="4160520"/>
            <a:ext cx="4892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Outcome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8"/>
          <p:cNvSpPr/>
          <p:nvPr/>
        </p:nvSpPr>
        <p:spPr>
          <a:xfrm>
            <a:off x="6446520" y="4526280"/>
            <a:ext cx="489204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Sensor 1 demonstrated SERS activity and a measurable concentration response across the tested R6G range.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Blank-substrate spectra established the background baseline used for all subsequent subtraction.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Font typeface="Wingdings" panose="05000000000000000000" pitchFamily="2" charset="2"/>
              <a:buChar char="v"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The 39-spectrum sweep provided the reproducibility reference for the substrate.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INSTRUMENT REFERENCE MEASUREMENTS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Raw-Silicon Reference and Wavenumber Calibration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00784"/>
            <a:ext cx="3566160" cy="21396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696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Unetched-silicon reference spectrum (highest-signal condition)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6" name="Image 1" descr="/sessions/dreamy-funny-johnson/mnt/outputs/ppt_build/media/image3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51960" y="1700784"/>
            <a:ext cx="3566160" cy="213969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51960" y="4169664"/>
            <a:ext cx="35661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Unetched-silicon spectra across tested laser power settings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8" name="Image 2" descr="/sessions/dreamy-funny-johnson/mnt/outputs/ppt_build/media/image3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0" y="2039112"/>
            <a:ext cx="3657600" cy="146304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955280" y="4169664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Linearity check of the silicon 520 cm⁻¹ phonon reference peak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548640" y="470916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6"/>
          <p:cNvSpPr/>
          <p:nvPr/>
        </p:nvSpPr>
        <p:spPr>
          <a:xfrm>
            <a:off x="868680" y="4892040"/>
            <a:ext cx="104241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Purpose:  </a:t>
            </a: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unetched raw-silicon spectra provide the wavenumber calibration reference for the instrument and establish its minimum resolvable peak width — the basis for the multi-pixel peak-validity criterion applied to all SERS candidate peaks in this project.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kern="0" spc="120" dirty="0">
                <a:solidFill>
                  <a:srgbClr val="C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AS PRESENTED IN THE PROJECT REPORT</a:t>
            </a:r>
            <a:endParaRPr lang="en-US" sz="14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Backup — Project Objectives (Original Proposal Figure)</a:t>
            </a:r>
            <a:endParaRPr lang="en-US" sz="2900" b="1" dirty="0">
              <a:solidFill>
                <a:srgbClr val="0000FF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pic>
        <p:nvPicPr>
          <p:cNvPr id="4" name="Image 0" descr="/sessions/dreamy-funny-johnson/mnt/outputs/ppt_build/media/image1.png"/>
          <p:cNvPicPr>
            <a:picLocks noChangeAspect="1"/>
          </p:cNvPicPr>
          <p:nvPr/>
        </p:nvPicPr>
        <p:blipFill>
          <a:blip r:embed="rId3"/>
          <a:srcRect b="5109"/>
          <a:stretch>
            <a:fillRect/>
          </a:stretch>
        </p:blipFill>
        <p:spPr>
          <a:xfrm>
            <a:off x="1291412" y="1371600"/>
            <a:ext cx="5281015" cy="4130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724144"/>
            <a:ext cx="6766560" cy="3108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Graphical representation of the project objectives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43800" y="1417320"/>
            <a:ext cx="40690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Objective summary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7" name="Shape 4"/>
          <p:cNvSpPr/>
          <p:nvPr/>
        </p:nvSpPr>
        <p:spPr>
          <a:xfrm>
            <a:off x="7543800" y="178308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7726680" y="19568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7726680" y="1956816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1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138160" y="1783080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Biomarker Discovery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7543800" y="2532888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7726680" y="270662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7726680" y="2706624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2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138160" y="2532888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SERS-Based Sensing Technology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7543800" y="3282696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3"/>
          <p:cNvSpPr/>
          <p:nvPr/>
        </p:nvSpPr>
        <p:spPr>
          <a:xfrm>
            <a:off x="7726680" y="345643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7726680" y="3456432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3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38160" y="3282696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AI-Integrated Raman Analysis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19" name="Shape 16"/>
          <p:cNvSpPr/>
          <p:nvPr/>
        </p:nvSpPr>
        <p:spPr>
          <a:xfrm>
            <a:off x="7543800" y="4032504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7726680" y="420624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/>
          <p:nvPr/>
        </p:nvSpPr>
        <p:spPr>
          <a:xfrm>
            <a:off x="7726680" y="4206240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4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38160" y="4032504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Clinical Validation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7543800" y="4782312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4605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1"/>
          <p:cNvSpPr/>
          <p:nvPr/>
        </p:nvSpPr>
        <p:spPr>
          <a:xfrm>
            <a:off x="7726680" y="49560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/>
          <p:nvPr/>
        </p:nvSpPr>
        <p:spPr>
          <a:xfrm>
            <a:off x="7726680" y="4956048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5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138160" y="4782312"/>
            <a:ext cx="329184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Arial" panose="020B0604020202020204" pitchFamily="34" charset="0"/>
                <a:ea typeface="Calibri" panose="020F0502020204030204" pitchFamily="34" charset="-122"/>
                <a:cs typeface="Arial" panose="020B0604020202020204" pitchFamily="34" charset="-120"/>
              </a:rPr>
              <a:t>Point-of-Care Prototype</a:t>
            </a: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543800" y="5623560"/>
            <a:ext cx="4069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endParaRPr lang="en-US" sz="1300" dirty="0">
              <a:solidFill>
                <a:srgbClr val="000000"/>
              </a:solidFill>
              <a:latin typeface="Arial" panose="020B0604020202020204"/>
              <a:ea typeface="Calibri" panose="020F050202020403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613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3890823-D052-4771-A651-8CCF9DE5CCB3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14750bc-bf74-4f25-8273-e10e7cd42e8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175</TotalTime>
  <Words>5792</Words>
  <Application>Microsoft Office PowerPoint</Application>
  <PresentationFormat>Widescreen</PresentationFormat>
  <Paragraphs>1029</Paragraphs>
  <Slides>56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0" baseType="lpstr">
      <vt:lpstr>Arial</vt:lpstr>
      <vt:lpstr>Calibri</vt:lpstr>
      <vt:lpstr>Wingdings</vt:lpstr>
      <vt:lpstr>Office Theme</vt:lpstr>
      <vt:lpstr>PowerPoint Presentation</vt:lpstr>
      <vt:lpstr>PowerPoint Presentation</vt:lpstr>
      <vt:lpstr>PowerPoint Presentation</vt:lpstr>
      <vt:lpstr>Project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Yearly Project Progress Review — V2</dc:title>
  <dc:subject>PptxGenJS Presentation</dc:subject>
  <dc:creator>Sukesh P (M24IM1007)</dc:creator>
  <cp:lastModifiedBy>subash P</cp:lastModifiedBy>
  <cp:revision>16</cp:revision>
  <dcterms:created xsi:type="dcterms:W3CDTF">2026-08-25T04:34:00Z</dcterms:created>
  <dcterms:modified xsi:type="dcterms:W3CDTF">2026-09-01T09:28:01Z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8C5ABD2ABAE844DFB558C7AD3DA94F4B_12</vt:lpwstr>
  </property>
  <property fmtid="{D5CDD505-2E9C-101B-9397-08002B2CF9AE}" pid="3" name="KSOProductBuildVer">
    <vt:lpwstr>1033-12.1.0.28032</vt:lpwstr>
  </property>
</Properties>
</file>