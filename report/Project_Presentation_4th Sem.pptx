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omments/comment1.xml" ContentType="application/vnd.openxmlformats-officedocument.presentationml.comment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6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 id="278"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9144000" cy="5143500" type="screen16x9"/>
  <p:notesSz cx="6858000" cy="9144000"/>
  <p:embeddedFontLst>
    <p:embeddedFont>
      <p:font typeface="Outfit SemiBold" panose="020B0604020202020204" charset="0"/>
      <p:regular r:id="rId65"/>
      <p:bold r:id="rId6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ukesh P (M24IM1007)" initials="" lastIdx="2" clrIdx="0"/>
  <p:cmAuthor id="1" name="Mohamed Zaki Hafeez (M24IM1002)"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8BD225-2F17-4223-8857-AD395EA7D519}">
  <a:tblStyle styleId="{268BD225-2F17-4223-8857-AD395EA7D51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420"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2.fntdata"/><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4-15T14:06:30.167" idx="1">
    <p:pos x="6000" y="0"/>
    <p:text>we dont have limit of detection curve also</p:text>
  </p:cm>
  <p:cm authorId="1" dt="2026-04-15T14:06:30.167" idx="1">
    <p:pos x="6000" y="0"/>
    <p:text>corrected slide added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dee85787ec_2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dee85787ec_2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d6028e2299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d6028e2299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d6028e2299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d6028e229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d6028e2299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d6028e229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d6028e2299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d6028e2299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d6028e2299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d6028e229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d6028e2299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d6028e2299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d6028e2299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d6028e2299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d6028e2299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d6028e2299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d6028e2299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d6028e2299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d6028e2299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d6028e2299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d6028e2299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d6028e2299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de8f36d46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de8f36d4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d6028e2299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d6028e2299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de8f36d460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de8f36d460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dec964d79a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dec964d79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de8f36d460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de8f36d460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d6fb4adfb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d6fb4adf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de8f36d460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de8f36d460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dee69d4508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g3dee69d4508_1_7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dee69d4508_1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g3dee69d4508_1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dee69d4508_1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g3dee69d4508_1_10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dee69d4508_1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g3dee69d4508_1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dee69d4508_1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g3dee69d4508_1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dee69d4508_1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g3dee69d4508_1_1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dee69d4508_1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g3dee69d4508_1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dee69d4508_1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g3dee69d4508_1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dee69d4508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g3dee69d4508_1_1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dee85787ec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3dee85787ec_6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dee85787ec_6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4" name="Google Shape;374;g3dee85787ec_6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dee85787ec_6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3" name="Google Shape;383;g3dee85787ec_6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dee85787ec_6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0" name="Google Shape;390;g3dee85787ec_6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dee85787ec_6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5" name="Google Shape;405;g3dee85787ec_6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dee85787ec_6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0" name="Google Shape;420;g3dee85787ec_6_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dee85787ec_6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2" name="Google Shape;432;g3dee85787ec_6_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dee85787ec_6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g3dee85787ec_6_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3dee85787ec_6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0" name="Google Shape;450;g3dee85787ec_6_7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dee29cadd0_2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dee29cadd0_2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dee29cadd0_2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3dee29cadd0_2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dee29cadd0_2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3dee29cadd0_2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dee85787ec_6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8" name="Google Shape;478;g3dee85787ec_6_10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dee85787ec_6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4" name="Google Shape;484;g3dee85787ec_6_10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dee85787ec_6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1" name="Google Shape;491;g3dee85787ec_6_1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dee85787ec_6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8" name="Google Shape;498;g3dee85787ec_6_1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dee85787ec_6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8" name="Google Shape;508;g3dee85787ec_6_1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dee85787ec_6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3" name="Google Shape;513;g3dee85787ec_6_1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3dee85787ec_6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8" name="Google Shape;518;g3dee85787ec_6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dee85787ec_6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9" name="Google Shape;529;g3dee85787ec_6_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dee85787ec_6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4" name="Google Shape;534;g3dee85787ec_6_9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de8f36d460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de8f36d460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3de8f36d460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 name="Google Shape;547;g3de8f36d460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de8f36d460_0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3de8f36d460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3de8f36d460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3de8f36d460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3de8f36d460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3de8f36d460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de8f36d460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3de8f36d460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de8f36d460_0_1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de8f36d460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de8f36d460_0_1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3de8f36d460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deb067e9dd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3deb067e9d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3deb067e9dd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3deb067e9dd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3de8f36d460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3de8f36d460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8" name="Google Shape;58;p14"/>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2"/>
        <p:cNvGrpSpPr/>
        <p:nvPr/>
      </p:nvGrpSpPr>
      <p:grpSpPr>
        <a:xfrm>
          <a:off x="0" y="0"/>
          <a:ext cx="0" cy="0"/>
          <a:chOff x="0" y="0"/>
          <a:chExt cx="0" cy="0"/>
        </a:xfrm>
      </p:grpSpPr>
      <p:sp>
        <p:nvSpPr>
          <p:cNvPr id="63" name="Google Shape;63;p1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4" name="Google Shape;64;p15"/>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65" name="Google Shape;65;p1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1" name="Google Shape;71;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7"/>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4" name="Google Shape;84;p18"/>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1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6" name="Google Shape;86;p18"/>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7" name="Google Shape;87;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3" name="Google Shape;103;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150" cy="3655219"/>
          </a:xfrm>
          <a:prstGeom prst="rect">
            <a:avLst/>
          </a:prstGeom>
          <a:noFill/>
          <a:ln>
            <a:noFill/>
          </a:ln>
        </p:spPr>
      </p:sp>
      <p:sp>
        <p:nvSpPr>
          <p:cNvPr id="109" name="Google Shape;109;p22"/>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23.jp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31.gif"/><Relationship Id="rId4" Type="http://schemas.openxmlformats.org/officeDocument/2006/relationships/image" Target="../media/image30.gif"/></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45.png"/><Relationship Id="rId4" Type="http://schemas.openxmlformats.org/officeDocument/2006/relationships/image" Target="../media/image4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8.xml"/><Relationship Id="rId1" Type="http://schemas.openxmlformats.org/officeDocument/2006/relationships/slideLayout" Target="../slideLayouts/slideLayout12.xml"/><Relationship Id="rId5" Type="http://schemas.openxmlformats.org/officeDocument/2006/relationships/image" Target="../media/image61.png"/><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1.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s>
</file>

<file path=ppt/slides/_rels/slide5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3.xml"/><Relationship Id="rId1" Type="http://schemas.openxmlformats.org/officeDocument/2006/relationships/slideLayout" Target="../slideLayouts/slideLayout3.xml"/><Relationship Id="rId5" Type="http://schemas.openxmlformats.org/officeDocument/2006/relationships/comments" Target="../comments/comment1.xml"/><Relationship Id="rId4" Type="http://schemas.openxmlformats.org/officeDocument/2006/relationships/image" Target="../media/image70.png"/></Relationships>
</file>

<file path=ppt/slides/_rels/slide5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8.xml"/><Relationship Id="rId1" Type="http://schemas.openxmlformats.org/officeDocument/2006/relationships/slideLayout" Target="../slideLayouts/slideLayout3.xml"/><Relationship Id="rId5" Type="http://schemas.openxmlformats.org/officeDocument/2006/relationships/image" Target="../media/image77.png"/><Relationship Id="rId4" Type="http://schemas.openxmlformats.org/officeDocument/2006/relationships/image" Target="../media/image76.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30" name="Google Shape;130;p2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31" name="Google Shape;131;p25"/>
          <p:cNvPicPr preferRelativeResize="0"/>
          <p:nvPr/>
        </p:nvPicPr>
        <p:blipFill>
          <a:blip r:embed="rId3">
            <a:alphaModFix/>
          </a:blip>
          <a:stretch>
            <a:fillRect/>
          </a:stretch>
        </p:blipFill>
        <p:spPr>
          <a:xfrm>
            <a:off x="0" y="109513"/>
            <a:ext cx="8754600" cy="4924474"/>
          </a:xfrm>
          <a:prstGeom prst="rect">
            <a:avLst/>
          </a:prstGeom>
          <a:noFill/>
          <a:ln>
            <a:noFill/>
          </a:ln>
        </p:spPr>
      </p:pic>
      <p:pic>
        <p:nvPicPr>
          <p:cNvPr id="132" name="Google Shape;132;p25"/>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38" name="Google Shape;138;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39" name="Google Shape;139;p2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5" name="Google Shape;145;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6" name="Google Shape;146;p27"/>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2" name="Google Shape;152;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3" name="Google Shape;15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9" name="Google Shape;159;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0" name="Google Shape;160;p29"/>
          <p:cNvPicPr preferRelativeResize="0"/>
          <p:nvPr/>
        </p:nvPicPr>
        <p:blipFill>
          <a:blip r:embed="rId3">
            <a:alphaModFix/>
          </a:blip>
          <a:stretch>
            <a:fillRect/>
          </a:stretch>
        </p:blipFill>
        <p:spPr>
          <a:xfrm>
            <a:off x="152400" y="152400"/>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6" name="Google Shape;166;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7" name="Google Shape;167;p3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3" name="Google Shape;173;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4" name="Google Shape;174;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80" name="Google Shape;180;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81" name="Google Shape;181;p3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87" name="Google Shape;187;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88" name="Google Shape;188;p3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94" name="Google Shape;194;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95" name="Google Shape;195;p3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01" name="Google Shape;201;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2" name="Google Shape;202;p3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08" name="Google Shape;208;p36"/>
          <p:cNvSpPr txBox="1">
            <a:spLocks noGrp="1"/>
          </p:cNvSpPr>
          <p:nvPr>
            <p:ph type="body" idx="1"/>
          </p:nvPr>
        </p:nvSpPr>
        <p:spPr>
          <a:xfrm>
            <a:off x="182263" y="8717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 b="1" u="sng"/>
              <a:t>Differences between Gram Positive and Gram negative Bacteria </a:t>
            </a:r>
            <a:endParaRPr b="1" u="sng"/>
          </a:p>
        </p:txBody>
      </p:sp>
      <p:pic>
        <p:nvPicPr>
          <p:cNvPr id="209" name="Google Shape;209;p36"/>
          <p:cNvPicPr preferRelativeResize="0"/>
          <p:nvPr/>
        </p:nvPicPr>
        <p:blipFill>
          <a:blip r:embed="rId3">
            <a:alphaModFix/>
          </a:blip>
          <a:stretch>
            <a:fillRect/>
          </a:stretch>
        </p:blipFill>
        <p:spPr>
          <a:xfrm>
            <a:off x="475350" y="562750"/>
            <a:ext cx="7934424" cy="45163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7"/>
          <p:cNvSpPr txBox="1">
            <a:spLocks noGrp="1"/>
          </p:cNvSpPr>
          <p:nvPr>
            <p:ph type="title"/>
          </p:nvPr>
        </p:nvSpPr>
        <p:spPr>
          <a:xfrm>
            <a:off x="311700" y="131175"/>
            <a:ext cx="8520600" cy="5727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SzPts val="891"/>
              <a:buNone/>
            </a:pPr>
            <a:r>
              <a:rPr lang="en" sz="1628"/>
              <a:t>Diagram representation of  </a:t>
            </a:r>
            <a:endParaRPr sz="1628"/>
          </a:p>
          <a:p>
            <a:pPr marL="457200" lvl="0" indent="0" algn="l" rtl="0">
              <a:spcBef>
                <a:spcPts val="0"/>
              </a:spcBef>
              <a:spcAft>
                <a:spcPts val="0"/>
              </a:spcAft>
              <a:buSzPts val="891"/>
              <a:buNone/>
            </a:pPr>
            <a:r>
              <a:rPr lang="en" sz="1628"/>
              <a:t>a)LPS  &amp;     b) LTA</a:t>
            </a:r>
            <a:endParaRPr sz="1628"/>
          </a:p>
        </p:txBody>
      </p:sp>
      <p:sp>
        <p:nvSpPr>
          <p:cNvPr id="215" name="Google Shape;215;p37"/>
          <p:cNvSpPr txBox="1">
            <a:spLocks noGrp="1"/>
          </p:cNvSpPr>
          <p:nvPr>
            <p:ph type="body" idx="1"/>
          </p:nvPr>
        </p:nvSpPr>
        <p:spPr>
          <a:xfrm>
            <a:off x="311700" y="848525"/>
            <a:ext cx="8520600" cy="3720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16" name="Google Shape;216;p37"/>
          <p:cNvPicPr preferRelativeResize="0"/>
          <p:nvPr/>
        </p:nvPicPr>
        <p:blipFill rotWithShape="1">
          <a:blip r:embed="rId3">
            <a:alphaModFix/>
          </a:blip>
          <a:srcRect l="-5086" t="4003" b="-20039"/>
          <a:stretch/>
        </p:blipFill>
        <p:spPr>
          <a:xfrm>
            <a:off x="1907025" y="786075"/>
            <a:ext cx="5154866" cy="3720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2" name="Google Shape;222;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23" name="Google Shape;223;p3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29" name="Google Shape;229;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30" name="Google Shape;230;p3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36" name="Google Shape;236;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37" name="Google Shape;237;p4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43" name="Google Shape;243;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44" name="Google Shape;244;p4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2"/>
          <p:cNvSpPr txBox="1">
            <a:spLocks noGrp="1"/>
          </p:cNvSpPr>
          <p:nvPr>
            <p:ph type="body" idx="1"/>
          </p:nvPr>
        </p:nvSpPr>
        <p:spPr>
          <a:xfrm>
            <a:off x="311700" y="596575"/>
            <a:ext cx="8520600" cy="3230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000" b="1">
                <a:solidFill>
                  <a:schemeClr val="dk1"/>
                </a:solidFill>
              </a:rPr>
              <a:t>Software &amp; Computational Setup</a:t>
            </a:r>
            <a:endParaRPr sz="2000" b="1">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Gaussian 16 software procured and installed</a:t>
            </a: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Computational environment configured</a:t>
            </a:r>
            <a:endParaRPr sz="2000">
              <a:solidFill>
                <a:schemeClr val="dk1"/>
              </a:solidFill>
            </a:endParaRPr>
          </a:p>
          <a:p>
            <a:pPr marL="0" lvl="0" indent="0" algn="l" rtl="0">
              <a:spcBef>
                <a:spcPts val="0"/>
              </a:spcBef>
              <a:spcAft>
                <a:spcPts val="0"/>
              </a:spcAft>
              <a:buClr>
                <a:schemeClr val="dk1"/>
              </a:buClr>
              <a:buSzPts val="1100"/>
              <a:buFont typeface="Arial"/>
              <a:buNone/>
            </a:pPr>
            <a:endParaRPr sz="2000">
              <a:solidFill>
                <a:schemeClr val="dk1"/>
              </a:solidFill>
            </a:endParaRPr>
          </a:p>
          <a:p>
            <a:pPr marL="0" lvl="0" indent="0" algn="l" rtl="0">
              <a:spcBef>
                <a:spcPts val="0"/>
              </a:spcBef>
              <a:spcAft>
                <a:spcPts val="0"/>
              </a:spcAft>
              <a:buClr>
                <a:schemeClr val="dk1"/>
              </a:buClr>
              <a:buSzPts val="1100"/>
              <a:buFont typeface="Arial"/>
              <a:buNone/>
            </a:pPr>
            <a:r>
              <a:rPr lang="en" sz="2000" b="1">
                <a:solidFill>
                  <a:schemeClr val="dk1"/>
                </a:solidFill>
              </a:rPr>
              <a:t>Training &amp; Skill Development</a:t>
            </a:r>
            <a:endParaRPr sz="2000" b="1">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Attended training on Gaussian and DFT simulations</a:t>
            </a: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Learned molecular modeling and vibrational analysis</a:t>
            </a:r>
            <a:endParaRPr sz="2000">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sz="20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55" name="Google Shape;255;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56" name="Google Shape;256;p43"/>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262" name="Google Shape;262;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63" name="Google Shape;263;p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5"/>
          <p:cNvSpPr txBox="1"/>
          <p:nvPr/>
        </p:nvSpPr>
        <p:spPr>
          <a:xfrm>
            <a:off x="170250" y="148850"/>
            <a:ext cx="8973900" cy="484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rgbClr val="00B0F0"/>
              </a:buClr>
              <a:buSzPts val="2700"/>
              <a:buFont typeface="Outfit SemiBold"/>
              <a:buNone/>
            </a:pPr>
            <a:r>
              <a:rPr lang="en" sz="2700" b="0" i="0" u="none" strike="noStrike" cap="none">
                <a:solidFill>
                  <a:srgbClr val="00B0F0"/>
                </a:solidFill>
                <a:latin typeface="Outfit SemiBold"/>
                <a:ea typeface="Outfit SemiBold"/>
                <a:cs typeface="Outfit SemiBold"/>
                <a:sym typeface="Outfit SemiBold"/>
              </a:rPr>
              <a:t>Raman–DFT Analysis of N-Acetylmuramic Acid (NAM)</a:t>
            </a:r>
            <a:endParaRPr sz="2700" b="0" i="0" u="none" strike="noStrike" cap="none">
              <a:solidFill>
                <a:srgbClr val="00B0F0"/>
              </a:solidFill>
              <a:latin typeface="Calibri"/>
              <a:ea typeface="Calibri"/>
              <a:cs typeface="Calibri"/>
              <a:sym typeface="Calibri"/>
            </a:endParaRPr>
          </a:p>
        </p:txBody>
      </p:sp>
      <p:pic>
        <p:nvPicPr>
          <p:cNvPr id="269" name="Google Shape;269;p45"/>
          <p:cNvPicPr preferRelativeResize="0"/>
          <p:nvPr/>
        </p:nvPicPr>
        <p:blipFill rotWithShape="1">
          <a:blip r:embed="rId3">
            <a:alphaModFix/>
          </a:blip>
          <a:srcRect/>
          <a:stretch/>
        </p:blipFill>
        <p:spPr>
          <a:xfrm>
            <a:off x="4451512" y="679716"/>
            <a:ext cx="3979069" cy="1993106"/>
          </a:xfrm>
          <a:prstGeom prst="rect">
            <a:avLst/>
          </a:prstGeom>
          <a:noFill/>
          <a:ln>
            <a:noFill/>
          </a:ln>
        </p:spPr>
      </p:pic>
      <p:pic>
        <p:nvPicPr>
          <p:cNvPr id="270" name="Google Shape;270;p45"/>
          <p:cNvPicPr preferRelativeResize="0"/>
          <p:nvPr/>
        </p:nvPicPr>
        <p:blipFill rotWithShape="1">
          <a:blip r:embed="rId4">
            <a:alphaModFix/>
          </a:blip>
          <a:srcRect/>
          <a:stretch/>
        </p:blipFill>
        <p:spPr>
          <a:xfrm>
            <a:off x="1565446" y="732419"/>
            <a:ext cx="1887702" cy="1887702"/>
          </a:xfrm>
          <a:prstGeom prst="rect">
            <a:avLst/>
          </a:prstGeom>
          <a:noFill/>
          <a:ln>
            <a:noFill/>
          </a:ln>
        </p:spPr>
      </p:pic>
      <p:sp>
        <p:nvSpPr>
          <p:cNvPr id="271" name="Google Shape;271;p45"/>
          <p:cNvSpPr txBox="1"/>
          <p:nvPr/>
        </p:nvSpPr>
        <p:spPr>
          <a:xfrm>
            <a:off x="1844899" y="2772178"/>
            <a:ext cx="1477850"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0" i="0" u="none" strike="noStrike" cap="none">
                <a:solidFill>
                  <a:schemeClr val="dk1"/>
                </a:solidFill>
                <a:latin typeface="Calibri"/>
                <a:ea typeface="Calibri"/>
                <a:cs typeface="Calibri"/>
                <a:sym typeface="Calibri"/>
              </a:rPr>
              <a:t>2D Structure</a:t>
            </a:r>
            <a:endParaRPr sz="1100"/>
          </a:p>
        </p:txBody>
      </p:sp>
      <p:sp>
        <p:nvSpPr>
          <p:cNvPr id="272" name="Google Shape;272;p45"/>
          <p:cNvSpPr txBox="1"/>
          <p:nvPr/>
        </p:nvSpPr>
        <p:spPr>
          <a:xfrm>
            <a:off x="5821252" y="2718930"/>
            <a:ext cx="1477850"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3D Structure</a:t>
            </a:r>
            <a:endParaRPr sz="1100"/>
          </a:p>
        </p:txBody>
      </p:sp>
      <p:pic>
        <p:nvPicPr>
          <p:cNvPr id="273" name="Google Shape;273;p45"/>
          <p:cNvPicPr preferRelativeResize="0"/>
          <p:nvPr/>
        </p:nvPicPr>
        <p:blipFill rotWithShape="1">
          <a:blip r:embed="rId5">
            <a:alphaModFix/>
          </a:blip>
          <a:srcRect l="4550" t="15061" r="52210" b="41126"/>
          <a:stretch/>
        </p:blipFill>
        <p:spPr>
          <a:xfrm>
            <a:off x="651993" y="3259965"/>
            <a:ext cx="2965361" cy="1650939"/>
          </a:xfrm>
          <a:prstGeom prst="rect">
            <a:avLst/>
          </a:prstGeom>
          <a:noFill/>
          <a:ln>
            <a:noFill/>
          </a:ln>
        </p:spPr>
      </p:pic>
      <p:pic>
        <p:nvPicPr>
          <p:cNvPr id="274" name="Google Shape;274;p45"/>
          <p:cNvPicPr preferRelativeResize="0"/>
          <p:nvPr/>
        </p:nvPicPr>
        <p:blipFill rotWithShape="1">
          <a:blip r:embed="rId5">
            <a:alphaModFix/>
          </a:blip>
          <a:srcRect l="48754" t="12253" r="2936" b="50000"/>
          <a:stretch/>
        </p:blipFill>
        <p:spPr>
          <a:xfrm>
            <a:off x="4858556" y="3308260"/>
            <a:ext cx="3313090" cy="145611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graphicFrame>
        <p:nvGraphicFramePr>
          <p:cNvPr id="279" name="Google Shape;279;p46"/>
          <p:cNvGraphicFramePr/>
          <p:nvPr/>
        </p:nvGraphicFramePr>
        <p:xfrm>
          <a:off x="5208462" y="724203"/>
          <a:ext cx="3162550" cy="1840688"/>
        </p:xfrm>
        <a:graphic>
          <a:graphicData uri="http://schemas.openxmlformats.org/drawingml/2006/table">
            <a:tbl>
              <a:tblPr>
                <a:noFill/>
                <a:tableStyleId>{268BD225-2F17-4223-8857-AD395EA7D519}</a:tableStyleId>
              </a:tblPr>
              <a:tblGrid>
                <a:gridCol w="1691600">
                  <a:extLst>
                    <a:ext uri="{9D8B030D-6E8A-4147-A177-3AD203B41FA5}">
                      <a16:colId xmlns:a16="http://schemas.microsoft.com/office/drawing/2014/main" val="20000"/>
                    </a:ext>
                  </a:extLst>
                </a:gridCol>
                <a:gridCol w="1470950">
                  <a:extLst>
                    <a:ext uri="{9D8B030D-6E8A-4147-A177-3AD203B41FA5}">
                      <a16:colId xmlns:a16="http://schemas.microsoft.com/office/drawing/2014/main" val="20001"/>
                    </a:ext>
                  </a:extLst>
                </a:gridCol>
              </a:tblGrid>
              <a:tr h="288150">
                <a:tc>
                  <a:txBody>
                    <a:bodyPr/>
                    <a:lstStyle/>
                    <a:p>
                      <a:pPr marL="0" marR="0" lvl="0" indent="0" algn="l" rtl="0">
                        <a:lnSpc>
                          <a:spcPct val="115000"/>
                        </a:lnSpc>
                        <a:spcBef>
                          <a:spcPts val="0"/>
                        </a:spcBef>
                        <a:spcAft>
                          <a:spcPts val="0"/>
                        </a:spcAft>
                        <a:buClr>
                          <a:schemeClr val="dk1"/>
                        </a:buClr>
                        <a:buSzPts val="1500"/>
                        <a:buFont typeface="Calibri"/>
                        <a:buNone/>
                      </a:pPr>
                      <a:r>
                        <a:rPr lang="en" sz="1500" b="1" u="none" strike="noStrike" cap="none">
                          <a:solidFill>
                            <a:schemeClr val="dk1"/>
                          </a:solidFill>
                        </a:rPr>
                        <a:t>Parameter</a:t>
                      </a:r>
                      <a:endParaRPr sz="1500" b="1"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500"/>
                        <a:buFont typeface="Calibri"/>
                        <a:buNone/>
                      </a:pPr>
                      <a:r>
                        <a:rPr lang="en" sz="1500" b="1" u="none" strike="noStrike" cap="none">
                          <a:solidFill>
                            <a:schemeClr val="dk1"/>
                          </a:solidFill>
                        </a:rPr>
                        <a:t>Range</a:t>
                      </a:r>
                      <a:endParaRPr sz="1500" b="1"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02850">
                <a:tc>
                  <a:txBody>
                    <a:bodyPr/>
                    <a:lstStyle/>
                    <a:p>
                      <a:pPr marL="0" marR="0" lvl="0" indent="0" algn="l" rtl="0">
                        <a:spcBef>
                          <a:spcPts val="0"/>
                        </a:spcBef>
                        <a:spcAft>
                          <a:spcPts val="0"/>
                        </a:spcAft>
                        <a:buClr>
                          <a:schemeClr val="dk1"/>
                        </a:buClr>
                        <a:buSzPts val="1500"/>
                        <a:buFont typeface="Calibri"/>
                        <a:buNone/>
                      </a:pPr>
                      <a:r>
                        <a:rPr lang="en" sz="1500" u="none" strike="noStrike" cap="none">
                          <a:solidFill>
                            <a:schemeClr val="dk1"/>
                          </a:solidFill>
                        </a:rPr>
                        <a:t>Laser wavelength</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500"/>
                        <a:buFont typeface="Calibri"/>
                        <a:buNone/>
                      </a:pPr>
                      <a:r>
                        <a:rPr lang="en" sz="1500" u="none" strike="noStrike" cap="none">
                          <a:solidFill>
                            <a:schemeClr val="dk1"/>
                          </a:solidFill>
                        </a:rPr>
                        <a:t>785 nm</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02850">
                <a:tc>
                  <a:txBody>
                    <a:bodyPr/>
                    <a:lstStyle/>
                    <a:p>
                      <a:pPr marL="0" marR="0" lvl="0" indent="0" algn="l" rtl="0">
                        <a:spcBef>
                          <a:spcPts val="0"/>
                        </a:spcBef>
                        <a:spcAft>
                          <a:spcPts val="0"/>
                        </a:spcAft>
                        <a:buClr>
                          <a:schemeClr val="dk1"/>
                        </a:buClr>
                        <a:buSzPts val="1500"/>
                        <a:buFont typeface="Calibri"/>
                        <a:buNone/>
                      </a:pPr>
                      <a:r>
                        <a:rPr lang="en" sz="1500" u="none" strike="noStrike" cap="none">
                          <a:solidFill>
                            <a:schemeClr val="dk1"/>
                          </a:solidFill>
                        </a:rPr>
                        <a:t>Laser power</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500"/>
                        <a:buFont typeface="Calibri"/>
                        <a:buNone/>
                      </a:pPr>
                      <a:r>
                        <a:rPr lang="en" sz="1500" u="none" strike="noStrike" cap="none">
                          <a:solidFill>
                            <a:schemeClr val="dk1"/>
                          </a:solidFill>
                        </a:rPr>
                        <a:t>10–80 %</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02850">
                <a:tc>
                  <a:txBody>
                    <a:bodyPr/>
                    <a:lstStyle/>
                    <a:p>
                      <a:pPr marL="0" marR="0" lvl="0" indent="0" algn="l" rtl="0">
                        <a:spcBef>
                          <a:spcPts val="0"/>
                        </a:spcBef>
                        <a:spcAft>
                          <a:spcPts val="0"/>
                        </a:spcAft>
                        <a:buClr>
                          <a:schemeClr val="dk1"/>
                        </a:buClr>
                        <a:buSzPts val="1500"/>
                        <a:buFont typeface="Calibri"/>
                        <a:buNone/>
                      </a:pPr>
                      <a:r>
                        <a:rPr lang="en" sz="1500" u="none" strike="noStrike" cap="none">
                          <a:solidFill>
                            <a:schemeClr val="dk1"/>
                          </a:solidFill>
                        </a:rPr>
                        <a:t>Integration time</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500"/>
                        <a:buFont typeface="Calibri"/>
                        <a:buNone/>
                      </a:pPr>
                      <a:r>
                        <a:rPr lang="en" sz="1500" u="none" strike="noStrike" cap="none">
                          <a:solidFill>
                            <a:schemeClr val="dk1"/>
                          </a:solidFill>
                        </a:rPr>
                        <a:t>10–25 s</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02850">
                <a:tc>
                  <a:txBody>
                    <a:bodyPr/>
                    <a:lstStyle/>
                    <a:p>
                      <a:pPr marL="0" marR="0" lvl="0" indent="0" algn="l" rtl="0">
                        <a:spcBef>
                          <a:spcPts val="0"/>
                        </a:spcBef>
                        <a:spcAft>
                          <a:spcPts val="0"/>
                        </a:spcAft>
                        <a:buClr>
                          <a:schemeClr val="dk1"/>
                        </a:buClr>
                        <a:buSzPts val="1500"/>
                        <a:buFont typeface="Calibri"/>
                        <a:buNone/>
                      </a:pPr>
                      <a:r>
                        <a:rPr lang="en" sz="1500" u="none" strike="noStrike" cap="none">
                          <a:solidFill>
                            <a:schemeClr val="dk1"/>
                          </a:solidFill>
                        </a:rPr>
                        <a:t>Spectral range</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500"/>
                        <a:buFont typeface="Calibri"/>
                        <a:buNone/>
                      </a:pPr>
                      <a:r>
                        <a:rPr lang="en" sz="1500" u="none" strike="noStrike" cap="none">
                          <a:solidFill>
                            <a:schemeClr val="dk1"/>
                          </a:solidFill>
                        </a:rPr>
                        <a:t>200–3000 cm⁻¹</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80" name="Google Shape;280;p46"/>
          <p:cNvSpPr txBox="1"/>
          <p:nvPr/>
        </p:nvSpPr>
        <p:spPr>
          <a:xfrm>
            <a:off x="5690451" y="290816"/>
            <a:ext cx="4571195"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rgbClr val="00B0F0"/>
              </a:buClr>
              <a:buSzPts val="1400"/>
              <a:buFont typeface="Outfit SemiBold"/>
              <a:buNone/>
            </a:pPr>
            <a:r>
              <a:rPr lang="en" sz="1400" b="1">
                <a:solidFill>
                  <a:srgbClr val="00B0F0"/>
                </a:solidFill>
                <a:latin typeface="Outfit SemiBold"/>
                <a:ea typeface="Outfit SemiBold"/>
                <a:cs typeface="Outfit SemiBold"/>
                <a:sym typeface="Outfit SemiBold"/>
              </a:rPr>
              <a:t>Raman Measurement</a:t>
            </a:r>
            <a:endParaRPr sz="1400" b="1">
              <a:solidFill>
                <a:srgbClr val="00B0F0"/>
              </a:solidFill>
              <a:latin typeface="Calibri"/>
              <a:ea typeface="Calibri"/>
              <a:cs typeface="Calibri"/>
              <a:sym typeface="Calibri"/>
            </a:endParaRPr>
          </a:p>
        </p:txBody>
      </p:sp>
      <p:sp>
        <p:nvSpPr>
          <p:cNvPr id="281" name="Google Shape;281;p46"/>
          <p:cNvSpPr txBox="1"/>
          <p:nvPr/>
        </p:nvSpPr>
        <p:spPr>
          <a:xfrm>
            <a:off x="187147" y="429315"/>
            <a:ext cx="4831992" cy="1431161"/>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100" b="1">
                <a:solidFill>
                  <a:srgbClr val="00B0F0"/>
                </a:solidFill>
                <a:latin typeface="Calibri"/>
                <a:ea typeface="Calibri"/>
                <a:cs typeface="Calibri"/>
                <a:sym typeface="Calibri"/>
              </a:rPr>
              <a:t>DFT Simulation Parameters (NAM)</a:t>
            </a:r>
            <a:endParaRPr sz="2100">
              <a:solidFill>
                <a:schemeClr val="lt1"/>
              </a:solidFill>
              <a:latin typeface="Calibri"/>
              <a:ea typeface="Calibri"/>
              <a:cs typeface="Calibri"/>
              <a:sym typeface="Calibri"/>
            </a:endParaRPr>
          </a:p>
          <a:p>
            <a:pPr marL="0" marR="0" lvl="0" indent="0" algn="l" rtl="0">
              <a:spcBef>
                <a:spcPts val="0"/>
              </a:spcBef>
              <a:spcAft>
                <a:spcPts val="0"/>
              </a:spcAft>
              <a:buNone/>
            </a:pPr>
            <a:r>
              <a:rPr lang="en" sz="1400">
                <a:solidFill>
                  <a:schemeClr val="dk1"/>
                </a:solidFill>
                <a:latin typeface="Calibri"/>
                <a:ea typeface="Calibri"/>
                <a:cs typeface="Calibri"/>
                <a:sym typeface="Calibri"/>
              </a:rPr>
              <a:t>Software: Gaussian 16</a:t>
            </a:r>
            <a:endParaRPr sz="1100"/>
          </a:p>
          <a:p>
            <a:pPr marL="0" marR="0" lvl="0" indent="0" algn="l" rtl="0">
              <a:spcBef>
                <a:spcPts val="0"/>
              </a:spcBef>
              <a:spcAft>
                <a:spcPts val="0"/>
              </a:spcAft>
              <a:buNone/>
            </a:pPr>
            <a:r>
              <a:rPr lang="en" sz="1400">
                <a:solidFill>
                  <a:schemeClr val="dk1"/>
                </a:solidFill>
                <a:latin typeface="Calibri"/>
                <a:ea typeface="Calibri"/>
                <a:cs typeface="Calibri"/>
                <a:sym typeface="Calibri"/>
              </a:rPr>
              <a:t>Method: B3LYP / 6-31+G(d,p)</a:t>
            </a:r>
            <a:endParaRPr sz="1100"/>
          </a:p>
          <a:p>
            <a:pPr marL="0" marR="0" lvl="0" indent="0" algn="l" rtl="0">
              <a:spcBef>
                <a:spcPts val="0"/>
              </a:spcBef>
              <a:spcAft>
                <a:spcPts val="0"/>
              </a:spcAft>
              <a:buNone/>
            </a:pPr>
            <a:r>
              <a:rPr lang="en" sz="1400">
                <a:solidFill>
                  <a:schemeClr val="dk1"/>
                </a:solidFill>
                <a:latin typeface="Calibri"/>
                <a:ea typeface="Calibri"/>
                <a:cs typeface="Calibri"/>
                <a:sym typeface="Calibri"/>
              </a:rPr>
              <a:t>Calculation: Opt (Tight) + Freq (Raman)</a:t>
            </a:r>
            <a:endParaRPr sz="1100"/>
          </a:p>
          <a:p>
            <a:pPr marL="0" marR="0" lvl="0" indent="0" algn="l" rtl="0">
              <a:spcBef>
                <a:spcPts val="0"/>
              </a:spcBef>
              <a:spcAft>
                <a:spcPts val="0"/>
              </a:spcAft>
              <a:buNone/>
            </a:pPr>
            <a:r>
              <a:rPr lang="en" sz="1400">
                <a:solidFill>
                  <a:schemeClr val="dk1"/>
                </a:solidFill>
                <a:latin typeface="Calibri"/>
                <a:ea typeface="Calibri"/>
                <a:cs typeface="Calibri"/>
                <a:sym typeface="Calibri"/>
              </a:rPr>
              <a:t>Geometry: Connectivity defined</a:t>
            </a:r>
            <a:endParaRPr sz="1100"/>
          </a:p>
          <a:p>
            <a:pPr marL="0" marR="0" lvl="0" indent="0" algn="l" rtl="0">
              <a:spcBef>
                <a:spcPts val="0"/>
              </a:spcBef>
              <a:spcAft>
                <a:spcPts val="0"/>
              </a:spcAft>
              <a:buNone/>
            </a:pPr>
            <a:r>
              <a:rPr lang="en" sz="1400">
                <a:solidFill>
                  <a:schemeClr val="dk1"/>
                </a:solidFill>
                <a:latin typeface="Calibri"/>
                <a:ea typeface="Calibri"/>
                <a:cs typeface="Calibri"/>
                <a:sym typeface="Calibri"/>
              </a:rPr>
              <a:t>Resources: 16 cores, 56 GB RAM</a:t>
            </a:r>
            <a:endParaRPr sz="1100"/>
          </a:p>
        </p:txBody>
      </p:sp>
      <p:sp>
        <p:nvSpPr>
          <p:cNvPr id="282" name="Google Shape;282;p46"/>
          <p:cNvSpPr txBox="1"/>
          <p:nvPr/>
        </p:nvSpPr>
        <p:spPr>
          <a:xfrm>
            <a:off x="187147" y="2063031"/>
            <a:ext cx="8401050" cy="363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B0F0"/>
              </a:buClr>
              <a:buSzPts val="2400"/>
              <a:buFont typeface="Outfit SemiBold"/>
              <a:buNone/>
            </a:pPr>
            <a:r>
              <a:rPr lang="en" sz="2400">
                <a:solidFill>
                  <a:srgbClr val="00B0F0"/>
                </a:solidFill>
                <a:latin typeface="Outfit SemiBold"/>
                <a:ea typeface="Outfit SemiBold"/>
                <a:cs typeface="Outfit SemiBold"/>
                <a:sym typeface="Outfit SemiBold"/>
              </a:rPr>
              <a:t>Raman Data Processing</a:t>
            </a:r>
            <a:endParaRPr sz="1400">
              <a:solidFill>
                <a:srgbClr val="00B0F0"/>
              </a:solidFill>
              <a:latin typeface="Calibri"/>
              <a:ea typeface="Calibri"/>
              <a:cs typeface="Calibri"/>
              <a:sym typeface="Calibri"/>
            </a:endParaRPr>
          </a:p>
        </p:txBody>
      </p:sp>
      <p:sp>
        <p:nvSpPr>
          <p:cNvPr id="283" name="Google Shape;283;p46"/>
          <p:cNvSpPr txBox="1"/>
          <p:nvPr/>
        </p:nvSpPr>
        <p:spPr>
          <a:xfrm>
            <a:off x="266426" y="2434019"/>
            <a:ext cx="5131166" cy="294119"/>
          </a:xfrm>
          <a:prstGeom prst="rect">
            <a:avLst/>
          </a:prstGeom>
          <a:noFill/>
          <a:ln>
            <a:noFill/>
          </a:ln>
        </p:spPr>
        <p:txBody>
          <a:bodyPr spcFirstLastPara="1" wrap="square" lIns="68575" tIns="34275" rIns="68575" bIns="34275" anchor="t" anchorCtr="0">
            <a:spAutoFit/>
          </a:bodyPr>
          <a:lstStyle/>
          <a:p>
            <a:pPr marL="0" marR="0" lvl="0" indent="0" algn="l" rtl="0">
              <a:lnSpc>
                <a:spcPct val="115000"/>
              </a:lnSpc>
              <a:spcBef>
                <a:spcPts val="0"/>
              </a:spcBef>
              <a:spcAft>
                <a:spcPts val="0"/>
              </a:spcAft>
              <a:buClr>
                <a:schemeClr val="dk1"/>
              </a:buClr>
              <a:buSzPts val="1400"/>
              <a:buFont typeface="Calibri"/>
              <a:buNone/>
            </a:pPr>
            <a:r>
              <a:rPr lang="en" sz="1400">
                <a:solidFill>
                  <a:schemeClr val="dk1"/>
                </a:solidFill>
                <a:latin typeface="Calibri"/>
                <a:ea typeface="Calibri"/>
                <a:cs typeface="Calibri"/>
                <a:sym typeface="Calibri"/>
              </a:rPr>
              <a:t>Spectra were preprocessed before analysis.</a:t>
            </a:r>
            <a:endParaRPr sz="1100"/>
          </a:p>
        </p:txBody>
      </p:sp>
      <p:sp>
        <p:nvSpPr>
          <p:cNvPr id="284" name="Google Shape;284;p46"/>
          <p:cNvSpPr txBox="1"/>
          <p:nvPr/>
        </p:nvSpPr>
        <p:spPr>
          <a:xfrm>
            <a:off x="384838" y="2728138"/>
            <a:ext cx="5131200" cy="1887000"/>
          </a:xfrm>
          <a:prstGeom prst="rect">
            <a:avLst/>
          </a:prstGeom>
          <a:noFill/>
          <a:ln>
            <a:noFill/>
          </a:ln>
        </p:spPr>
        <p:txBody>
          <a:bodyPr spcFirstLastPara="1" wrap="square" lIns="68575" tIns="34275" rIns="68575" bIns="34275" anchor="t" anchorCtr="0">
            <a:spAutoFit/>
          </a:bodyPr>
          <a:lstStyle/>
          <a:p>
            <a:pPr marL="0" marR="0" lvl="0" indent="0" algn="l" rtl="0">
              <a:lnSpc>
                <a:spcPct val="115000"/>
              </a:lnSpc>
              <a:spcBef>
                <a:spcPts val="0"/>
              </a:spcBef>
              <a:spcAft>
                <a:spcPts val="0"/>
              </a:spcAft>
              <a:buClr>
                <a:schemeClr val="dk1"/>
              </a:buClr>
              <a:buSzPts val="1400"/>
              <a:buFont typeface="Calibri"/>
              <a:buNone/>
            </a:pPr>
            <a:r>
              <a:rPr lang="en" sz="1400">
                <a:solidFill>
                  <a:schemeClr val="dk1"/>
                </a:solidFill>
                <a:latin typeface="Calibri"/>
                <a:ea typeface="Calibri"/>
                <a:cs typeface="Calibri"/>
                <a:sym typeface="Calibri"/>
              </a:rPr>
              <a:t>Processing pipeline:</a:t>
            </a:r>
            <a:endParaRPr sz="1100"/>
          </a:p>
          <a:p>
            <a:pPr marL="457200" marR="0" lvl="0" indent="-317500" algn="l" rtl="0">
              <a:lnSpc>
                <a:spcPct val="115000"/>
              </a:lnSpc>
              <a:spcBef>
                <a:spcPts val="90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Dark subtraction</a:t>
            </a:r>
            <a:endParaRPr sz="1100"/>
          </a:p>
          <a:p>
            <a:pPr marL="457200" marR="0" lvl="0" indent="-317500" algn="l" rtl="0">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Savitzky–Golay smoothing</a:t>
            </a:r>
            <a:endParaRPr sz="1100"/>
          </a:p>
          <a:p>
            <a:pPr marL="457200" marR="0" lvl="0" indent="-317500" algn="l" rtl="0">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Baseline correction (ALS)</a:t>
            </a:r>
            <a:endParaRPr sz="1100"/>
          </a:p>
          <a:p>
            <a:pPr marL="457200" marR="0" lvl="0" indent="-317500" algn="l" rtl="0">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Normalization</a:t>
            </a:r>
            <a:endParaRPr sz="1100"/>
          </a:p>
          <a:p>
            <a:pPr marL="457200" marR="0" lvl="0" indent="-317500" algn="l" rtl="0">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Peak detection</a:t>
            </a:r>
            <a:endParaRPr sz="1100"/>
          </a:p>
          <a:p>
            <a:pPr marL="457200" marR="0" lvl="0" indent="-317500" algn="l" rtl="0">
              <a:lnSpc>
                <a:spcPct val="115000"/>
              </a:lnSpc>
              <a:spcBef>
                <a:spcPts val="0"/>
              </a:spcBef>
              <a:spcAft>
                <a:spcPts val="0"/>
              </a:spcAft>
              <a:buClr>
                <a:schemeClr val="dk1"/>
              </a:buClr>
              <a:buSzPts val="1400"/>
              <a:buFont typeface="Calibri"/>
              <a:buChar char="●"/>
            </a:pPr>
            <a:r>
              <a:rPr lang="en" sz="1400">
                <a:solidFill>
                  <a:schemeClr val="dk1"/>
                </a:solidFill>
                <a:latin typeface="Calibri"/>
                <a:ea typeface="Calibri"/>
                <a:cs typeface="Calibri"/>
                <a:sym typeface="Calibri"/>
              </a:rPr>
              <a:t>SNR calculation</a:t>
            </a:r>
            <a:endParaRPr sz="1100"/>
          </a:p>
        </p:txBody>
      </p:sp>
      <p:pic>
        <p:nvPicPr>
          <p:cNvPr id="285" name="Google Shape;285;p46"/>
          <p:cNvPicPr preferRelativeResize="0"/>
          <p:nvPr/>
        </p:nvPicPr>
        <p:blipFill rotWithShape="1">
          <a:blip r:embed="rId3">
            <a:alphaModFix/>
          </a:blip>
          <a:srcRect/>
          <a:stretch/>
        </p:blipFill>
        <p:spPr>
          <a:xfrm>
            <a:off x="3114421" y="2946218"/>
            <a:ext cx="5920884" cy="201090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8"/>
          <p:cNvSpPr txBox="1"/>
          <p:nvPr/>
        </p:nvSpPr>
        <p:spPr>
          <a:xfrm>
            <a:off x="433013" y="109725"/>
            <a:ext cx="4851900" cy="363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2D3EE"/>
              </a:buClr>
              <a:buSzPts val="2400"/>
              <a:buFont typeface="Outfit SemiBold"/>
              <a:buNone/>
            </a:pPr>
            <a:r>
              <a:rPr lang="en" sz="2400">
                <a:solidFill>
                  <a:srgbClr val="22D3EE"/>
                </a:solidFill>
                <a:latin typeface="Outfit SemiBold"/>
                <a:ea typeface="Outfit SemiBold"/>
                <a:cs typeface="Outfit SemiBold"/>
                <a:sym typeface="Outfit SemiBold"/>
              </a:rPr>
              <a:t>Acquisition Parameter Analysis</a:t>
            </a:r>
            <a:endParaRPr sz="1400">
              <a:solidFill>
                <a:schemeClr val="dk1"/>
              </a:solidFill>
              <a:latin typeface="Calibri"/>
              <a:ea typeface="Calibri"/>
              <a:cs typeface="Calibri"/>
              <a:sym typeface="Calibri"/>
            </a:endParaRPr>
          </a:p>
        </p:txBody>
      </p:sp>
      <p:pic>
        <p:nvPicPr>
          <p:cNvPr id="303" name="Google Shape;303;p48"/>
          <p:cNvPicPr preferRelativeResize="0"/>
          <p:nvPr/>
        </p:nvPicPr>
        <p:blipFill rotWithShape="1">
          <a:blip r:embed="rId3">
            <a:alphaModFix/>
          </a:blip>
          <a:srcRect/>
          <a:stretch/>
        </p:blipFill>
        <p:spPr>
          <a:xfrm>
            <a:off x="945064" y="568804"/>
            <a:ext cx="7329562" cy="2039963"/>
          </a:xfrm>
          <a:prstGeom prst="rect">
            <a:avLst/>
          </a:prstGeom>
          <a:noFill/>
          <a:ln>
            <a:noFill/>
          </a:ln>
        </p:spPr>
      </p:pic>
      <p:pic>
        <p:nvPicPr>
          <p:cNvPr id="304" name="Google Shape;304;p48"/>
          <p:cNvPicPr preferRelativeResize="0"/>
          <p:nvPr/>
        </p:nvPicPr>
        <p:blipFill rotWithShape="1">
          <a:blip r:embed="rId4">
            <a:alphaModFix/>
          </a:blip>
          <a:srcRect/>
          <a:stretch/>
        </p:blipFill>
        <p:spPr>
          <a:xfrm>
            <a:off x="2146466" y="2781521"/>
            <a:ext cx="4851068" cy="2304731"/>
          </a:xfrm>
          <a:prstGeom prst="rect">
            <a:avLst/>
          </a:prstGeom>
          <a:noFill/>
          <a:ln>
            <a:noFill/>
          </a:ln>
        </p:spPr>
      </p:pic>
      <p:sp>
        <p:nvSpPr>
          <p:cNvPr id="305" name="Google Shape;305;p48"/>
          <p:cNvSpPr/>
          <p:nvPr/>
        </p:nvSpPr>
        <p:spPr>
          <a:xfrm>
            <a:off x="2730360" y="961086"/>
            <a:ext cx="130399" cy="1246031"/>
          </a:xfrm>
          <a:prstGeom prst="rect">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306" name="Google Shape;306;p48"/>
          <p:cNvSpPr/>
          <p:nvPr/>
        </p:nvSpPr>
        <p:spPr>
          <a:xfrm>
            <a:off x="7666149" y="2078282"/>
            <a:ext cx="266154" cy="347729"/>
          </a:xfrm>
          <a:prstGeom prst="ellipse">
            <a:avLst/>
          </a:prstGeom>
          <a:noFill/>
          <a:ln w="12700"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07" name="Google Shape;307;p48"/>
          <p:cNvSpPr/>
          <p:nvPr/>
        </p:nvSpPr>
        <p:spPr>
          <a:xfrm>
            <a:off x="5219713" y="961086"/>
            <a:ext cx="130399" cy="1352281"/>
          </a:xfrm>
          <a:prstGeom prst="rect">
            <a:avLst/>
          </a:prstGeom>
          <a:noFill/>
          <a:ln w="12700"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7"/>
          <p:cNvSpPr txBox="1"/>
          <p:nvPr/>
        </p:nvSpPr>
        <p:spPr>
          <a:xfrm>
            <a:off x="331292" y="3581802"/>
            <a:ext cx="4851900" cy="363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B0F0"/>
              </a:buClr>
              <a:buSzPts val="2400"/>
              <a:buFont typeface="Outfit SemiBold"/>
              <a:buNone/>
            </a:pPr>
            <a:r>
              <a:rPr lang="en" sz="2400">
                <a:solidFill>
                  <a:srgbClr val="00B0F0"/>
                </a:solidFill>
                <a:latin typeface="Outfit SemiBold"/>
                <a:ea typeface="Outfit SemiBold"/>
                <a:cs typeface="Outfit SemiBold"/>
                <a:sym typeface="Outfit SemiBold"/>
              </a:rPr>
              <a:t>Optimal Raman Parameters</a:t>
            </a:r>
            <a:endParaRPr sz="1400">
              <a:solidFill>
                <a:srgbClr val="00B0F0"/>
              </a:solidFill>
              <a:latin typeface="Calibri"/>
              <a:ea typeface="Calibri"/>
              <a:cs typeface="Calibri"/>
              <a:sym typeface="Calibri"/>
            </a:endParaRPr>
          </a:p>
        </p:txBody>
      </p:sp>
      <p:sp>
        <p:nvSpPr>
          <p:cNvPr id="291" name="Google Shape;291;p47"/>
          <p:cNvSpPr txBox="1"/>
          <p:nvPr/>
        </p:nvSpPr>
        <p:spPr>
          <a:xfrm>
            <a:off x="331292" y="3861706"/>
            <a:ext cx="4962628" cy="765450"/>
          </a:xfrm>
          <a:prstGeom prst="rect">
            <a:avLst/>
          </a:prstGeom>
          <a:noFill/>
          <a:ln>
            <a:noFill/>
          </a:ln>
        </p:spPr>
        <p:txBody>
          <a:bodyPr spcFirstLastPara="1" wrap="square" lIns="68575" tIns="68575" rIns="68575" bIns="68575" anchor="ctr" anchorCtr="0">
            <a:noAutofit/>
          </a:bodyPr>
          <a:lstStyle/>
          <a:p>
            <a:pPr marL="0" marR="0" lvl="0" indent="0" algn="l" rtl="0">
              <a:lnSpc>
                <a:spcPct val="115000"/>
              </a:lnSpc>
              <a:spcBef>
                <a:spcPts val="900"/>
              </a:spcBef>
              <a:spcAft>
                <a:spcPts val="900"/>
              </a:spcAft>
              <a:buClr>
                <a:schemeClr val="dk1"/>
              </a:buClr>
              <a:buSzPts val="1500"/>
              <a:buFont typeface="Calibri"/>
              <a:buNone/>
            </a:pPr>
            <a:r>
              <a:rPr lang="en" sz="1500">
                <a:solidFill>
                  <a:schemeClr val="dk1"/>
                </a:solidFill>
                <a:latin typeface="Calibri"/>
                <a:ea typeface="Calibri"/>
                <a:cs typeface="Calibri"/>
                <a:sym typeface="Calibri"/>
              </a:rPr>
              <a:t>These settings produced the </a:t>
            </a:r>
            <a:r>
              <a:rPr lang="en" sz="1500" b="1">
                <a:solidFill>
                  <a:schemeClr val="dk1"/>
                </a:solidFill>
                <a:latin typeface="Calibri"/>
                <a:ea typeface="Calibri"/>
                <a:cs typeface="Calibri"/>
                <a:sym typeface="Calibri"/>
              </a:rPr>
              <a:t>highest quality spectrum</a:t>
            </a:r>
            <a:r>
              <a:rPr lang="en" sz="15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graphicFrame>
        <p:nvGraphicFramePr>
          <p:cNvPr id="292" name="Google Shape;292;p47"/>
          <p:cNvGraphicFramePr/>
          <p:nvPr/>
        </p:nvGraphicFramePr>
        <p:xfrm>
          <a:off x="5656284" y="2588606"/>
          <a:ext cx="2874675" cy="1474938"/>
        </p:xfrm>
        <a:graphic>
          <a:graphicData uri="http://schemas.openxmlformats.org/drawingml/2006/table">
            <a:tbl>
              <a:tblPr>
                <a:noFill/>
                <a:tableStyleId>{268BD225-2F17-4223-8857-AD395EA7D519}</a:tableStyleId>
              </a:tblPr>
              <a:tblGrid>
                <a:gridCol w="2067400">
                  <a:extLst>
                    <a:ext uri="{9D8B030D-6E8A-4147-A177-3AD203B41FA5}">
                      <a16:colId xmlns:a16="http://schemas.microsoft.com/office/drawing/2014/main" val="20000"/>
                    </a:ext>
                  </a:extLst>
                </a:gridCol>
                <a:gridCol w="807275">
                  <a:extLst>
                    <a:ext uri="{9D8B030D-6E8A-4147-A177-3AD203B41FA5}">
                      <a16:colId xmlns:a16="http://schemas.microsoft.com/office/drawing/2014/main" val="20001"/>
                    </a:ext>
                  </a:extLst>
                </a:gridCol>
              </a:tblGrid>
              <a:tr h="190500">
                <a:tc>
                  <a:txBody>
                    <a:bodyPr/>
                    <a:lstStyle/>
                    <a:p>
                      <a:pPr marL="0" marR="0" lvl="0" indent="0" algn="ctr" rtl="0">
                        <a:lnSpc>
                          <a:spcPct val="115000"/>
                        </a:lnSpc>
                        <a:spcBef>
                          <a:spcPts val="0"/>
                        </a:spcBef>
                        <a:spcAft>
                          <a:spcPts val="0"/>
                        </a:spcAft>
                        <a:buClr>
                          <a:schemeClr val="dk1"/>
                        </a:buClr>
                        <a:buSzPts val="1500"/>
                        <a:buFont typeface="Calibri"/>
                        <a:buNone/>
                      </a:pPr>
                      <a:r>
                        <a:rPr lang="en" sz="1500" b="1" u="none" strike="noStrike" cap="none">
                          <a:solidFill>
                            <a:schemeClr val="dk1"/>
                          </a:solidFill>
                        </a:rPr>
                        <a:t>Parameter</a:t>
                      </a:r>
                      <a:endParaRPr sz="1500" b="1"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chemeClr val="dk1"/>
                        </a:buClr>
                        <a:buSzPts val="1500"/>
                        <a:buFont typeface="Calibri"/>
                        <a:buNone/>
                      </a:pPr>
                      <a:r>
                        <a:rPr lang="en" sz="1500" b="1" u="none" strike="noStrike" cap="none">
                          <a:solidFill>
                            <a:schemeClr val="dk1"/>
                          </a:solidFill>
                        </a:rPr>
                        <a:t>Value</a:t>
                      </a:r>
                      <a:endParaRPr sz="1500" b="1"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90500">
                <a:tc>
                  <a:txBody>
                    <a:bodyPr/>
                    <a:lstStyle/>
                    <a:p>
                      <a:pPr marL="0" marR="0" lvl="0" indent="0" algn="ctr" rtl="0">
                        <a:spcBef>
                          <a:spcPts val="0"/>
                        </a:spcBef>
                        <a:spcAft>
                          <a:spcPts val="0"/>
                        </a:spcAft>
                        <a:buClr>
                          <a:schemeClr val="dk1"/>
                        </a:buClr>
                        <a:buSzPts val="1500"/>
                        <a:buFont typeface="Calibri"/>
                        <a:buNone/>
                      </a:pPr>
                      <a:r>
                        <a:rPr lang="en" sz="1500" u="none" strike="noStrike" cap="none">
                          <a:solidFill>
                            <a:schemeClr val="dk1"/>
                          </a:solidFill>
                        </a:rPr>
                        <a:t>Integration time</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500"/>
                        <a:buFont typeface="Calibri"/>
                        <a:buNone/>
                      </a:pPr>
                      <a:r>
                        <a:rPr lang="en" sz="1500" u="none" strike="noStrike" cap="none">
                          <a:solidFill>
                            <a:schemeClr val="dk1"/>
                          </a:solidFill>
                        </a:rPr>
                        <a:t>25 s</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90500">
                <a:tc>
                  <a:txBody>
                    <a:bodyPr/>
                    <a:lstStyle/>
                    <a:p>
                      <a:pPr marL="0" marR="0" lvl="0" indent="0" algn="ctr" rtl="0">
                        <a:spcBef>
                          <a:spcPts val="0"/>
                        </a:spcBef>
                        <a:spcAft>
                          <a:spcPts val="0"/>
                        </a:spcAft>
                        <a:buClr>
                          <a:schemeClr val="dk1"/>
                        </a:buClr>
                        <a:buSzPts val="1500"/>
                        <a:buFont typeface="Calibri"/>
                        <a:buNone/>
                      </a:pPr>
                      <a:r>
                        <a:rPr lang="en" sz="1500" u="none" strike="noStrike" cap="none">
                          <a:solidFill>
                            <a:schemeClr val="dk1"/>
                          </a:solidFill>
                        </a:rPr>
                        <a:t>Laser power</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500"/>
                        <a:buFont typeface="Calibri"/>
                        <a:buNone/>
                      </a:pPr>
                      <a:r>
                        <a:rPr lang="en" sz="1500" u="none" strike="noStrike" cap="none">
                          <a:solidFill>
                            <a:schemeClr val="dk1"/>
                          </a:solidFill>
                        </a:rPr>
                        <a:t>80 %</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90500">
                <a:tc>
                  <a:txBody>
                    <a:bodyPr/>
                    <a:lstStyle/>
                    <a:p>
                      <a:pPr marL="0" marR="0" lvl="0" indent="0" algn="l" rtl="0">
                        <a:spcBef>
                          <a:spcPts val="0"/>
                        </a:spcBef>
                        <a:spcAft>
                          <a:spcPts val="0"/>
                        </a:spcAft>
                        <a:buClr>
                          <a:schemeClr val="dk1"/>
                        </a:buClr>
                        <a:buSzPts val="1500"/>
                        <a:buFont typeface="Calibri"/>
                        <a:buNone/>
                      </a:pPr>
                      <a:r>
                        <a:rPr lang="en" sz="1500" u="none" strike="noStrike" cap="none">
                          <a:solidFill>
                            <a:schemeClr val="dk1"/>
                          </a:solidFill>
                        </a:rPr>
                        <a:t>Best SNR</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500"/>
                        <a:buFont typeface="Calibri"/>
                        <a:buNone/>
                      </a:pPr>
                      <a:r>
                        <a:rPr lang="en" sz="1500" u="none" strike="noStrike" cap="none">
                          <a:solidFill>
                            <a:schemeClr val="dk1"/>
                          </a:solidFill>
                        </a:rPr>
                        <a:t>95.9</a:t>
                      </a:r>
                      <a:endParaRPr sz="15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293" name="Google Shape;293;p47"/>
          <p:cNvPicPr preferRelativeResize="0"/>
          <p:nvPr/>
        </p:nvPicPr>
        <p:blipFill rotWithShape="1">
          <a:blip r:embed="rId3">
            <a:alphaModFix/>
          </a:blip>
          <a:srcRect/>
          <a:stretch/>
        </p:blipFill>
        <p:spPr>
          <a:xfrm>
            <a:off x="5284913" y="135733"/>
            <a:ext cx="3617438" cy="2343149"/>
          </a:xfrm>
          <a:prstGeom prst="rect">
            <a:avLst/>
          </a:prstGeom>
          <a:noFill/>
          <a:ln>
            <a:noFill/>
          </a:ln>
        </p:spPr>
      </p:pic>
      <p:sp>
        <p:nvSpPr>
          <p:cNvPr id="294" name="Google Shape;294;p47"/>
          <p:cNvSpPr/>
          <p:nvPr/>
        </p:nvSpPr>
        <p:spPr>
          <a:xfrm>
            <a:off x="8086402" y="245457"/>
            <a:ext cx="299969" cy="304237"/>
          </a:xfrm>
          <a:prstGeom prst="flowChartConnector">
            <a:avLst/>
          </a:prstGeom>
          <a:noFill/>
          <a:ln w="12700" cap="flat" cmpd="sng">
            <a:solidFill>
              <a:srgbClr val="FF0000"/>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sp>
        <p:nvSpPr>
          <p:cNvPr id="295" name="Google Shape;295;p47"/>
          <p:cNvSpPr txBox="1"/>
          <p:nvPr/>
        </p:nvSpPr>
        <p:spPr>
          <a:xfrm>
            <a:off x="6602469" y="3763602"/>
            <a:ext cx="1417930" cy="1962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dk1"/>
              </a:buClr>
              <a:buSzPts val="800"/>
              <a:buFont typeface="Calibri"/>
              <a:buNone/>
            </a:pPr>
            <a:r>
              <a:rPr lang="en" sz="800">
                <a:solidFill>
                  <a:schemeClr val="dk1"/>
                </a:solidFill>
                <a:latin typeface="Calibri"/>
                <a:ea typeface="Calibri"/>
                <a:cs typeface="Calibri"/>
                <a:sym typeface="Calibri"/>
              </a:rPr>
              <a:t> &gt; 80 = Excellent</a:t>
            </a:r>
            <a:endParaRPr sz="1100"/>
          </a:p>
        </p:txBody>
      </p:sp>
      <p:sp>
        <p:nvSpPr>
          <p:cNvPr id="296" name="Google Shape;296;p47"/>
          <p:cNvSpPr txBox="1"/>
          <p:nvPr/>
        </p:nvSpPr>
        <p:spPr>
          <a:xfrm>
            <a:off x="6670487" y="4107521"/>
            <a:ext cx="1565899" cy="90024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SNR Interpretation:</a:t>
            </a:r>
            <a:endParaRPr sz="1100"/>
          </a:p>
          <a:p>
            <a:pPr marL="0" marR="0" lvl="0" indent="0" algn="l" rtl="0">
              <a:spcBef>
                <a:spcPts val="0"/>
              </a:spcBef>
              <a:spcAft>
                <a:spcPts val="0"/>
              </a:spcAft>
              <a:buNone/>
            </a:pPr>
            <a:r>
              <a:rPr lang="en" sz="1400">
                <a:solidFill>
                  <a:schemeClr val="dk1"/>
                </a:solidFill>
                <a:latin typeface="Calibri"/>
                <a:ea typeface="Calibri"/>
                <a:cs typeface="Calibri"/>
                <a:sym typeface="Calibri"/>
              </a:rPr>
              <a:t>&gt;80 → Excellent  </a:t>
            </a:r>
            <a:endParaRPr sz="1100"/>
          </a:p>
          <a:p>
            <a:pPr marL="0" marR="0" lvl="0" indent="0" algn="l" rtl="0">
              <a:spcBef>
                <a:spcPts val="0"/>
              </a:spcBef>
              <a:spcAft>
                <a:spcPts val="0"/>
              </a:spcAft>
              <a:buNone/>
            </a:pPr>
            <a:r>
              <a:rPr lang="en" sz="1400">
                <a:solidFill>
                  <a:schemeClr val="dk1"/>
                </a:solidFill>
                <a:latin typeface="Calibri"/>
                <a:ea typeface="Calibri"/>
                <a:cs typeface="Calibri"/>
                <a:sym typeface="Calibri"/>
              </a:rPr>
              <a:t>50–80 → Very Good  </a:t>
            </a:r>
            <a:endParaRPr sz="1100"/>
          </a:p>
          <a:p>
            <a:pPr marL="0" marR="0" lvl="0" indent="0" algn="l" rtl="0">
              <a:spcBef>
                <a:spcPts val="0"/>
              </a:spcBef>
              <a:spcAft>
                <a:spcPts val="0"/>
              </a:spcAft>
              <a:buNone/>
            </a:pPr>
            <a:r>
              <a:rPr lang="en" sz="1400">
                <a:solidFill>
                  <a:schemeClr val="dk1"/>
                </a:solidFill>
                <a:latin typeface="Calibri"/>
                <a:ea typeface="Calibri"/>
                <a:cs typeface="Calibri"/>
                <a:sym typeface="Calibri"/>
              </a:rPr>
              <a:t>30–50 → Good </a:t>
            </a:r>
            <a:endParaRPr sz="1100"/>
          </a:p>
        </p:txBody>
      </p:sp>
      <p:pic>
        <p:nvPicPr>
          <p:cNvPr id="297" name="Google Shape;297;p47"/>
          <p:cNvPicPr preferRelativeResize="0"/>
          <p:nvPr/>
        </p:nvPicPr>
        <p:blipFill rotWithShape="1">
          <a:blip r:embed="rId4">
            <a:alphaModFix/>
          </a:blip>
          <a:srcRect/>
          <a:stretch/>
        </p:blipFill>
        <p:spPr>
          <a:xfrm>
            <a:off x="139041" y="245457"/>
            <a:ext cx="4962628" cy="316844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9"/>
          <p:cNvSpPr txBox="1"/>
          <p:nvPr/>
        </p:nvSpPr>
        <p:spPr>
          <a:xfrm>
            <a:off x="433013" y="109725"/>
            <a:ext cx="4851900" cy="363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2D3EE"/>
              </a:buClr>
              <a:buSzPts val="2400"/>
              <a:buFont typeface="Outfit SemiBold"/>
              <a:buNone/>
            </a:pPr>
            <a:r>
              <a:rPr lang="en" sz="2400">
                <a:solidFill>
                  <a:srgbClr val="22D3EE"/>
                </a:solidFill>
                <a:latin typeface="Outfit SemiBold"/>
                <a:ea typeface="Outfit SemiBold"/>
                <a:cs typeface="Outfit SemiBold"/>
                <a:sym typeface="Outfit SemiBold"/>
              </a:rPr>
              <a:t>Raman Peak Assignments</a:t>
            </a:r>
            <a:endParaRPr sz="1400">
              <a:solidFill>
                <a:schemeClr val="dk1"/>
              </a:solidFill>
              <a:latin typeface="Calibri"/>
              <a:ea typeface="Calibri"/>
              <a:cs typeface="Calibri"/>
              <a:sym typeface="Calibri"/>
            </a:endParaRPr>
          </a:p>
        </p:txBody>
      </p:sp>
      <p:graphicFrame>
        <p:nvGraphicFramePr>
          <p:cNvPr id="313" name="Google Shape;313;p49"/>
          <p:cNvGraphicFramePr/>
          <p:nvPr/>
        </p:nvGraphicFramePr>
        <p:xfrm>
          <a:off x="443005" y="485297"/>
          <a:ext cx="5272000" cy="2240210"/>
        </p:xfrm>
        <a:graphic>
          <a:graphicData uri="http://schemas.openxmlformats.org/drawingml/2006/table">
            <a:tbl>
              <a:tblPr>
                <a:noFill/>
                <a:tableStyleId>{268BD225-2F17-4223-8857-AD395EA7D519}</a:tableStyleId>
              </a:tblPr>
              <a:tblGrid>
                <a:gridCol w="1922975">
                  <a:extLst>
                    <a:ext uri="{9D8B030D-6E8A-4147-A177-3AD203B41FA5}">
                      <a16:colId xmlns:a16="http://schemas.microsoft.com/office/drawing/2014/main" val="20000"/>
                    </a:ext>
                  </a:extLst>
                </a:gridCol>
                <a:gridCol w="3349025">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Clr>
                          <a:schemeClr val="dk1"/>
                        </a:buClr>
                        <a:buSzPts val="1200"/>
                        <a:buFont typeface="Calibri"/>
                        <a:buNone/>
                      </a:pPr>
                      <a:r>
                        <a:rPr lang="en" sz="1200" b="1" u="none" strike="noStrike" cap="none">
                          <a:solidFill>
                            <a:schemeClr val="dk1"/>
                          </a:solidFill>
                        </a:rPr>
                        <a:t>Raman Shift</a:t>
                      </a:r>
                      <a:endParaRPr sz="1200" b="1"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Calibri"/>
                        <a:buNone/>
                      </a:pPr>
                      <a:r>
                        <a:rPr lang="en" sz="1200" b="1" u="none" strike="noStrike" cap="none">
                          <a:solidFill>
                            <a:schemeClr val="dk1"/>
                          </a:solidFill>
                        </a:rPr>
                        <a:t>Assignment</a:t>
                      </a:r>
                      <a:endParaRPr sz="1200" b="1"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FF0000"/>
                        </a:buClr>
                        <a:buSzPts val="1200"/>
                        <a:buFont typeface="Calibri"/>
                        <a:buNone/>
                      </a:pPr>
                      <a:r>
                        <a:rPr lang="en" sz="1200" u="none" strike="noStrike" cap="none">
                          <a:solidFill>
                            <a:srgbClr val="FF0000"/>
                          </a:solidFill>
                        </a:rPr>
                        <a:t>1701</a:t>
                      </a:r>
                      <a:endParaRPr sz="1200" u="none" strike="noStrike" cap="none">
                        <a:solidFill>
                          <a:srgbClr val="FF0000"/>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200"/>
                        <a:buFont typeface="Calibri"/>
                        <a:buNone/>
                      </a:pPr>
                      <a:r>
                        <a:rPr lang="en" sz="1200" u="none" strike="noStrike" cap="none">
                          <a:solidFill>
                            <a:srgbClr val="FF0000"/>
                          </a:solidFill>
                        </a:rPr>
                        <a:t>C=O stretch</a:t>
                      </a:r>
                      <a:endParaRPr sz="1200" u="none" strike="noStrike" cap="none">
                        <a:solidFill>
                          <a:srgbClr val="FF0000"/>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chemeClr val="dk1"/>
                        </a:buClr>
                        <a:buSzPts val="1200"/>
                        <a:buFont typeface="Calibri"/>
                        <a:buNone/>
                      </a:pPr>
                      <a:r>
                        <a:rPr lang="en" sz="1200" u="none" strike="noStrike" cap="none">
                          <a:solidFill>
                            <a:schemeClr val="dk1"/>
                          </a:solidFill>
                        </a:rPr>
                        <a:t>1546</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Calibri"/>
                        <a:buNone/>
                      </a:pPr>
                      <a:r>
                        <a:rPr lang="en" sz="1200" u="none" strike="noStrike" cap="none">
                          <a:solidFill>
                            <a:schemeClr val="dk1"/>
                          </a:solidFill>
                        </a:rPr>
                        <a:t>Amide II</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chemeClr val="dk1"/>
                        </a:buClr>
                        <a:buSzPts val="1200"/>
                        <a:buFont typeface="Calibri"/>
                        <a:buNone/>
                      </a:pPr>
                      <a:r>
                        <a:rPr lang="en" sz="1200" u="none" strike="noStrike" cap="none">
                          <a:solidFill>
                            <a:schemeClr val="dk1"/>
                          </a:solidFill>
                        </a:rPr>
                        <a:t>1452</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Calibri"/>
                        <a:buNone/>
                      </a:pPr>
                      <a:r>
                        <a:rPr lang="en" sz="1200" u="none" strike="noStrike" cap="none">
                          <a:solidFill>
                            <a:schemeClr val="dk1"/>
                          </a:solidFill>
                        </a:rPr>
                        <a:t>CH₂ bending</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0">
                <a:tc>
                  <a:txBody>
                    <a:bodyPr/>
                    <a:lstStyle/>
                    <a:p>
                      <a:pPr marL="0" marR="0" lvl="0" indent="0" algn="ctr" rtl="0">
                        <a:lnSpc>
                          <a:spcPct val="100000"/>
                        </a:lnSpc>
                        <a:spcBef>
                          <a:spcPts val="0"/>
                        </a:spcBef>
                        <a:spcAft>
                          <a:spcPts val="0"/>
                        </a:spcAft>
                        <a:buClr>
                          <a:srgbClr val="FF0000"/>
                        </a:buClr>
                        <a:buSzPts val="1200"/>
                        <a:buFont typeface="Calibri"/>
                        <a:buNone/>
                      </a:pPr>
                      <a:r>
                        <a:rPr lang="en" sz="1200" u="none" strike="noStrike" cap="none">
                          <a:solidFill>
                            <a:srgbClr val="FF0000"/>
                          </a:solidFill>
                        </a:rPr>
                        <a:t>1086</a:t>
                      </a:r>
                      <a:endParaRPr sz="1200" u="none" strike="noStrike" cap="none">
                        <a:solidFill>
                          <a:srgbClr val="FF0000"/>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200"/>
                        <a:buFont typeface="Calibri"/>
                        <a:buNone/>
                      </a:pPr>
                      <a:r>
                        <a:rPr lang="en" sz="1200" u="none" strike="noStrike" cap="none">
                          <a:solidFill>
                            <a:srgbClr val="FF0000"/>
                          </a:solidFill>
                        </a:rPr>
                        <a:t>C–O stretch</a:t>
                      </a:r>
                      <a:endParaRPr sz="1200" u="none" strike="noStrike" cap="none">
                        <a:solidFill>
                          <a:srgbClr val="FF0000"/>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0">
                <a:tc>
                  <a:txBody>
                    <a:bodyPr/>
                    <a:lstStyle/>
                    <a:p>
                      <a:pPr marL="0" marR="0" lvl="0" indent="0" algn="ctr" rtl="0">
                        <a:lnSpc>
                          <a:spcPct val="100000"/>
                        </a:lnSpc>
                        <a:spcBef>
                          <a:spcPts val="0"/>
                        </a:spcBef>
                        <a:spcAft>
                          <a:spcPts val="0"/>
                        </a:spcAft>
                        <a:buClr>
                          <a:schemeClr val="dk1"/>
                        </a:buClr>
                        <a:buSzPts val="1200"/>
                        <a:buFont typeface="Calibri"/>
                        <a:buNone/>
                      </a:pPr>
                      <a:r>
                        <a:rPr lang="en" sz="1200" u="none" strike="noStrike" cap="none">
                          <a:solidFill>
                            <a:schemeClr val="dk1"/>
                          </a:solidFill>
                        </a:rPr>
                        <a:t>872</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Calibri"/>
                        <a:buNone/>
                      </a:pPr>
                      <a:r>
                        <a:rPr lang="en" sz="1200" u="none" strike="noStrike" cap="none">
                          <a:solidFill>
                            <a:schemeClr val="dk1"/>
                          </a:solidFill>
                        </a:rPr>
                        <a:t>C–O–C stretch</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0">
                <a:tc>
                  <a:txBody>
                    <a:bodyPr/>
                    <a:lstStyle/>
                    <a:p>
                      <a:pPr marL="0" marR="0" lvl="0" indent="0" algn="ctr" rtl="0">
                        <a:lnSpc>
                          <a:spcPct val="100000"/>
                        </a:lnSpc>
                        <a:spcBef>
                          <a:spcPts val="0"/>
                        </a:spcBef>
                        <a:spcAft>
                          <a:spcPts val="0"/>
                        </a:spcAft>
                        <a:buClr>
                          <a:schemeClr val="dk1"/>
                        </a:buClr>
                        <a:buSzPts val="1200"/>
                        <a:buFont typeface="Calibri"/>
                        <a:buNone/>
                      </a:pPr>
                      <a:r>
                        <a:rPr lang="en" sz="1200" u="none" strike="noStrike" cap="none">
                          <a:solidFill>
                            <a:schemeClr val="dk1"/>
                          </a:solidFill>
                        </a:rPr>
                        <a:t>956</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Calibri"/>
                        <a:buNone/>
                      </a:pPr>
                      <a:r>
                        <a:rPr lang="en" sz="1200" u="none" strike="noStrike" cap="none">
                          <a:solidFill>
                            <a:schemeClr val="dk1"/>
                          </a:solidFill>
                        </a:rPr>
                        <a:t>Pyranose ring breathing</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314" name="Google Shape;314;p49"/>
          <p:cNvPicPr preferRelativeResize="0"/>
          <p:nvPr/>
        </p:nvPicPr>
        <p:blipFill rotWithShape="1">
          <a:blip r:embed="rId3">
            <a:alphaModFix/>
          </a:blip>
          <a:srcRect/>
          <a:stretch/>
        </p:blipFill>
        <p:spPr>
          <a:xfrm>
            <a:off x="411672" y="2927907"/>
            <a:ext cx="4873241" cy="2105868"/>
          </a:xfrm>
          <a:prstGeom prst="rect">
            <a:avLst/>
          </a:prstGeom>
          <a:noFill/>
          <a:ln>
            <a:noFill/>
          </a:ln>
        </p:spPr>
      </p:pic>
      <p:pic>
        <p:nvPicPr>
          <p:cNvPr id="315" name="Google Shape;315;p49"/>
          <p:cNvPicPr preferRelativeResize="0"/>
          <p:nvPr/>
        </p:nvPicPr>
        <p:blipFill rotWithShape="1">
          <a:blip r:embed="rId4">
            <a:alphaModFix/>
          </a:blip>
          <a:srcRect l="22897" t="12324" r="23131" b="9691"/>
          <a:stretch/>
        </p:blipFill>
        <p:spPr>
          <a:xfrm>
            <a:off x="5875944" y="381049"/>
            <a:ext cx="3055595" cy="2380982"/>
          </a:xfrm>
          <a:prstGeom prst="rect">
            <a:avLst/>
          </a:prstGeom>
          <a:noFill/>
          <a:ln>
            <a:noFill/>
          </a:ln>
        </p:spPr>
      </p:pic>
      <p:pic>
        <p:nvPicPr>
          <p:cNvPr id="316" name="Google Shape;316;p49"/>
          <p:cNvPicPr preferRelativeResize="0"/>
          <p:nvPr/>
        </p:nvPicPr>
        <p:blipFill rotWithShape="1">
          <a:blip r:embed="rId5">
            <a:alphaModFix/>
          </a:blip>
          <a:srcRect l="20277" t="15720" r="26713" b="8580"/>
          <a:stretch/>
        </p:blipFill>
        <p:spPr>
          <a:xfrm>
            <a:off x="6030935" y="3008155"/>
            <a:ext cx="2527076" cy="2025620"/>
          </a:xfrm>
          <a:prstGeom prst="rect">
            <a:avLst/>
          </a:prstGeom>
          <a:noFill/>
          <a:ln>
            <a:noFill/>
          </a:ln>
        </p:spPr>
      </p:pic>
      <p:sp>
        <p:nvSpPr>
          <p:cNvPr id="317" name="Google Shape;317;p49"/>
          <p:cNvSpPr txBox="1"/>
          <p:nvPr/>
        </p:nvSpPr>
        <p:spPr>
          <a:xfrm>
            <a:off x="4284347" y="2393324"/>
            <a:ext cx="4571195" cy="230833"/>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FF0000"/>
              </a:buClr>
              <a:buSzPts val="1100"/>
              <a:buFont typeface="Calibri"/>
              <a:buNone/>
            </a:pPr>
            <a:r>
              <a:rPr lang="en" sz="1100" b="1">
                <a:solidFill>
                  <a:srgbClr val="FF0000"/>
                </a:solidFill>
                <a:latin typeface="Calibri"/>
                <a:ea typeface="Calibri"/>
                <a:cs typeface="Calibri"/>
                <a:sym typeface="Calibri"/>
              </a:rPr>
              <a:t>C=O stretch</a:t>
            </a:r>
            <a:endParaRPr sz="1100"/>
          </a:p>
        </p:txBody>
      </p:sp>
      <p:sp>
        <p:nvSpPr>
          <p:cNvPr id="318" name="Google Shape;318;p49"/>
          <p:cNvSpPr txBox="1"/>
          <p:nvPr/>
        </p:nvSpPr>
        <p:spPr>
          <a:xfrm>
            <a:off x="4161134" y="4142624"/>
            <a:ext cx="4571195" cy="230833"/>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FF0000"/>
              </a:buClr>
              <a:buSzPts val="1100"/>
              <a:buFont typeface="Calibri"/>
              <a:buNone/>
            </a:pPr>
            <a:r>
              <a:rPr lang="en" sz="1100" b="1">
                <a:solidFill>
                  <a:srgbClr val="FF0000"/>
                </a:solidFill>
                <a:latin typeface="Calibri"/>
                <a:ea typeface="Calibri"/>
                <a:cs typeface="Calibri"/>
                <a:sym typeface="Calibri"/>
              </a:rPr>
              <a:t>C–O stretch</a:t>
            </a:r>
            <a:endParaRPr sz="1100"/>
          </a:p>
        </p:txBody>
      </p:sp>
      <p:sp>
        <p:nvSpPr>
          <p:cNvPr id="319" name="Google Shape;319;p49"/>
          <p:cNvSpPr/>
          <p:nvPr/>
        </p:nvSpPr>
        <p:spPr>
          <a:xfrm rot="-1657360">
            <a:off x="6983569" y="1990127"/>
            <a:ext cx="1149439" cy="666482"/>
          </a:xfrm>
          <a:prstGeom prst="flowChartConnector">
            <a:avLst/>
          </a:prstGeom>
          <a:no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20" name="Google Shape;320;p49"/>
          <p:cNvSpPr/>
          <p:nvPr/>
        </p:nvSpPr>
        <p:spPr>
          <a:xfrm rot="-1657360">
            <a:off x="6051876" y="3397543"/>
            <a:ext cx="1149439" cy="666481"/>
          </a:xfrm>
          <a:prstGeom prst="flowChartConnector">
            <a:avLst/>
          </a:prstGeom>
          <a:no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0"/>
          <p:cNvSpPr txBox="1"/>
          <p:nvPr/>
        </p:nvSpPr>
        <p:spPr>
          <a:xfrm>
            <a:off x="433013" y="109725"/>
            <a:ext cx="6372900" cy="363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2D3EE"/>
              </a:buClr>
              <a:buSzPts val="2400"/>
              <a:buFont typeface="Outfit SemiBold"/>
              <a:buNone/>
            </a:pPr>
            <a:r>
              <a:rPr lang="en" sz="2400">
                <a:solidFill>
                  <a:srgbClr val="22D3EE"/>
                </a:solidFill>
                <a:latin typeface="Outfit SemiBold"/>
                <a:ea typeface="Outfit SemiBold"/>
                <a:cs typeface="Outfit SemiBold"/>
                <a:sym typeface="Outfit SemiBold"/>
              </a:rPr>
              <a:t>Experimental vs DFT Raman Spectrum (NAM)</a:t>
            </a:r>
            <a:endParaRPr sz="1400">
              <a:solidFill>
                <a:schemeClr val="dk1"/>
              </a:solidFill>
              <a:latin typeface="Calibri"/>
              <a:ea typeface="Calibri"/>
              <a:cs typeface="Calibri"/>
              <a:sym typeface="Calibri"/>
            </a:endParaRPr>
          </a:p>
        </p:txBody>
      </p:sp>
      <p:pic>
        <p:nvPicPr>
          <p:cNvPr id="326" name="Google Shape;326;p50"/>
          <p:cNvPicPr preferRelativeResize="0"/>
          <p:nvPr/>
        </p:nvPicPr>
        <p:blipFill rotWithShape="1">
          <a:blip r:embed="rId3">
            <a:alphaModFix/>
          </a:blip>
          <a:srcRect/>
          <a:stretch/>
        </p:blipFill>
        <p:spPr>
          <a:xfrm>
            <a:off x="1085441" y="566705"/>
            <a:ext cx="6973117" cy="3729976"/>
          </a:xfrm>
          <a:prstGeom prst="rect">
            <a:avLst/>
          </a:prstGeom>
          <a:noFill/>
          <a:ln>
            <a:noFill/>
          </a:ln>
        </p:spPr>
      </p:pic>
      <p:sp>
        <p:nvSpPr>
          <p:cNvPr id="327" name="Google Shape;327;p50"/>
          <p:cNvSpPr txBox="1"/>
          <p:nvPr/>
        </p:nvSpPr>
        <p:spPr>
          <a:xfrm>
            <a:off x="2397541" y="4390060"/>
            <a:ext cx="4572000" cy="48474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Excellent agreement between experiment and simulation</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(RMSE ~2 cm⁻¹) validates DFT for biomarker detection</a:t>
            </a:r>
            <a:endParaRPr sz="14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1"/>
          <p:cNvSpPr txBox="1">
            <a:spLocks noGrp="1"/>
          </p:cNvSpPr>
          <p:nvPr>
            <p:ph type="subTitle" idx="1"/>
          </p:nvPr>
        </p:nvSpPr>
        <p:spPr>
          <a:xfrm>
            <a:off x="360609" y="103216"/>
            <a:ext cx="6858000" cy="328412"/>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rgbClr val="00B0F0"/>
              </a:buClr>
              <a:buSzPts val="1800"/>
              <a:buNone/>
            </a:pPr>
            <a:r>
              <a:rPr lang="en" b="1">
                <a:solidFill>
                  <a:srgbClr val="00B0F0"/>
                </a:solidFill>
              </a:rPr>
              <a:t>Simulation vs Literature Simulation</a:t>
            </a:r>
            <a:endParaRPr/>
          </a:p>
        </p:txBody>
      </p:sp>
      <p:graphicFrame>
        <p:nvGraphicFramePr>
          <p:cNvPr id="333" name="Google Shape;333;p51"/>
          <p:cNvGraphicFramePr/>
          <p:nvPr/>
        </p:nvGraphicFramePr>
        <p:xfrm>
          <a:off x="1382064" y="559136"/>
          <a:ext cx="6309300" cy="2537640"/>
        </p:xfrm>
        <a:graphic>
          <a:graphicData uri="http://schemas.openxmlformats.org/drawingml/2006/table">
            <a:tbl>
              <a:tblPr>
                <a:noFill/>
                <a:tableStyleId>{268BD225-2F17-4223-8857-AD395EA7D519}</a:tableStyleId>
              </a:tblPr>
              <a:tblGrid>
                <a:gridCol w="1577325">
                  <a:extLst>
                    <a:ext uri="{9D8B030D-6E8A-4147-A177-3AD203B41FA5}">
                      <a16:colId xmlns:a16="http://schemas.microsoft.com/office/drawing/2014/main" val="20000"/>
                    </a:ext>
                  </a:extLst>
                </a:gridCol>
                <a:gridCol w="1577325">
                  <a:extLst>
                    <a:ext uri="{9D8B030D-6E8A-4147-A177-3AD203B41FA5}">
                      <a16:colId xmlns:a16="http://schemas.microsoft.com/office/drawing/2014/main" val="20001"/>
                    </a:ext>
                  </a:extLst>
                </a:gridCol>
                <a:gridCol w="1577325">
                  <a:extLst>
                    <a:ext uri="{9D8B030D-6E8A-4147-A177-3AD203B41FA5}">
                      <a16:colId xmlns:a16="http://schemas.microsoft.com/office/drawing/2014/main" val="20002"/>
                    </a:ext>
                  </a:extLst>
                </a:gridCol>
                <a:gridCol w="1577325">
                  <a:extLst>
                    <a:ext uri="{9D8B030D-6E8A-4147-A177-3AD203B41FA5}">
                      <a16:colId xmlns:a16="http://schemas.microsoft.com/office/drawing/2014/main" val="20003"/>
                    </a:ext>
                  </a:extLst>
                </a:gridCol>
              </a:tblGrid>
              <a:tr h="171450">
                <a:tc>
                  <a:txBody>
                    <a:bodyPr/>
                    <a:lstStyle/>
                    <a:p>
                      <a:pPr marL="0" marR="0" lvl="0" indent="0" algn="ctr" rtl="0">
                        <a:spcBef>
                          <a:spcPts val="0"/>
                        </a:spcBef>
                        <a:spcAft>
                          <a:spcPts val="0"/>
                        </a:spcAft>
                        <a:buClr>
                          <a:schemeClr val="dk1"/>
                        </a:buClr>
                        <a:buSzPts val="1400"/>
                        <a:buFont typeface="Calibri"/>
                        <a:buNone/>
                      </a:pPr>
                      <a:r>
                        <a:rPr lang="en" sz="1400" b="1" u="none" strike="noStrike" cap="none"/>
                        <a:t>Your Sim (cm⁻¹)</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b="1" u="none" strike="noStrike" cap="none"/>
                        <a:t>Literature (cm⁻¹)</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b="1" u="none" strike="noStrike" cap="none"/>
                        <a:t>Error</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b="1" u="none" strike="noStrike" cap="none"/>
                        <a:t>Assignment</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71450">
                <a:tc>
                  <a:txBody>
                    <a:bodyPr/>
                    <a:lstStyle/>
                    <a:p>
                      <a:pPr marL="0" marR="0" lvl="0" indent="0" algn="ctr" rtl="0">
                        <a:spcBef>
                          <a:spcPts val="0"/>
                        </a:spcBef>
                        <a:spcAft>
                          <a:spcPts val="0"/>
                        </a:spcAft>
                        <a:buClr>
                          <a:schemeClr val="dk1"/>
                        </a:buClr>
                        <a:buSzPts val="1400"/>
                        <a:buFont typeface="Calibri"/>
                        <a:buNone/>
                      </a:pPr>
                      <a:r>
                        <a:rPr lang="en" sz="1400" u="none" strike="noStrike" cap="none"/>
                        <a:t>216.1</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214.2</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~2</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CH rocking</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71450">
                <a:tc>
                  <a:txBody>
                    <a:bodyPr/>
                    <a:lstStyle/>
                    <a:p>
                      <a:pPr marL="0" marR="0" lvl="0" indent="0" algn="ctr" rtl="0">
                        <a:spcBef>
                          <a:spcPts val="0"/>
                        </a:spcBef>
                        <a:spcAft>
                          <a:spcPts val="0"/>
                        </a:spcAft>
                        <a:buClr>
                          <a:schemeClr val="dk1"/>
                        </a:buClr>
                        <a:buSzPts val="1400"/>
                        <a:buFont typeface="Calibri"/>
                        <a:buNone/>
                      </a:pPr>
                      <a:r>
                        <a:rPr lang="en" sz="1400" u="none" strike="noStrike" cap="none"/>
                        <a:t>282.5</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292.7</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~10</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Torsion</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71450">
                <a:tc>
                  <a:txBody>
                    <a:bodyPr/>
                    <a:lstStyle/>
                    <a:p>
                      <a:pPr marL="0" marR="0" lvl="0" indent="0" algn="ctr" rtl="0">
                        <a:spcBef>
                          <a:spcPts val="0"/>
                        </a:spcBef>
                        <a:spcAft>
                          <a:spcPts val="0"/>
                        </a:spcAft>
                        <a:buClr>
                          <a:schemeClr val="dk1"/>
                        </a:buClr>
                        <a:buSzPts val="1400"/>
                        <a:buFont typeface="Calibri"/>
                        <a:buNone/>
                      </a:pPr>
                      <a:r>
                        <a:rPr lang="en" sz="1400" u="none" strike="noStrike" cap="none"/>
                        <a:t>562.4</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558.9</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~3</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C–O bending</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71450">
                <a:tc>
                  <a:txBody>
                    <a:bodyPr/>
                    <a:lstStyle/>
                    <a:p>
                      <a:pPr marL="0" marR="0" lvl="0" indent="0" algn="ctr" rtl="0">
                        <a:spcBef>
                          <a:spcPts val="0"/>
                        </a:spcBef>
                        <a:spcAft>
                          <a:spcPts val="0"/>
                        </a:spcAft>
                        <a:buClr>
                          <a:schemeClr val="dk1"/>
                        </a:buClr>
                        <a:buSzPts val="1400"/>
                        <a:buFont typeface="Calibri"/>
                        <a:buNone/>
                      </a:pPr>
                      <a:r>
                        <a:rPr lang="en" sz="1400" u="none" strike="noStrike" cap="none"/>
                        <a:t>1009.5</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1010.5</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C–O–C stretch</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71450">
                <a:tc>
                  <a:txBody>
                    <a:bodyPr/>
                    <a:lstStyle/>
                    <a:p>
                      <a:pPr marL="0" marR="0" lvl="0" indent="0" algn="ctr" rtl="0">
                        <a:spcBef>
                          <a:spcPts val="0"/>
                        </a:spcBef>
                        <a:spcAft>
                          <a:spcPts val="0"/>
                        </a:spcAft>
                        <a:buClr>
                          <a:schemeClr val="dk1"/>
                        </a:buClr>
                        <a:buSzPts val="1400"/>
                        <a:buFont typeface="Calibri"/>
                        <a:buNone/>
                      </a:pPr>
                      <a:r>
                        <a:rPr lang="en" sz="1400" u="none" strike="noStrike" cap="none"/>
                        <a:t>1260.1</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1233.8</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~26</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Amide III</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71450">
                <a:tc>
                  <a:txBody>
                    <a:bodyPr/>
                    <a:lstStyle/>
                    <a:p>
                      <a:pPr marL="0" marR="0" lvl="0" indent="0" algn="ctr" rtl="0">
                        <a:spcBef>
                          <a:spcPts val="0"/>
                        </a:spcBef>
                        <a:spcAft>
                          <a:spcPts val="0"/>
                        </a:spcAft>
                        <a:buClr>
                          <a:schemeClr val="dk1"/>
                        </a:buClr>
                        <a:buSzPts val="1400"/>
                        <a:buFont typeface="Calibri"/>
                        <a:buNone/>
                      </a:pPr>
                      <a:r>
                        <a:rPr lang="en" sz="1400" u="none" strike="noStrike" cap="none"/>
                        <a:t>1508.0</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1535.1</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~27</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Amide II</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171450">
                <a:tc>
                  <a:txBody>
                    <a:bodyPr/>
                    <a:lstStyle/>
                    <a:p>
                      <a:pPr marL="0" marR="0" lvl="0" indent="0" algn="ctr" rtl="0">
                        <a:spcBef>
                          <a:spcPts val="0"/>
                        </a:spcBef>
                        <a:spcAft>
                          <a:spcPts val="0"/>
                        </a:spcAft>
                        <a:buClr>
                          <a:schemeClr val="dk1"/>
                        </a:buClr>
                        <a:buSzPts val="1400"/>
                        <a:buFont typeface="Calibri"/>
                        <a:buNone/>
                      </a:pPr>
                      <a:r>
                        <a:rPr lang="en" sz="1400" u="none" strike="noStrike" cap="none"/>
                        <a:t>1652.7</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1677.0</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~24</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Amide I</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171450">
                <a:tc>
                  <a:txBody>
                    <a:bodyPr/>
                    <a:lstStyle/>
                    <a:p>
                      <a:pPr marL="0" marR="0" lvl="0" indent="0" algn="ctr" rtl="0">
                        <a:spcBef>
                          <a:spcPts val="0"/>
                        </a:spcBef>
                        <a:spcAft>
                          <a:spcPts val="0"/>
                        </a:spcAft>
                        <a:buClr>
                          <a:schemeClr val="dk1"/>
                        </a:buClr>
                        <a:buSzPts val="1400"/>
                        <a:buFont typeface="Calibri"/>
                        <a:buNone/>
                      </a:pPr>
                      <a:r>
                        <a:rPr lang="en" sz="1400" u="none" strike="noStrike" cap="none"/>
                        <a:t>1725.1</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1763 / 1677</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~40</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Carbonyl</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334" name="Google Shape;334;p51"/>
          <p:cNvSpPr txBox="1"/>
          <p:nvPr/>
        </p:nvSpPr>
        <p:spPr>
          <a:xfrm>
            <a:off x="996100" y="3155525"/>
            <a:ext cx="8040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Strong agreement with literature-reported DFT frequencies confirms reliability of the simulation method.</a:t>
            </a:r>
            <a:endParaRPr sz="1400">
              <a:solidFill>
                <a:schemeClr val="dk1"/>
              </a:solidFill>
              <a:latin typeface="Calibri"/>
              <a:ea typeface="Calibri"/>
              <a:cs typeface="Calibri"/>
              <a:sym typeface="Calibri"/>
            </a:endParaRPr>
          </a:p>
        </p:txBody>
      </p:sp>
      <p:sp>
        <p:nvSpPr>
          <p:cNvPr id="335" name="Google Shape;335;p51"/>
          <p:cNvSpPr txBox="1"/>
          <p:nvPr/>
        </p:nvSpPr>
        <p:spPr>
          <a:xfrm>
            <a:off x="141265" y="3602040"/>
            <a:ext cx="3069709" cy="1324642"/>
          </a:xfrm>
          <a:prstGeom prst="rect">
            <a:avLst/>
          </a:prstGeom>
          <a:noFill/>
          <a:ln>
            <a:noFill/>
          </a:ln>
        </p:spPr>
        <p:txBody>
          <a:bodyPr spcFirstLastPara="1" wrap="square" lIns="68575" tIns="34275" rIns="68575" bIns="34275" anchor="t" anchorCtr="0">
            <a:spAutoFit/>
          </a:bodyPr>
          <a:lstStyle/>
          <a:p>
            <a:pPr marL="0" marR="0" lvl="0" indent="0" algn="l" rtl="0">
              <a:lnSpc>
                <a:spcPct val="107000"/>
              </a:lnSpc>
              <a:spcBef>
                <a:spcPts val="0"/>
              </a:spcBef>
              <a:spcAft>
                <a:spcPts val="0"/>
              </a:spcAft>
              <a:buClr>
                <a:schemeClr val="dk1"/>
              </a:buClr>
              <a:buSzPts val="1400"/>
              <a:buFont typeface="Calibri"/>
              <a:buNone/>
            </a:pPr>
            <a:r>
              <a:rPr lang="en" sz="1400">
                <a:solidFill>
                  <a:schemeClr val="dk1"/>
                </a:solidFill>
                <a:latin typeface="Calibri"/>
                <a:ea typeface="Calibri"/>
                <a:cs typeface="Calibri"/>
                <a:sym typeface="Calibri"/>
              </a:rPr>
              <a:t>IMPORTANT MATCHES</a:t>
            </a:r>
            <a:br>
              <a:rPr lang="en" sz="1400">
                <a:solidFill>
                  <a:schemeClr val="dk1"/>
                </a:solidFill>
                <a:latin typeface="Calibri"/>
                <a:ea typeface="Calibri"/>
                <a:cs typeface="Calibri"/>
                <a:sym typeface="Calibri"/>
              </a:rPr>
            </a:br>
            <a:r>
              <a:rPr lang="en" sz="1400" b="1">
                <a:solidFill>
                  <a:schemeClr val="dk1"/>
                </a:solidFill>
                <a:latin typeface="Calibri"/>
                <a:ea typeface="Calibri"/>
                <a:cs typeface="Calibri"/>
                <a:sym typeface="Calibri"/>
              </a:rPr>
              <a:t>1. 1009.5 ≈ 1010.5 cm⁻¹</a:t>
            </a:r>
            <a:endParaRPr sz="1100"/>
          </a:p>
          <a:p>
            <a:pPr marL="0" marR="0" lvl="0" indent="0" algn="l" rtl="0">
              <a:lnSpc>
                <a:spcPct val="107000"/>
              </a:lnSpc>
              <a:spcBef>
                <a:spcPts val="600"/>
              </a:spcBef>
              <a:spcAft>
                <a:spcPts val="0"/>
              </a:spcAft>
              <a:buClr>
                <a:schemeClr val="dk1"/>
              </a:buClr>
              <a:buSzPts val="1400"/>
              <a:buFont typeface="Calibri"/>
              <a:buNone/>
            </a:pPr>
            <a:r>
              <a:rPr lang="en" sz="1400">
                <a:solidFill>
                  <a:schemeClr val="dk1"/>
                </a:solidFill>
                <a:latin typeface="Calibri"/>
                <a:ea typeface="Calibri"/>
                <a:cs typeface="Calibri"/>
                <a:sym typeface="Calibri"/>
              </a:rPr>
              <a:t> Perfect match From literature: ν(C–O–C)</a:t>
            </a:r>
            <a:endParaRPr sz="1100"/>
          </a:p>
          <a:p>
            <a:pPr marL="0" marR="0" lvl="0" indent="0" algn="l" rtl="0">
              <a:lnSpc>
                <a:spcPct val="107000"/>
              </a:lnSpc>
              <a:spcBef>
                <a:spcPts val="600"/>
              </a:spcBef>
              <a:spcAft>
                <a:spcPts val="0"/>
              </a:spcAft>
              <a:buClr>
                <a:schemeClr val="dk1"/>
              </a:buClr>
              <a:buSzPts val="1400"/>
              <a:buFont typeface="Calibri"/>
              <a:buNone/>
            </a:pPr>
            <a:r>
              <a:rPr lang="en" sz="1400">
                <a:solidFill>
                  <a:schemeClr val="dk1"/>
                </a:solidFill>
                <a:latin typeface="Calibri"/>
                <a:ea typeface="Calibri"/>
                <a:cs typeface="Calibri"/>
                <a:sym typeface="Calibri"/>
              </a:rPr>
              <a:t>This is: NAM SIGNATURE PEAK (ETHER / LACTYL GROUP)</a:t>
            </a:r>
            <a:endParaRPr sz="1100"/>
          </a:p>
        </p:txBody>
      </p:sp>
      <p:sp>
        <p:nvSpPr>
          <p:cNvPr id="336" name="Google Shape;336;p51"/>
          <p:cNvSpPr txBox="1"/>
          <p:nvPr/>
        </p:nvSpPr>
        <p:spPr>
          <a:xfrm>
            <a:off x="3319556" y="3515108"/>
            <a:ext cx="2748095" cy="1846131"/>
          </a:xfrm>
          <a:prstGeom prst="rect">
            <a:avLst/>
          </a:prstGeom>
          <a:noFill/>
          <a:ln>
            <a:noFill/>
          </a:ln>
        </p:spPr>
        <p:txBody>
          <a:bodyPr spcFirstLastPara="1" wrap="square" lIns="68575" tIns="34275" rIns="68575" bIns="34275" anchor="t" anchorCtr="0">
            <a:spAutoFit/>
          </a:bodyPr>
          <a:lstStyle/>
          <a:p>
            <a:pPr marL="0" marR="0" lvl="0" indent="0" algn="l" rtl="0">
              <a:lnSpc>
                <a:spcPct val="107000"/>
              </a:lnSpc>
              <a:spcBef>
                <a:spcPts val="0"/>
              </a:spcBef>
              <a:spcAft>
                <a:spcPts val="0"/>
              </a:spcAft>
              <a:buClr>
                <a:schemeClr val="dk1"/>
              </a:buClr>
              <a:buSzPts val="1400"/>
              <a:buFont typeface="Calibri"/>
              <a:buNone/>
            </a:pPr>
            <a:r>
              <a:rPr lang="en" sz="1400" b="1">
                <a:solidFill>
                  <a:schemeClr val="dk1"/>
                </a:solidFill>
                <a:latin typeface="Calibri"/>
                <a:ea typeface="Calibri"/>
                <a:cs typeface="Calibri"/>
                <a:sym typeface="Calibri"/>
              </a:rPr>
              <a:t>2. 1652.7 ≈ 1676 cm⁻¹</a:t>
            </a:r>
            <a:endParaRPr sz="1400">
              <a:solidFill>
                <a:schemeClr val="dk1"/>
              </a:solidFill>
              <a:latin typeface="Calibri"/>
              <a:ea typeface="Calibri"/>
              <a:cs typeface="Calibri"/>
              <a:sym typeface="Calibri"/>
            </a:endParaRPr>
          </a:p>
          <a:p>
            <a:pPr marL="0" marR="0" lvl="0" indent="0" algn="l" rtl="0">
              <a:lnSpc>
                <a:spcPct val="107000"/>
              </a:lnSpc>
              <a:spcBef>
                <a:spcPts val="600"/>
              </a:spcBef>
              <a:spcAft>
                <a:spcPts val="0"/>
              </a:spcAft>
              <a:buClr>
                <a:schemeClr val="dk1"/>
              </a:buClr>
              <a:buSzPts val="1400"/>
              <a:buFont typeface="Calibri"/>
              <a:buNone/>
            </a:pPr>
            <a:r>
              <a:rPr lang="en" sz="1400">
                <a:solidFill>
                  <a:schemeClr val="dk1"/>
                </a:solidFill>
                <a:latin typeface="Calibri"/>
                <a:ea typeface="Calibri"/>
                <a:cs typeface="Calibri"/>
                <a:sym typeface="Calibri"/>
              </a:rPr>
              <a:t>Amide I Confirms: N-acetyl group</a:t>
            </a:r>
            <a:endParaRPr sz="1100"/>
          </a:p>
          <a:p>
            <a:pPr marL="0" marR="0" lvl="0" indent="0" algn="l" rtl="0">
              <a:lnSpc>
                <a:spcPct val="107000"/>
              </a:lnSpc>
              <a:spcBef>
                <a:spcPts val="600"/>
              </a:spcBef>
              <a:spcAft>
                <a:spcPts val="0"/>
              </a:spcAft>
              <a:buClr>
                <a:schemeClr val="dk1"/>
              </a:buClr>
              <a:buSzPts val="1400"/>
              <a:buFont typeface="Calibri"/>
              <a:buNone/>
            </a:pPr>
            <a:r>
              <a:rPr lang="en" sz="1400" b="1">
                <a:solidFill>
                  <a:schemeClr val="dk1"/>
                </a:solidFill>
                <a:latin typeface="Calibri"/>
                <a:ea typeface="Calibri"/>
                <a:cs typeface="Calibri"/>
                <a:sym typeface="Calibri"/>
              </a:rPr>
              <a:t>3. 1508 ≈ 1535 cm⁻¹</a:t>
            </a:r>
            <a:endParaRPr sz="1400">
              <a:solidFill>
                <a:schemeClr val="dk1"/>
              </a:solidFill>
              <a:latin typeface="Calibri"/>
              <a:ea typeface="Calibri"/>
              <a:cs typeface="Calibri"/>
              <a:sym typeface="Calibri"/>
            </a:endParaRPr>
          </a:p>
          <a:p>
            <a:pPr marL="0" marR="0" lvl="0" indent="0" algn="l" rtl="0">
              <a:lnSpc>
                <a:spcPct val="107000"/>
              </a:lnSpc>
              <a:spcBef>
                <a:spcPts val="600"/>
              </a:spcBef>
              <a:spcAft>
                <a:spcPts val="0"/>
              </a:spcAft>
              <a:buClr>
                <a:schemeClr val="dk1"/>
              </a:buClr>
              <a:buSzPts val="1400"/>
              <a:buFont typeface="Calibri"/>
              <a:buNone/>
            </a:pPr>
            <a:r>
              <a:rPr lang="en" sz="1400">
                <a:solidFill>
                  <a:schemeClr val="dk1"/>
                </a:solidFill>
                <a:latin typeface="Calibri"/>
                <a:ea typeface="Calibri"/>
                <a:cs typeface="Calibri"/>
                <a:sym typeface="Calibri"/>
              </a:rPr>
              <a:t>Amide II</a:t>
            </a:r>
            <a:br>
              <a:rPr lang="en" sz="1400">
                <a:solidFill>
                  <a:schemeClr val="dk1"/>
                </a:solidFill>
                <a:latin typeface="Calibri"/>
                <a:ea typeface="Calibri"/>
                <a:cs typeface="Calibri"/>
                <a:sym typeface="Calibri"/>
              </a:rPr>
            </a:br>
            <a:r>
              <a:rPr lang="en" sz="1400" b="1">
                <a:solidFill>
                  <a:schemeClr val="dk1"/>
                </a:solidFill>
                <a:latin typeface="Calibri"/>
                <a:ea typeface="Calibri"/>
                <a:cs typeface="Calibri"/>
                <a:sym typeface="Calibri"/>
              </a:rPr>
              <a:t>4. 1347 ≈ 1318 cm⁻¹</a:t>
            </a:r>
            <a:r>
              <a:rPr lang="en" sz="1400">
                <a:solidFill>
                  <a:schemeClr val="dk1"/>
                </a:solidFill>
                <a:latin typeface="Calibri"/>
                <a:ea typeface="Calibri"/>
                <a:cs typeface="Calibri"/>
                <a:sym typeface="Calibri"/>
              </a:rPr>
              <a:t> </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CH bending</a:t>
            </a:r>
            <a:br>
              <a:rPr lang="en"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p:txBody>
      </p:sp>
      <p:sp>
        <p:nvSpPr>
          <p:cNvPr id="337" name="Google Shape;337;p51"/>
          <p:cNvSpPr txBox="1"/>
          <p:nvPr/>
        </p:nvSpPr>
        <p:spPr>
          <a:xfrm>
            <a:off x="6017103" y="3514283"/>
            <a:ext cx="3348642" cy="1478531"/>
          </a:xfrm>
          <a:prstGeom prst="rect">
            <a:avLst/>
          </a:prstGeom>
          <a:noFill/>
          <a:ln>
            <a:noFill/>
          </a:ln>
        </p:spPr>
        <p:txBody>
          <a:bodyPr spcFirstLastPara="1" wrap="square" lIns="68575" tIns="34275" rIns="68575" bIns="34275" anchor="t" anchorCtr="0">
            <a:spAutoFit/>
          </a:bodyPr>
          <a:lstStyle/>
          <a:p>
            <a:pPr marL="0" marR="0" lvl="0" indent="0" algn="l" rtl="0">
              <a:lnSpc>
                <a:spcPct val="107000"/>
              </a:lnSpc>
              <a:spcBef>
                <a:spcPts val="0"/>
              </a:spcBef>
              <a:spcAft>
                <a:spcPts val="0"/>
              </a:spcAft>
              <a:buClr>
                <a:schemeClr val="dk1"/>
              </a:buClr>
              <a:buSzPts val="1400"/>
              <a:buFont typeface="Calibri"/>
              <a:buNone/>
            </a:pPr>
            <a:r>
              <a:rPr lang="en" sz="1400" b="1">
                <a:solidFill>
                  <a:schemeClr val="dk1"/>
                </a:solidFill>
                <a:latin typeface="Calibri"/>
                <a:ea typeface="Calibri"/>
                <a:cs typeface="Calibri"/>
                <a:sym typeface="Calibri"/>
              </a:rPr>
              <a:t>ERROR ANALYSIS  </a:t>
            </a:r>
            <a:endParaRPr sz="1400">
              <a:solidFill>
                <a:schemeClr val="dk1"/>
              </a:solidFill>
              <a:latin typeface="Calibri"/>
              <a:ea typeface="Calibri"/>
              <a:cs typeface="Calibri"/>
              <a:sym typeface="Calibri"/>
            </a:endParaRPr>
          </a:p>
          <a:p>
            <a:pPr marL="0" marR="0" lvl="0" indent="0" algn="l" rtl="0">
              <a:lnSpc>
                <a:spcPct val="107000"/>
              </a:lnSpc>
              <a:spcBef>
                <a:spcPts val="600"/>
              </a:spcBef>
              <a:spcAft>
                <a:spcPts val="0"/>
              </a:spcAft>
              <a:buClr>
                <a:schemeClr val="dk1"/>
              </a:buClr>
              <a:buSzPts val="1400"/>
              <a:buFont typeface="Calibri"/>
              <a:buNone/>
            </a:pPr>
            <a:r>
              <a:rPr lang="en" sz="1400" b="1">
                <a:solidFill>
                  <a:schemeClr val="dk1"/>
                </a:solidFill>
                <a:latin typeface="Calibri"/>
                <a:ea typeface="Calibri"/>
                <a:cs typeface="Calibri"/>
                <a:sym typeface="Calibri"/>
              </a:rPr>
              <a:t>Observations:</a:t>
            </a:r>
            <a:endParaRPr sz="1400">
              <a:solidFill>
                <a:schemeClr val="dk1"/>
              </a:solidFill>
              <a:latin typeface="Calibri"/>
              <a:ea typeface="Calibri"/>
              <a:cs typeface="Calibri"/>
              <a:sym typeface="Calibri"/>
            </a:endParaRPr>
          </a:p>
          <a:p>
            <a:pPr marL="254000" marR="0" lvl="0" indent="-254000" algn="l" rtl="0">
              <a:lnSpc>
                <a:spcPct val="107000"/>
              </a:lnSpc>
              <a:spcBef>
                <a:spcPts val="600"/>
              </a:spcBef>
              <a:spcAft>
                <a:spcPts val="0"/>
              </a:spcAft>
              <a:buClr>
                <a:schemeClr val="dk1"/>
              </a:buClr>
              <a:buSzPts val="800"/>
              <a:buFont typeface="Noto Sans Symbols"/>
              <a:buChar char="∙"/>
            </a:pPr>
            <a:r>
              <a:rPr lang="en" sz="1400">
                <a:solidFill>
                  <a:schemeClr val="dk1"/>
                </a:solidFill>
                <a:latin typeface="Calibri"/>
                <a:ea typeface="Calibri"/>
                <a:cs typeface="Calibri"/>
                <a:sym typeface="Calibri"/>
              </a:rPr>
              <a:t>Low region (&lt;1000): ~2–30 cm⁻¹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400">
                <a:solidFill>
                  <a:schemeClr val="dk1"/>
                </a:solidFill>
                <a:latin typeface="Calibri"/>
                <a:ea typeface="Calibri"/>
                <a:cs typeface="Calibri"/>
                <a:sym typeface="Calibri"/>
              </a:rPr>
              <a:t>Mid region: ~20–40 cm⁻¹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400">
                <a:solidFill>
                  <a:schemeClr val="dk1"/>
                </a:solidFill>
                <a:latin typeface="Calibri"/>
                <a:ea typeface="Calibri"/>
                <a:cs typeface="Calibri"/>
                <a:sym typeface="Calibri"/>
              </a:rPr>
              <a:t>High region: ~20–50 cm⁻¹</a:t>
            </a:r>
            <a:endParaRPr sz="1100"/>
          </a:p>
        </p:txBody>
      </p:sp>
      <p:sp>
        <p:nvSpPr>
          <p:cNvPr id="338" name="Google Shape;338;p51"/>
          <p:cNvSpPr txBox="1"/>
          <p:nvPr/>
        </p:nvSpPr>
        <p:spPr>
          <a:xfrm>
            <a:off x="4791543" y="100887"/>
            <a:ext cx="4592928"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This validates your </a:t>
            </a:r>
            <a:r>
              <a:rPr lang="en" sz="1400" b="1">
                <a:solidFill>
                  <a:schemeClr val="dk1"/>
                </a:solidFill>
                <a:latin typeface="Calibri"/>
                <a:ea typeface="Calibri"/>
                <a:cs typeface="Calibri"/>
                <a:sym typeface="Calibri"/>
              </a:rPr>
              <a:t>computational workflow</a:t>
            </a:r>
            <a:r>
              <a:rPr lang="en" sz="1400">
                <a:solidFill>
                  <a:schemeClr val="dk1"/>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339" name="Google Shape;339;p51"/>
          <p:cNvSpPr/>
          <p:nvPr/>
        </p:nvSpPr>
        <p:spPr>
          <a:xfrm>
            <a:off x="82102" y="3501444"/>
            <a:ext cx="3069710" cy="1538840"/>
          </a:xfrm>
          <a:prstGeom prst="flowChartProcess">
            <a:avLst/>
          </a:prstGeom>
          <a:noFill/>
          <a:ln w="12700"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40" name="Google Shape;340;p51"/>
          <p:cNvSpPr/>
          <p:nvPr/>
        </p:nvSpPr>
        <p:spPr>
          <a:xfrm>
            <a:off x="3210974" y="3501444"/>
            <a:ext cx="2589348" cy="1642056"/>
          </a:xfrm>
          <a:prstGeom prst="flowChartProcess">
            <a:avLst/>
          </a:prstGeom>
          <a:noFill/>
          <a:ln w="12700"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41" name="Google Shape;341;p51"/>
          <p:cNvSpPr/>
          <p:nvPr/>
        </p:nvSpPr>
        <p:spPr>
          <a:xfrm>
            <a:off x="5940380" y="3501444"/>
            <a:ext cx="2960531" cy="1538840"/>
          </a:xfrm>
          <a:prstGeom prst="flowChartProcess">
            <a:avLst/>
          </a:prstGeom>
          <a:noFill/>
          <a:ln w="12700"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2"/>
          <p:cNvSpPr txBox="1">
            <a:spLocks noGrp="1"/>
          </p:cNvSpPr>
          <p:nvPr>
            <p:ph type="subTitle" idx="1"/>
          </p:nvPr>
        </p:nvSpPr>
        <p:spPr>
          <a:xfrm>
            <a:off x="181709" y="-9"/>
            <a:ext cx="6858000" cy="3285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rgbClr val="00B0F0"/>
              </a:buClr>
              <a:buSzPts val="1800"/>
              <a:buNone/>
            </a:pPr>
            <a:r>
              <a:rPr lang="en" b="1">
                <a:solidFill>
                  <a:srgbClr val="00B0F0"/>
                </a:solidFill>
              </a:rPr>
              <a:t>Experimental vs Simulation </a:t>
            </a:r>
            <a:endParaRPr/>
          </a:p>
        </p:txBody>
      </p:sp>
      <p:sp>
        <p:nvSpPr>
          <p:cNvPr id="347" name="Google Shape;347;p52"/>
          <p:cNvSpPr txBox="1"/>
          <p:nvPr/>
        </p:nvSpPr>
        <p:spPr>
          <a:xfrm>
            <a:off x="469624" y="4201025"/>
            <a:ext cx="7590900" cy="500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The measured pure NAM powder spectrum shows strong agreement with theoretical vibrational modes across key fingerprint regions.</a:t>
            </a:r>
            <a:endParaRPr sz="1400">
              <a:solidFill>
                <a:schemeClr val="dk1"/>
              </a:solidFill>
              <a:latin typeface="Calibri"/>
              <a:ea typeface="Calibri"/>
              <a:cs typeface="Calibri"/>
              <a:sym typeface="Calibri"/>
            </a:endParaRPr>
          </a:p>
        </p:txBody>
      </p:sp>
      <p:graphicFrame>
        <p:nvGraphicFramePr>
          <p:cNvPr id="348" name="Google Shape;348;p52"/>
          <p:cNvGraphicFramePr/>
          <p:nvPr/>
        </p:nvGraphicFramePr>
        <p:xfrm>
          <a:off x="181699" y="508227"/>
          <a:ext cx="6033500" cy="3158535"/>
        </p:xfrm>
        <a:graphic>
          <a:graphicData uri="http://schemas.openxmlformats.org/drawingml/2006/table">
            <a:tbl>
              <a:tblPr>
                <a:noFill/>
                <a:tableStyleId>{268BD225-2F17-4223-8857-AD395EA7D519}</a:tableStyleId>
              </a:tblPr>
              <a:tblGrid>
                <a:gridCol w="1359300">
                  <a:extLst>
                    <a:ext uri="{9D8B030D-6E8A-4147-A177-3AD203B41FA5}">
                      <a16:colId xmlns:a16="http://schemas.microsoft.com/office/drawing/2014/main" val="20000"/>
                    </a:ext>
                  </a:extLst>
                </a:gridCol>
                <a:gridCol w="1299650">
                  <a:extLst>
                    <a:ext uri="{9D8B030D-6E8A-4147-A177-3AD203B41FA5}">
                      <a16:colId xmlns:a16="http://schemas.microsoft.com/office/drawing/2014/main" val="20001"/>
                    </a:ext>
                  </a:extLst>
                </a:gridCol>
                <a:gridCol w="1239350">
                  <a:extLst>
                    <a:ext uri="{9D8B030D-6E8A-4147-A177-3AD203B41FA5}">
                      <a16:colId xmlns:a16="http://schemas.microsoft.com/office/drawing/2014/main" val="20002"/>
                    </a:ext>
                  </a:extLst>
                </a:gridCol>
                <a:gridCol w="2135200">
                  <a:extLst>
                    <a:ext uri="{9D8B030D-6E8A-4147-A177-3AD203B41FA5}">
                      <a16:colId xmlns:a16="http://schemas.microsoft.com/office/drawing/2014/main" val="20003"/>
                    </a:ext>
                  </a:extLst>
                </a:gridCol>
              </a:tblGrid>
              <a:tr h="278325">
                <a:tc>
                  <a:txBody>
                    <a:bodyPr/>
                    <a:lstStyle/>
                    <a:p>
                      <a:pPr marL="0" marR="0" lvl="0" indent="0" algn="ctr" rtl="0">
                        <a:spcBef>
                          <a:spcPts val="0"/>
                        </a:spcBef>
                        <a:spcAft>
                          <a:spcPts val="0"/>
                        </a:spcAft>
                        <a:buClr>
                          <a:schemeClr val="dk1"/>
                        </a:buClr>
                        <a:buSzPts val="1400"/>
                        <a:buFont typeface="Calibri"/>
                        <a:buNone/>
                      </a:pPr>
                      <a:r>
                        <a:rPr lang="en" sz="1400" b="1" u="none" strike="noStrike" cap="none"/>
                        <a:t>Experimental</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b="1" u="none" strike="noStrike" cap="none"/>
                        <a:t>Simulated</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b="1" u="none" strike="noStrike" cap="none"/>
                        <a:t>Difference</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b="1" u="none" strike="noStrike" cap="none"/>
                        <a:t>Assignment</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78325">
                <a:tc>
                  <a:txBody>
                    <a:bodyPr/>
                    <a:lstStyle/>
                    <a:p>
                      <a:pPr marL="0" marR="0" lvl="0" indent="0" algn="ctr" rtl="0">
                        <a:spcBef>
                          <a:spcPts val="0"/>
                        </a:spcBef>
                        <a:spcAft>
                          <a:spcPts val="0"/>
                        </a:spcAft>
                        <a:buClr>
                          <a:schemeClr val="dk1"/>
                        </a:buClr>
                        <a:buSzPts val="1400"/>
                        <a:buFont typeface="Calibri"/>
                        <a:buNone/>
                      </a:pPr>
                      <a:r>
                        <a:rPr lang="en" sz="1400" u="none" strike="noStrike" cap="none"/>
                        <a:t>284.3</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282.5</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-1.8</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Ring deformation</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88925">
                <a:tc>
                  <a:txBody>
                    <a:bodyPr/>
                    <a:lstStyle/>
                    <a:p>
                      <a:pPr marL="0" marR="0" lvl="0" indent="0" algn="ctr" rtl="0">
                        <a:spcBef>
                          <a:spcPts val="0"/>
                        </a:spcBef>
                        <a:spcAft>
                          <a:spcPts val="0"/>
                        </a:spcAft>
                        <a:buClr>
                          <a:schemeClr val="dk1"/>
                        </a:buClr>
                        <a:buSzPts val="1400"/>
                        <a:buFont typeface="Calibri"/>
                        <a:buNone/>
                      </a:pPr>
                      <a:r>
                        <a:rPr lang="en" sz="1400" u="none" strike="noStrike" cap="none"/>
                        <a:t>772.7</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777.8</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+5.1</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Ring / CH wagging</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8325">
                <a:tc>
                  <a:txBody>
                    <a:bodyPr/>
                    <a:lstStyle/>
                    <a:p>
                      <a:pPr marL="0" marR="0" lvl="0" indent="0" algn="ctr" rtl="0">
                        <a:spcBef>
                          <a:spcPts val="0"/>
                        </a:spcBef>
                        <a:spcAft>
                          <a:spcPts val="0"/>
                        </a:spcAft>
                        <a:buClr>
                          <a:schemeClr val="dk1"/>
                        </a:buClr>
                        <a:buSzPts val="1400"/>
                        <a:buFont typeface="Calibri"/>
                        <a:buNone/>
                      </a:pPr>
                      <a:r>
                        <a:rPr lang="en" sz="1400" u="none" strike="noStrike" cap="none"/>
                        <a:t>955.9</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965.7</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+9.8</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Ring breathing</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78325">
                <a:tc>
                  <a:txBody>
                    <a:bodyPr/>
                    <a:lstStyle/>
                    <a:p>
                      <a:pPr marL="0" marR="0" lvl="0" indent="0" algn="ctr" rtl="0">
                        <a:spcBef>
                          <a:spcPts val="0"/>
                        </a:spcBef>
                        <a:spcAft>
                          <a:spcPts val="0"/>
                        </a:spcAft>
                        <a:buClr>
                          <a:schemeClr val="dk1"/>
                        </a:buClr>
                        <a:buSzPts val="1400"/>
                        <a:buFont typeface="Calibri"/>
                        <a:buNone/>
                      </a:pPr>
                      <a:r>
                        <a:rPr lang="en" sz="1400" u="none" strike="noStrike" cap="none"/>
                        <a:t>1155.4</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1156.9</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+1.5</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C–O–C stretch</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88925">
                <a:tc>
                  <a:txBody>
                    <a:bodyPr/>
                    <a:lstStyle/>
                    <a:p>
                      <a:pPr marL="0" marR="0" lvl="0" indent="0" algn="ctr" rtl="0">
                        <a:spcBef>
                          <a:spcPts val="0"/>
                        </a:spcBef>
                        <a:spcAft>
                          <a:spcPts val="0"/>
                        </a:spcAft>
                        <a:buClr>
                          <a:schemeClr val="dk1"/>
                        </a:buClr>
                        <a:buSzPts val="1400"/>
                        <a:buFont typeface="Calibri"/>
                        <a:buNone/>
                      </a:pPr>
                      <a:r>
                        <a:rPr lang="en" sz="1400" u="none" strike="noStrike" cap="none"/>
                        <a:t>1249.4</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1260.1</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+10.7</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C–N / OH deformation</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78325">
                <a:tc>
                  <a:txBody>
                    <a:bodyPr/>
                    <a:lstStyle/>
                    <a:p>
                      <a:pPr marL="0" marR="0" lvl="0" indent="0" algn="ctr" rtl="0">
                        <a:spcBef>
                          <a:spcPts val="0"/>
                        </a:spcBef>
                        <a:spcAft>
                          <a:spcPts val="0"/>
                        </a:spcAft>
                        <a:buClr>
                          <a:schemeClr val="dk1"/>
                        </a:buClr>
                        <a:buSzPts val="1400"/>
                        <a:buFont typeface="Calibri"/>
                        <a:buNone/>
                      </a:pPr>
                      <a:r>
                        <a:rPr lang="en" sz="1400" u="none" strike="noStrike" cap="none"/>
                        <a:t>1345.9</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1347.4</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+1.5</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CH deformation</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88925">
                <a:tc>
                  <a:txBody>
                    <a:bodyPr/>
                    <a:lstStyle/>
                    <a:p>
                      <a:pPr marL="0" marR="0" lvl="0" indent="0" algn="ctr" rtl="0">
                        <a:spcBef>
                          <a:spcPts val="0"/>
                        </a:spcBef>
                        <a:spcAft>
                          <a:spcPts val="0"/>
                        </a:spcAft>
                        <a:buClr>
                          <a:schemeClr val="dk1"/>
                        </a:buClr>
                        <a:buSzPts val="1400"/>
                        <a:buFont typeface="Calibri"/>
                        <a:buNone/>
                      </a:pPr>
                      <a:r>
                        <a:rPr lang="en" sz="1400" u="none" strike="noStrike" cap="none"/>
                        <a:t>1451.8</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1431.4</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-20.4</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CH₂ / CH₃ bending</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78325">
                <a:tc>
                  <a:txBody>
                    <a:bodyPr/>
                    <a:lstStyle/>
                    <a:p>
                      <a:pPr marL="0" marR="0" lvl="0" indent="0" algn="ctr" rtl="0">
                        <a:spcBef>
                          <a:spcPts val="0"/>
                        </a:spcBef>
                        <a:spcAft>
                          <a:spcPts val="0"/>
                        </a:spcAft>
                        <a:buClr>
                          <a:schemeClr val="dk1"/>
                        </a:buClr>
                        <a:buSzPts val="1400"/>
                        <a:buFont typeface="Calibri"/>
                        <a:buNone/>
                      </a:pPr>
                      <a:r>
                        <a:rPr lang="en" sz="1400" u="none" strike="noStrike" cap="none"/>
                        <a:t>1700.7</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1725.1</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+24.4</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400"/>
                        <a:buFont typeface="Calibri"/>
                        <a:buNone/>
                      </a:pPr>
                      <a:r>
                        <a:rPr lang="en" sz="1400" u="none" strike="noStrike" cap="none"/>
                        <a:t>C=O stretch</a:t>
                      </a:r>
                      <a:endParaRPr sz="1100"/>
                    </a:p>
                  </a:txBody>
                  <a:tcPr marL="68600" marR="68600" marT="34300" marB="3430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349" name="Google Shape;349;p52"/>
          <p:cNvSpPr txBox="1"/>
          <p:nvPr/>
        </p:nvSpPr>
        <p:spPr>
          <a:xfrm>
            <a:off x="6491000" y="1660725"/>
            <a:ext cx="2482200" cy="1529100"/>
          </a:xfrm>
          <a:prstGeom prst="rect">
            <a:avLst/>
          </a:prstGeom>
          <a:noFill/>
          <a:ln>
            <a:noFill/>
          </a:ln>
        </p:spPr>
        <p:txBody>
          <a:bodyPr spcFirstLastPara="1" wrap="square" lIns="68575" tIns="34275" rIns="68575" bIns="34275" anchor="t" anchorCtr="0">
            <a:spAutoFit/>
          </a:bodyPr>
          <a:lstStyle/>
          <a:p>
            <a:pPr marL="0" marR="0" lvl="0" indent="0" algn="l" rtl="0">
              <a:lnSpc>
                <a:spcPct val="107000"/>
              </a:lnSpc>
              <a:spcBef>
                <a:spcPts val="0"/>
              </a:spcBef>
              <a:spcAft>
                <a:spcPts val="0"/>
              </a:spcAft>
              <a:buClr>
                <a:schemeClr val="dk1"/>
              </a:buClr>
              <a:buSzPts val="1100"/>
              <a:buFont typeface="Calibri"/>
              <a:buNone/>
            </a:pPr>
            <a:r>
              <a:rPr lang="en" sz="1100" b="1">
                <a:solidFill>
                  <a:schemeClr val="dk1"/>
                </a:solidFill>
                <a:latin typeface="Calibri"/>
                <a:ea typeface="Calibri"/>
                <a:cs typeface="Calibri"/>
                <a:sym typeface="Calibri"/>
              </a:rPr>
              <a:t>Strong Matches (Excellent Agreement)</a:t>
            </a:r>
            <a:endParaRPr sz="1100">
              <a:solidFill>
                <a:schemeClr val="dk1"/>
              </a:solidFill>
              <a:latin typeface="Calibri"/>
              <a:ea typeface="Calibri"/>
              <a:cs typeface="Calibri"/>
              <a:sym typeface="Calibri"/>
            </a:endParaRPr>
          </a:p>
          <a:p>
            <a:pPr marL="0" marR="0" lvl="0" indent="0" algn="l" rtl="0">
              <a:lnSpc>
                <a:spcPct val="107000"/>
              </a:lnSpc>
              <a:spcBef>
                <a:spcPts val="600"/>
              </a:spcBef>
              <a:spcAft>
                <a:spcPts val="0"/>
              </a:spcAft>
              <a:buClr>
                <a:schemeClr val="dk1"/>
              </a:buClr>
              <a:buSzPts val="1100"/>
              <a:buFont typeface="Calibri"/>
              <a:buNone/>
            </a:pPr>
            <a:r>
              <a:rPr lang="en" sz="1100">
                <a:solidFill>
                  <a:schemeClr val="dk1"/>
                </a:solidFill>
                <a:latin typeface="Calibri"/>
                <a:ea typeface="Calibri"/>
                <a:cs typeface="Calibri"/>
                <a:sym typeface="Calibri"/>
              </a:rPr>
              <a:t>Peaks with very small shift (≈0–5 cm⁻¹):</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100">
                <a:solidFill>
                  <a:schemeClr val="dk1"/>
                </a:solidFill>
                <a:latin typeface="Calibri"/>
                <a:ea typeface="Calibri"/>
                <a:cs typeface="Calibri"/>
                <a:sym typeface="Calibri"/>
              </a:rPr>
              <a:t>284.3 ↔ 282.5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100">
                <a:solidFill>
                  <a:schemeClr val="dk1"/>
                </a:solidFill>
                <a:latin typeface="Calibri"/>
                <a:ea typeface="Calibri"/>
                <a:cs typeface="Calibri"/>
                <a:sym typeface="Calibri"/>
              </a:rPr>
              <a:t>772.7 ↔ 777.8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100">
                <a:solidFill>
                  <a:schemeClr val="dk1"/>
                </a:solidFill>
                <a:latin typeface="Calibri"/>
                <a:ea typeface="Calibri"/>
                <a:cs typeface="Calibri"/>
                <a:sym typeface="Calibri"/>
              </a:rPr>
              <a:t>1155.4 ↔ 1156.9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100">
                <a:solidFill>
                  <a:schemeClr val="dk1"/>
                </a:solidFill>
                <a:latin typeface="Calibri"/>
                <a:ea typeface="Calibri"/>
                <a:cs typeface="Calibri"/>
                <a:sym typeface="Calibri"/>
              </a:rPr>
              <a:t>1345.9 ↔ 1347.4 </a:t>
            </a:r>
            <a:endParaRPr sz="1100"/>
          </a:p>
        </p:txBody>
      </p:sp>
      <p:sp>
        <p:nvSpPr>
          <p:cNvPr id="350" name="Google Shape;350;p52"/>
          <p:cNvSpPr txBox="1"/>
          <p:nvPr/>
        </p:nvSpPr>
        <p:spPr>
          <a:xfrm>
            <a:off x="4260896" y="51497"/>
            <a:ext cx="45711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This validates your </a:t>
            </a:r>
            <a:r>
              <a:rPr lang="en" sz="1400" b="1">
                <a:solidFill>
                  <a:schemeClr val="dk1"/>
                </a:solidFill>
                <a:latin typeface="Calibri"/>
                <a:ea typeface="Calibri"/>
                <a:cs typeface="Calibri"/>
                <a:sym typeface="Calibri"/>
              </a:rPr>
              <a:t>real measured NAM powder spectrum</a:t>
            </a:r>
            <a:r>
              <a:rPr lang="en" sz="1400">
                <a:solidFill>
                  <a:schemeClr val="dk1"/>
                </a:solidFill>
                <a:latin typeface="Calibri"/>
                <a:ea typeface="Calibri"/>
                <a:cs typeface="Calibri"/>
                <a:sym typeface="Calibri"/>
              </a:rPr>
              <a:t>.</a:t>
            </a:r>
            <a:endParaRPr sz="1400">
              <a:solidFill>
                <a:schemeClr val="dk1"/>
              </a:solidFill>
              <a:latin typeface="Calibri"/>
              <a:ea typeface="Calibri"/>
              <a:cs typeface="Calibri"/>
              <a:sym typeface="Calibri"/>
            </a:endParaRPr>
          </a:p>
        </p:txBody>
      </p:sp>
      <p:sp>
        <p:nvSpPr>
          <p:cNvPr id="351" name="Google Shape;351;p52"/>
          <p:cNvSpPr/>
          <p:nvPr/>
        </p:nvSpPr>
        <p:spPr>
          <a:xfrm>
            <a:off x="6531800" y="1660725"/>
            <a:ext cx="2527000" cy="1529100"/>
          </a:xfrm>
          <a:prstGeom prst="flowChartProcess">
            <a:avLst/>
          </a:prstGeom>
          <a:noFill/>
          <a:ln w="12700"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53"/>
          <p:cNvSpPr txBox="1"/>
          <p:nvPr/>
        </p:nvSpPr>
        <p:spPr>
          <a:xfrm>
            <a:off x="458811" y="3020887"/>
            <a:ext cx="8007440" cy="173124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In the present study, Raman spectroscopy of high-purity N-acetylmuramic acid powder was used to establish the characteristic spectral fingerprint of NAM. Identification is based on the collective pattern of multiple Raman bands rather than any single peak, since individual vibrations may also appear in other biomolecules. Direct comparison with whole bacterial spectra is limited because bacterial samples contain proteins, lipids, nucleic acids, and other overlapping components. Therefore, the most appropriate validation is comparison between the experimental pure NAM spectrum and DFT-simulated NAM spectrum, where strong agreement was observed. The obtained pure NAM spectrum can now serve as a reference control for future analysis of complex biological or bacterial samples.</a:t>
            </a:r>
            <a:endParaRPr sz="1100"/>
          </a:p>
        </p:txBody>
      </p:sp>
      <p:sp>
        <p:nvSpPr>
          <p:cNvPr id="357" name="Google Shape;357;p53"/>
          <p:cNvSpPr txBox="1"/>
          <p:nvPr/>
        </p:nvSpPr>
        <p:spPr>
          <a:xfrm>
            <a:off x="624224" y="89333"/>
            <a:ext cx="4571195" cy="2376180"/>
          </a:xfrm>
          <a:prstGeom prst="rect">
            <a:avLst/>
          </a:prstGeom>
          <a:noFill/>
          <a:ln>
            <a:noFill/>
          </a:ln>
        </p:spPr>
        <p:txBody>
          <a:bodyPr spcFirstLastPara="1" wrap="square" lIns="68575" tIns="34275" rIns="68575" bIns="34275" anchor="t" anchorCtr="0">
            <a:spAutoFit/>
          </a:bodyPr>
          <a:lstStyle/>
          <a:p>
            <a:pPr marL="0" marR="0" lvl="0" indent="0" algn="l" rtl="0">
              <a:lnSpc>
                <a:spcPct val="107000"/>
              </a:lnSpc>
              <a:spcBef>
                <a:spcPts val="0"/>
              </a:spcBef>
              <a:spcAft>
                <a:spcPts val="0"/>
              </a:spcAft>
              <a:buClr>
                <a:srgbClr val="00B0F0"/>
              </a:buClr>
              <a:buSzPts val="1400"/>
              <a:buFont typeface="Calibri"/>
              <a:buNone/>
            </a:pPr>
            <a:r>
              <a:rPr lang="en" sz="1400" b="1">
                <a:solidFill>
                  <a:srgbClr val="00B0F0"/>
                </a:solidFill>
                <a:latin typeface="Calibri"/>
                <a:ea typeface="Calibri"/>
                <a:cs typeface="Calibri"/>
                <a:sym typeface="Calibri"/>
              </a:rPr>
              <a:t>Larger Shifts</a:t>
            </a:r>
            <a:endParaRPr sz="1400">
              <a:solidFill>
                <a:srgbClr val="00B0F0"/>
              </a:solidFill>
              <a:latin typeface="Calibri"/>
              <a:ea typeface="Calibri"/>
              <a:cs typeface="Calibri"/>
              <a:sym typeface="Calibri"/>
            </a:endParaRPr>
          </a:p>
          <a:p>
            <a:pPr marL="0" marR="0" lvl="0" indent="0" algn="l" rtl="0">
              <a:lnSpc>
                <a:spcPct val="107000"/>
              </a:lnSpc>
              <a:spcBef>
                <a:spcPts val="600"/>
              </a:spcBef>
              <a:spcAft>
                <a:spcPts val="0"/>
              </a:spcAft>
              <a:buClr>
                <a:schemeClr val="dk1"/>
              </a:buClr>
              <a:buSzPts val="1400"/>
              <a:buFont typeface="Calibri"/>
              <a:buNone/>
            </a:pPr>
            <a:r>
              <a:rPr lang="en" sz="1400">
                <a:solidFill>
                  <a:schemeClr val="dk1"/>
                </a:solidFill>
                <a:latin typeface="Calibri"/>
                <a:ea typeface="Calibri"/>
                <a:cs typeface="Calibri"/>
                <a:sym typeface="Calibri"/>
              </a:rPr>
              <a:t>Observed in some peaks due to:</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400">
                <a:solidFill>
                  <a:schemeClr val="dk1"/>
                </a:solidFill>
                <a:latin typeface="Calibri"/>
                <a:ea typeface="Calibri"/>
                <a:cs typeface="Calibri"/>
                <a:sym typeface="Calibri"/>
              </a:rPr>
              <a:t>solid-state vs isolated molecule effects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400">
                <a:solidFill>
                  <a:schemeClr val="dk1"/>
                </a:solidFill>
                <a:latin typeface="Calibri"/>
                <a:ea typeface="Calibri"/>
                <a:cs typeface="Calibri"/>
                <a:sym typeface="Calibri"/>
              </a:rPr>
              <a:t>hydrogen bonding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400">
                <a:solidFill>
                  <a:schemeClr val="dk1"/>
                </a:solidFill>
                <a:latin typeface="Calibri"/>
                <a:ea typeface="Calibri"/>
                <a:cs typeface="Calibri"/>
                <a:sym typeface="Calibri"/>
              </a:rPr>
              <a:t>anharmonicity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400">
                <a:solidFill>
                  <a:schemeClr val="dk1"/>
                </a:solidFill>
                <a:latin typeface="Calibri"/>
                <a:ea typeface="Calibri"/>
                <a:cs typeface="Calibri"/>
                <a:sym typeface="Calibri"/>
              </a:rPr>
              <a:t>basis set limitations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400">
                <a:solidFill>
                  <a:schemeClr val="dk1"/>
                </a:solidFill>
                <a:latin typeface="Calibri"/>
                <a:ea typeface="Calibri"/>
                <a:cs typeface="Calibri"/>
                <a:sym typeface="Calibri"/>
              </a:rPr>
              <a:t>coupled vibrational modes </a:t>
            </a:r>
            <a:endParaRPr sz="1100"/>
          </a:p>
          <a:p>
            <a:pPr marL="254000" marR="0" lvl="0" indent="-254000" algn="l" rtl="0">
              <a:lnSpc>
                <a:spcPct val="107000"/>
              </a:lnSpc>
              <a:spcBef>
                <a:spcPts val="600"/>
              </a:spcBef>
              <a:spcAft>
                <a:spcPts val="0"/>
              </a:spcAft>
              <a:buClr>
                <a:schemeClr val="dk1"/>
              </a:buClr>
              <a:buSzPts val="800"/>
              <a:buFont typeface="Noto Sans Symbols"/>
              <a:buChar char="∙"/>
            </a:pPr>
            <a:r>
              <a:rPr lang="en" sz="1400">
                <a:solidFill>
                  <a:schemeClr val="dk1"/>
                </a:solidFill>
                <a:latin typeface="Calibri"/>
                <a:ea typeface="Calibri"/>
                <a:cs typeface="Calibri"/>
                <a:sym typeface="Calibri"/>
              </a:rPr>
              <a:t>experimental environment </a:t>
            </a:r>
            <a:endParaRPr sz="1100"/>
          </a:p>
        </p:txBody>
      </p:sp>
      <p:sp>
        <p:nvSpPr>
          <p:cNvPr id="358" name="Google Shape;358;p53"/>
          <p:cNvSpPr txBox="1"/>
          <p:nvPr/>
        </p:nvSpPr>
        <p:spPr>
          <a:xfrm>
            <a:off x="458811" y="2677988"/>
            <a:ext cx="4571195" cy="27699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1">
                <a:solidFill>
                  <a:srgbClr val="00B0F0"/>
                </a:solidFill>
                <a:latin typeface="Calibri"/>
                <a:ea typeface="Calibri"/>
                <a:cs typeface="Calibri"/>
                <a:sym typeface="Calibri"/>
              </a:rPr>
              <a:t>Conclusion</a:t>
            </a:r>
            <a:endParaRPr sz="1400">
              <a:solidFill>
                <a:srgbClr val="00B0F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4"/>
          <p:cNvSpPr txBox="1"/>
          <p:nvPr/>
        </p:nvSpPr>
        <p:spPr>
          <a:xfrm>
            <a:off x="1530213" y="0"/>
            <a:ext cx="5993100" cy="6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B0F0"/>
              </a:buClr>
              <a:buSzPts val="4100"/>
              <a:buFont typeface="Outfit SemiBold"/>
              <a:buNone/>
            </a:pPr>
            <a:r>
              <a:rPr lang="en" sz="4100" b="1" i="0" u="none" strike="noStrike" cap="none">
                <a:solidFill>
                  <a:srgbClr val="00B0F0"/>
                </a:solidFill>
                <a:latin typeface="Outfit SemiBold"/>
                <a:ea typeface="Outfit SemiBold"/>
                <a:cs typeface="Outfit SemiBold"/>
                <a:sym typeface="Outfit SemiBold"/>
              </a:rPr>
              <a:t>Lipoteichoic Acid</a:t>
            </a:r>
            <a:endParaRPr sz="1400" b="1" i="0" u="none" strike="noStrike" cap="none">
              <a:solidFill>
                <a:srgbClr val="00B0F0"/>
              </a:solidFill>
              <a:latin typeface="Calibri"/>
              <a:ea typeface="Calibri"/>
              <a:cs typeface="Calibri"/>
              <a:sym typeface="Calibri"/>
            </a:endParaRPr>
          </a:p>
        </p:txBody>
      </p:sp>
      <p:sp>
        <p:nvSpPr>
          <p:cNvPr id="364" name="Google Shape;364;p54"/>
          <p:cNvSpPr txBox="1"/>
          <p:nvPr/>
        </p:nvSpPr>
        <p:spPr>
          <a:xfrm>
            <a:off x="237010" y="515390"/>
            <a:ext cx="8275200" cy="443100"/>
          </a:xfrm>
          <a:prstGeom prst="rect">
            <a:avLst/>
          </a:prstGeom>
          <a:noFill/>
          <a:ln>
            <a:noFill/>
          </a:ln>
        </p:spPr>
        <p:txBody>
          <a:bodyPr spcFirstLastPara="1" wrap="square" lIns="0" tIns="0" rIns="0" bIns="0" anchor="t" anchorCtr="0">
            <a:spAutoFit/>
          </a:bodyPr>
          <a:lstStyle/>
          <a:p>
            <a:pPr marL="0" marR="0" lvl="0" indent="0" algn="l" rtl="0">
              <a:lnSpc>
                <a:spcPct val="159952"/>
              </a:lnSpc>
              <a:spcBef>
                <a:spcPts val="0"/>
              </a:spcBef>
              <a:spcAft>
                <a:spcPts val="0"/>
              </a:spcAft>
              <a:buNone/>
            </a:pPr>
            <a:r>
              <a:rPr lang="en" sz="1800" b="1" i="0" u="none" strike="noStrike" cap="none">
                <a:solidFill>
                  <a:srgbClr val="00B0F0"/>
                </a:solidFill>
                <a:latin typeface="Calibri"/>
                <a:ea typeface="Calibri"/>
                <a:cs typeface="Calibri"/>
                <a:sym typeface="Calibri"/>
              </a:rPr>
              <a:t>Challenge in LTA Simulation</a:t>
            </a:r>
            <a:endParaRPr sz="1200" b="1" i="0" u="none" strike="noStrike" cap="none">
              <a:solidFill>
                <a:srgbClr val="00B0F0"/>
              </a:solidFill>
              <a:latin typeface="Calibri"/>
              <a:ea typeface="Calibri"/>
              <a:cs typeface="Calibri"/>
              <a:sym typeface="Calibri"/>
            </a:endParaRPr>
          </a:p>
        </p:txBody>
      </p:sp>
      <p:sp>
        <p:nvSpPr>
          <p:cNvPr id="365" name="Google Shape;365;p54"/>
          <p:cNvSpPr/>
          <p:nvPr/>
        </p:nvSpPr>
        <p:spPr>
          <a:xfrm>
            <a:off x="1213757" y="833991"/>
            <a:ext cx="4905300" cy="9927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None/>
            </a:pPr>
            <a:endParaRPr sz="1500" b="0" i="0" u="none" strike="noStrike" cap="none">
              <a:solidFill>
                <a:schemeClr val="dk1"/>
              </a:solidFill>
              <a:latin typeface="Arial"/>
              <a:ea typeface="Arial"/>
              <a:cs typeface="Arial"/>
              <a:sym typeface="Arial"/>
            </a:endParaRPr>
          </a:p>
          <a:p>
            <a:pPr marL="215900" marR="0" lvl="0" indent="-2095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Arial"/>
                <a:ea typeface="Arial"/>
                <a:cs typeface="Arial"/>
                <a:sym typeface="Arial"/>
              </a:rPr>
              <a:t>LTA is a </a:t>
            </a:r>
            <a:r>
              <a:rPr lang="en" sz="1500" b="1" i="0" u="none" strike="noStrike" cap="none">
                <a:solidFill>
                  <a:schemeClr val="dk1"/>
                </a:solidFill>
                <a:latin typeface="Arial"/>
                <a:ea typeface="Arial"/>
                <a:cs typeface="Arial"/>
                <a:sym typeface="Arial"/>
              </a:rPr>
              <a:t>large polymeric biomolecule</a:t>
            </a:r>
            <a:r>
              <a:rPr lang="en" sz="1500" b="0" i="0" u="none" strike="noStrike" cap="none">
                <a:solidFill>
                  <a:schemeClr val="dk1"/>
                </a:solidFill>
                <a:latin typeface="Arial"/>
                <a:ea typeface="Arial"/>
                <a:cs typeface="Arial"/>
                <a:sym typeface="Arial"/>
              </a:rPr>
              <a:t> </a:t>
            </a:r>
            <a:endParaRPr sz="1100"/>
          </a:p>
          <a:p>
            <a:pPr marL="215900" marR="0" lvl="0" indent="-2095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Arial"/>
                <a:ea typeface="Arial"/>
                <a:cs typeface="Arial"/>
                <a:sym typeface="Arial"/>
              </a:rPr>
              <a:t>Full DFT simulation → </a:t>
            </a:r>
            <a:r>
              <a:rPr lang="en" sz="1500" b="1" i="0" u="none" strike="noStrike" cap="none">
                <a:solidFill>
                  <a:schemeClr val="dk1"/>
                </a:solidFill>
                <a:latin typeface="Arial"/>
                <a:ea typeface="Arial"/>
                <a:cs typeface="Arial"/>
                <a:sym typeface="Arial"/>
              </a:rPr>
              <a:t>computationally impractical</a:t>
            </a:r>
            <a:r>
              <a:rPr lang="en" sz="1500" b="0" i="0" u="none" strike="noStrike" cap="none">
                <a:solidFill>
                  <a:schemeClr val="dk1"/>
                </a:solidFill>
                <a:latin typeface="Arial"/>
                <a:ea typeface="Arial"/>
                <a:cs typeface="Arial"/>
                <a:sym typeface="Arial"/>
              </a:rPr>
              <a:t> </a:t>
            </a:r>
            <a:endParaRPr sz="1100"/>
          </a:p>
          <a:p>
            <a:pPr marL="215900" marR="0" lvl="0" indent="-2095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Arial"/>
                <a:ea typeface="Arial"/>
                <a:cs typeface="Arial"/>
                <a:sym typeface="Arial"/>
              </a:rPr>
              <a:t>Need a </a:t>
            </a:r>
            <a:r>
              <a:rPr lang="en" sz="1500" b="1" i="0" u="none" strike="noStrike" cap="none">
                <a:solidFill>
                  <a:schemeClr val="dk1"/>
                </a:solidFill>
                <a:latin typeface="Arial"/>
                <a:ea typeface="Arial"/>
                <a:cs typeface="Arial"/>
                <a:sym typeface="Arial"/>
              </a:rPr>
              <a:t>scientifically valid alternative approach</a:t>
            </a:r>
            <a:r>
              <a:rPr lang="en" sz="1500" b="0" i="0" u="none" strike="noStrike" cap="none">
                <a:solidFill>
                  <a:schemeClr val="dk1"/>
                </a:solidFill>
                <a:latin typeface="Arial"/>
                <a:ea typeface="Arial"/>
                <a:cs typeface="Arial"/>
                <a:sym typeface="Arial"/>
              </a:rPr>
              <a:t> </a:t>
            </a:r>
            <a:endParaRPr sz="1100"/>
          </a:p>
        </p:txBody>
      </p:sp>
      <p:sp>
        <p:nvSpPr>
          <p:cNvPr id="366" name="Google Shape;366;p54"/>
          <p:cNvSpPr txBox="1"/>
          <p:nvPr/>
        </p:nvSpPr>
        <p:spPr>
          <a:xfrm>
            <a:off x="237010" y="1780404"/>
            <a:ext cx="8275200" cy="443100"/>
          </a:xfrm>
          <a:prstGeom prst="rect">
            <a:avLst/>
          </a:prstGeom>
          <a:noFill/>
          <a:ln>
            <a:noFill/>
          </a:ln>
        </p:spPr>
        <p:txBody>
          <a:bodyPr spcFirstLastPara="1" wrap="square" lIns="0" tIns="0" rIns="0" bIns="0" anchor="t" anchorCtr="0">
            <a:spAutoFit/>
          </a:bodyPr>
          <a:lstStyle/>
          <a:p>
            <a:pPr marL="0" marR="0" lvl="0" indent="0" algn="l" rtl="0">
              <a:lnSpc>
                <a:spcPct val="159952"/>
              </a:lnSpc>
              <a:spcBef>
                <a:spcPts val="0"/>
              </a:spcBef>
              <a:spcAft>
                <a:spcPts val="0"/>
              </a:spcAft>
              <a:buNone/>
            </a:pPr>
            <a:r>
              <a:rPr lang="en" sz="1800" b="1" i="0" u="none" strike="noStrike" cap="none">
                <a:solidFill>
                  <a:srgbClr val="00B0F0"/>
                </a:solidFill>
                <a:latin typeface="Calibri"/>
                <a:ea typeface="Calibri"/>
                <a:cs typeface="Calibri"/>
                <a:sym typeface="Calibri"/>
              </a:rPr>
              <a:t>Component-Based Modeling Strategy</a:t>
            </a:r>
            <a:endParaRPr sz="1200" b="1" i="0" u="none" strike="noStrike" cap="none">
              <a:solidFill>
                <a:srgbClr val="00B0F0"/>
              </a:solidFill>
              <a:latin typeface="Calibri"/>
              <a:ea typeface="Calibri"/>
              <a:cs typeface="Calibri"/>
              <a:sym typeface="Calibri"/>
            </a:endParaRPr>
          </a:p>
        </p:txBody>
      </p:sp>
      <p:sp>
        <p:nvSpPr>
          <p:cNvPr id="367" name="Google Shape;367;p54"/>
          <p:cNvSpPr/>
          <p:nvPr/>
        </p:nvSpPr>
        <p:spPr>
          <a:xfrm>
            <a:off x="779109" y="4739616"/>
            <a:ext cx="7084800" cy="346200"/>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en" sz="1800" b="0" i="0" u="none" strike="noStrike" cap="none">
                <a:solidFill>
                  <a:schemeClr val="dk1"/>
                </a:solidFill>
                <a:latin typeface="Calibri"/>
                <a:ea typeface="Calibri"/>
                <a:cs typeface="Calibri"/>
                <a:sym typeface="Calibri"/>
              </a:rPr>
              <a:t>“Fragment-based modeling is a standard approach for large biomolecules”</a:t>
            </a:r>
            <a:endParaRPr sz="1800" b="0" i="0" u="none" strike="noStrike" cap="none">
              <a:solidFill>
                <a:schemeClr val="dk1"/>
              </a:solidFill>
              <a:latin typeface="Arial"/>
              <a:ea typeface="Arial"/>
              <a:cs typeface="Arial"/>
              <a:sym typeface="Arial"/>
            </a:endParaRPr>
          </a:p>
        </p:txBody>
      </p:sp>
      <p:sp>
        <p:nvSpPr>
          <p:cNvPr id="368" name="Google Shape;368;p54"/>
          <p:cNvSpPr/>
          <p:nvPr/>
        </p:nvSpPr>
        <p:spPr>
          <a:xfrm>
            <a:off x="1213757" y="2223602"/>
            <a:ext cx="5577600" cy="761700"/>
          </a:xfrm>
          <a:prstGeom prst="rect">
            <a:avLst/>
          </a:prstGeom>
          <a:noFill/>
          <a:ln>
            <a:noFill/>
          </a:ln>
        </p:spPr>
        <p:txBody>
          <a:bodyPr spcFirstLastPara="1" wrap="square" lIns="68575" tIns="34275" rIns="68575" bIns="34275" anchor="ctr" anchorCtr="0">
            <a:noAutofit/>
          </a:bodyPr>
          <a:lstStyle/>
          <a:p>
            <a:pPr marL="215900" marR="0" lvl="0" indent="-2095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Arial"/>
                <a:ea typeface="Arial"/>
                <a:cs typeface="Arial"/>
                <a:sym typeface="Arial"/>
              </a:rPr>
              <a:t>Decompose LTA into </a:t>
            </a:r>
            <a:r>
              <a:rPr lang="en" sz="1500" b="1" i="0" u="none" strike="noStrike" cap="none">
                <a:solidFill>
                  <a:schemeClr val="dk1"/>
                </a:solidFill>
                <a:latin typeface="Arial"/>
                <a:ea typeface="Arial"/>
                <a:cs typeface="Arial"/>
                <a:sym typeface="Arial"/>
              </a:rPr>
              <a:t>representative molecular units</a:t>
            </a:r>
            <a:r>
              <a:rPr lang="en" sz="1500" b="0" i="0" u="none" strike="noStrike" cap="none">
                <a:solidFill>
                  <a:schemeClr val="dk1"/>
                </a:solidFill>
                <a:latin typeface="Arial"/>
                <a:ea typeface="Arial"/>
                <a:cs typeface="Arial"/>
                <a:sym typeface="Arial"/>
              </a:rPr>
              <a:t> </a:t>
            </a:r>
            <a:endParaRPr sz="1100"/>
          </a:p>
          <a:p>
            <a:pPr marL="215900" marR="0" lvl="0" indent="-2095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Arial"/>
                <a:ea typeface="Arial"/>
                <a:cs typeface="Arial"/>
                <a:sym typeface="Arial"/>
              </a:rPr>
              <a:t>Simulate each component using DFT </a:t>
            </a:r>
            <a:endParaRPr sz="1100"/>
          </a:p>
          <a:p>
            <a:pPr marL="215900" marR="0" lvl="0" indent="-2095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Arial"/>
                <a:ea typeface="Arial"/>
                <a:cs typeface="Arial"/>
                <a:sym typeface="Arial"/>
              </a:rPr>
              <a:t>Combine spectral contributions to reconstruct LTA fingerprint </a:t>
            </a:r>
            <a:endParaRPr sz="1100"/>
          </a:p>
        </p:txBody>
      </p:sp>
      <p:sp>
        <p:nvSpPr>
          <p:cNvPr id="369" name="Google Shape;369;p54"/>
          <p:cNvSpPr txBox="1"/>
          <p:nvPr/>
        </p:nvSpPr>
        <p:spPr>
          <a:xfrm>
            <a:off x="964877" y="3323853"/>
            <a:ext cx="6075300" cy="1230900"/>
          </a:xfrm>
          <a:prstGeom prst="rect">
            <a:avLst/>
          </a:prstGeom>
          <a:noFill/>
          <a:ln>
            <a:noFill/>
          </a:ln>
        </p:spPr>
        <p:txBody>
          <a:bodyPr spcFirstLastPara="1" wrap="square" lIns="68575" tIns="34275" rIns="68575" bIns="34275" anchor="t" anchorCtr="0">
            <a:spAutoFit/>
          </a:bodyPr>
          <a:lstStyle/>
          <a:p>
            <a:pPr marL="342900" marR="0" lvl="0" indent="-285750" algn="l" rtl="0">
              <a:lnSpc>
                <a:spcPct val="115000"/>
              </a:lnSpc>
              <a:spcBef>
                <a:spcPts val="0"/>
              </a:spcBef>
              <a:spcAft>
                <a:spcPts val="0"/>
              </a:spcAft>
              <a:buClr>
                <a:schemeClr val="lt1"/>
              </a:buClr>
              <a:buSzPts val="1900"/>
              <a:buFont typeface="Calibri"/>
              <a:buChar char="●"/>
            </a:pPr>
            <a:r>
              <a:rPr lang="en" sz="1500" b="0" i="0" u="none" strike="noStrike" cap="none">
                <a:solidFill>
                  <a:schemeClr val="dk1"/>
                </a:solidFill>
                <a:latin typeface="Calibri"/>
                <a:ea typeface="Calibri"/>
                <a:cs typeface="Calibri"/>
                <a:sym typeface="Calibri"/>
              </a:rPr>
              <a:t>Lipoteichoic acid consists of three structural components:</a:t>
            </a:r>
            <a:endParaRPr sz="1100"/>
          </a:p>
          <a:p>
            <a:pPr marL="342900" marR="0" lvl="0" indent="0" algn="l" rtl="0">
              <a:lnSpc>
                <a:spcPct val="115000"/>
              </a:lnSpc>
              <a:spcBef>
                <a:spcPts val="900"/>
              </a:spcBef>
              <a:spcAft>
                <a:spcPts val="0"/>
              </a:spcAft>
              <a:buClr>
                <a:schemeClr val="dk1"/>
              </a:buClr>
              <a:buSzPts val="1500"/>
              <a:buFont typeface="Calibri"/>
              <a:buNone/>
            </a:pPr>
            <a:r>
              <a:rPr lang="en" sz="1500" b="0" i="0" u="none" strike="noStrike" cap="none">
                <a:solidFill>
                  <a:schemeClr val="dk1"/>
                </a:solidFill>
                <a:latin typeface="Calibri"/>
                <a:ea typeface="Calibri"/>
                <a:cs typeface="Calibri"/>
                <a:sym typeface="Calibri"/>
              </a:rPr>
              <a:t> • </a:t>
            </a:r>
            <a:r>
              <a:rPr lang="en" sz="1500" b="1" i="0" u="none" strike="noStrike" cap="none">
                <a:solidFill>
                  <a:schemeClr val="dk1"/>
                </a:solidFill>
                <a:latin typeface="Calibri"/>
                <a:ea typeface="Calibri"/>
                <a:cs typeface="Calibri"/>
                <a:sym typeface="Calibri"/>
              </a:rPr>
              <a:t>Glycolipid membrane anchor</a:t>
            </a:r>
            <a:br>
              <a:rPr lang="en" sz="1500" b="1" i="0" u="none" strike="noStrike" cap="none">
                <a:solidFill>
                  <a:schemeClr val="dk1"/>
                </a:solidFill>
                <a:latin typeface="Calibri"/>
                <a:ea typeface="Calibri"/>
                <a:cs typeface="Calibri"/>
                <a:sym typeface="Calibri"/>
              </a:rPr>
            </a:br>
            <a:r>
              <a:rPr lang="en" sz="1500" b="0" i="0" u="none" strike="noStrike" cap="none">
                <a:solidFill>
                  <a:schemeClr val="dk1"/>
                </a:solidFill>
                <a:latin typeface="Calibri"/>
                <a:ea typeface="Calibri"/>
                <a:cs typeface="Calibri"/>
                <a:sym typeface="Calibri"/>
              </a:rPr>
              <a:t> • </a:t>
            </a:r>
            <a:r>
              <a:rPr lang="en" sz="1500" b="1" i="0" u="none" strike="noStrike" cap="none">
                <a:solidFill>
                  <a:schemeClr val="dk1"/>
                </a:solidFill>
                <a:latin typeface="Calibri"/>
                <a:ea typeface="Calibri"/>
                <a:cs typeface="Calibri"/>
                <a:sym typeface="Calibri"/>
              </a:rPr>
              <a:t>Poly(glycerol–phosphate) backbone</a:t>
            </a:r>
            <a:br>
              <a:rPr lang="en" sz="1500" b="1" i="0" u="none" strike="noStrike" cap="none">
                <a:solidFill>
                  <a:schemeClr val="dk1"/>
                </a:solidFill>
                <a:latin typeface="Calibri"/>
                <a:ea typeface="Calibri"/>
                <a:cs typeface="Calibri"/>
                <a:sym typeface="Calibri"/>
              </a:rPr>
            </a:br>
            <a:r>
              <a:rPr lang="en" sz="1500" b="0" i="0" u="none" strike="noStrike" cap="none">
                <a:solidFill>
                  <a:schemeClr val="dk1"/>
                </a:solidFill>
                <a:latin typeface="Calibri"/>
                <a:ea typeface="Calibri"/>
                <a:cs typeface="Calibri"/>
                <a:sym typeface="Calibri"/>
              </a:rPr>
              <a:t> • </a:t>
            </a:r>
            <a:r>
              <a:rPr lang="en" sz="1500" b="1" i="0" u="none" strike="noStrike" cap="none">
                <a:solidFill>
                  <a:schemeClr val="dk1"/>
                </a:solidFill>
                <a:latin typeface="Calibri"/>
                <a:ea typeface="Calibri"/>
                <a:cs typeface="Calibri"/>
                <a:sym typeface="Calibri"/>
              </a:rPr>
              <a:t>Substituent groups</a:t>
            </a:r>
            <a:r>
              <a:rPr lang="en" sz="1500" b="0" i="0" u="none" strike="noStrike" cap="none">
                <a:solidFill>
                  <a:schemeClr val="dk1"/>
                </a:solidFill>
                <a:latin typeface="Calibri"/>
                <a:ea typeface="Calibri"/>
                <a:cs typeface="Calibri"/>
                <a:sym typeface="Calibri"/>
              </a:rPr>
              <a:t> such as D-alanine residues or sugars</a:t>
            </a:r>
            <a:endParaRPr sz="1100"/>
          </a:p>
        </p:txBody>
      </p:sp>
      <p:sp>
        <p:nvSpPr>
          <p:cNvPr id="370" name="Google Shape;370;p54"/>
          <p:cNvSpPr txBox="1"/>
          <p:nvPr/>
        </p:nvSpPr>
        <p:spPr>
          <a:xfrm>
            <a:off x="237010" y="2977604"/>
            <a:ext cx="45711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rgbClr val="00B0F0"/>
              </a:buClr>
              <a:buSzPts val="1800"/>
              <a:buFont typeface="Outfit SemiBold"/>
              <a:buNone/>
            </a:pPr>
            <a:r>
              <a:rPr lang="en" sz="1800" b="1" i="0" u="none" strike="noStrike" cap="none">
                <a:solidFill>
                  <a:srgbClr val="00B0F0"/>
                </a:solidFill>
                <a:latin typeface="Outfit SemiBold"/>
                <a:ea typeface="Outfit SemiBold"/>
                <a:cs typeface="Outfit SemiBold"/>
                <a:sym typeface="Outfit SemiBold"/>
              </a:rPr>
              <a:t>Structure of Lipoteichoic Acid</a:t>
            </a:r>
            <a:endParaRPr sz="1800" b="1" i="0" u="none" strike="noStrike" cap="none">
              <a:solidFill>
                <a:srgbClr val="00B0F0"/>
              </a:solidFill>
              <a:latin typeface="Calibri"/>
              <a:ea typeface="Calibri"/>
              <a:cs typeface="Calibri"/>
              <a:sym typeface="Calibri"/>
            </a:endParaRPr>
          </a:p>
        </p:txBody>
      </p:sp>
      <p:pic>
        <p:nvPicPr>
          <p:cNvPr id="371" name="Google Shape;371;p54" descr="image.png"/>
          <p:cNvPicPr preferRelativeResize="0"/>
          <p:nvPr/>
        </p:nvPicPr>
        <p:blipFill rotWithShape="1">
          <a:blip r:embed="rId3">
            <a:alphaModFix/>
          </a:blip>
          <a:srcRect/>
          <a:stretch/>
        </p:blipFill>
        <p:spPr>
          <a:xfrm>
            <a:off x="6255435" y="609257"/>
            <a:ext cx="2613121" cy="222848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5"/>
          <p:cNvSpPr txBox="1"/>
          <p:nvPr/>
        </p:nvSpPr>
        <p:spPr>
          <a:xfrm>
            <a:off x="550069" y="117881"/>
            <a:ext cx="8401200" cy="363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B0F0"/>
              </a:buClr>
              <a:buSzPts val="2400"/>
              <a:buFont typeface="Outfit SemiBold"/>
              <a:buNone/>
            </a:pPr>
            <a:r>
              <a:rPr lang="en" sz="2400" b="1" i="0" u="none" strike="noStrike" cap="none">
                <a:solidFill>
                  <a:srgbClr val="00B0F0"/>
                </a:solidFill>
                <a:latin typeface="Outfit SemiBold"/>
                <a:ea typeface="Outfit SemiBold"/>
                <a:cs typeface="Outfit SemiBold"/>
                <a:sym typeface="Outfit SemiBold"/>
              </a:rPr>
              <a:t> DFT Simulation Method</a:t>
            </a:r>
            <a:endParaRPr sz="1400" b="1" i="0" u="none" strike="noStrike" cap="none">
              <a:solidFill>
                <a:srgbClr val="00B0F0"/>
              </a:solidFill>
              <a:latin typeface="Calibri"/>
              <a:ea typeface="Calibri"/>
              <a:cs typeface="Calibri"/>
              <a:sym typeface="Calibri"/>
            </a:endParaRPr>
          </a:p>
        </p:txBody>
      </p:sp>
      <p:sp>
        <p:nvSpPr>
          <p:cNvPr id="377" name="Google Shape;377;p55"/>
          <p:cNvSpPr txBox="1"/>
          <p:nvPr/>
        </p:nvSpPr>
        <p:spPr>
          <a:xfrm>
            <a:off x="520892" y="416168"/>
            <a:ext cx="6486900" cy="17946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900"/>
              </a:spcBef>
              <a:spcAft>
                <a:spcPts val="0"/>
              </a:spcAft>
              <a:buClr>
                <a:schemeClr val="dk1"/>
              </a:buClr>
              <a:buSzPts val="1400"/>
              <a:buFont typeface="Calibri"/>
              <a:buNone/>
            </a:pPr>
            <a:r>
              <a:rPr lang="en" sz="1400" b="0" i="0" u="none" strike="noStrike" cap="none">
                <a:solidFill>
                  <a:schemeClr val="dk1"/>
                </a:solidFill>
                <a:latin typeface="Calibri"/>
                <a:ea typeface="Calibri"/>
                <a:cs typeface="Calibri"/>
                <a:sym typeface="Calibri"/>
              </a:rPr>
              <a:t>Quantum-chemical calculations were performed using </a:t>
            </a:r>
            <a:r>
              <a:rPr lang="en" sz="1400" b="1" i="0" u="none" strike="noStrike" cap="none">
                <a:solidFill>
                  <a:schemeClr val="dk1"/>
                </a:solidFill>
                <a:latin typeface="Calibri"/>
                <a:ea typeface="Calibri"/>
                <a:cs typeface="Calibri"/>
                <a:sym typeface="Calibri"/>
              </a:rPr>
              <a:t>Gaussian 16</a:t>
            </a:r>
            <a:r>
              <a:rPr lang="en" sz="1400" b="0" i="0" u="none" strike="noStrike" cap="none">
                <a:solidFill>
                  <a:schemeClr val="dk1"/>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a:p>
            <a:pPr marL="0" marR="0" lvl="0" indent="0" algn="l" rtl="0">
              <a:lnSpc>
                <a:spcPct val="115000"/>
              </a:lnSpc>
              <a:spcBef>
                <a:spcPts val="900"/>
              </a:spcBef>
              <a:spcAft>
                <a:spcPts val="0"/>
              </a:spcAft>
              <a:buClr>
                <a:schemeClr val="dk1"/>
              </a:buClr>
              <a:buSzPts val="1400"/>
              <a:buFont typeface="Calibri"/>
              <a:buNone/>
            </a:pPr>
            <a:r>
              <a:rPr lang="en" sz="1400" b="0" i="0" u="none" strike="noStrike" cap="none">
                <a:solidFill>
                  <a:schemeClr val="dk1"/>
                </a:solidFill>
                <a:latin typeface="Calibri"/>
                <a:ea typeface="Calibri"/>
                <a:cs typeface="Calibri"/>
                <a:sym typeface="Calibri"/>
              </a:rPr>
              <a:t>The simulation included:</a:t>
            </a:r>
            <a:endParaRPr sz="1400" b="0" i="0" u="none" strike="noStrike" cap="none">
              <a:solidFill>
                <a:schemeClr val="dk1"/>
              </a:solidFill>
              <a:latin typeface="Calibri"/>
              <a:ea typeface="Calibri"/>
              <a:cs typeface="Calibri"/>
              <a:sym typeface="Calibri"/>
            </a:endParaRPr>
          </a:p>
          <a:p>
            <a:pPr marL="0" marR="0" lvl="0" indent="0" algn="l" rtl="0">
              <a:lnSpc>
                <a:spcPct val="115000"/>
              </a:lnSpc>
              <a:spcBef>
                <a:spcPts val="900"/>
              </a:spcBef>
              <a:spcAft>
                <a:spcPts val="900"/>
              </a:spcAft>
              <a:buClr>
                <a:schemeClr val="dk1"/>
              </a:buClr>
              <a:buSzPts val="1400"/>
              <a:buFont typeface="Calibri"/>
              <a:buNone/>
            </a:pPr>
            <a:r>
              <a:rPr lang="en" sz="1400" b="0" i="0" u="none" strike="noStrike" cap="none">
                <a:solidFill>
                  <a:schemeClr val="dk1"/>
                </a:solidFill>
                <a:latin typeface="Calibri"/>
                <a:ea typeface="Calibri"/>
                <a:cs typeface="Calibri"/>
                <a:sym typeface="Calibri"/>
              </a:rPr>
              <a:t>• geometry optimization</a:t>
            </a:r>
            <a:br>
              <a:rPr lang="en" sz="1400" b="0" i="0" u="none" strike="noStrike" cap="none">
                <a:solidFill>
                  <a:schemeClr val="dk1"/>
                </a:solidFill>
                <a:latin typeface="Calibri"/>
                <a:ea typeface="Calibri"/>
                <a:cs typeface="Calibri"/>
                <a:sym typeface="Calibri"/>
              </a:rPr>
            </a:br>
            <a:r>
              <a:rPr lang="en" sz="1400" b="0" i="0" u="none" strike="noStrike" cap="none">
                <a:solidFill>
                  <a:schemeClr val="dk1"/>
                </a:solidFill>
                <a:latin typeface="Calibri"/>
                <a:ea typeface="Calibri"/>
                <a:cs typeface="Calibri"/>
                <a:sym typeface="Calibri"/>
              </a:rPr>
              <a:t> • vibrational frequency calculation</a:t>
            </a:r>
            <a:br>
              <a:rPr lang="en" sz="1400" b="0" i="0" u="none" strike="noStrike" cap="none">
                <a:solidFill>
                  <a:schemeClr val="dk1"/>
                </a:solidFill>
                <a:latin typeface="Calibri"/>
                <a:ea typeface="Calibri"/>
                <a:cs typeface="Calibri"/>
                <a:sym typeface="Calibri"/>
              </a:rPr>
            </a:br>
            <a:r>
              <a:rPr lang="en" sz="1400" b="0" i="0" u="none" strike="noStrike" cap="none">
                <a:solidFill>
                  <a:schemeClr val="dk1"/>
                </a:solidFill>
                <a:latin typeface="Calibri"/>
                <a:ea typeface="Calibri"/>
                <a:cs typeface="Calibri"/>
                <a:sym typeface="Calibri"/>
              </a:rPr>
              <a:t> • Raman activity calculation</a:t>
            </a:r>
            <a:endParaRPr sz="1400" b="0" i="0" u="none" strike="noStrike" cap="none">
              <a:solidFill>
                <a:schemeClr val="dk1"/>
              </a:solidFill>
              <a:latin typeface="Calibri"/>
              <a:ea typeface="Calibri"/>
              <a:cs typeface="Calibri"/>
              <a:sym typeface="Calibri"/>
            </a:endParaRPr>
          </a:p>
        </p:txBody>
      </p:sp>
      <p:graphicFrame>
        <p:nvGraphicFramePr>
          <p:cNvPr id="378" name="Google Shape;378;p55"/>
          <p:cNvGraphicFramePr/>
          <p:nvPr/>
        </p:nvGraphicFramePr>
        <p:xfrm>
          <a:off x="3951512" y="968119"/>
          <a:ext cx="3843275" cy="1321713"/>
        </p:xfrm>
        <a:graphic>
          <a:graphicData uri="http://schemas.openxmlformats.org/drawingml/2006/table">
            <a:tbl>
              <a:tblPr>
                <a:noFill/>
                <a:tableStyleId>{268BD225-2F17-4223-8857-AD395EA7D519}</a:tableStyleId>
              </a:tblPr>
              <a:tblGrid>
                <a:gridCol w="2006100">
                  <a:extLst>
                    <a:ext uri="{9D8B030D-6E8A-4147-A177-3AD203B41FA5}">
                      <a16:colId xmlns:a16="http://schemas.microsoft.com/office/drawing/2014/main" val="20000"/>
                    </a:ext>
                  </a:extLst>
                </a:gridCol>
                <a:gridCol w="1837175">
                  <a:extLst>
                    <a:ext uri="{9D8B030D-6E8A-4147-A177-3AD203B41FA5}">
                      <a16:colId xmlns:a16="http://schemas.microsoft.com/office/drawing/2014/main" val="20001"/>
                    </a:ext>
                  </a:extLst>
                </a:gridCol>
              </a:tblGrid>
              <a:tr h="171450">
                <a:tc>
                  <a:txBody>
                    <a:bodyPr/>
                    <a:lstStyle/>
                    <a:p>
                      <a:pPr marL="0" marR="0" lvl="0" indent="0" algn="ctr" rtl="0">
                        <a:lnSpc>
                          <a:spcPct val="115000"/>
                        </a:lnSpc>
                        <a:spcBef>
                          <a:spcPts val="0"/>
                        </a:spcBef>
                        <a:spcAft>
                          <a:spcPts val="0"/>
                        </a:spcAft>
                        <a:buClr>
                          <a:schemeClr val="dk1"/>
                        </a:buClr>
                        <a:buSzPts val="1400"/>
                        <a:buFont typeface="Calibri"/>
                        <a:buNone/>
                      </a:pPr>
                      <a:r>
                        <a:rPr lang="en" sz="1400" b="1" u="none" strike="noStrike" cap="none">
                          <a:solidFill>
                            <a:schemeClr val="dk1"/>
                          </a:solidFill>
                        </a:rPr>
                        <a:t>Parameter</a:t>
                      </a:r>
                      <a:endParaRPr sz="1400" b="1"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Clr>
                          <a:schemeClr val="dk1"/>
                        </a:buClr>
                        <a:buSzPts val="1400"/>
                        <a:buFont typeface="Calibri"/>
                        <a:buNone/>
                      </a:pPr>
                      <a:r>
                        <a:rPr lang="en" sz="1400" b="1" u="none" strike="noStrike" cap="none">
                          <a:solidFill>
                            <a:schemeClr val="dk1"/>
                          </a:solidFill>
                        </a:rPr>
                        <a:t>Value</a:t>
                      </a:r>
                      <a:endParaRPr sz="1400" b="1"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marR="0" lvl="0" indent="0" algn="l" rtl="0">
                        <a:spcBef>
                          <a:spcPts val="0"/>
                        </a:spcBef>
                        <a:spcAft>
                          <a:spcPts val="0"/>
                        </a:spcAft>
                        <a:buClr>
                          <a:schemeClr val="dk1"/>
                        </a:buClr>
                        <a:buSzPts val="1200"/>
                        <a:buFont typeface="Calibri"/>
                        <a:buNone/>
                      </a:pPr>
                      <a:r>
                        <a:rPr lang="en" sz="1200" u="none" strike="noStrike" cap="none">
                          <a:solidFill>
                            <a:schemeClr val="dk1"/>
                          </a:solidFill>
                        </a:rPr>
                        <a:t>Functional</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r>
                        <a:rPr lang="en" sz="1200" u="none" strike="noStrike" cap="none">
                          <a:solidFill>
                            <a:schemeClr val="dk1"/>
                          </a:solidFill>
                        </a:rPr>
                        <a:t>B3LYP</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l" rtl="0">
                        <a:spcBef>
                          <a:spcPts val="0"/>
                        </a:spcBef>
                        <a:spcAft>
                          <a:spcPts val="0"/>
                        </a:spcAft>
                        <a:buClr>
                          <a:schemeClr val="dk1"/>
                        </a:buClr>
                        <a:buSzPts val="1200"/>
                        <a:buFont typeface="Calibri"/>
                        <a:buNone/>
                      </a:pPr>
                      <a:r>
                        <a:rPr lang="en" sz="1200" u="none" strike="noStrike" cap="none">
                          <a:solidFill>
                            <a:schemeClr val="dk1"/>
                          </a:solidFill>
                        </a:rPr>
                        <a:t>Basis set</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r>
                        <a:rPr lang="en" sz="1200" u="none" strike="noStrike" cap="none">
                          <a:solidFill>
                            <a:schemeClr val="dk1"/>
                          </a:solidFill>
                        </a:rPr>
                        <a:t>6-31G(d)</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marR="0" lvl="0" indent="0" algn="l" rtl="0">
                        <a:spcBef>
                          <a:spcPts val="0"/>
                        </a:spcBef>
                        <a:spcAft>
                          <a:spcPts val="0"/>
                        </a:spcAft>
                        <a:buClr>
                          <a:schemeClr val="dk1"/>
                        </a:buClr>
                        <a:buSzPts val="1200"/>
                        <a:buFont typeface="Calibri"/>
                        <a:buNone/>
                      </a:pPr>
                      <a:r>
                        <a:rPr lang="en" sz="1200" u="none" strike="noStrike" cap="none">
                          <a:solidFill>
                            <a:schemeClr val="dk1"/>
                          </a:solidFill>
                        </a:rPr>
                        <a:t>Solvent model</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200"/>
                        <a:buFont typeface="Calibri"/>
                        <a:buNone/>
                      </a:pPr>
                      <a:r>
                        <a:rPr lang="en" sz="1200" u="none" strike="noStrike" cap="none">
                          <a:solidFill>
                            <a:schemeClr val="dk1"/>
                          </a:solidFill>
                        </a:rPr>
                        <a:t>SMD (water)</a:t>
                      </a:r>
                      <a:endParaRPr sz="1200" u="none" strike="noStrike" cap="none">
                        <a:solidFill>
                          <a:schemeClr val="dk1"/>
                        </a:solidFill>
                      </a:endParaRPr>
                    </a:p>
                  </a:txBody>
                  <a:tcPr marL="68575" marR="68575" marT="68575" marB="685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79" name="Google Shape;379;p55"/>
          <p:cNvSpPr txBox="1"/>
          <p:nvPr/>
        </p:nvSpPr>
        <p:spPr>
          <a:xfrm>
            <a:off x="278024" y="2305988"/>
            <a:ext cx="5604300" cy="28578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900"/>
              </a:spcBef>
              <a:spcAft>
                <a:spcPts val="0"/>
              </a:spcAft>
              <a:buClr>
                <a:schemeClr val="dk1"/>
              </a:buClr>
              <a:buSzPts val="1200"/>
              <a:buFont typeface="Calibri"/>
              <a:buNone/>
            </a:pPr>
            <a:r>
              <a:rPr lang="en" sz="1200" b="0" i="0" u="none" strike="noStrike" cap="none">
                <a:solidFill>
                  <a:schemeClr val="dk1"/>
                </a:solidFill>
                <a:latin typeface="Calibri"/>
                <a:ea typeface="Calibri"/>
                <a:cs typeface="Calibri"/>
                <a:sym typeface="Calibri"/>
              </a:rPr>
              <a:t>Gaussian keywords used:</a:t>
            </a:r>
            <a:endParaRPr sz="1200" b="0" i="0" u="none" strike="noStrike" cap="none">
              <a:solidFill>
                <a:schemeClr val="dk1"/>
              </a:solidFill>
              <a:latin typeface="Calibri"/>
              <a:ea typeface="Calibri"/>
              <a:cs typeface="Calibri"/>
              <a:sym typeface="Calibri"/>
            </a:endParaRPr>
          </a:p>
          <a:p>
            <a:pPr marL="0" marR="0" lvl="0" indent="0" algn="l" rtl="0">
              <a:lnSpc>
                <a:spcPct val="115000"/>
              </a:lnSpc>
              <a:spcBef>
                <a:spcPts val="900"/>
              </a:spcBef>
              <a:spcAft>
                <a:spcPts val="0"/>
              </a:spcAft>
              <a:buClr>
                <a:schemeClr val="dk1"/>
              </a:buClr>
              <a:buSzPts val="1200"/>
              <a:buFont typeface="Calibri"/>
              <a:buNone/>
            </a:pPr>
            <a:r>
              <a:rPr lang="en" sz="1200" b="0" i="0" u="none" strike="noStrike" cap="none">
                <a:solidFill>
                  <a:schemeClr val="dk1"/>
                </a:solidFill>
                <a:highlight>
                  <a:srgbClr val="00FFFF"/>
                </a:highlight>
                <a:latin typeface="Calibri"/>
                <a:ea typeface="Calibri"/>
                <a:cs typeface="Calibri"/>
                <a:sym typeface="Calibri"/>
              </a:rPr>
              <a:t># B3LYP/6-31G(d) Opt Freq Raman SCF=Tight Int=UltraFine SCRF=(SMD,Solvent=Water)</a:t>
            </a:r>
            <a:endParaRPr sz="1200" b="0" i="0" u="none" strike="noStrike" cap="none">
              <a:solidFill>
                <a:schemeClr val="dk1"/>
              </a:solidFill>
              <a:highlight>
                <a:srgbClr val="00FFFF"/>
              </a:highlight>
              <a:latin typeface="Calibri"/>
              <a:ea typeface="Calibri"/>
              <a:cs typeface="Calibri"/>
              <a:sym typeface="Calibri"/>
            </a:endParaRPr>
          </a:p>
          <a:p>
            <a:pPr marL="0" marR="0" lvl="0" indent="0" algn="l" rtl="0">
              <a:lnSpc>
                <a:spcPct val="115000"/>
              </a:lnSpc>
              <a:spcBef>
                <a:spcPts val="900"/>
              </a:spcBef>
              <a:spcAft>
                <a:spcPts val="0"/>
              </a:spcAft>
              <a:buClr>
                <a:schemeClr val="dk1"/>
              </a:buClr>
              <a:buSzPts val="1200"/>
              <a:buFont typeface="Calibri"/>
              <a:buNone/>
            </a:pPr>
            <a:r>
              <a:rPr lang="en" sz="1200" b="0" i="0" u="none" strike="noStrike" cap="none">
                <a:solidFill>
                  <a:schemeClr val="dk1"/>
                </a:solidFill>
                <a:latin typeface="Calibri"/>
                <a:ea typeface="Calibri"/>
                <a:cs typeface="Calibri"/>
                <a:sym typeface="Calibri"/>
              </a:rPr>
              <a:t>Explanation:</a:t>
            </a:r>
            <a:endParaRPr sz="1200" b="0" i="0" u="none" strike="noStrike" cap="none">
              <a:solidFill>
                <a:schemeClr val="dk1"/>
              </a:solidFill>
              <a:latin typeface="Calibri"/>
              <a:ea typeface="Calibri"/>
              <a:cs typeface="Calibri"/>
              <a:sym typeface="Calibri"/>
            </a:endParaRPr>
          </a:p>
          <a:p>
            <a:pPr marL="342900" marR="0" lvl="0" indent="-234950" algn="l" rtl="0">
              <a:lnSpc>
                <a:spcPct val="115000"/>
              </a:lnSpc>
              <a:spcBef>
                <a:spcPts val="900"/>
              </a:spcBef>
              <a:spcAft>
                <a:spcPts val="0"/>
              </a:spcAft>
              <a:buClr>
                <a:schemeClr val="lt1"/>
              </a:buClr>
              <a:buSzPts val="1100"/>
              <a:buFont typeface="Calibri"/>
              <a:buChar char="●"/>
            </a:pPr>
            <a:r>
              <a:rPr lang="en" sz="1200" b="1" i="0" u="none" strike="noStrike" cap="none">
                <a:solidFill>
                  <a:schemeClr val="dk1"/>
                </a:solidFill>
                <a:latin typeface="Calibri"/>
                <a:ea typeface="Calibri"/>
                <a:cs typeface="Calibri"/>
                <a:sym typeface="Calibri"/>
              </a:rPr>
              <a:t>SCF=Tight</a:t>
            </a:r>
            <a:r>
              <a:rPr lang="en" sz="1200" b="0" i="0" u="none" strike="noStrike" cap="none">
                <a:solidFill>
                  <a:schemeClr val="dk1"/>
                </a:solidFill>
                <a:latin typeface="Calibri"/>
                <a:ea typeface="Calibri"/>
                <a:cs typeface="Calibri"/>
                <a:sym typeface="Calibri"/>
              </a:rPr>
              <a:t> ensures strict electronic convergence</a:t>
            </a:r>
            <a:endParaRPr sz="1200" b="0" i="0" u="none" strike="noStrike" cap="none">
              <a:solidFill>
                <a:schemeClr val="dk1"/>
              </a:solidFill>
              <a:latin typeface="Calibri"/>
              <a:ea typeface="Calibri"/>
              <a:cs typeface="Calibri"/>
              <a:sym typeface="Calibri"/>
            </a:endParaRPr>
          </a:p>
          <a:p>
            <a:pPr marL="342900" marR="0" lvl="0" indent="-234950" algn="l" rtl="0">
              <a:lnSpc>
                <a:spcPct val="115000"/>
              </a:lnSpc>
              <a:spcBef>
                <a:spcPts val="0"/>
              </a:spcBef>
              <a:spcAft>
                <a:spcPts val="0"/>
              </a:spcAft>
              <a:buClr>
                <a:schemeClr val="lt1"/>
              </a:buClr>
              <a:buSzPts val="1100"/>
              <a:buFont typeface="Calibri"/>
              <a:buChar char="●"/>
            </a:pPr>
            <a:r>
              <a:rPr lang="en" sz="1200" b="1" i="0" u="none" strike="noStrike" cap="none">
                <a:solidFill>
                  <a:schemeClr val="dk1"/>
                </a:solidFill>
                <a:latin typeface="Calibri"/>
                <a:ea typeface="Calibri"/>
                <a:cs typeface="Calibri"/>
                <a:sym typeface="Calibri"/>
              </a:rPr>
              <a:t>Int=UltraFine</a:t>
            </a:r>
            <a:r>
              <a:rPr lang="en" sz="1200" b="0" i="0" u="none" strike="noStrike" cap="none">
                <a:solidFill>
                  <a:schemeClr val="dk1"/>
                </a:solidFill>
                <a:latin typeface="Calibri"/>
                <a:ea typeface="Calibri"/>
                <a:cs typeface="Calibri"/>
                <a:sym typeface="Calibri"/>
              </a:rPr>
              <a:t> improves numerical accuracy</a:t>
            </a:r>
            <a:endParaRPr sz="1200" b="0" i="0" u="none" strike="noStrike" cap="none">
              <a:solidFill>
                <a:schemeClr val="dk1"/>
              </a:solidFill>
              <a:latin typeface="Calibri"/>
              <a:ea typeface="Calibri"/>
              <a:cs typeface="Calibri"/>
              <a:sym typeface="Calibri"/>
            </a:endParaRPr>
          </a:p>
          <a:p>
            <a:pPr marL="342900" marR="0" lvl="0" indent="-234950" algn="l" rtl="0">
              <a:lnSpc>
                <a:spcPct val="115000"/>
              </a:lnSpc>
              <a:spcBef>
                <a:spcPts val="0"/>
              </a:spcBef>
              <a:spcAft>
                <a:spcPts val="0"/>
              </a:spcAft>
              <a:buClr>
                <a:schemeClr val="lt1"/>
              </a:buClr>
              <a:buSzPts val="1100"/>
              <a:buFont typeface="Calibri"/>
              <a:buChar char="●"/>
            </a:pPr>
            <a:r>
              <a:rPr lang="en" sz="1200" b="1" i="0" u="none" strike="noStrike" cap="none">
                <a:solidFill>
                  <a:schemeClr val="dk1"/>
                </a:solidFill>
                <a:latin typeface="Calibri"/>
                <a:ea typeface="Calibri"/>
                <a:cs typeface="Calibri"/>
                <a:sym typeface="Calibri"/>
              </a:rPr>
              <a:t>SCRF=SMD</a:t>
            </a:r>
            <a:r>
              <a:rPr lang="en" sz="1200" b="0" i="0" u="none" strike="noStrike" cap="none">
                <a:solidFill>
                  <a:schemeClr val="dk1"/>
                </a:solidFill>
                <a:latin typeface="Calibri"/>
                <a:ea typeface="Calibri"/>
                <a:cs typeface="Calibri"/>
                <a:sym typeface="Calibri"/>
              </a:rPr>
              <a:t> models the aqueous environment in which LTA normally exists</a:t>
            </a:r>
            <a:endParaRPr sz="1200" b="0" i="0" u="none" strike="noStrike" cap="none">
              <a:solidFill>
                <a:schemeClr val="dk1"/>
              </a:solidFill>
              <a:latin typeface="Calibri"/>
              <a:ea typeface="Calibri"/>
              <a:cs typeface="Calibri"/>
              <a:sym typeface="Calibri"/>
            </a:endParaRPr>
          </a:p>
          <a:p>
            <a:pPr marL="0" marR="0" lvl="0" indent="0" algn="l" rtl="0">
              <a:lnSpc>
                <a:spcPct val="115000"/>
              </a:lnSpc>
              <a:spcBef>
                <a:spcPts val="900"/>
              </a:spcBef>
              <a:spcAft>
                <a:spcPts val="0"/>
              </a:spcAft>
              <a:buClr>
                <a:schemeClr val="dk1"/>
              </a:buClr>
              <a:buSzPts val="1200"/>
              <a:buFont typeface="Calibri"/>
              <a:buNone/>
            </a:pPr>
            <a:r>
              <a:rPr lang="en" sz="1200" b="0" i="0" u="none" strike="noStrike" cap="none">
                <a:solidFill>
                  <a:schemeClr val="dk1"/>
                </a:solidFill>
                <a:latin typeface="Calibri"/>
                <a:ea typeface="Calibri"/>
                <a:cs typeface="Calibri"/>
                <a:sym typeface="Calibri"/>
              </a:rPr>
              <a:t>DFT frequencies typically </a:t>
            </a:r>
            <a:r>
              <a:rPr lang="en" sz="1200" b="1" i="0" u="none" strike="noStrike" cap="none">
                <a:solidFill>
                  <a:schemeClr val="dk1"/>
                </a:solidFill>
                <a:latin typeface="Calibri"/>
                <a:ea typeface="Calibri"/>
                <a:cs typeface="Calibri"/>
                <a:sym typeface="Calibri"/>
              </a:rPr>
              <a:t>overestimate vibrational frequencies</a:t>
            </a:r>
            <a:r>
              <a:rPr lang="en" sz="1200" b="0" i="0" u="none" strike="noStrike" cap="none">
                <a:solidFill>
                  <a:schemeClr val="dk1"/>
                </a:solidFill>
                <a:latin typeface="Calibri"/>
                <a:ea typeface="Calibri"/>
                <a:cs typeface="Calibri"/>
                <a:sym typeface="Calibri"/>
              </a:rPr>
              <a:t>, so a scaling factor is applied.</a:t>
            </a:r>
            <a:endParaRPr sz="1200" b="0" i="0" u="none" strike="noStrike" cap="none">
              <a:solidFill>
                <a:schemeClr val="dk1"/>
              </a:solidFill>
              <a:latin typeface="Calibri"/>
              <a:ea typeface="Calibri"/>
              <a:cs typeface="Calibri"/>
              <a:sym typeface="Calibri"/>
            </a:endParaRPr>
          </a:p>
          <a:p>
            <a:pPr marL="0" marR="0" lvl="0" indent="0" algn="l" rtl="0">
              <a:lnSpc>
                <a:spcPct val="115000"/>
              </a:lnSpc>
              <a:spcBef>
                <a:spcPts val="900"/>
              </a:spcBef>
              <a:spcAft>
                <a:spcPts val="900"/>
              </a:spcAft>
              <a:buClr>
                <a:schemeClr val="dk1"/>
              </a:buClr>
              <a:buSzPts val="1200"/>
              <a:buFont typeface="Calibri"/>
              <a:buNone/>
            </a:pPr>
            <a:r>
              <a:rPr lang="en" sz="1200" b="0" i="0" u="none" strike="noStrike" cap="none">
                <a:solidFill>
                  <a:schemeClr val="dk1"/>
                </a:solidFill>
                <a:latin typeface="Calibri"/>
                <a:ea typeface="Calibri"/>
                <a:cs typeface="Calibri"/>
                <a:sym typeface="Calibri"/>
              </a:rPr>
              <a:t>Scaled frequency = frequency × 0.96</a:t>
            </a:r>
            <a:endParaRPr sz="1200" b="0" i="0" u="none" strike="noStrike" cap="none">
              <a:solidFill>
                <a:schemeClr val="dk1"/>
              </a:solidFill>
              <a:latin typeface="Calibri"/>
              <a:ea typeface="Calibri"/>
              <a:cs typeface="Calibri"/>
              <a:sym typeface="Calibri"/>
            </a:endParaRPr>
          </a:p>
        </p:txBody>
      </p:sp>
      <p:pic>
        <p:nvPicPr>
          <p:cNvPr id="380" name="Google Shape;380;p55"/>
          <p:cNvPicPr preferRelativeResize="0"/>
          <p:nvPr/>
        </p:nvPicPr>
        <p:blipFill rotWithShape="1">
          <a:blip r:embed="rId3">
            <a:alphaModFix/>
          </a:blip>
          <a:srcRect/>
          <a:stretch/>
        </p:blipFill>
        <p:spPr>
          <a:xfrm>
            <a:off x="5634984" y="3149160"/>
            <a:ext cx="3360824" cy="165891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56"/>
          <p:cNvSpPr txBox="1"/>
          <p:nvPr/>
        </p:nvSpPr>
        <p:spPr>
          <a:xfrm>
            <a:off x="300642" y="266973"/>
            <a:ext cx="7914600" cy="1958400"/>
          </a:xfrm>
          <a:prstGeom prst="rect">
            <a:avLst/>
          </a:prstGeom>
          <a:noFill/>
          <a:ln>
            <a:noFill/>
          </a:ln>
        </p:spPr>
        <p:txBody>
          <a:bodyPr spcFirstLastPara="1" wrap="square" lIns="68575" tIns="34275" rIns="68575" bIns="34275" anchor="t" anchorCtr="0">
            <a:spAutoFit/>
          </a:bodyPr>
          <a:lstStyle/>
          <a:p>
            <a:pPr marL="342900" marR="0" lvl="0" indent="0" algn="l" rtl="0">
              <a:lnSpc>
                <a:spcPct val="115000"/>
              </a:lnSpc>
              <a:spcBef>
                <a:spcPts val="0"/>
              </a:spcBef>
              <a:spcAft>
                <a:spcPts val="0"/>
              </a:spcAft>
              <a:buClr>
                <a:schemeClr val="dk1"/>
              </a:buClr>
              <a:buSzPts val="1400"/>
              <a:buFont typeface="Calibri"/>
              <a:buNone/>
            </a:pPr>
            <a:r>
              <a:rPr lang="en" sz="1400" b="0" i="0" u="none" strike="noStrike" cap="none">
                <a:solidFill>
                  <a:schemeClr val="dk1"/>
                </a:solidFill>
                <a:latin typeface="Calibri"/>
                <a:ea typeface="Calibri"/>
                <a:cs typeface="Calibri"/>
                <a:sym typeface="Calibri"/>
              </a:rPr>
              <a:t>The backbone is composed of repeating units:</a:t>
            </a:r>
            <a:endParaRPr sz="1100"/>
          </a:p>
          <a:p>
            <a:pPr marL="342900" marR="0" lvl="0" indent="0" algn="l" rtl="0">
              <a:lnSpc>
                <a:spcPct val="115000"/>
              </a:lnSpc>
              <a:spcBef>
                <a:spcPts val="900"/>
              </a:spcBef>
              <a:spcAft>
                <a:spcPts val="0"/>
              </a:spcAft>
              <a:buClr>
                <a:schemeClr val="dk1"/>
              </a:buClr>
              <a:buSzPts val="1400"/>
              <a:buFont typeface="Calibri"/>
              <a:buNone/>
            </a:pPr>
            <a:r>
              <a:rPr lang="en" sz="1400" b="0" i="0" u="none" strike="noStrike" cap="none">
                <a:solidFill>
                  <a:schemeClr val="dk1"/>
                </a:solidFill>
                <a:highlight>
                  <a:srgbClr val="808080"/>
                </a:highlight>
                <a:latin typeface="Calibri"/>
                <a:ea typeface="Calibri"/>
                <a:cs typeface="Calibri"/>
                <a:sym typeface="Calibri"/>
              </a:rPr>
              <a:t>glycerol – phosphate – glycerol – phosphate</a:t>
            </a:r>
            <a:endParaRPr sz="1100"/>
          </a:p>
          <a:p>
            <a:pPr marL="342900" marR="0" lvl="0" indent="-285750" algn="l" rtl="0">
              <a:lnSpc>
                <a:spcPct val="115000"/>
              </a:lnSpc>
              <a:spcBef>
                <a:spcPts val="900"/>
              </a:spcBef>
              <a:spcAft>
                <a:spcPts val="0"/>
              </a:spcAft>
              <a:buClr>
                <a:schemeClr val="lt1"/>
              </a:buClr>
              <a:buSzPts val="1900"/>
              <a:buFont typeface="Calibri"/>
              <a:buChar char="●"/>
            </a:pPr>
            <a:r>
              <a:rPr lang="en" sz="1400" b="0" i="0" u="none" strike="noStrike" cap="none">
                <a:solidFill>
                  <a:schemeClr val="dk1"/>
                </a:solidFill>
                <a:latin typeface="Calibri"/>
                <a:ea typeface="Calibri"/>
                <a:cs typeface="Calibri"/>
                <a:sym typeface="Calibri"/>
              </a:rPr>
              <a:t>Typical LTA molecules contain </a:t>
            </a:r>
            <a:r>
              <a:rPr lang="en" sz="1400" b="1" i="0" u="none" strike="noStrike" cap="none">
                <a:solidFill>
                  <a:schemeClr val="dk1"/>
                </a:solidFill>
                <a:latin typeface="Calibri"/>
                <a:ea typeface="Calibri"/>
                <a:cs typeface="Calibri"/>
                <a:sym typeface="Calibri"/>
              </a:rPr>
              <a:t>10–20 repeating glycerol–phosphate units</a:t>
            </a:r>
            <a:r>
              <a:rPr lang="en" sz="1400" b="0" i="0" u="none" strike="noStrike" cap="none">
                <a:solidFill>
                  <a:schemeClr val="dk1"/>
                </a:solidFill>
                <a:latin typeface="Calibri"/>
                <a:ea typeface="Calibri"/>
                <a:cs typeface="Calibri"/>
                <a:sym typeface="Calibri"/>
              </a:rPr>
              <a:t>, producing large polymers with hundreds of atoms.</a:t>
            </a:r>
            <a:endParaRPr sz="1100"/>
          </a:p>
          <a:p>
            <a:pPr marL="342900" marR="0" lvl="0" indent="-285750" algn="l" rtl="0">
              <a:lnSpc>
                <a:spcPct val="115000"/>
              </a:lnSpc>
              <a:spcBef>
                <a:spcPts val="0"/>
              </a:spcBef>
              <a:spcAft>
                <a:spcPts val="0"/>
              </a:spcAft>
              <a:buClr>
                <a:schemeClr val="lt1"/>
              </a:buClr>
              <a:buSzPts val="1900"/>
              <a:buFont typeface="Calibri"/>
              <a:buChar char="●"/>
            </a:pPr>
            <a:r>
              <a:rPr lang="en" sz="1400" b="0" i="0" u="none" strike="noStrike" cap="none">
                <a:solidFill>
                  <a:schemeClr val="dk1"/>
                </a:solidFill>
                <a:latin typeface="Calibri"/>
                <a:ea typeface="Calibri"/>
                <a:cs typeface="Calibri"/>
                <a:sym typeface="Calibri"/>
              </a:rPr>
              <a:t>Because the full polymer is </a:t>
            </a:r>
            <a:r>
              <a:rPr lang="en" sz="1400" b="1" i="0" u="none" strike="noStrike" cap="none">
                <a:solidFill>
                  <a:schemeClr val="dk1"/>
                </a:solidFill>
                <a:latin typeface="Calibri"/>
                <a:ea typeface="Calibri"/>
                <a:cs typeface="Calibri"/>
                <a:sym typeface="Calibri"/>
              </a:rPr>
              <a:t>computationally expensive for quantum simulations</a:t>
            </a:r>
            <a:r>
              <a:rPr lang="en" sz="1400" b="0" i="0" u="none" strike="noStrike" cap="none">
                <a:solidFill>
                  <a:schemeClr val="dk1"/>
                </a:solidFill>
                <a:latin typeface="Calibri"/>
                <a:ea typeface="Calibri"/>
                <a:cs typeface="Calibri"/>
                <a:sym typeface="Calibri"/>
              </a:rPr>
              <a:t>, smaller molecular fragments are often used to represent the </a:t>
            </a:r>
            <a:r>
              <a:rPr lang="en" sz="1400" b="1" i="0" u="none" strike="noStrike" cap="none">
                <a:solidFill>
                  <a:schemeClr val="dk1"/>
                </a:solidFill>
                <a:latin typeface="Calibri"/>
                <a:ea typeface="Calibri"/>
                <a:cs typeface="Calibri"/>
                <a:sym typeface="Calibri"/>
              </a:rPr>
              <a:t>local chemical environment responsible for Raman-active vibrations</a:t>
            </a:r>
            <a:r>
              <a:rPr lang="en" sz="1400" b="0" i="0" u="none" strike="noStrike" cap="none">
                <a:solidFill>
                  <a:schemeClr val="dk1"/>
                </a:solidFill>
                <a:latin typeface="Calibri"/>
                <a:ea typeface="Calibri"/>
                <a:cs typeface="Calibri"/>
                <a:sym typeface="Calibri"/>
              </a:rPr>
              <a:t>.</a:t>
            </a:r>
            <a:endParaRPr sz="1500" b="1" i="0" u="none" strike="noStrike" cap="none">
              <a:solidFill>
                <a:schemeClr val="dk1"/>
              </a:solidFill>
              <a:latin typeface="Calibri"/>
              <a:ea typeface="Calibri"/>
              <a:cs typeface="Calibri"/>
              <a:sym typeface="Calibri"/>
            </a:endParaRPr>
          </a:p>
        </p:txBody>
      </p:sp>
      <p:sp>
        <p:nvSpPr>
          <p:cNvPr id="386" name="Google Shape;386;p56"/>
          <p:cNvSpPr txBox="1"/>
          <p:nvPr/>
        </p:nvSpPr>
        <p:spPr>
          <a:xfrm>
            <a:off x="674129" y="2381357"/>
            <a:ext cx="7167600" cy="2428200"/>
          </a:xfrm>
          <a:prstGeom prst="rect">
            <a:avLst/>
          </a:prstGeom>
          <a:noFill/>
          <a:ln>
            <a:noFill/>
          </a:ln>
        </p:spPr>
        <p:txBody>
          <a:bodyPr spcFirstLastPara="1" wrap="square" lIns="68575" tIns="34275" rIns="68575" bIns="34275" anchor="t" anchorCtr="0">
            <a:spAutoFit/>
          </a:bodyPr>
          <a:lstStyle/>
          <a:p>
            <a:pPr marL="0" marR="0" lvl="0" indent="0" algn="l" rtl="0">
              <a:lnSpc>
                <a:spcPct val="115000"/>
              </a:lnSpc>
              <a:spcBef>
                <a:spcPts val="0"/>
              </a:spcBef>
              <a:spcAft>
                <a:spcPts val="0"/>
              </a:spcAft>
              <a:buClr>
                <a:schemeClr val="dk1"/>
              </a:buClr>
              <a:buSzPts val="1400"/>
              <a:buFont typeface="Calibri"/>
              <a:buNone/>
            </a:pPr>
            <a:r>
              <a:rPr lang="en" sz="1400" b="0" i="0" u="none" strike="noStrike" cap="none">
                <a:solidFill>
                  <a:schemeClr val="dk1"/>
                </a:solidFill>
                <a:latin typeface="Calibri"/>
                <a:ea typeface="Calibri"/>
                <a:cs typeface="Calibri"/>
                <a:sym typeface="Calibri"/>
              </a:rPr>
              <a:t>General structure:</a:t>
            </a:r>
            <a:endParaRPr sz="1100"/>
          </a:p>
          <a:p>
            <a:pPr marL="0" marR="0" lvl="0" indent="0" algn="l" rtl="0">
              <a:lnSpc>
                <a:spcPct val="115000"/>
              </a:lnSpc>
              <a:spcBef>
                <a:spcPts val="900"/>
              </a:spcBef>
              <a:spcAft>
                <a:spcPts val="0"/>
              </a:spcAft>
              <a:buClr>
                <a:schemeClr val="dk1"/>
              </a:buClr>
              <a:buSzPts val="1400"/>
              <a:buFont typeface="Calibri"/>
              <a:buNone/>
            </a:pPr>
            <a:r>
              <a:rPr lang="en" sz="1400" b="1" i="0" u="none" strike="noStrike" cap="none">
                <a:solidFill>
                  <a:schemeClr val="dk1"/>
                </a:solidFill>
                <a:latin typeface="Calibri"/>
                <a:ea typeface="Calibri"/>
                <a:cs typeface="Calibri"/>
                <a:sym typeface="Calibri"/>
              </a:rPr>
              <a:t>Lipid anchor – (Gro–P)ₙ</a:t>
            </a:r>
            <a:endParaRPr sz="1100"/>
          </a:p>
          <a:p>
            <a:pPr marL="0" marR="0" lvl="0" indent="0" algn="l" rtl="0">
              <a:lnSpc>
                <a:spcPct val="115000"/>
              </a:lnSpc>
              <a:spcBef>
                <a:spcPts val="900"/>
              </a:spcBef>
              <a:spcAft>
                <a:spcPts val="0"/>
              </a:spcAft>
              <a:buClr>
                <a:schemeClr val="dk1"/>
              </a:buClr>
              <a:buSzPts val="1400"/>
              <a:buFont typeface="Calibri"/>
              <a:buNone/>
            </a:pPr>
            <a:r>
              <a:rPr lang="en" sz="1400" b="0" i="0" u="none" strike="noStrike" cap="none">
                <a:solidFill>
                  <a:schemeClr val="dk1"/>
                </a:solidFill>
                <a:latin typeface="Calibri"/>
                <a:ea typeface="Calibri"/>
                <a:cs typeface="Calibri"/>
                <a:sym typeface="Calibri"/>
              </a:rPr>
              <a:t>where: Gro = glycerol</a:t>
            </a:r>
            <a:br>
              <a:rPr lang="en" sz="1400" b="0" i="0" u="none" strike="noStrike" cap="none">
                <a:solidFill>
                  <a:schemeClr val="dk1"/>
                </a:solidFill>
                <a:latin typeface="Calibri"/>
                <a:ea typeface="Calibri"/>
                <a:cs typeface="Calibri"/>
                <a:sym typeface="Calibri"/>
              </a:rPr>
            </a:br>
            <a:r>
              <a:rPr lang="en" sz="1400" b="0" i="0" u="none" strike="noStrike" cap="none">
                <a:solidFill>
                  <a:schemeClr val="dk1"/>
                </a:solidFill>
                <a:latin typeface="Calibri"/>
                <a:ea typeface="Calibri"/>
                <a:cs typeface="Calibri"/>
                <a:sym typeface="Calibri"/>
              </a:rPr>
              <a:t>              P = phosphate</a:t>
            </a:r>
            <a:endParaRPr sz="1100"/>
          </a:p>
          <a:p>
            <a:pPr marL="0" marR="0" lvl="0" indent="0" algn="l" rtl="0">
              <a:lnSpc>
                <a:spcPct val="115000"/>
              </a:lnSpc>
              <a:spcBef>
                <a:spcPts val="900"/>
              </a:spcBef>
              <a:spcAft>
                <a:spcPts val="0"/>
              </a:spcAft>
              <a:buClr>
                <a:schemeClr val="dk1"/>
              </a:buClr>
              <a:buSzPts val="1400"/>
              <a:buFont typeface="Calibri"/>
              <a:buNone/>
            </a:pPr>
            <a:r>
              <a:rPr lang="en" sz="1400" b="0" i="0" u="none" strike="noStrike" cap="none">
                <a:solidFill>
                  <a:schemeClr val="dk1"/>
                </a:solidFill>
                <a:latin typeface="Calibri"/>
                <a:ea typeface="Calibri"/>
                <a:cs typeface="Calibri"/>
                <a:sym typeface="Calibri"/>
              </a:rPr>
              <a:t>LTA contributes to:</a:t>
            </a:r>
            <a:endParaRPr sz="1100"/>
          </a:p>
          <a:p>
            <a:pPr marL="304800" marR="0" lvl="0" indent="-215900" algn="l" rtl="0">
              <a:lnSpc>
                <a:spcPct val="115000"/>
              </a:lnSpc>
              <a:spcBef>
                <a:spcPts val="900"/>
              </a:spcBef>
              <a:spcAft>
                <a:spcPts val="0"/>
              </a:spcAft>
              <a:buClr>
                <a:schemeClr val="lt1"/>
              </a:buClr>
              <a:buSzPts val="1400"/>
              <a:buFont typeface="Arial"/>
              <a:buChar char="•"/>
            </a:pPr>
            <a:r>
              <a:rPr lang="en" sz="1400" b="0" i="0" u="none" strike="noStrike" cap="none">
                <a:solidFill>
                  <a:schemeClr val="dk1"/>
                </a:solidFill>
                <a:latin typeface="Calibri"/>
                <a:ea typeface="Calibri"/>
                <a:cs typeface="Calibri"/>
                <a:sym typeface="Calibri"/>
              </a:rPr>
              <a:t>bacterial adhesion</a:t>
            </a:r>
            <a:endParaRPr sz="1100"/>
          </a:p>
          <a:p>
            <a:pPr marL="304800" marR="0" lvl="0" indent="-215900" algn="l" rtl="0">
              <a:lnSpc>
                <a:spcPct val="115000"/>
              </a:lnSpc>
              <a:spcBef>
                <a:spcPts val="0"/>
              </a:spcBef>
              <a:spcAft>
                <a:spcPts val="0"/>
              </a:spcAft>
              <a:buClr>
                <a:schemeClr val="lt1"/>
              </a:buClr>
              <a:buSzPts val="1400"/>
              <a:buFont typeface="Arial"/>
              <a:buChar char="•"/>
            </a:pPr>
            <a:r>
              <a:rPr lang="en" sz="1400" b="0" i="0" u="none" strike="noStrike" cap="none">
                <a:solidFill>
                  <a:schemeClr val="dk1"/>
                </a:solidFill>
                <a:latin typeface="Calibri"/>
                <a:ea typeface="Calibri"/>
                <a:cs typeface="Calibri"/>
                <a:sym typeface="Calibri"/>
              </a:rPr>
              <a:t>cell wall maintenance</a:t>
            </a:r>
            <a:endParaRPr sz="1100"/>
          </a:p>
          <a:p>
            <a:pPr marL="304800" marR="0" lvl="0" indent="-215900" algn="l" rtl="0">
              <a:lnSpc>
                <a:spcPct val="115000"/>
              </a:lnSpc>
              <a:spcBef>
                <a:spcPts val="0"/>
              </a:spcBef>
              <a:spcAft>
                <a:spcPts val="0"/>
              </a:spcAft>
              <a:buClr>
                <a:schemeClr val="lt1"/>
              </a:buClr>
              <a:buSzPts val="1400"/>
              <a:buFont typeface="Arial"/>
              <a:buChar char="•"/>
            </a:pPr>
            <a:r>
              <a:rPr lang="en" sz="1400" b="0" i="0" u="none" strike="noStrike" cap="none">
                <a:solidFill>
                  <a:schemeClr val="dk1"/>
                </a:solidFill>
                <a:latin typeface="Calibri"/>
                <a:ea typeface="Calibri"/>
                <a:cs typeface="Calibri"/>
                <a:sym typeface="Calibri"/>
              </a:rPr>
              <a:t>activation of host immune responses through receptors such as </a:t>
            </a:r>
            <a:r>
              <a:rPr lang="en" sz="1400" b="1" i="0" u="none" strike="noStrike" cap="none">
                <a:solidFill>
                  <a:schemeClr val="dk1"/>
                </a:solidFill>
                <a:latin typeface="Calibri"/>
                <a:ea typeface="Calibri"/>
                <a:cs typeface="Calibri"/>
                <a:sym typeface="Calibri"/>
              </a:rPr>
              <a:t>Toll-like receptor 2</a:t>
            </a:r>
            <a:endParaRPr sz="1100"/>
          </a:p>
        </p:txBody>
      </p:sp>
      <p:pic>
        <p:nvPicPr>
          <p:cNvPr id="387" name="Google Shape;387;p56"/>
          <p:cNvPicPr preferRelativeResize="0"/>
          <p:nvPr/>
        </p:nvPicPr>
        <p:blipFill rotWithShape="1">
          <a:blip r:embed="rId3">
            <a:alphaModFix/>
          </a:blip>
          <a:srcRect/>
          <a:stretch/>
        </p:blipFill>
        <p:spPr>
          <a:xfrm>
            <a:off x="3875980" y="2113564"/>
            <a:ext cx="4593890" cy="2003719"/>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7"/>
          <p:cNvSpPr txBox="1"/>
          <p:nvPr/>
        </p:nvSpPr>
        <p:spPr>
          <a:xfrm>
            <a:off x="243428" y="43336"/>
            <a:ext cx="8324700" cy="4569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1800" b="1" i="0" u="none" strike="noStrike" cap="none">
                <a:solidFill>
                  <a:srgbClr val="00B0F0"/>
                </a:solidFill>
                <a:latin typeface="Calibri"/>
                <a:ea typeface="Calibri"/>
                <a:cs typeface="Calibri"/>
                <a:sym typeface="Calibri"/>
              </a:rPr>
              <a:t>Modeling the LTA Substituent: D-Alanine</a:t>
            </a:r>
            <a:endParaRPr sz="1800" b="1" i="0" u="none" strike="noStrike" cap="none">
              <a:solidFill>
                <a:srgbClr val="00B0F0"/>
              </a:solidFill>
              <a:latin typeface="Calibri"/>
              <a:ea typeface="Calibri"/>
              <a:cs typeface="Calibri"/>
              <a:sym typeface="Calibri"/>
            </a:endParaRPr>
          </a:p>
        </p:txBody>
      </p:sp>
      <p:sp>
        <p:nvSpPr>
          <p:cNvPr id="393" name="Google Shape;393;p57"/>
          <p:cNvSpPr txBox="1"/>
          <p:nvPr/>
        </p:nvSpPr>
        <p:spPr>
          <a:xfrm>
            <a:off x="243427" y="798299"/>
            <a:ext cx="1426200" cy="300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b="1" i="0" u="none" strike="noStrike" cap="none">
                <a:solidFill>
                  <a:schemeClr val="dk1"/>
                </a:solidFill>
                <a:latin typeface="Calibri"/>
                <a:ea typeface="Calibri"/>
                <a:cs typeface="Calibri"/>
                <a:sym typeface="Calibri"/>
              </a:rPr>
              <a:t>Why D-Alanine?</a:t>
            </a:r>
            <a:endParaRPr sz="1100"/>
          </a:p>
        </p:txBody>
      </p:sp>
      <p:sp>
        <p:nvSpPr>
          <p:cNvPr id="394" name="Google Shape;394;p57"/>
          <p:cNvSpPr txBox="1"/>
          <p:nvPr/>
        </p:nvSpPr>
        <p:spPr>
          <a:xfrm>
            <a:off x="968628" y="1095750"/>
            <a:ext cx="5115900" cy="715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 Represents </a:t>
            </a:r>
            <a:r>
              <a:rPr lang="en" sz="1400" b="1">
                <a:solidFill>
                  <a:schemeClr val="dk1"/>
                </a:solidFill>
                <a:latin typeface="Calibri"/>
                <a:ea typeface="Calibri"/>
                <a:cs typeface="Calibri"/>
                <a:sym typeface="Calibri"/>
              </a:rPr>
              <a:t>amino substituent in LTA</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Responsible for </a:t>
            </a:r>
            <a:r>
              <a:rPr lang="en" sz="1400" b="1">
                <a:solidFill>
                  <a:schemeClr val="dk1"/>
                </a:solidFill>
                <a:latin typeface="Calibri"/>
                <a:ea typeface="Calibri"/>
                <a:cs typeface="Calibri"/>
                <a:sym typeface="Calibri"/>
              </a:rPr>
              <a:t>surface charge regulation</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Important for </a:t>
            </a:r>
            <a:r>
              <a:rPr lang="en" sz="1400" b="1">
                <a:solidFill>
                  <a:schemeClr val="dk1"/>
                </a:solidFill>
                <a:latin typeface="Calibri"/>
                <a:ea typeface="Calibri"/>
                <a:cs typeface="Calibri"/>
                <a:sym typeface="Calibri"/>
              </a:rPr>
              <a:t>Gram-positive bacterial identification</a:t>
            </a:r>
            <a:endParaRPr sz="1400">
              <a:solidFill>
                <a:schemeClr val="dk1"/>
              </a:solidFill>
              <a:latin typeface="Calibri"/>
              <a:ea typeface="Calibri"/>
              <a:cs typeface="Calibri"/>
              <a:sym typeface="Calibri"/>
            </a:endParaRPr>
          </a:p>
        </p:txBody>
      </p:sp>
      <p:sp>
        <p:nvSpPr>
          <p:cNvPr id="395" name="Google Shape;395;p57"/>
          <p:cNvSpPr txBox="1"/>
          <p:nvPr/>
        </p:nvSpPr>
        <p:spPr>
          <a:xfrm>
            <a:off x="243427" y="2027943"/>
            <a:ext cx="2154300" cy="300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b="1">
                <a:solidFill>
                  <a:schemeClr val="dk1"/>
                </a:solidFill>
                <a:latin typeface="Calibri"/>
                <a:ea typeface="Calibri"/>
                <a:cs typeface="Calibri"/>
                <a:sym typeface="Calibri"/>
              </a:rPr>
              <a:t>Molecular Characteristics</a:t>
            </a:r>
            <a:endParaRPr sz="1100"/>
          </a:p>
        </p:txBody>
      </p:sp>
      <p:sp>
        <p:nvSpPr>
          <p:cNvPr id="396" name="Google Shape;396;p57"/>
          <p:cNvSpPr txBox="1"/>
          <p:nvPr/>
        </p:nvSpPr>
        <p:spPr>
          <a:xfrm>
            <a:off x="968617" y="2383647"/>
            <a:ext cx="3902700" cy="11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 Exists in </a:t>
            </a:r>
            <a:r>
              <a:rPr lang="en" sz="1400" b="1">
                <a:solidFill>
                  <a:schemeClr val="dk1"/>
                </a:solidFill>
                <a:latin typeface="Calibri"/>
                <a:ea typeface="Calibri"/>
                <a:cs typeface="Calibri"/>
                <a:sym typeface="Calibri"/>
              </a:rPr>
              <a:t>zwitterionic form</a:t>
            </a:r>
            <a:r>
              <a:rPr lang="en" sz="1400">
                <a:solidFill>
                  <a:schemeClr val="dk1"/>
                </a:solidFill>
                <a:latin typeface="Calibri"/>
                <a:ea typeface="Calibri"/>
                <a:cs typeface="Calibri"/>
                <a:sym typeface="Calibri"/>
              </a:rPr>
              <a:t>: NH₃⁺ – COO⁻</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Contains:</a:t>
            </a:r>
            <a:endParaRPr sz="1100"/>
          </a:p>
          <a:p>
            <a:pPr marL="1371600" marR="0" lvl="4"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Amino group </a:t>
            </a:r>
            <a:endParaRPr sz="1100"/>
          </a:p>
          <a:p>
            <a:pPr marL="1371600" marR="0" lvl="4"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Carboxylate group </a:t>
            </a:r>
            <a:endParaRPr sz="1100"/>
          </a:p>
          <a:p>
            <a:pPr marL="1371600" marR="0" lvl="4" indent="0" algn="l" rtl="0">
              <a:spcBef>
                <a:spcPts val="0"/>
              </a:spcBef>
              <a:spcAft>
                <a:spcPts val="0"/>
              </a:spcAft>
              <a:buNone/>
            </a:pPr>
            <a:r>
              <a:rPr lang="en" sz="1400" b="0" i="0" u="none" strike="noStrike" cap="none">
                <a:solidFill>
                  <a:schemeClr val="dk1"/>
                </a:solidFill>
                <a:latin typeface="Calibri"/>
                <a:ea typeface="Calibri"/>
                <a:cs typeface="Calibri"/>
                <a:sym typeface="Calibri"/>
              </a:rPr>
              <a:t>	Methyl group</a:t>
            </a:r>
            <a:endParaRPr sz="1100"/>
          </a:p>
        </p:txBody>
      </p:sp>
      <p:sp>
        <p:nvSpPr>
          <p:cNvPr id="397" name="Google Shape;397;p57"/>
          <p:cNvSpPr txBox="1"/>
          <p:nvPr/>
        </p:nvSpPr>
        <p:spPr>
          <a:xfrm>
            <a:off x="243427" y="3585721"/>
            <a:ext cx="2027700" cy="300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b="1">
                <a:solidFill>
                  <a:schemeClr val="dk1"/>
                </a:solidFill>
                <a:latin typeface="Calibri"/>
                <a:ea typeface="Calibri"/>
                <a:cs typeface="Calibri"/>
                <a:sym typeface="Calibri"/>
              </a:rPr>
              <a:t>DFT Simulation Method</a:t>
            </a:r>
            <a:endParaRPr sz="1100"/>
          </a:p>
        </p:txBody>
      </p:sp>
      <p:sp>
        <p:nvSpPr>
          <p:cNvPr id="398" name="Google Shape;398;p57"/>
          <p:cNvSpPr txBox="1"/>
          <p:nvPr/>
        </p:nvSpPr>
        <p:spPr>
          <a:xfrm>
            <a:off x="973426" y="3942100"/>
            <a:ext cx="3908400" cy="931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 Geometry optimization + Raman calculation</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Functional: B3LYP</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Basis set: 6-31G(d)</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Solvent: SMD (water)</a:t>
            </a:r>
            <a:endParaRPr sz="1400">
              <a:solidFill>
                <a:schemeClr val="dk1"/>
              </a:solidFill>
              <a:latin typeface="Calibri"/>
              <a:ea typeface="Calibri"/>
              <a:cs typeface="Calibri"/>
              <a:sym typeface="Calibri"/>
            </a:endParaRPr>
          </a:p>
        </p:txBody>
      </p:sp>
      <p:pic>
        <p:nvPicPr>
          <p:cNvPr id="399" name="Google Shape;399;p57"/>
          <p:cNvPicPr preferRelativeResize="0"/>
          <p:nvPr/>
        </p:nvPicPr>
        <p:blipFill rotWithShape="1">
          <a:blip r:embed="rId3">
            <a:alphaModFix/>
          </a:blip>
          <a:srcRect/>
          <a:stretch/>
        </p:blipFill>
        <p:spPr>
          <a:xfrm>
            <a:off x="4881938" y="2235950"/>
            <a:ext cx="4720774" cy="2442659"/>
          </a:xfrm>
          <a:prstGeom prst="rect">
            <a:avLst/>
          </a:prstGeom>
          <a:noFill/>
          <a:ln>
            <a:noFill/>
          </a:ln>
        </p:spPr>
      </p:pic>
      <p:pic>
        <p:nvPicPr>
          <p:cNvPr id="400" name="Google Shape;400;p57"/>
          <p:cNvPicPr preferRelativeResize="0"/>
          <p:nvPr/>
        </p:nvPicPr>
        <p:blipFill rotWithShape="1">
          <a:blip r:embed="rId4">
            <a:alphaModFix/>
          </a:blip>
          <a:srcRect/>
          <a:stretch/>
        </p:blipFill>
        <p:spPr>
          <a:xfrm>
            <a:off x="6435493" y="284017"/>
            <a:ext cx="1613664" cy="1613664"/>
          </a:xfrm>
          <a:prstGeom prst="rect">
            <a:avLst/>
          </a:prstGeom>
          <a:noFill/>
          <a:ln>
            <a:noFill/>
          </a:ln>
        </p:spPr>
      </p:pic>
      <p:sp>
        <p:nvSpPr>
          <p:cNvPr id="401" name="Google Shape;401;p57"/>
          <p:cNvSpPr txBox="1"/>
          <p:nvPr/>
        </p:nvSpPr>
        <p:spPr>
          <a:xfrm>
            <a:off x="6859010" y="2005118"/>
            <a:ext cx="1028400" cy="276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2D Structure</a:t>
            </a:r>
            <a:endParaRPr sz="1100"/>
          </a:p>
        </p:txBody>
      </p:sp>
      <p:sp>
        <p:nvSpPr>
          <p:cNvPr id="402" name="Google Shape;402;p57"/>
          <p:cNvSpPr txBox="1"/>
          <p:nvPr/>
        </p:nvSpPr>
        <p:spPr>
          <a:xfrm>
            <a:off x="6859010" y="4471901"/>
            <a:ext cx="1105200" cy="276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3D Structure</a:t>
            </a: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8"/>
          <p:cNvSpPr txBox="1"/>
          <p:nvPr/>
        </p:nvSpPr>
        <p:spPr>
          <a:xfrm>
            <a:off x="243428" y="43336"/>
            <a:ext cx="8324700" cy="456900"/>
          </a:xfrm>
          <a:prstGeom prst="rect">
            <a:avLst/>
          </a:prstGeom>
          <a:noFill/>
          <a:ln>
            <a:noFill/>
          </a:ln>
        </p:spPr>
        <p:txBody>
          <a:bodyPr spcFirstLastPara="1" wrap="square" lIns="68575" tIns="68575" rIns="68575" bIns="68575" anchor="t" anchorCtr="0">
            <a:spAutoFit/>
          </a:bodyPr>
          <a:lstStyle/>
          <a:p>
            <a:pPr marL="0" marR="0" lvl="0" indent="0" algn="l" rtl="0">
              <a:lnSpc>
                <a:spcPct val="115000"/>
              </a:lnSpc>
              <a:spcBef>
                <a:spcPts val="0"/>
              </a:spcBef>
              <a:spcAft>
                <a:spcPts val="0"/>
              </a:spcAft>
              <a:buNone/>
            </a:pPr>
            <a:r>
              <a:rPr lang="en" sz="1800" b="1">
                <a:solidFill>
                  <a:srgbClr val="00B0F0"/>
                </a:solidFill>
                <a:latin typeface="Calibri"/>
                <a:ea typeface="Calibri"/>
                <a:cs typeface="Calibri"/>
                <a:sym typeface="Calibri"/>
              </a:rPr>
              <a:t>Modeling the LTA Substituent: GlcNAc</a:t>
            </a:r>
            <a:endParaRPr sz="1800" b="1">
              <a:solidFill>
                <a:srgbClr val="00B0F0"/>
              </a:solidFill>
              <a:latin typeface="Calibri"/>
              <a:ea typeface="Calibri"/>
              <a:cs typeface="Calibri"/>
              <a:sym typeface="Calibri"/>
            </a:endParaRPr>
          </a:p>
        </p:txBody>
      </p:sp>
      <p:sp>
        <p:nvSpPr>
          <p:cNvPr id="408" name="Google Shape;408;p58"/>
          <p:cNvSpPr txBox="1"/>
          <p:nvPr/>
        </p:nvSpPr>
        <p:spPr>
          <a:xfrm>
            <a:off x="243427" y="798299"/>
            <a:ext cx="1209900" cy="300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b="1">
                <a:solidFill>
                  <a:schemeClr val="dk1"/>
                </a:solidFill>
                <a:latin typeface="Calibri"/>
                <a:ea typeface="Calibri"/>
                <a:cs typeface="Calibri"/>
                <a:sym typeface="Calibri"/>
              </a:rPr>
              <a:t>Why GlcNAc?</a:t>
            </a:r>
            <a:endParaRPr sz="1100"/>
          </a:p>
        </p:txBody>
      </p:sp>
      <p:sp>
        <p:nvSpPr>
          <p:cNvPr id="409" name="Google Shape;409;p58"/>
          <p:cNvSpPr txBox="1"/>
          <p:nvPr/>
        </p:nvSpPr>
        <p:spPr>
          <a:xfrm>
            <a:off x="968617" y="1095755"/>
            <a:ext cx="3316500" cy="6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 Represents </a:t>
            </a:r>
            <a:r>
              <a:rPr lang="en" sz="1400" b="1">
                <a:solidFill>
                  <a:schemeClr val="dk1"/>
                </a:solidFill>
                <a:latin typeface="Calibri"/>
                <a:ea typeface="Calibri"/>
                <a:cs typeface="Calibri"/>
                <a:sym typeface="Calibri"/>
              </a:rPr>
              <a:t>carbohydrate component</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Present in </a:t>
            </a:r>
            <a:r>
              <a:rPr lang="en" sz="1400" b="1">
                <a:solidFill>
                  <a:schemeClr val="dk1"/>
                </a:solidFill>
                <a:latin typeface="Calibri"/>
                <a:ea typeface="Calibri"/>
                <a:cs typeface="Calibri"/>
                <a:sym typeface="Calibri"/>
              </a:rPr>
              <a:t>bacterial cell wall structures</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Provides strong </a:t>
            </a:r>
            <a:r>
              <a:rPr lang="en" sz="1400" b="1">
                <a:solidFill>
                  <a:schemeClr val="dk1"/>
                </a:solidFill>
                <a:latin typeface="Calibri"/>
                <a:ea typeface="Calibri"/>
                <a:cs typeface="Calibri"/>
                <a:sym typeface="Calibri"/>
              </a:rPr>
              <a:t>Raman-active sugar signals</a:t>
            </a:r>
            <a:endParaRPr sz="1400">
              <a:solidFill>
                <a:schemeClr val="dk1"/>
              </a:solidFill>
              <a:latin typeface="Calibri"/>
              <a:ea typeface="Calibri"/>
              <a:cs typeface="Calibri"/>
              <a:sym typeface="Calibri"/>
            </a:endParaRPr>
          </a:p>
        </p:txBody>
      </p:sp>
      <p:sp>
        <p:nvSpPr>
          <p:cNvPr id="410" name="Google Shape;410;p58"/>
          <p:cNvSpPr txBox="1"/>
          <p:nvPr/>
        </p:nvSpPr>
        <p:spPr>
          <a:xfrm>
            <a:off x="243427" y="2027943"/>
            <a:ext cx="2154300" cy="300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b="1">
                <a:solidFill>
                  <a:schemeClr val="dk1"/>
                </a:solidFill>
                <a:latin typeface="Calibri"/>
                <a:ea typeface="Calibri"/>
                <a:cs typeface="Calibri"/>
                <a:sym typeface="Calibri"/>
              </a:rPr>
              <a:t>Molecular Characteristics</a:t>
            </a:r>
            <a:endParaRPr sz="1100"/>
          </a:p>
        </p:txBody>
      </p:sp>
      <p:sp>
        <p:nvSpPr>
          <p:cNvPr id="411" name="Google Shape;411;p58"/>
          <p:cNvSpPr txBox="1"/>
          <p:nvPr/>
        </p:nvSpPr>
        <p:spPr>
          <a:xfrm>
            <a:off x="968616" y="2383647"/>
            <a:ext cx="4398513" cy="114643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dirty="0">
                <a:solidFill>
                  <a:schemeClr val="dk1"/>
                </a:solidFill>
                <a:latin typeface="Calibri"/>
                <a:ea typeface="Calibri"/>
                <a:cs typeface="Calibri"/>
                <a:sym typeface="Calibri"/>
              </a:rPr>
              <a:t>• Pyranose ring structure</a:t>
            </a:r>
            <a:br>
              <a:rPr lang="en" sz="1400" dirty="0">
                <a:solidFill>
                  <a:schemeClr val="dk1"/>
                </a:solidFill>
                <a:latin typeface="Calibri"/>
                <a:ea typeface="Calibri"/>
                <a:cs typeface="Calibri"/>
                <a:sym typeface="Calibri"/>
              </a:rPr>
            </a:br>
            <a:r>
              <a:rPr lang="en" sz="1400" dirty="0">
                <a:solidFill>
                  <a:schemeClr val="dk1"/>
                </a:solidFill>
                <a:latin typeface="Calibri"/>
                <a:ea typeface="Calibri"/>
                <a:cs typeface="Calibri"/>
                <a:sym typeface="Calibri"/>
              </a:rPr>
              <a:t>• Contains:</a:t>
            </a:r>
            <a:endParaRPr sz="1100" dirty="0"/>
          </a:p>
          <a:p>
            <a:pPr marL="1028700" marR="0" lvl="3" indent="0" algn="l" rtl="0">
              <a:spcBef>
                <a:spcPts val="0"/>
              </a:spcBef>
              <a:spcAft>
                <a:spcPts val="0"/>
              </a:spcAft>
              <a:buNone/>
            </a:pPr>
            <a:r>
              <a:rPr lang="en" sz="1400" b="0" i="0" u="none" strike="noStrike" cap="none" dirty="0">
                <a:solidFill>
                  <a:schemeClr val="dk1"/>
                </a:solidFill>
                <a:latin typeface="Calibri"/>
                <a:ea typeface="Calibri"/>
                <a:cs typeface="Calibri"/>
                <a:sym typeface="Calibri"/>
              </a:rPr>
              <a:t>Multiple hydroxyl groups (–OH) </a:t>
            </a:r>
            <a:endParaRPr sz="1100" dirty="0"/>
          </a:p>
          <a:p>
            <a:pPr marL="1028700" marR="0" lvl="3" indent="0" algn="l" rtl="0">
              <a:spcBef>
                <a:spcPts val="0"/>
              </a:spcBef>
              <a:spcAft>
                <a:spcPts val="0"/>
              </a:spcAft>
              <a:buNone/>
            </a:pPr>
            <a:r>
              <a:rPr lang="en" sz="1400" b="0" i="0" u="none" strike="noStrike" cap="none" dirty="0">
                <a:solidFill>
                  <a:schemeClr val="dk1"/>
                </a:solidFill>
                <a:latin typeface="Calibri"/>
                <a:ea typeface="Calibri"/>
                <a:cs typeface="Calibri"/>
                <a:sym typeface="Calibri"/>
              </a:rPr>
              <a:t>Acetamide group (NHCO–) </a:t>
            </a:r>
            <a:endParaRPr sz="1100" dirty="0"/>
          </a:p>
          <a:p>
            <a:pPr marL="1028700" marR="0" lvl="3" indent="0" algn="l" rtl="0">
              <a:spcBef>
                <a:spcPts val="0"/>
              </a:spcBef>
              <a:spcAft>
                <a:spcPts val="0"/>
              </a:spcAft>
              <a:buNone/>
            </a:pPr>
            <a:r>
              <a:rPr lang="en" sz="1400" b="0" i="0" u="none" strike="noStrike" cap="none" dirty="0">
                <a:solidFill>
                  <a:schemeClr val="dk1"/>
                </a:solidFill>
                <a:latin typeface="Calibri"/>
                <a:ea typeface="Calibri"/>
                <a:cs typeface="Calibri"/>
                <a:sym typeface="Calibri"/>
              </a:rPr>
              <a:t>C–O–C linkages </a:t>
            </a:r>
            <a:endParaRPr sz="1100" dirty="0"/>
          </a:p>
        </p:txBody>
      </p:sp>
      <p:sp>
        <p:nvSpPr>
          <p:cNvPr id="412" name="Google Shape;412;p58"/>
          <p:cNvSpPr txBox="1"/>
          <p:nvPr/>
        </p:nvSpPr>
        <p:spPr>
          <a:xfrm>
            <a:off x="243427" y="3585721"/>
            <a:ext cx="2027700" cy="300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b="1">
                <a:solidFill>
                  <a:schemeClr val="dk1"/>
                </a:solidFill>
                <a:latin typeface="Calibri"/>
                <a:ea typeface="Calibri"/>
                <a:cs typeface="Calibri"/>
                <a:sym typeface="Calibri"/>
              </a:rPr>
              <a:t>DFT Simulation Method</a:t>
            </a:r>
            <a:endParaRPr sz="1100"/>
          </a:p>
        </p:txBody>
      </p:sp>
      <p:sp>
        <p:nvSpPr>
          <p:cNvPr id="413" name="Google Shape;413;p58"/>
          <p:cNvSpPr txBox="1"/>
          <p:nvPr/>
        </p:nvSpPr>
        <p:spPr>
          <a:xfrm>
            <a:off x="973419" y="3948725"/>
            <a:ext cx="3352200" cy="900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 Geometry optimization + Raman calculation</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Functional: B3LYP</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Basis set: 6-31G(d)</a:t>
            </a:r>
            <a:br>
              <a:rPr lang="en" sz="1400">
                <a:solidFill>
                  <a:schemeClr val="dk1"/>
                </a:solidFill>
                <a:latin typeface="Calibri"/>
                <a:ea typeface="Calibri"/>
                <a:cs typeface="Calibri"/>
                <a:sym typeface="Calibri"/>
              </a:rPr>
            </a:br>
            <a:r>
              <a:rPr lang="en" sz="1400">
                <a:solidFill>
                  <a:schemeClr val="dk1"/>
                </a:solidFill>
                <a:latin typeface="Calibri"/>
                <a:ea typeface="Calibri"/>
                <a:cs typeface="Calibri"/>
                <a:sym typeface="Calibri"/>
              </a:rPr>
              <a:t>• Solvent: SMD (water)</a:t>
            </a:r>
            <a:endParaRPr sz="1400">
              <a:solidFill>
                <a:schemeClr val="dk1"/>
              </a:solidFill>
              <a:latin typeface="Calibri"/>
              <a:ea typeface="Calibri"/>
              <a:cs typeface="Calibri"/>
              <a:sym typeface="Calibri"/>
            </a:endParaRPr>
          </a:p>
        </p:txBody>
      </p:sp>
      <p:pic>
        <p:nvPicPr>
          <p:cNvPr id="414" name="Google Shape;414;p58"/>
          <p:cNvPicPr preferRelativeResize="0"/>
          <p:nvPr/>
        </p:nvPicPr>
        <p:blipFill rotWithShape="1">
          <a:blip r:embed="rId3">
            <a:alphaModFix/>
          </a:blip>
          <a:srcRect/>
          <a:stretch/>
        </p:blipFill>
        <p:spPr>
          <a:xfrm>
            <a:off x="6368956" y="341844"/>
            <a:ext cx="1740901" cy="1740901"/>
          </a:xfrm>
          <a:prstGeom prst="rect">
            <a:avLst/>
          </a:prstGeom>
          <a:noFill/>
          <a:ln>
            <a:noFill/>
          </a:ln>
        </p:spPr>
      </p:pic>
      <p:pic>
        <p:nvPicPr>
          <p:cNvPr id="415" name="Google Shape;415;p58"/>
          <p:cNvPicPr preferRelativeResize="0"/>
          <p:nvPr/>
        </p:nvPicPr>
        <p:blipFill rotWithShape="1">
          <a:blip r:embed="rId4">
            <a:alphaModFix/>
          </a:blip>
          <a:srcRect/>
          <a:stretch/>
        </p:blipFill>
        <p:spPr>
          <a:xfrm>
            <a:off x="5167823" y="2739209"/>
            <a:ext cx="3979069" cy="1993106"/>
          </a:xfrm>
          <a:prstGeom prst="rect">
            <a:avLst/>
          </a:prstGeom>
          <a:noFill/>
          <a:ln>
            <a:noFill/>
          </a:ln>
        </p:spPr>
      </p:pic>
      <p:sp>
        <p:nvSpPr>
          <p:cNvPr id="416" name="Google Shape;416;p58"/>
          <p:cNvSpPr txBox="1"/>
          <p:nvPr/>
        </p:nvSpPr>
        <p:spPr>
          <a:xfrm>
            <a:off x="6863066" y="4392222"/>
            <a:ext cx="1028400" cy="276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3D Structure</a:t>
            </a:r>
            <a:endParaRPr sz="1100"/>
          </a:p>
        </p:txBody>
      </p:sp>
      <p:sp>
        <p:nvSpPr>
          <p:cNvPr id="417" name="Google Shape;417;p58"/>
          <p:cNvSpPr txBox="1"/>
          <p:nvPr/>
        </p:nvSpPr>
        <p:spPr>
          <a:xfrm>
            <a:off x="6748766" y="2260410"/>
            <a:ext cx="1028400" cy="276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a:solidFill>
                  <a:schemeClr val="dk1"/>
                </a:solidFill>
                <a:latin typeface="Calibri"/>
                <a:ea typeface="Calibri"/>
                <a:cs typeface="Calibri"/>
                <a:sym typeface="Calibri"/>
              </a:rPr>
              <a:t>2D Structure</a:t>
            </a:r>
            <a:endParaRPr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pic>
        <p:nvPicPr>
          <p:cNvPr id="422" name="Google Shape;422;p59"/>
          <p:cNvPicPr preferRelativeResize="0"/>
          <p:nvPr/>
        </p:nvPicPr>
        <p:blipFill rotWithShape="1">
          <a:blip r:embed="rId3">
            <a:alphaModFix/>
          </a:blip>
          <a:srcRect b="25584"/>
          <a:stretch/>
        </p:blipFill>
        <p:spPr>
          <a:xfrm>
            <a:off x="163778" y="345726"/>
            <a:ext cx="3964279" cy="3540082"/>
          </a:xfrm>
          <a:prstGeom prst="rect">
            <a:avLst/>
          </a:prstGeom>
          <a:noFill/>
          <a:ln w="9525" cap="flat" cmpd="sng">
            <a:solidFill>
              <a:schemeClr val="dk1"/>
            </a:solidFill>
            <a:prstDash val="solid"/>
            <a:round/>
            <a:headEnd type="none" w="sm" len="sm"/>
            <a:tailEnd type="none" w="sm" len="sm"/>
          </a:ln>
        </p:spPr>
      </p:pic>
      <p:pic>
        <p:nvPicPr>
          <p:cNvPr id="423" name="Google Shape;423;p59"/>
          <p:cNvPicPr preferRelativeResize="0"/>
          <p:nvPr/>
        </p:nvPicPr>
        <p:blipFill rotWithShape="1">
          <a:blip r:embed="rId4">
            <a:alphaModFix/>
          </a:blip>
          <a:srcRect/>
          <a:stretch/>
        </p:blipFill>
        <p:spPr>
          <a:xfrm>
            <a:off x="4359498" y="3511310"/>
            <a:ext cx="4417568" cy="1443633"/>
          </a:xfrm>
          <a:prstGeom prst="rect">
            <a:avLst/>
          </a:prstGeom>
          <a:noFill/>
          <a:ln w="9525" cap="flat" cmpd="sng">
            <a:solidFill>
              <a:schemeClr val="dk1"/>
            </a:solidFill>
            <a:prstDash val="solid"/>
            <a:round/>
            <a:headEnd type="none" w="sm" len="sm"/>
            <a:tailEnd type="none" w="sm" len="sm"/>
          </a:ln>
        </p:spPr>
      </p:pic>
      <p:pic>
        <p:nvPicPr>
          <p:cNvPr id="424" name="Google Shape;424;p59"/>
          <p:cNvPicPr preferRelativeResize="0"/>
          <p:nvPr/>
        </p:nvPicPr>
        <p:blipFill rotWithShape="1">
          <a:blip r:embed="rId5">
            <a:alphaModFix/>
          </a:blip>
          <a:srcRect/>
          <a:stretch/>
        </p:blipFill>
        <p:spPr>
          <a:xfrm>
            <a:off x="4812787" y="856369"/>
            <a:ext cx="4086846" cy="2020526"/>
          </a:xfrm>
          <a:prstGeom prst="rect">
            <a:avLst/>
          </a:prstGeom>
          <a:noFill/>
          <a:ln w="9525" cap="flat" cmpd="sng">
            <a:solidFill>
              <a:schemeClr val="dk1"/>
            </a:solidFill>
            <a:prstDash val="solid"/>
            <a:round/>
            <a:headEnd type="none" w="sm" len="sm"/>
            <a:tailEnd type="none" w="sm" len="sm"/>
          </a:ln>
        </p:spPr>
      </p:pic>
      <p:sp>
        <p:nvSpPr>
          <p:cNvPr id="425" name="Google Shape;425;p59"/>
          <p:cNvSpPr/>
          <p:nvPr/>
        </p:nvSpPr>
        <p:spPr>
          <a:xfrm>
            <a:off x="4184885" y="1388505"/>
            <a:ext cx="571200" cy="540900"/>
          </a:xfrm>
          <a:prstGeom prst="right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26" name="Google Shape;426;p59"/>
          <p:cNvSpPr/>
          <p:nvPr/>
        </p:nvSpPr>
        <p:spPr>
          <a:xfrm>
            <a:off x="6476464" y="2926724"/>
            <a:ext cx="729300" cy="49740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27" name="Google Shape;427;p59"/>
          <p:cNvSpPr txBox="1"/>
          <p:nvPr/>
        </p:nvSpPr>
        <p:spPr>
          <a:xfrm>
            <a:off x="645913" y="0"/>
            <a:ext cx="3000000" cy="477000"/>
          </a:xfrm>
          <a:prstGeom prst="rect">
            <a:avLst/>
          </a:prstGeom>
          <a:noFill/>
          <a:ln>
            <a:noFill/>
          </a:ln>
        </p:spPr>
        <p:txBody>
          <a:bodyPr spcFirstLastPara="1" wrap="square" lIns="91425" tIns="91425" rIns="91425" bIns="91425" anchor="t" anchorCtr="0">
            <a:spAutoFit/>
          </a:bodyPr>
          <a:lstStyle/>
          <a:p>
            <a:pPr marL="342900" lvl="0" indent="-285750" algn="l" rtl="0">
              <a:lnSpc>
                <a:spcPct val="115000"/>
              </a:lnSpc>
              <a:spcBef>
                <a:spcPts val="0"/>
              </a:spcBef>
              <a:spcAft>
                <a:spcPts val="0"/>
              </a:spcAft>
              <a:buClr>
                <a:schemeClr val="lt1"/>
              </a:buClr>
              <a:buSzPts val="1900"/>
              <a:buFont typeface="Calibri"/>
              <a:buChar char="●"/>
            </a:pPr>
            <a:r>
              <a:rPr lang="en" sz="1500" b="1">
                <a:solidFill>
                  <a:schemeClr val="dk1"/>
                </a:solidFill>
                <a:latin typeface="Calibri"/>
                <a:ea typeface="Calibri"/>
                <a:cs typeface="Calibri"/>
                <a:sym typeface="Calibri"/>
              </a:rPr>
              <a:t>Three structural components</a:t>
            </a:r>
            <a:endParaRPr b="1"/>
          </a:p>
        </p:txBody>
      </p:sp>
      <p:sp>
        <p:nvSpPr>
          <p:cNvPr id="428" name="Google Shape;428;p59"/>
          <p:cNvSpPr txBox="1"/>
          <p:nvPr/>
        </p:nvSpPr>
        <p:spPr>
          <a:xfrm>
            <a:off x="4725013" y="299725"/>
            <a:ext cx="4262400" cy="477000"/>
          </a:xfrm>
          <a:prstGeom prst="rect">
            <a:avLst/>
          </a:prstGeom>
          <a:noFill/>
          <a:ln>
            <a:noFill/>
          </a:ln>
        </p:spPr>
        <p:txBody>
          <a:bodyPr spcFirstLastPara="1" wrap="square" lIns="91425" tIns="91425" rIns="91425" bIns="91425" anchor="t" anchorCtr="0">
            <a:spAutoFit/>
          </a:bodyPr>
          <a:lstStyle/>
          <a:p>
            <a:pPr marL="342900" lvl="0" indent="-285750" algn="l" rtl="0">
              <a:lnSpc>
                <a:spcPct val="115000"/>
              </a:lnSpc>
              <a:spcBef>
                <a:spcPts val="0"/>
              </a:spcBef>
              <a:spcAft>
                <a:spcPts val="0"/>
              </a:spcAft>
              <a:buClr>
                <a:schemeClr val="lt1"/>
              </a:buClr>
              <a:buSzPts val="1900"/>
              <a:buFont typeface="Calibri"/>
              <a:buChar char="●"/>
            </a:pPr>
            <a:r>
              <a:rPr lang="en" sz="1500" b="1">
                <a:solidFill>
                  <a:schemeClr val="dk1"/>
                </a:solidFill>
                <a:latin typeface="Calibri"/>
                <a:ea typeface="Calibri"/>
                <a:cs typeface="Calibri"/>
                <a:sym typeface="Calibri"/>
              </a:rPr>
              <a:t>Composite of three structural components</a:t>
            </a:r>
            <a:endParaRPr b="1"/>
          </a:p>
        </p:txBody>
      </p:sp>
      <p:sp>
        <p:nvSpPr>
          <p:cNvPr id="429" name="Google Shape;429;p59"/>
          <p:cNvSpPr txBox="1"/>
          <p:nvPr/>
        </p:nvSpPr>
        <p:spPr>
          <a:xfrm>
            <a:off x="1812800" y="4477950"/>
            <a:ext cx="3000000" cy="4770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Clr>
                <a:schemeClr val="lt1"/>
              </a:buClr>
              <a:buSzPts val="1900"/>
              <a:buFont typeface="Calibri"/>
              <a:buChar char="●"/>
            </a:pPr>
            <a:r>
              <a:rPr lang="en" sz="1500" b="1">
                <a:solidFill>
                  <a:schemeClr val="dk1"/>
                </a:solidFill>
              </a:rPr>
              <a:t>Reconstructed LTA </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pic>
        <p:nvPicPr>
          <p:cNvPr id="434" name="Google Shape;434;p60"/>
          <p:cNvPicPr preferRelativeResize="0"/>
          <p:nvPr/>
        </p:nvPicPr>
        <p:blipFill rotWithShape="1">
          <a:blip r:embed="rId3">
            <a:alphaModFix/>
          </a:blip>
          <a:srcRect/>
          <a:stretch/>
        </p:blipFill>
        <p:spPr>
          <a:xfrm>
            <a:off x="183121" y="2525868"/>
            <a:ext cx="5059638" cy="2501458"/>
          </a:xfrm>
          <a:prstGeom prst="rect">
            <a:avLst/>
          </a:prstGeom>
          <a:noFill/>
          <a:ln>
            <a:noFill/>
          </a:ln>
        </p:spPr>
      </p:pic>
      <p:pic>
        <p:nvPicPr>
          <p:cNvPr id="435" name="Google Shape;435;p60"/>
          <p:cNvPicPr preferRelativeResize="0"/>
          <p:nvPr/>
        </p:nvPicPr>
        <p:blipFill rotWithShape="1">
          <a:blip r:embed="rId4">
            <a:alphaModFix/>
          </a:blip>
          <a:srcRect/>
          <a:stretch/>
        </p:blipFill>
        <p:spPr>
          <a:xfrm>
            <a:off x="311188" y="49139"/>
            <a:ext cx="3757327" cy="2228923"/>
          </a:xfrm>
          <a:prstGeom prst="rect">
            <a:avLst/>
          </a:prstGeom>
          <a:noFill/>
          <a:ln>
            <a:noFill/>
          </a:ln>
        </p:spPr>
      </p:pic>
      <p:sp>
        <p:nvSpPr>
          <p:cNvPr id="436" name="Google Shape;436;p60"/>
          <p:cNvSpPr/>
          <p:nvPr/>
        </p:nvSpPr>
        <p:spPr>
          <a:xfrm>
            <a:off x="4174867" y="1047690"/>
            <a:ext cx="794400" cy="594300"/>
          </a:xfrm>
          <a:prstGeom prst="right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37" name="Google Shape;437;p60"/>
          <p:cNvSpPr/>
          <p:nvPr/>
        </p:nvSpPr>
        <p:spPr>
          <a:xfrm rot="10800000">
            <a:off x="5337987" y="2616266"/>
            <a:ext cx="1975200" cy="949500"/>
          </a:xfrm>
          <a:prstGeom prst="bentArrow">
            <a:avLst>
              <a:gd name="adj1" fmla="val 25000"/>
              <a:gd name="adj2" fmla="val 25000"/>
              <a:gd name="adj3" fmla="val 25000"/>
              <a:gd name="adj4" fmla="val 43750"/>
            </a:avLst>
          </a:prstGeom>
          <a:solidFill>
            <a:schemeClr val="dk1"/>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Calibri"/>
              <a:ea typeface="Calibri"/>
              <a:cs typeface="Calibri"/>
              <a:sym typeface="Calibri"/>
            </a:endParaRPr>
          </a:p>
        </p:txBody>
      </p:sp>
      <p:pic>
        <p:nvPicPr>
          <p:cNvPr id="438" name="Google Shape;438;p60"/>
          <p:cNvPicPr preferRelativeResize="0"/>
          <p:nvPr/>
        </p:nvPicPr>
        <p:blipFill rotWithShape="1">
          <a:blip r:embed="rId5">
            <a:alphaModFix/>
          </a:blip>
          <a:srcRect/>
          <a:stretch/>
        </p:blipFill>
        <p:spPr>
          <a:xfrm>
            <a:off x="5198549" y="332810"/>
            <a:ext cx="3634267" cy="2155921"/>
          </a:xfrm>
          <a:prstGeom prst="rect">
            <a:avLst/>
          </a:prstGeom>
          <a:noFill/>
          <a:ln>
            <a:noFill/>
          </a:ln>
        </p:spPr>
      </p:pic>
      <p:sp>
        <p:nvSpPr>
          <p:cNvPr id="439" name="Google Shape;439;p60"/>
          <p:cNvSpPr txBox="1"/>
          <p:nvPr/>
        </p:nvSpPr>
        <p:spPr>
          <a:xfrm>
            <a:off x="5242750" y="417120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Non-Negative Least Squares</a:t>
            </a:r>
            <a:endParaRPr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61"/>
          <p:cNvSpPr txBox="1"/>
          <p:nvPr/>
        </p:nvSpPr>
        <p:spPr>
          <a:xfrm>
            <a:off x="141025" y="0"/>
            <a:ext cx="4900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Limitations of NNLS Fitting in Raman</a:t>
            </a:r>
            <a:endParaRPr b="1"/>
          </a:p>
        </p:txBody>
      </p:sp>
      <p:sp>
        <p:nvSpPr>
          <p:cNvPr id="445" name="Google Shape;445;p61"/>
          <p:cNvSpPr txBox="1"/>
          <p:nvPr/>
        </p:nvSpPr>
        <p:spPr>
          <a:xfrm>
            <a:off x="222650" y="400200"/>
            <a:ext cx="4291800" cy="1322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What NNLS Assumes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Experimental spectrum = </a:t>
            </a:r>
            <a:r>
              <a:rPr lang="en" sz="1100" b="1">
                <a:solidFill>
                  <a:schemeClr val="dk1"/>
                </a:solidFill>
              </a:rPr>
              <a:t>linear combination of known components</a:t>
            </a:r>
            <a:r>
              <a:rPr lang="en" sz="1100">
                <a:solidFill>
                  <a:schemeClr val="dk1"/>
                </a:solidFill>
              </a:rPr>
              <a:t> (LTA, LPS, PGN)</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All contributions are </a:t>
            </a:r>
            <a:r>
              <a:rPr lang="en" sz="1100" b="1">
                <a:solidFill>
                  <a:schemeClr val="dk1"/>
                </a:solidFill>
              </a:rPr>
              <a:t>non-negative</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Spectral features are </a:t>
            </a:r>
            <a:r>
              <a:rPr lang="en" sz="1100" b="1">
                <a:solidFill>
                  <a:schemeClr val="dk1"/>
                </a:solidFill>
              </a:rPr>
              <a:t>fixed and additive</a:t>
            </a:r>
            <a:endParaRPr sz="1100" b="1">
              <a:solidFill>
                <a:schemeClr val="dk1"/>
              </a:solidFill>
            </a:endParaRPr>
          </a:p>
        </p:txBody>
      </p:sp>
      <p:sp>
        <p:nvSpPr>
          <p:cNvPr id="446" name="Google Shape;446;p61"/>
          <p:cNvSpPr txBox="1"/>
          <p:nvPr/>
        </p:nvSpPr>
        <p:spPr>
          <a:xfrm>
            <a:off x="222650" y="1966850"/>
            <a:ext cx="4967100" cy="1711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Observed Issues in Results</a:t>
            </a:r>
            <a:endParaRPr sz="13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Poor fit quality:</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rPr>
              <a:t>R² &lt; 0 (−0.29)</a:t>
            </a:r>
            <a:r>
              <a:rPr lang="en" sz="1100">
                <a:solidFill>
                  <a:schemeClr val="dk1"/>
                </a:solidFill>
              </a:rPr>
              <a:t> → model worse than average</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rPr>
              <a:t>Low Pearson (0.34)</a:t>
            </a:r>
            <a:r>
              <a:rPr lang="en" sz="1100">
                <a:solidFill>
                  <a:schemeClr val="dk1"/>
                </a:solidFill>
              </a:rPr>
              <a:t> → weak correlation</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rPr>
              <a:t>High RMSE (0.19)</a:t>
            </a:r>
            <a:r>
              <a:rPr lang="en" sz="1100">
                <a:solidFill>
                  <a:schemeClr val="dk1"/>
                </a:solidFill>
              </a:rPr>
              <a:t> → large error</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Visible mismatch between </a:t>
            </a:r>
            <a:r>
              <a:rPr lang="en" sz="1100" b="1">
                <a:solidFill>
                  <a:schemeClr val="dk1"/>
                </a:solidFill>
              </a:rPr>
              <a:t>experimental and fitted spectra</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Residual shows </a:t>
            </a:r>
            <a:r>
              <a:rPr lang="en" sz="1100" b="1">
                <a:solidFill>
                  <a:schemeClr val="dk1"/>
                </a:solidFill>
              </a:rPr>
              <a:t>structured peaks (not noise)</a:t>
            </a:r>
            <a:endParaRPr sz="1100" b="1">
              <a:solidFill>
                <a:schemeClr val="dk1"/>
              </a:solidFill>
            </a:endParaRPr>
          </a:p>
        </p:txBody>
      </p:sp>
      <p:sp>
        <p:nvSpPr>
          <p:cNvPr id="447" name="Google Shape;447;p61"/>
          <p:cNvSpPr txBox="1"/>
          <p:nvPr/>
        </p:nvSpPr>
        <p:spPr>
          <a:xfrm>
            <a:off x="5618525" y="184975"/>
            <a:ext cx="5382900" cy="4428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rPr>
              <a:t>Key Reasons for Poor Fit</a:t>
            </a:r>
            <a:endParaRPr sz="1300" b="1">
              <a:solidFill>
                <a:schemeClr val="dk1"/>
              </a:solidFill>
            </a:endParaRPr>
          </a:p>
          <a:p>
            <a:pPr marL="0" lvl="0" indent="0" algn="l" rtl="0">
              <a:lnSpc>
                <a:spcPct val="115000"/>
              </a:lnSpc>
              <a:spcBef>
                <a:spcPts val="1200"/>
              </a:spcBef>
              <a:spcAft>
                <a:spcPts val="0"/>
              </a:spcAft>
              <a:buNone/>
            </a:pPr>
            <a:r>
              <a:rPr lang="en" sz="1100" b="1">
                <a:solidFill>
                  <a:schemeClr val="dk1"/>
                </a:solidFill>
              </a:rPr>
              <a:t>1. Missing Components</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Real sample contains: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proteins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lipids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nucleic acids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Model includes only limited references</a:t>
            </a:r>
            <a:endParaRPr sz="1100">
              <a:solidFill>
                <a:schemeClr val="dk1"/>
              </a:solidFill>
            </a:endParaRPr>
          </a:p>
          <a:p>
            <a:pPr marL="0" lvl="0" indent="0" algn="l" rtl="0">
              <a:lnSpc>
                <a:spcPct val="115000"/>
              </a:lnSpc>
              <a:spcBef>
                <a:spcPts val="1200"/>
              </a:spcBef>
              <a:spcAft>
                <a:spcPts val="0"/>
              </a:spcAft>
              <a:buNone/>
            </a:pPr>
            <a:r>
              <a:rPr lang="en" sz="1100" b="1">
                <a:solidFill>
                  <a:schemeClr val="dk1"/>
                </a:solidFill>
              </a:rPr>
              <a:t>2. Spectral Variability</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Peak shifts due to:</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solvent / pH</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molecular interactions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NNLS assumes </a:t>
            </a:r>
            <a:r>
              <a:rPr lang="en" sz="1100" b="1">
                <a:solidFill>
                  <a:schemeClr val="dk1"/>
                </a:solidFill>
              </a:rPr>
              <a:t>fixed peak positions</a:t>
            </a:r>
            <a:endParaRPr sz="1100" b="1">
              <a:solidFill>
                <a:schemeClr val="dk1"/>
              </a:solidFill>
            </a:endParaRPr>
          </a:p>
          <a:p>
            <a:pPr marL="0" lvl="0" indent="0" algn="l" rtl="0">
              <a:lnSpc>
                <a:spcPct val="115000"/>
              </a:lnSpc>
              <a:spcBef>
                <a:spcPts val="1200"/>
              </a:spcBef>
              <a:spcAft>
                <a:spcPts val="0"/>
              </a:spcAft>
              <a:buNone/>
            </a:pPr>
            <a:r>
              <a:rPr lang="en" sz="1100" b="1">
                <a:solidFill>
                  <a:schemeClr val="dk1"/>
                </a:solidFill>
              </a:rPr>
              <a:t>3. Preprocessing Mismatch</a:t>
            </a:r>
            <a:endParaRPr sz="11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Differences in:</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baseline correction</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normalization</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Leads to unstable fitting</a:t>
            </a:r>
            <a:endParaRPr sz="11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pic>
        <p:nvPicPr>
          <p:cNvPr id="452" name="Google Shape;452;p62"/>
          <p:cNvPicPr preferRelativeResize="0"/>
          <p:nvPr/>
        </p:nvPicPr>
        <p:blipFill rotWithShape="1">
          <a:blip r:embed="rId3">
            <a:alphaModFix/>
          </a:blip>
          <a:srcRect/>
          <a:stretch/>
        </p:blipFill>
        <p:spPr>
          <a:xfrm>
            <a:off x="3352203" y="2530579"/>
            <a:ext cx="5227717" cy="2307220"/>
          </a:xfrm>
          <a:prstGeom prst="rect">
            <a:avLst/>
          </a:prstGeom>
          <a:noFill/>
          <a:ln>
            <a:noFill/>
          </a:ln>
        </p:spPr>
      </p:pic>
      <p:sp>
        <p:nvSpPr>
          <p:cNvPr id="453" name="Google Shape;453;p62"/>
          <p:cNvSpPr txBox="1"/>
          <p:nvPr/>
        </p:nvSpPr>
        <p:spPr>
          <a:xfrm>
            <a:off x="0" y="0"/>
            <a:ext cx="6080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Key Findings on Lipoteichoic Acid (LTA) with Research Evidence</a:t>
            </a:r>
            <a:endParaRPr b="1"/>
          </a:p>
        </p:txBody>
      </p:sp>
      <p:sp>
        <p:nvSpPr>
          <p:cNvPr id="454" name="Google Shape;454;p62"/>
          <p:cNvSpPr txBox="1"/>
          <p:nvPr/>
        </p:nvSpPr>
        <p:spPr>
          <a:xfrm>
            <a:off x="155850" y="564075"/>
            <a:ext cx="7134300" cy="2674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a:solidFill>
                  <a:schemeClr val="dk1"/>
                </a:solidFill>
              </a:rPr>
              <a:t>1. LTA Structure Drives Raman Features</a:t>
            </a:r>
            <a:endParaRPr sz="1700"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LTA consists of:</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rPr>
              <a:t>poly(glycerol phosphate) backbone</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rPr>
              <a:t>D-alanine substitutions</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rPr>
              <a:t>lipid anchor</a:t>
            </a:r>
            <a:endParaRPr sz="1100" b="1">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This structure produces: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rPr>
              <a:t>phosphate-dominated Raman signals</a:t>
            </a:r>
            <a:endParaRPr sz="1100" b="1">
              <a:solidFill>
                <a:schemeClr val="dk1"/>
              </a:solidFill>
            </a:endParaRPr>
          </a:p>
          <a:p>
            <a:pPr marL="0" lvl="0" indent="0" algn="l" rtl="0">
              <a:lnSpc>
                <a:spcPct val="115000"/>
              </a:lnSpc>
              <a:spcBef>
                <a:spcPts val="1200"/>
              </a:spcBef>
              <a:spcAft>
                <a:spcPts val="0"/>
              </a:spcAft>
              <a:buNone/>
            </a:pPr>
            <a:r>
              <a:rPr lang="en" sz="1100">
                <a:solidFill>
                  <a:schemeClr val="dk1"/>
                </a:solidFill>
              </a:rPr>
              <a:t> Supported by:</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a:solidFill>
                  <a:schemeClr val="dk1"/>
                </a:solidFill>
              </a:rPr>
              <a:t>General LTA structure and role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a:solidFill>
                  <a:schemeClr val="dk1"/>
                </a:solidFill>
              </a:rPr>
              <a:t>LTA as Gram-positive biomarker </a:t>
            </a:r>
            <a:endParaRPr sz="11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3"/>
          <p:cNvSpPr txBox="1"/>
          <p:nvPr/>
        </p:nvSpPr>
        <p:spPr>
          <a:xfrm>
            <a:off x="-1795" y="-290824"/>
            <a:ext cx="7409100" cy="312467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dirty="0">
                <a:solidFill>
                  <a:schemeClr val="dk1"/>
                </a:solidFill>
              </a:rPr>
              <a:t>2. LTA Produces Detectable SERS Fingerprint</a:t>
            </a:r>
            <a:endParaRPr sz="17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rPr>
              <a:t>LTA has measurable SERS spectra as an independent biomarker</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dirty="0">
                <a:solidFill>
                  <a:schemeClr val="dk1"/>
                </a:solidFill>
              </a:rPr>
              <a:t>Used alongside:</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LPS</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PGN</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chitin</a:t>
            </a:r>
            <a:endParaRPr sz="1100" dirty="0">
              <a:solidFill>
                <a:schemeClr val="dk1"/>
              </a:solidFill>
            </a:endParaRPr>
          </a:p>
          <a:p>
            <a:pPr marL="0" lvl="0" indent="0" algn="l" rtl="0">
              <a:lnSpc>
                <a:spcPct val="115000"/>
              </a:lnSpc>
              <a:spcBef>
                <a:spcPts val="1200"/>
              </a:spcBef>
              <a:spcAft>
                <a:spcPts val="0"/>
              </a:spcAft>
              <a:buNone/>
            </a:pPr>
            <a:r>
              <a:rPr lang="en" sz="1100" dirty="0">
                <a:solidFill>
                  <a:schemeClr val="dk1"/>
                </a:solidFill>
              </a:rPr>
              <a:t>Evidence:</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rPr>
              <a:t>Yang et al. 2022 SERS endotoxin study</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Measured </a:t>
            </a:r>
            <a:r>
              <a:rPr lang="en" sz="1100" b="1" dirty="0">
                <a:solidFill>
                  <a:schemeClr val="dk1"/>
                </a:solidFill>
              </a:rPr>
              <a:t>LTA spectra experimentally</a:t>
            </a:r>
            <a:endParaRPr sz="1100" b="1"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Compared with LPS and PGN</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Demonstrated </a:t>
            </a:r>
            <a:r>
              <a:rPr lang="en" sz="1100" b="1" dirty="0">
                <a:solidFill>
                  <a:schemeClr val="dk1"/>
                </a:solidFill>
              </a:rPr>
              <a:t>distinct spectral behavior</a:t>
            </a:r>
            <a:endParaRPr sz="1100" b="1" dirty="0">
              <a:solidFill>
                <a:schemeClr val="dk1"/>
              </a:solidFill>
            </a:endParaRPr>
          </a:p>
        </p:txBody>
      </p:sp>
      <p:sp>
        <p:nvSpPr>
          <p:cNvPr id="460" name="Google Shape;460;p63"/>
          <p:cNvSpPr txBox="1"/>
          <p:nvPr/>
        </p:nvSpPr>
        <p:spPr>
          <a:xfrm>
            <a:off x="71092" y="2451652"/>
            <a:ext cx="7993579" cy="254066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dirty="0">
                <a:solidFill>
                  <a:schemeClr val="dk1"/>
                </a:solidFill>
              </a:rPr>
              <a:t>3. Machine Learning Confirms LTA Detectability</a:t>
            </a:r>
            <a:endParaRPr sz="17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rPr>
              <a:t>LTA spectra can be separated from other biomolecules using ML</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dirty="0">
                <a:solidFill>
                  <a:schemeClr val="dk1"/>
                </a:solidFill>
              </a:rPr>
              <a:t>Achieves:</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dirty="0">
                <a:solidFill>
                  <a:schemeClr val="dk1"/>
                </a:solidFill>
              </a:rPr>
              <a:t>~99–100% classification accuracy</a:t>
            </a:r>
            <a:endParaRPr sz="1100" b="1" dirty="0">
              <a:solidFill>
                <a:schemeClr val="dk1"/>
              </a:solidFill>
            </a:endParaRPr>
          </a:p>
          <a:p>
            <a:pPr marL="0" lvl="0" indent="0" algn="l" rtl="0">
              <a:lnSpc>
                <a:spcPct val="115000"/>
              </a:lnSpc>
              <a:spcBef>
                <a:spcPts val="1200"/>
              </a:spcBef>
              <a:spcAft>
                <a:spcPts val="0"/>
              </a:spcAft>
              <a:buNone/>
            </a:pPr>
            <a:r>
              <a:rPr lang="en" sz="1100" dirty="0">
                <a:solidFill>
                  <a:schemeClr val="dk1"/>
                </a:solidFill>
              </a:rPr>
              <a:t>Evidence:</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rPr>
              <a:t>DeepRaman 2025</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Used LTA as control biomarker</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Achieved </a:t>
            </a:r>
            <a:r>
              <a:rPr lang="en" sz="1100" b="1" dirty="0">
                <a:solidFill>
                  <a:schemeClr val="dk1"/>
                </a:solidFill>
              </a:rPr>
              <a:t>100% classification accuracy</a:t>
            </a:r>
            <a:endParaRPr sz="1100" b="1" dirty="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4"/>
          <p:cNvSpPr txBox="1"/>
          <p:nvPr/>
        </p:nvSpPr>
        <p:spPr>
          <a:xfrm>
            <a:off x="98099" y="-278297"/>
            <a:ext cx="7767640" cy="362968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600" b="1" dirty="0">
                <a:solidFill>
                  <a:schemeClr val="dk1"/>
                </a:solidFill>
              </a:rPr>
              <a:t>4. Key Spectral Features of LTA (Experiment + Theory)</a:t>
            </a:r>
            <a:endParaRPr sz="1600" b="1" dirty="0">
              <a:solidFill>
                <a:schemeClr val="dk1"/>
              </a:solidFill>
            </a:endParaRPr>
          </a:p>
          <a:p>
            <a:pPr marL="0" lvl="0" indent="0" algn="l" rtl="0">
              <a:lnSpc>
                <a:spcPct val="115000"/>
              </a:lnSpc>
              <a:spcBef>
                <a:spcPts val="1400"/>
              </a:spcBef>
              <a:spcAft>
                <a:spcPts val="0"/>
              </a:spcAft>
              <a:buNone/>
            </a:pPr>
            <a:r>
              <a:rPr lang="en" sz="1200" b="1" dirty="0">
                <a:solidFill>
                  <a:schemeClr val="dk1"/>
                </a:solidFill>
              </a:rPr>
              <a:t>Major LTA Peaks:</a:t>
            </a:r>
            <a:endParaRPr sz="1200" b="1" dirty="0">
              <a:solidFill>
                <a:schemeClr val="dk1"/>
              </a:solidFill>
            </a:endParaRPr>
          </a:p>
          <a:p>
            <a:pPr marL="457200" lvl="0" indent="-292100" algn="l" rtl="0">
              <a:lnSpc>
                <a:spcPct val="115000"/>
              </a:lnSpc>
              <a:spcBef>
                <a:spcPts val="1200"/>
              </a:spcBef>
              <a:spcAft>
                <a:spcPts val="0"/>
              </a:spcAft>
              <a:buClr>
                <a:schemeClr val="dk1"/>
              </a:buClr>
              <a:buSzPts val="1000"/>
              <a:buChar char="●"/>
            </a:pPr>
            <a:r>
              <a:rPr lang="en" sz="1000" b="1" dirty="0">
                <a:solidFill>
                  <a:schemeClr val="dk1"/>
                </a:solidFill>
              </a:rPr>
              <a:t>~900 cm⁻¹</a:t>
            </a:r>
            <a:r>
              <a:rPr lang="en" sz="1000" dirty="0">
                <a:solidFill>
                  <a:schemeClr val="dk1"/>
                </a:solidFill>
              </a:rPr>
              <a:t> → glycerol/sugar deformation</a:t>
            </a:r>
            <a:endParaRPr sz="1000" dirty="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dirty="0">
                <a:solidFill>
                  <a:schemeClr val="dk1"/>
                </a:solidFill>
              </a:rPr>
              <a:t>~1000–1100 cm⁻¹</a:t>
            </a:r>
            <a:r>
              <a:rPr lang="en" sz="1000" dirty="0">
                <a:solidFill>
                  <a:schemeClr val="dk1"/>
                </a:solidFill>
              </a:rPr>
              <a:t> → P–O / PO₂⁻ (core feature)</a:t>
            </a:r>
            <a:endParaRPr sz="1000" dirty="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dirty="0">
                <a:solidFill>
                  <a:schemeClr val="dk1"/>
                </a:solidFill>
              </a:rPr>
              <a:t>~1200–1250 cm⁻¹</a:t>
            </a:r>
            <a:r>
              <a:rPr lang="en" sz="1000" dirty="0">
                <a:solidFill>
                  <a:schemeClr val="dk1"/>
                </a:solidFill>
              </a:rPr>
              <a:t> → asymmetric phosphate</a:t>
            </a:r>
            <a:endParaRPr sz="1000" dirty="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dirty="0">
                <a:solidFill>
                  <a:schemeClr val="dk1"/>
                </a:solidFill>
              </a:rPr>
              <a:t>~1450 cm⁻¹</a:t>
            </a:r>
            <a:r>
              <a:rPr lang="en" sz="1000" dirty="0">
                <a:solidFill>
                  <a:schemeClr val="dk1"/>
                </a:solidFill>
              </a:rPr>
              <a:t> → CH₂ (lipid anchor)</a:t>
            </a:r>
            <a:endParaRPr sz="1000" dirty="0">
              <a:solidFill>
                <a:schemeClr val="dk1"/>
              </a:solidFill>
            </a:endParaRPr>
          </a:p>
          <a:p>
            <a:pPr marL="0" lvl="0" indent="0" algn="l" rtl="0">
              <a:lnSpc>
                <a:spcPct val="115000"/>
              </a:lnSpc>
              <a:spcBef>
                <a:spcPts val="1200"/>
              </a:spcBef>
              <a:spcAft>
                <a:spcPts val="0"/>
              </a:spcAft>
              <a:buNone/>
            </a:pPr>
            <a:r>
              <a:rPr lang="en" sz="1000" dirty="0">
                <a:solidFill>
                  <a:schemeClr val="dk1"/>
                </a:solidFill>
              </a:rPr>
              <a:t>These arise from:</a:t>
            </a:r>
            <a:endParaRPr sz="1000" dirty="0">
              <a:solidFill>
                <a:schemeClr val="dk1"/>
              </a:solidFill>
            </a:endParaRPr>
          </a:p>
          <a:p>
            <a:pPr marL="457200" lvl="0" indent="-292100" algn="l" rtl="0">
              <a:lnSpc>
                <a:spcPct val="115000"/>
              </a:lnSpc>
              <a:spcBef>
                <a:spcPts val="1200"/>
              </a:spcBef>
              <a:spcAft>
                <a:spcPts val="0"/>
              </a:spcAft>
              <a:buClr>
                <a:schemeClr val="dk1"/>
              </a:buClr>
              <a:buSzPts val="1000"/>
              <a:buChar char="●"/>
            </a:pPr>
            <a:r>
              <a:rPr lang="en" sz="1000" dirty="0">
                <a:solidFill>
                  <a:schemeClr val="dk1"/>
                </a:solidFill>
              </a:rPr>
              <a:t>glycerol phosphate chain</a:t>
            </a:r>
            <a:endParaRPr sz="1000" dirty="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dirty="0">
                <a:solidFill>
                  <a:schemeClr val="dk1"/>
                </a:solidFill>
              </a:rPr>
              <a:t>lipid + sugar groups</a:t>
            </a:r>
            <a:endParaRPr sz="1000" dirty="0">
              <a:solidFill>
                <a:schemeClr val="dk1"/>
              </a:solidFill>
            </a:endParaRPr>
          </a:p>
          <a:p>
            <a:pPr marL="0" lvl="0" indent="0" algn="l" rtl="0">
              <a:lnSpc>
                <a:spcPct val="115000"/>
              </a:lnSpc>
              <a:spcBef>
                <a:spcPts val="1200"/>
              </a:spcBef>
              <a:spcAft>
                <a:spcPts val="0"/>
              </a:spcAft>
              <a:buNone/>
            </a:pPr>
            <a:r>
              <a:rPr lang="en" sz="1000" dirty="0">
                <a:solidFill>
                  <a:schemeClr val="dk1"/>
                </a:solidFill>
              </a:rPr>
              <a:t> Supported by:</a:t>
            </a:r>
            <a:endParaRPr sz="1000" dirty="0">
              <a:solidFill>
                <a:schemeClr val="dk1"/>
              </a:solidFill>
            </a:endParaRPr>
          </a:p>
          <a:p>
            <a:pPr marL="457200" lvl="0" indent="-292100" algn="l" rtl="0">
              <a:lnSpc>
                <a:spcPct val="115000"/>
              </a:lnSpc>
              <a:spcBef>
                <a:spcPts val="1200"/>
              </a:spcBef>
              <a:spcAft>
                <a:spcPts val="0"/>
              </a:spcAft>
              <a:buClr>
                <a:schemeClr val="dk1"/>
              </a:buClr>
              <a:buSzPts val="1000"/>
              <a:buChar char="●"/>
            </a:pPr>
            <a:r>
              <a:rPr lang="en" sz="1000" dirty="0">
                <a:solidFill>
                  <a:schemeClr val="dk1"/>
                </a:solidFill>
              </a:rPr>
              <a:t>SERS biomarker studies including LTA</a:t>
            </a:r>
            <a:endParaRPr sz="1000" dirty="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dirty="0">
                <a:solidFill>
                  <a:schemeClr val="dk1"/>
                </a:solidFill>
              </a:rPr>
              <a:t>Phosphate-dominated spectral interpretation from endotoxin studies </a:t>
            </a:r>
            <a:endParaRPr sz="1000" dirty="0">
              <a:solidFill>
                <a:schemeClr val="dk1"/>
              </a:solidFill>
            </a:endParaRPr>
          </a:p>
        </p:txBody>
      </p:sp>
      <p:sp>
        <p:nvSpPr>
          <p:cNvPr id="466" name="Google Shape;466;p64"/>
          <p:cNvSpPr txBox="1"/>
          <p:nvPr/>
        </p:nvSpPr>
        <p:spPr>
          <a:xfrm>
            <a:off x="98099" y="2911060"/>
            <a:ext cx="6481200" cy="1895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dirty="0">
                <a:solidFill>
                  <a:schemeClr val="dk1"/>
                </a:solidFill>
              </a:rPr>
              <a:t>5. No Unique Peak for LTA</a:t>
            </a:r>
            <a:endParaRPr sz="17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rPr>
              <a:t>LTA peaks overlap with:</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PGN (glycosidic bands)</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LPS (lipid + sugar bands)</a:t>
            </a:r>
            <a:endParaRPr sz="1100" dirty="0">
              <a:solidFill>
                <a:schemeClr val="dk1"/>
              </a:solidFill>
            </a:endParaRPr>
          </a:p>
          <a:p>
            <a:pPr marL="0" lvl="0" indent="0" algn="l" rtl="0">
              <a:lnSpc>
                <a:spcPct val="115000"/>
              </a:lnSpc>
              <a:spcBef>
                <a:spcPts val="1200"/>
              </a:spcBef>
              <a:spcAft>
                <a:spcPts val="0"/>
              </a:spcAft>
              <a:buNone/>
            </a:pPr>
            <a:r>
              <a:rPr lang="en" sz="1100" dirty="0">
                <a:solidFill>
                  <a:schemeClr val="dk1"/>
                </a:solidFill>
              </a:rPr>
              <a:t> Evidence:</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rPr>
              <a:t>Endotoxin SERS studies show </a:t>
            </a:r>
            <a:r>
              <a:rPr lang="en" sz="1100" b="1" dirty="0">
                <a:solidFill>
                  <a:schemeClr val="dk1"/>
                </a:solidFill>
              </a:rPr>
              <a:t>spectral similarity across biomolecules</a:t>
            </a:r>
            <a:endParaRPr sz="1100" b="1" dirty="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65"/>
          <p:cNvSpPr txBox="1"/>
          <p:nvPr/>
        </p:nvSpPr>
        <p:spPr>
          <a:xfrm>
            <a:off x="14850" y="-282649"/>
            <a:ext cx="7438540" cy="234599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dirty="0">
                <a:solidFill>
                  <a:schemeClr val="dk1"/>
                </a:solidFill>
              </a:rPr>
              <a:t>6. SERS Enhances LTA Detection</a:t>
            </a:r>
            <a:endParaRPr sz="17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rPr>
              <a:t>LTA interacts strongly with:</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metal nanoparticles</a:t>
            </a:r>
            <a:endParaRPr sz="1100"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dirty="0">
                <a:solidFill>
                  <a:schemeClr val="dk1"/>
                </a:solidFill>
              </a:rPr>
              <a:t>Due to:</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dirty="0">
                <a:solidFill>
                  <a:schemeClr val="dk1"/>
                </a:solidFill>
              </a:rPr>
              <a:t>negative phosphate groups</a:t>
            </a:r>
            <a:endParaRPr sz="1100" b="1" dirty="0">
              <a:solidFill>
                <a:schemeClr val="dk1"/>
              </a:solidFill>
            </a:endParaRPr>
          </a:p>
          <a:p>
            <a:pPr marL="0" lvl="0" indent="0" algn="l" rtl="0">
              <a:lnSpc>
                <a:spcPct val="115000"/>
              </a:lnSpc>
              <a:spcBef>
                <a:spcPts val="1200"/>
              </a:spcBef>
              <a:spcAft>
                <a:spcPts val="0"/>
              </a:spcAft>
              <a:buNone/>
            </a:pPr>
            <a:r>
              <a:rPr lang="en" sz="1100" dirty="0">
                <a:solidFill>
                  <a:schemeClr val="dk1"/>
                </a:solidFill>
              </a:rPr>
              <a:t> Evidence:</a:t>
            </a:r>
            <a:endParaRPr sz="1100"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rPr>
              <a:t>SERS enhances biomolecular signals by several orders of magnitude</a:t>
            </a:r>
            <a:endParaRPr sz="1100" dirty="0">
              <a:solidFill>
                <a:schemeClr val="dk1"/>
              </a:solidFill>
            </a:endParaRPr>
          </a:p>
        </p:txBody>
      </p:sp>
      <p:sp>
        <p:nvSpPr>
          <p:cNvPr id="472" name="Google Shape;472;p65"/>
          <p:cNvSpPr txBox="1"/>
          <p:nvPr/>
        </p:nvSpPr>
        <p:spPr>
          <a:xfrm>
            <a:off x="14850" y="1619299"/>
            <a:ext cx="8463000" cy="1782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sz="1700" b="1" dirty="0">
                <a:solidFill>
                  <a:schemeClr val="dk1"/>
                </a:solidFill>
              </a:rPr>
              <a:t>7. Research Gap (VERY IMPORTANT)</a:t>
            </a:r>
            <a:endParaRPr sz="1700" b="1"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sz="1100" dirty="0">
                <a:solidFill>
                  <a:schemeClr val="dk1"/>
                </a:solidFill>
              </a:rPr>
              <a:t>Very few studies on:</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dirty="0">
                <a:solidFill>
                  <a:schemeClr val="dk1"/>
                </a:solidFill>
              </a:rPr>
              <a:t>pure LTA Raman spectra</a:t>
            </a:r>
            <a:endParaRPr sz="1100" b="1"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dirty="0">
                <a:solidFill>
                  <a:schemeClr val="dk1"/>
                </a:solidFill>
              </a:rPr>
              <a:t>DFT simulation of full LTA</a:t>
            </a:r>
            <a:endParaRPr sz="1100" b="1"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dirty="0">
                <a:solidFill>
                  <a:schemeClr val="dk1"/>
                </a:solidFill>
              </a:rPr>
              <a:t>Most work uses:</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mixtures</a:t>
            </a:r>
            <a:endParaRPr sz="1100" dirty="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dirty="0">
                <a:solidFill>
                  <a:schemeClr val="dk1"/>
                </a:solidFill>
              </a:rPr>
              <a:t>model molecules</a:t>
            </a:r>
            <a:endParaRPr sz="1100" dirty="0">
              <a:solidFill>
                <a:schemeClr val="dk1"/>
              </a:solidFill>
            </a:endParaRPr>
          </a:p>
        </p:txBody>
      </p:sp>
      <p:sp>
        <p:nvSpPr>
          <p:cNvPr id="473" name="Google Shape;473;p65"/>
          <p:cNvSpPr txBox="1"/>
          <p:nvPr/>
        </p:nvSpPr>
        <p:spPr>
          <a:xfrm>
            <a:off x="5145250" y="690250"/>
            <a:ext cx="3867000" cy="400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endParaRPr/>
          </a:p>
        </p:txBody>
      </p:sp>
      <p:sp>
        <p:nvSpPr>
          <p:cNvPr id="474" name="Google Shape;474;p65"/>
          <p:cNvSpPr txBox="1"/>
          <p:nvPr/>
        </p:nvSpPr>
        <p:spPr>
          <a:xfrm>
            <a:off x="29700" y="3767463"/>
            <a:ext cx="8433300" cy="10467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dirty="0">
                <a:solidFill>
                  <a:schemeClr val="dk1"/>
                </a:solidFill>
              </a:rPr>
              <a:t>Lipoteichoic acid exhibits a phosphate-dominated but overlapping Raman/SERS fingerprint, experimentally validated by SERS studies and computationally supported by its glycerol-phosphate structure. However, due to spectral overlap and biological complexity, accurate identification requires multivariate or machine learning approaches rather than single-peak analysis.</a:t>
            </a:r>
            <a:endParaRPr dirty="0">
              <a:solidFill>
                <a:schemeClr val="dk1"/>
              </a:solidFill>
            </a:endParaRPr>
          </a:p>
        </p:txBody>
      </p:sp>
      <p:sp>
        <p:nvSpPr>
          <p:cNvPr id="475" name="Google Shape;475;p65"/>
          <p:cNvSpPr txBox="1"/>
          <p:nvPr/>
        </p:nvSpPr>
        <p:spPr>
          <a:xfrm>
            <a:off x="161956" y="3491776"/>
            <a:ext cx="3000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dirty="0"/>
              <a:t>Conclusion</a:t>
            </a:r>
            <a:endParaRPr sz="16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66"/>
          <p:cNvSpPr txBox="1"/>
          <p:nvPr/>
        </p:nvSpPr>
        <p:spPr>
          <a:xfrm>
            <a:off x="387100" y="913675"/>
            <a:ext cx="7704600" cy="3763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dk1"/>
              </a:buClr>
              <a:buSzPts val="1400"/>
              <a:buFont typeface="Calibri"/>
              <a:buNone/>
            </a:pPr>
            <a:r>
              <a:rPr lang="en" sz="2400" b="1">
                <a:solidFill>
                  <a:schemeClr val="dk1"/>
                </a:solidFill>
                <a:latin typeface="Calibri"/>
                <a:ea typeface="Calibri"/>
                <a:cs typeface="Calibri"/>
                <a:sym typeface="Calibri"/>
              </a:rPr>
              <a:t>Background</a:t>
            </a:r>
            <a:endParaRPr sz="2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Lipopolysaccharide (LPS) is a major component of Gram-negative bacterial outer membranes.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It is strongly associated with inflammation, endotoxemia, and sepsis.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Rapid identification of LPS-related spectral fingerprints can support diagnostic research.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Raman spectroscopy provides label-free molecular fingerprinting. </a:t>
            </a:r>
            <a:endParaRPr sz="1400">
              <a:solidFill>
                <a:schemeClr val="dk1"/>
              </a:solidFill>
              <a:latin typeface="Calibri"/>
              <a:ea typeface="Calibri"/>
              <a:cs typeface="Calibri"/>
              <a:sym typeface="Calibri"/>
            </a:endParaRPr>
          </a:p>
          <a:p>
            <a:pPr marL="45720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 sz="2400" b="1">
                <a:solidFill>
                  <a:schemeClr val="dk1"/>
                </a:solidFill>
                <a:latin typeface="Calibri"/>
                <a:ea typeface="Calibri"/>
                <a:cs typeface="Calibri"/>
                <a:sym typeface="Calibri"/>
              </a:rPr>
              <a:t>Problem Statement</a:t>
            </a:r>
            <a:endParaRPr sz="2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Full LPS is structurally large and complex.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Direct spectral interpretation is difficult due to overlapping bands and multiple functional groups.</a:t>
            </a:r>
            <a:endParaRPr sz="1400">
              <a:solidFill>
                <a:schemeClr val="dk1"/>
              </a:solidFill>
              <a:latin typeface="Calibri"/>
              <a:ea typeface="Calibri"/>
              <a:cs typeface="Calibri"/>
              <a:sym typeface="Calibri"/>
            </a:endParaRPr>
          </a:p>
          <a:p>
            <a:pPr marL="457200" marR="0" lvl="0" indent="0" algn="l" rtl="0">
              <a:spcBef>
                <a:spcPts val="0"/>
              </a:spcBef>
              <a:spcAft>
                <a:spcPts val="0"/>
              </a:spcAft>
              <a:buNone/>
            </a:pPr>
            <a:r>
              <a:rPr lang="en" sz="1400">
                <a:solidFill>
                  <a:schemeClr val="dk1"/>
                </a:solidFill>
                <a:latin typeface="Calibri"/>
                <a:ea typeface="Calibri"/>
                <a:cs typeface="Calibri"/>
                <a:sym typeface="Calibri"/>
              </a:rPr>
              <a:t> </a:t>
            </a:r>
            <a:endParaRPr sz="1100"/>
          </a:p>
          <a:p>
            <a:pPr marL="0" marR="0" lvl="0" indent="0" algn="l" rtl="0">
              <a:spcBef>
                <a:spcPts val="0"/>
              </a:spcBef>
              <a:spcAft>
                <a:spcPts val="0"/>
              </a:spcAft>
              <a:buClr>
                <a:schemeClr val="dk1"/>
              </a:buClr>
              <a:buSzPts val="1400"/>
              <a:buFont typeface="Calibri"/>
              <a:buNone/>
            </a:pPr>
            <a:r>
              <a:rPr lang="en" sz="2400" b="1">
                <a:solidFill>
                  <a:schemeClr val="dk1"/>
                </a:solidFill>
                <a:latin typeface="Calibri"/>
                <a:ea typeface="Calibri"/>
                <a:cs typeface="Calibri"/>
                <a:sym typeface="Calibri"/>
              </a:rPr>
              <a:t>Objective</a:t>
            </a:r>
            <a:endParaRPr sz="2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Acquire Raman spectra of LPS powder under optimized conditions.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Build fragment-based computational models representing major LPS substructures.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Compare simulated and experimental spectra.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Identify dominant contributors and characteristic Raman bands. </a:t>
            </a:r>
            <a:endParaRPr sz="1100"/>
          </a:p>
        </p:txBody>
      </p:sp>
      <p:sp>
        <p:nvSpPr>
          <p:cNvPr id="481" name="Google Shape;481;p66"/>
          <p:cNvSpPr txBox="1"/>
          <p:nvPr/>
        </p:nvSpPr>
        <p:spPr>
          <a:xfrm>
            <a:off x="1927050" y="219750"/>
            <a:ext cx="5289900" cy="5232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 sz="2200" b="1">
                <a:solidFill>
                  <a:schemeClr val="dk1"/>
                </a:solidFill>
                <a:latin typeface="Calibri"/>
                <a:ea typeface="Calibri"/>
                <a:cs typeface="Calibri"/>
                <a:sym typeface="Calibri"/>
              </a:rPr>
              <a:t>Lipopolysaccharide (LPS)</a:t>
            </a:r>
            <a:endParaRPr sz="2200" b="1"/>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67"/>
          <p:cNvSpPr txBox="1"/>
          <p:nvPr/>
        </p:nvSpPr>
        <p:spPr>
          <a:xfrm>
            <a:off x="306706" y="177584"/>
            <a:ext cx="8253600" cy="4840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dk1"/>
              </a:buClr>
              <a:buSzPts val="1400"/>
              <a:buFont typeface="Calibri"/>
              <a:buNone/>
            </a:pPr>
            <a:r>
              <a:rPr lang="en" sz="2400" b="1">
                <a:solidFill>
                  <a:schemeClr val="dk1"/>
                </a:solidFill>
                <a:latin typeface="Calibri"/>
                <a:ea typeface="Calibri"/>
                <a:cs typeface="Calibri"/>
                <a:sym typeface="Calibri"/>
              </a:rPr>
              <a:t>Experimental Workflow</a:t>
            </a:r>
            <a:endParaRPr sz="2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Sample: LPS powder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Raman measurements performed under multiple acquisition settings: </a:t>
            </a:r>
            <a:endParaRPr sz="1100"/>
          </a:p>
          <a:p>
            <a:pPr marL="558800" marR="0" lvl="1" indent="-215900" algn="l" rtl="0">
              <a:spcBef>
                <a:spcPts val="0"/>
              </a:spcBef>
              <a:spcAft>
                <a:spcPts val="0"/>
              </a:spcAft>
              <a:buClr>
                <a:schemeClr val="dk1"/>
              </a:buClr>
              <a:buSzPts val="1400"/>
              <a:buFont typeface="Arial"/>
              <a:buChar char="•"/>
            </a:pPr>
            <a:r>
              <a:rPr lang="en" sz="1400" b="0" i="0" u="none" strike="noStrike" cap="none">
                <a:solidFill>
                  <a:schemeClr val="dk1"/>
                </a:solidFill>
                <a:latin typeface="Calibri"/>
                <a:ea typeface="Calibri"/>
                <a:cs typeface="Calibri"/>
                <a:sym typeface="Calibri"/>
              </a:rPr>
              <a:t>Different integration times </a:t>
            </a:r>
            <a:endParaRPr sz="1100"/>
          </a:p>
          <a:p>
            <a:pPr marL="558800" marR="0" lvl="1" indent="-215900" algn="l" rtl="0">
              <a:spcBef>
                <a:spcPts val="0"/>
              </a:spcBef>
              <a:spcAft>
                <a:spcPts val="0"/>
              </a:spcAft>
              <a:buClr>
                <a:schemeClr val="dk1"/>
              </a:buClr>
              <a:buSzPts val="1400"/>
              <a:buFont typeface="Arial"/>
              <a:buChar char="•"/>
            </a:pPr>
            <a:r>
              <a:rPr lang="en" sz="1400" b="0" i="0" u="none" strike="noStrike" cap="none">
                <a:solidFill>
                  <a:schemeClr val="dk1"/>
                </a:solidFill>
                <a:latin typeface="Calibri"/>
                <a:ea typeface="Calibri"/>
                <a:cs typeface="Calibri"/>
                <a:sym typeface="Calibri"/>
              </a:rPr>
              <a:t>Different laser powers </a:t>
            </a:r>
            <a:endParaRPr sz="1100"/>
          </a:p>
          <a:p>
            <a:pPr marL="558800" marR="0" lvl="1" indent="-215900" algn="l" rtl="0">
              <a:spcBef>
                <a:spcPts val="0"/>
              </a:spcBef>
              <a:spcAft>
                <a:spcPts val="0"/>
              </a:spcAft>
              <a:buClr>
                <a:schemeClr val="dk1"/>
              </a:buClr>
              <a:buSzPts val="1400"/>
              <a:buFont typeface="Arial"/>
              <a:buChar char="•"/>
            </a:pPr>
            <a:r>
              <a:rPr lang="en" sz="1400" b="0" i="0" u="none" strike="noStrike" cap="none">
                <a:solidFill>
                  <a:schemeClr val="dk1"/>
                </a:solidFill>
                <a:latin typeface="Calibri"/>
                <a:ea typeface="Calibri"/>
                <a:cs typeface="Calibri"/>
                <a:sym typeface="Calibri"/>
              </a:rPr>
              <a:t>Different accumulations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Best experimental condition selected based on signal quality and reproducibility. </a:t>
            </a:r>
            <a:endParaRPr sz="1100"/>
          </a:p>
          <a:p>
            <a:pPr marL="215900" marR="0" lvl="0" indent="-127000" algn="l" rtl="0">
              <a:spcBef>
                <a:spcPts val="0"/>
              </a:spcBef>
              <a:spcAft>
                <a:spcPts val="0"/>
              </a:spcAft>
              <a:buClr>
                <a:schemeClr val="dk1"/>
              </a:buClr>
              <a:buSzPts val="1400"/>
              <a:buFont typeface="Arial"/>
              <a:buNone/>
            </a:pPr>
            <a:endParaRPr sz="14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 sz="2400" b="1">
                <a:solidFill>
                  <a:schemeClr val="dk1"/>
                </a:solidFill>
                <a:latin typeface="Calibri"/>
                <a:ea typeface="Calibri"/>
                <a:cs typeface="Calibri"/>
                <a:sym typeface="Calibri"/>
              </a:rPr>
              <a:t>Optimized Condition Chosen</a:t>
            </a:r>
            <a:endParaRPr sz="2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60 s integration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20% laser power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30 accumulations </a:t>
            </a:r>
            <a:endParaRPr sz="1100"/>
          </a:p>
          <a:p>
            <a:pPr marL="0" marR="0" lvl="0" indent="0" algn="l" rtl="0">
              <a:spcBef>
                <a:spcPts val="0"/>
              </a:spcBef>
              <a:spcAft>
                <a:spcPts val="0"/>
              </a:spcAft>
              <a:buClr>
                <a:schemeClr val="dk1"/>
              </a:buClr>
              <a:buSzPts val="1400"/>
              <a:buFont typeface="Arial"/>
              <a:buNone/>
            </a:pPr>
            <a:endParaRPr sz="140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 sz="2400" b="1">
                <a:solidFill>
                  <a:schemeClr val="dk1"/>
                </a:solidFill>
                <a:latin typeface="Calibri"/>
                <a:ea typeface="Calibri"/>
                <a:cs typeface="Calibri"/>
                <a:sym typeface="Calibri"/>
              </a:rPr>
              <a:t>Computational Workflow</a:t>
            </a:r>
            <a:endParaRPr sz="2100"/>
          </a:p>
          <a:p>
            <a:pPr marL="0" marR="0" lvl="0" indent="0" algn="l" rtl="0">
              <a:spcBef>
                <a:spcPts val="0"/>
              </a:spcBef>
              <a:spcAft>
                <a:spcPts val="0"/>
              </a:spcAft>
              <a:buClr>
                <a:schemeClr val="dk1"/>
              </a:buClr>
              <a:buSzPts val="1400"/>
              <a:buFont typeface="Calibri"/>
              <a:buNone/>
            </a:pPr>
            <a:r>
              <a:rPr lang="en" sz="1400">
                <a:solidFill>
                  <a:schemeClr val="dk1"/>
                </a:solidFill>
                <a:latin typeface="Calibri"/>
                <a:ea typeface="Calibri"/>
                <a:cs typeface="Calibri"/>
                <a:sym typeface="Calibri"/>
              </a:rPr>
              <a:t>Representative fragments selected:</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KDO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Heptose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D-Glucosamine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Myristic Acid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Phosphoric Acid</a:t>
            </a:r>
            <a:endParaRPr sz="1100"/>
          </a:p>
        </p:txBody>
      </p:sp>
      <p:pic>
        <p:nvPicPr>
          <p:cNvPr id="487" name="Google Shape;487;p67"/>
          <p:cNvPicPr preferRelativeResize="0"/>
          <p:nvPr/>
        </p:nvPicPr>
        <p:blipFill rotWithShape="1">
          <a:blip r:embed="rId3">
            <a:alphaModFix/>
          </a:blip>
          <a:srcRect r="50000"/>
          <a:stretch/>
        </p:blipFill>
        <p:spPr>
          <a:xfrm>
            <a:off x="4414233" y="2323175"/>
            <a:ext cx="3678350" cy="2583675"/>
          </a:xfrm>
          <a:prstGeom prst="rect">
            <a:avLst/>
          </a:prstGeom>
          <a:noFill/>
          <a:ln>
            <a:noFill/>
          </a:ln>
        </p:spPr>
      </p:pic>
      <p:pic>
        <p:nvPicPr>
          <p:cNvPr id="488" name="Google Shape;488;p67"/>
          <p:cNvPicPr preferRelativeResize="0"/>
          <p:nvPr/>
        </p:nvPicPr>
        <p:blipFill rotWithShape="1">
          <a:blip r:embed="rId4">
            <a:alphaModFix/>
          </a:blip>
          <a:srcRect/>
          <a:stretch/>
        </p:blipFill>
        <p:spPr>
          <a:xfrm>
            <a:off x="6355576" y="331499"/>
            <a:ext cx="2332831" cy="115945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68"/>
          <p:cNvSpPr txBox="1"/>
          <p:nvPr/>
        </p:nvSpPr>
        <p:spPr>
          <a:xfrm>
            <a:off x="373085" y="266837"/>
            <a:ext cx="4571100" cy="2532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dk1"/>
              </a:buClr>
              <a:buSzPts val="1400"/>
              <a:buFont typeface="Calibri"/>
              <a:buNone/>
            </a:pPr>
            <a:r>
              <a:rPr lang="en" sz="2400" b="1">
                <a:solidFill>
                  <a:schemeClr val="dk1"/>
                </a:solidFill>
                <a:latin typeface="Calibri"/>
                <a:ea typeface="Calibri"/>
                <a:cs typeface="Calibri"/>
                <a:sym typeface="Calibri"/>
              </a:rPr>
              <a:t>Simulation Method</a:t>
            </a:r>
            <a:endParaRPr sz="2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Geometry optimization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Frequency + Raman calculations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DFT using B3LYP / 6-31G(d) </a:t>
            </a:r>
            <a:endParaRPr sz="1100"/>
          </a:p>
          <a:p>
            <a:pPr marL="0" marR="0" lvl="0" indent="0" algn="l" rtl="0">
              <a:spcBef>
                <a:spcPts val="0"/>
              </a:spcBef>
              <a:spcAft>
                <a:spcPts val="0"/>
              </a:spcAft>
              <a:buClr>
                <a:schemeClr val="dk1"/>
              </a:buClr>
              <a:buSzPts val="1400"/>
              <a:buFont typeface="Calibri"/>
              <a:buNone/>
            </a:pPr>
            <a:r>
              <a:rPr lang="en" sz="2400" b="1">
                <a:solidFill>
                  <a:schemeClr val="dk1"/>
                </a:solidFill>
                <a:latin typeface="Calibri"/>
                <a:ea typeface="Calibri"/>
                <a:cs typeface="Calibri"/>
                <a:sym typeface="Calibri"/>
              </a:rPr>
              <a:t>Data Processing</a:t>
            </a:r>
            <a:endParaRPr sz="2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Interpolation to common Raman grid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Normalization </a:t>
            </a:r>
            <a:endParaRPr sz="1100"/>
          </a:p>
          <a:p>
            <a:pPr marL="215900" marR="0" lvl="0" indent="-215900" algn="l" rtl="0">
              <a:spcBef>
                <a:spcPts val="0"/>
              </a:spcBef>
              <a:spcAft>
                <a:spcPts val="0"/>
              </a:spcAft>
              <a:buClr>
                <a:schemeClr val="dk1"/>
              </a:buClr>
              <a:buSzPts val="1400"/>
              <a:buFont typeface="Arial"/>
              <a:buChar char="•"/>
            </a:pPr>
            <a:r>
              <a:rPr lang="en" sz="1400">
                <a:solidFill>
                  <a:schemeClr val="dk1"/>
                </a:solidFill>
                <a:latin typeface="Calibri"/>
                <a:ea typeface="Calibri"/>
                <a:cs typeface="Calibri"/>
                <a:sym typeface="Calibri"/>
              </a:rPr>
              <a:t>Composite model generation: </a:t>
            </a:r>
            <a:endParaRPr sz="1100"/>
          </a:p>
          <a:p>
            <a:pPr marL="558800" marR="0" lvl="1" indent="-215900" algn="l" rtl="0">
              <a:spcBef>
                <a:spcPts val="0"/>
              </a:spcBef>
              <a:spcAft>
                <a:spcPts val="0"/>
              </a:spcAft>
              <a:buClr>
                <a:schemeClr val="dk1"/>
              </a:buClr>
              <a:buSzPts val="1400"/>
              <a:buFont typeface="Arial"/>
              <a:buChar char="•"/>
            </a:pPr>
            <a:r>
              <a:rPr lang="en" sz="1400" b="0" i="0" u="none" strike="noStrike" cap="none">
                <a:solidFill>
                  <a:schemeClr val="dk1"/>
                </a:solidFill>
                <a:latin typeface="Calibri"/>
                <a:ea typeface="Calibri"/>
                <a:cs typeface="Calibri"/>
                <a:sym typeface="Calibri"/>
              </a:rPr>
              <a:t>Equal-weight model </a:t>
            </a:r>
            <a:endParaRPr sz="1100"/>
          </a:p>
          <a:p>
            <a:pPr marL="558800" marR="0" lvl="1" indent="-215900" algn="l" rtl="0">
              <a:spcBef>
                <a:spcPts val="0"/>
              </a:spcBef>
              <a:spcAft>
                <a:spcPts val="0"/>
              </a:spcAft>
              <a:buClr>
                <a:schemeClr val="dk1"/>
              </a:buClr>
              <a:buSzPts val="1400"/>
              <a:buFont typeface="Arial"/>
              <a:buChar char="•"/>
            </a:pPr>
            <a:r>
              <a:rPr lang="en" sz="1400" b="0" i="0" u="none" strike="noStrike" cap="none">
                <a:solidFill>
                  <a:schemeClr val="dk1"/>
                </a:solidFill>
                <a:latin typeface="Calibri"/>
                <a:ea typeface="Calibri"/>
                <a:cs typeface="Calibri"/>
                <a:sym typeface="Calibri"/>
              </a:rPr>
              <a:t>NNLS optimized model</a:t>
            </a:r>
            <a:endParaRPr sz="1100"/>
          </a:p>
        </p:txBody>
      </p:sp>
      <p:pic>
        <p:nvPicPr>
          <p:cNvPr id="494" name="Google Shape;494;p68"/>
          <p:cNvPicPr preferRelativeResize="0"/>
          <p:nvPr/>
        </p:nvPicPr>
        <p:blipFill rotWithShape="1">
          <a:blip r:embed="rId3">
            <a:alphaModFix/>
          </a:blip>
          <a:srcRect/>
          <a:stretch/>
        </p:blipFill>
        <p:spPr>
          <a:xfrm>
            <a:off x="5017628" y="189564"/>
            <a:ext cx="3456350" cy="3742923"/>
          </a:xfrm>
          <a:prstGeom prst="rect">
            <a:avLst/>
          </a:prstGeom>
          <a:noFill/>
          <a:ln>
            <a:noFill/>
          </a:ln>
        </p:spPr>
      </p:pic>
      <p:pic>
        <p:nvPicPr>
          <p:cNvPr id="495" name="Google Shape;495;p68"/>
          <p:cNvPicPr preferRelativeResize="0"/>
          <p:nvPr/>
        </p:nvPicPr>
        <p:blipFill rotWithShape="1">
          <a:blip r:embed="rId4">
            <a:alphaModFix/>
          </a:blip>
          <a:srcRect/>
          <a:stretch/>
        </p:blipFill>
        <p:spPr>
          <a:xfrm>
            <a:off x="616899" y="2884297"/>
            <a:ext cx="3901979" cy="193018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pic>
        <p:nvPicPr>
          <p:cNvPr id="500" name="Google Shape;500;p69"/>
          <p:cNvPicPr preferRelativeResize="0"/>
          <p:nvPr/>
        </p:nvPicPr>
        <p:blipFill rotWithShape="1">
          <a:blip r:embed="rId3">
            <a:alphaModFix/>
          </a:blip>
          <a:srcRect/>
          <a:stretch/>
        </p:blipFill>
        <p:spPr>
          <a:xfrm>
            <a:off x="5092802" y="190292"/>
            <a:ext cx="2856684" cy="1461808"/>
          </a:xfrm>
          <a:prstGeom prst="rect">
            <a:avLst/>
          </a:prstGeom>
          <a:noFill/>
          <a:ln>
            <a:noFill/>
          </a:ln>
        </p:spPr>
      </p:pic>
      <p:pic>
        <p:nvPicPr>
          <p:cNvPr id="501" name="Google Shape;501;p69"/>
          <p:cNvPicPr preferRelativeResize="0"/>
          <p:nvPr/>
        </p:nvPicPr>
        <p:blipFill rotWithShape="1">
          <a:blip r:embed="rId4">
            <a:alphaModFix/>
          </a:blip>
          <a:srcRect/>
          <a:stretch/>
        </p:blipFill>
        <p:spPr>
          <a:xfrm>
            <a:off x="906274" y="111141"/>
            <a:ext cx="2720743" cy="1392244"/>
          </a:xfrm>
          <a:prstGeom prst="rect">
            <a:avLst/>
          </a:prstGeom>
          <a:noFill/>
          <a:ln>
            <a:noFill/>
          </a:ln>
        </p:spPr>
      </p:pic>
      <p:pic>
        <p:nvPicPr>
          <p:cNvPr id="502" name="Google Shape;502;p69"/>
          <p:cNvPicPr preferRelativeResize="0"/>
          <p:nvPr/>
        </p:nvPicPr>
        <p:blipFill rotWithShape="1">
          <a:blip r:embed="rId5">
            <a:alphaModFix/>
          </a:blip>
          <a:srcRect/>
          <a:stretch/>
        </p:blipFill>
        <p:spPr>
          <a:xfrm>
            <a:off x="5132153" y="1875629"/>
            <a:ext cx="2856684" cy="1461808"/>
          </a:xfrm>
          <a:prstGeom prst="rect">
            <a:avLst/>
          </a:prstGeom>
          <a:noFill/>
          <a:ln>
            <a:noFill/>
          </a:ln>
        </p:spPr>
      </p:pic>
      <p:pic>
        <p:nvPicPr>
          <p:cNvPr id="503" name="Google Shape;503;p69"/>
          <p:cNvPicPr preferRelativeResize="0"/>
          <p:nvPr/>
        </p:nvPicPr>
        <p:blipFill rotWithShape="1">
          <a:blip r:embed="rId6">
            <a:alphaModFix/>
          </a:blip>
          <a:srcRect/>
          <a:stretch/>
        </p:blipFill>
        <p:spPr>
          <a:xfrm>
            <a:off x="906273" y="1875629"/>
            <a:ext cx="2720743" cy="1392244"/>
          </a:xfrm>
          <a:prstGeom prst="rect">
            <a:avLst/>
          </a:prstGeom>
          <a:noFill/>
          <a:ln>
            <a:noFill/>
          </a:ln>
        </p:spPr>
      </p:pic>
      <p:pic>
        <p:nvPicPr>
          <p:cNvPr id="504" name="Google Shape;504;p69"/>
          <p:cNvPicPr preferRelativeResize="0"/>
          <p:nvPr/>
        </p:nvPicPr>
        <p:blipFill rotWithShape="1">
          <a:blip r:embed="rId7">
            <a:alphaModFix/>
          </a:blip>
          <a:srcRect/>
          <a:stretch/>
        </p:blipFill>
        <p:spPr>
          <a:xfrm>
            <a:off x="906274" y="3640117"/>
            <a:ext cx="2618017" cy="1339678"/>
          </a:xfrm>
          <a:prstGeom prst="rect">
            <a:avLst/>
          </a:prstGeom>
          <a:noFill/>
          <a:ln>
            <a:noFill/>
          </a:ln>
        </p:spPr>
      </p:pic>
      <p:pic>
        <p:nvPicPr>
          <p:cNvPr id="505" name="Google Shape;505;p69"/>
          <p:cNvPicPr preferRelativeResize="0"/>
          <p:nvPr/>
        </p:nvPicPr>
        <p:blipFill rotWithShape="1">
          <a:blip r:embed="rId8">
            <a:alphaModFix/>
          </a:blip>
          <a:srcRect/>
          <a:stretch/>
        </p:blipFill>
        <p:spPr>
          <a:xfrm>
            <a:off x="5132153" y="3398438"/>
            <a:ext cx="2817332" cy="173064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pic>
        <p:nvPicPr>
          <p:cNvPr id="510" name="Google Shape;510;p70"/>
          <p:cNvPicPr preferRelativeResize="0"/>
          <p:nvPr/>
        </p:nvPicPr>
        <p:blipFill rotWithShape="1">
          <a:blip r:embed="rId3">
            <a:alphaModFix/>
          </a:blip>
          <a:srcRect/>
          <a:stretch/>
        </p:blipFill>
        <p:spPr>
          <a:xfrm>
            <a:off x="523200" y="570067"/>
            <a:ext cx="8097601" cy="400336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pic>
        <p:nvPicPr>
          <p:cNvPr id="515" name="Google Shape;515;p71"/>
          <p:cNvPicPr preferRelativeResize="0"/>
          <p:nvPr/>
        </p:nvPicPr>
        <p:blipFill rotWithShape="1">
          <a:blip r:embed="rId3">
            <a:alphaModFix/>
          </a:blip>
          <a:srcRect/>
          <a:stretch/>
        </p:blipFill>
        <p:spPr>
          <a:xfrm>
            <a:off x="1095456" y="639188"/>
            <a:ext cx="6221353" cy="372566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pic>
        <p:nvPicPr>
          <p:cNvPr id="520" name="Google Shape;520;p72"/>
          <p:cNvPicPr preferRelativeResize="0"/>
          <p:nvPr/>
        </p:nvPicPr>
        <p:blipFill rotWithShape="1">
          <a:blip r:embed="rId3">
            <a:alphaModFix/>
          </a:blip>
          <a:srcRect/>
          <a:stretch/>
        </p:blipFill>
        <p:spPr>
          <a:xfrm>
            <a:off x="340158" y="497447"/>
            <a:ext cx="3811604" cy="4148608"/>
          </a:xfrm>
          <a:prstGeom prst="rect">
            <a:avLst/>
          </a:prstGeom>
          <a:noFill/>
          <a:ln>
            <a:noFill/>
          </a:ln>
        </p:spPr>
      </p:pic>
      <p:pic>
        <p:nvPicPr>
          <p:cNvPr id="521" name="Google Shape;521;p72"/>
          <p:cNvPicPr preferRelativeResize="0"/>
          <p:nvPr/>
        </p:nvPicPr>
        <p:blipFill rotWithShape="1">
          <a:blip r:embed="rId4">
            <a:alphaModFix/>
          </a:blip>
          <a:srcRect l="36830"/>
          <a:stretch/>
        </p:blipFill>
        <p:spPr>
          <a:xfrm>
            <a:off x="3829855" y="1352282"/>
            <a:ext cx="1038679" cy="3208023"/>
          </a:xfrm>
          <a:prstGeom prst="rect">
            <a:avLst/>
          </a:prstGeom>
          <a:noFill/>
          <a:ln>
            <a:noFill/>
          </a:ln>
        </p:spPr>
      </p:pic>
      <p:pic>
        <p:nvPicPr>
          <p:cNvPr id="3" name="Picture 2">
            <a:extLst>
              <a:ext uri="{FF2B5EF4-FFF2-40B4-BE49-F238E27FC236}">
                <a16:creationId xmlns:a16="http://schemas.microsoft.com/office/drawing/2014/main" id="{B6591D49-21AE-2DE3-06D6-F19F842B9FC3}"/>
              </a:ext>
            </a:extLst>
          </p:cNvPr>
          <p:cNvPicPr>
            <a:picLocks noChangeAspect="1"/>
          </p:cNvPicPr>
          <p:nvPr/>
        </p:nvPicPr>
        <p:blipFill>
          <a:blip r:embed="rId5"/>
          <a:stretch>
            <a:fillRect/>
          </a:stretch>
        </p:blipFill>
        <p:spPr>
          <a:xfrm>
            <a:off x="5267739" y="1999763"/>
            <a:ext cx="3194320" cy="256054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pic>
        <p:nvPicPr>
          <p:cNvPr id="531" name="Google Shape;531;p74"/>
          <p:cNvPicPr preferRelativeResize="0"/>
          <p:nvPr/>
        </p:nvPicPr>
        <p:blipFill rotWithShape="1">
          <a:blip r:embed="rId3">
            <a:alphaModFix/>
          </a:blip>
          <a:srcRect r="13063" b="9677"/>
          <a:stretch/>
        </p:blipFill>
        <p:spPr>
          <a:xfrm>
            <a:off x="138895" y="975575"/>
            <a:ext cx="8866212" cy="402630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pic>
        <p:nvPicPr>
          <p:cNvPr id="536" name="Google Shape;536;p75"/>
          <p:cNvPicPr preferRelativeResize="0"/>
          <p:nvPr/>
        </p:nvPicPr>
        <p:blipFill rotWithShape="1">
          <a:blip r:embed="rId3">
            <a:alphaModFix/>
          </a:blip>
          <a:srcRect/>
          <a:stretch/>
        </p:blipFill>
        <p:spPr>
          <a:xfrm>
            <a:off x="123988" y="1004552"/>
            <a:ext cx="8828410" cy="40085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42" name="Google Shape;542;p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43" name="Google Shape;543;p76"/>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544" name="Google Shape;544;p76"/>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50" name="Google Shape;550;p7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51" name="Google Shape;551;p77"/>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552" name="Google Shape;552;p77"/>
          <p:cNvPicPr preferRelativeResize="0"/>
          <p:nvPr/>
        </p:nvPicPr>
        <p:blipFill>
          <a:blip r:embed="rId4">
            <a:alphaModFix/>
          </a:blip>
          <a:stretch>
            <a:fillRect/>
          </a:stretch>
        </p:blipFill>
        <p:spPr>
          <a:xfrm>
            <a:off x="0" y="0"/>
            <a:ext cx="9144000" cy="5143500"/>
          </a:xfrm>
          <a:prstGeom prst="rect">
            <a:avLst/>
          </a:prstGeom>
          <a:noFill/>
          <a:ln>
            <a:noFill/>
          </a:ln>
        </p:spPr>
      </p:pic>
      <p:pic>
        <p:nvPicPr>
          <p:cNvPr id="553" name="Google Shape;553;p77"/>
          <p:cNvPicPr preferRelativeResize="0"/>
          <p:nvPr/>
        </p:nvPicPr>
        <p:blipFill>
          <a:blip r:embed="rId5">
            <a:alphaModFix/>
          </a:blip>
          <a:stretch>
            <a:fillRect/>
          </a:stretch>
        </p:blipFill>
        <p:spPr>
          <a:xfrm>
            <a:off x="0" y="0"/>
            <a:ext cx="9144000" cy="51435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59" name="Google Shape;559;p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60" name="Google Shape;560;p78"/>
          <p:cNvPicPr preferRelativeResize="0"/>
          <p:nvPr/>
        </p:nvPicPr>
        <p:blipFill>
          <a:blip r:embed="rId3">
            <a:alphaModFix/>
          </a:blip>
          <a:stretch>
            <a:fillRect/>
          </a:stretch>
        </p:blipFill>
        <p:spPr>
          <a:xfrm>
            <a:off x="8" y="288914"/>
            <a:ext cx="9144000" cy="5143500"/>
          </a:xfrm>
          <a:prstGeom prst="rect">
            <a:avLst/>
          </a:prstGeom>
          <a:noFill/>
          <a:ln>
            <a:noFill/>
          </a:ln>
        </p:spPr>
      </p:pic>
      <p:pic>
        <p:nvPicPr>
          <p:cNvPr id="561" name="Google Shape;561;p78"/>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7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67" name="Google Shape;567;p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68" name="Google Shape;568;p7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8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74" name="Google Shape;574;p8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75" name="Google Shape;575;p8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8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81" name="Google Shape;581;p8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82" name="Google Shape;582;p8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8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88" name="Google Shape;588;p8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89" name="Google Shape;589;p8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8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595" name="Google Shape;595;p8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596" name="Google Shape;596;p83"/>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597" name="Google Shape;597;p83"/>
          <p:cNvPicPr preferRelativeResize="0"/>
          <p:nvPr/>
        </p:nvPicPr>
        <p:blipFill>
          <a:blip r:embed="rId4">
            <a:alphaModFix/>
          </a:blip>
          <a:stretch>
            <a:fillRect/>
          </a:stretch>
        </p:blipFill>
        <p:spPr>
          <a:xfrm>
            <a:off x="0" y="0"/>
            <a:ext cx="9144000" cy="5143500"/>
          </a:xfrm>
          <a:prstGeom prst="rect">
            <a:avLst/>
          </a:prstGeom>
          <a:noFill/>
          <a:ln>
            <a:noFill/>
          </a:ln>
        </p:spPr>
      </p:pic>
      <p:pic>
        <p:nvPicPr>
          <p:cNvPr id="598" name="Google Shape;598;p83"/>
          <p:cNvPicPr preferRelativeResize="0"/>
          <p:nvPr/>
        </p:nvPicPr>
        <p:blipFill>
          <a:blip r:embed="rId5">
            <a:alphaModFix/>
          </a:blip>
          <a:stretch>
            <a:fillRect/>
          </a:stretch>
        </p:blipFill>
        <p:spPr>
          <a:xfrm>
            <a:off x="0" y="0"/>
            <a:ext cx="9144000" cy="51435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84"/>
          <p:cNvSpPr txBox="1">
            <a:spLocks noGrp="1"/>
          </p:cNvSpPr>
          <p:nvPr>
            <p:ph type="title"/>
          </p:nvPr>
        </p:nvSpPr>
        <p:spPr>
          <a:xfrm>
            <a:off x="311700" y="42760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220"/>
              <a:t>References</a:t>
            </a:r>
            <a:endParaRPr sz="2220"/>
          </a:p>
        </p:txBody>
      </p:sp>
      <p:sp>
        <p:nvSpPr>
          <p:cNvPr id="604" name="Google Shape;604;p84"/>
          <p:cNvSpPr txBox="1">
            <a:spLocks noGrp="1"/>
          </p:cNvSpPr>
          <p:nvPr>
            <p:ph type="body" idx="1"/>
          </p:nvPr>
        </p:nvSpPr>
        <p:spPr>
          <a:xfrm>
            <a:off x="162725" y="865975"/>
            <a:ext cx="8669700" cy="3702900"/>
          </a:xfrm>
          <a:prstGeom prst="rect">
            <a:avLst/>
          </a:prstGeom>
        </p:spPr>
        <p:txBody>
          <a:bodyPr spcFirstLastPara="1" wrap="square" lIns="91425" tIns="91425" rIns="91425" bIns="91425" anchor="t" anchorCtr="0">
            <a:noAutofit/>
          </a:bodyPr>
          <a:lstStyle/>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Singer M et al. Sepsis-3 Consensus Definitions. JAMA. 2016;315(8):801-810.</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Evans L et al. Surviving Sepsis Campaign Guidelines 2021. Crit Care Med. 2021;49(11):e1063-e1143.</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Schultz MJ et al. Sepsis. Nat Rev Dis Primers. 2020;6:60.</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Langer J et al. Present and Future of Surface-Enhanced Raman Scattering. ACS Nano. 2019;14(1):28-117.</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Zhou C et al. Nanomaterials for bacterial sepsis management. J Mater Chem B. 2023;11(45):10778-10792.</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Hassan M et al. Recent Advances in Bacterial Detection Using SERS. Biosensors. 2024;14(8):375.</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Derichsweiler C et al. Optical Bionanosensors for Sepsis Diagnostics. Small Methods. 2025;9(1):2301234.</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Bonini B et al. Emerging Biosensing Technologies for Early Sepsis. Biosensors. 2022;12(10):894.</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Takahashi H et al. Early antibiotic therapy and survival in sepsis. Crit Care Med. 2017;45(6):967-974.</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Sondhi P et al. Nanomaterials for Biosensing Lipopolysaccharide. Biosensors. 2019;10(1):2.</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Durkin TJ et al. Rapid Detection of Sepsis. ACS Pharmacol Transl Sci. 2021;4(6):1784-1802.</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Vollmer W et al. Peptidoglycan structure and architecture. FEMS Microbiol Rev. 2008;32(2):149-167.</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Rietschel ET et al. Bacterial endotoxin molecular relationships. FASEB J. 1994;8(2):217-225.</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 Schneewind O, Missiakas D. Lipoteichoic acids in gram-positive bacteria. J Bacteriol. 2014;196(6):1133-1142.</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Fox A et al. NAM as diagnostic marker of bacterial infection. Infect Immun. 1991.</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Morath S et al. LTA inflammatory threshold characterization. J Exp Med. 2001.</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Dina NE et al. SERS-based microdevices for in vitro diagnostics. Chem Soc Rev. 2024;53:1102-1145.</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Cialla-May D et al. Recent advances of SERS in bioanalytical research. Anal Bioanal Chem. 2024;416:673-704.</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rgbClr val="1E2D3D"/>
              </a:buClr>
              <a:buSzPts val="935"/>
              <a:buFont typeface="Calibri"/>
              <a:buChar char="●"/>
            </a:pPr>
            <a:r>
              <a:rPr lang="en" sz="935">
                <a:solidFill>
                  <a:srgbClr val="1E2D3D"/>
                </a:solidFill>
                <a:latin typeface="Calibri"/>
                <a:ea typeface="Calibri"/>
                <a:cs typeface="Calibri"/>
                <a:sym typeface="Calibri"/>
              </a:rPr>
              <a:t>Liu Y et al. Reproducible gold SERS substrate with silver nanoparticles. Analyst. 2016;141(18):5170-5178.</a:t>
            </a:r>
            <a:endParaRPr sz="935">
              <a:solidFill>
                <a:srgbClr val="1E2D3D"/>
              </a:solidFill>
              <a:latin typeface="Calibri"/>
              <a:ea typeface="Calibri"/>
              <a:cs typeface="Calibri"/>
              <a:sym typeface="Calibri"/>
            </a:endParaRPr>
          </a:p>
          <a:p>
            <a:pPr marL="457200" lvl="0" indent="-287973" algn="l" rtl="0">
              <a:lnSpc>
                <a:spcPct val="95000"/>
              </a:lnSpc>
              <a:spcBef>
                <a:spcPts val="0"/>
              </a:spcBef>
              <a:spcAft>
                <a:spcPts val="0"/>
              </a:spcAft>
              <a:buClr>
                <a:schemeClr val="dk1"/>
              </a:buClr>
              <a:buSzPts val="935"/>
              <a:buFont typeface="Calibri"/>
              <a:buChar char="●"/>
            </a:pPr>
            <a:r>
              <a:rPr lang="en" sz="935">
                <a:solidFill>
                  <a:schemeClr val="dk1"/>
                </a:solidFill>
                <a:latin typeface="Calibri"/>
                <a:ea typeface="Calibri"/>
                <a:cs typeface="Calibri"/>
                <a:sym typeface="Calibri"/>
              </a:rPr>
              <a:t> Lai CH et al. NIR SERS based on star-shaped gold/silver nanoparticles. Sci Rep. 2017;7:5446.</a:t>
            </a:r>
            <a:endParaRPr sz="935">
              <a:solidFill>
                <a:schemeClr val="dk1"/>
              </a:solidFill>
              <a:latin typeface="Calibri"/>
              <a:ea typeface="Calibri"/>
              <a:cs typeface="Calibri"/>
              <a:sym typeface="Calibri"/>
            </a:endParaRPr>
          </a:p>
          <a:p>
            <a:pPr marL="457200" lvl="0" indent="-287973" algn="l" rtl="0">
              <a:lnSpc>
                <a:spcPct val="95000"/>
              </a:lnSpc>
              <a:spcBef>
                <a:spcPts val="0"/>
              </a:spcBef>
              <a:spcAft>
                <a:spcPts val="0"/>
              </a:spcAft>
              <a:buClr>
                <a:schemeClr val="dk1"/>
              </a:buClr>
              <a:buSzPts val="935"/>
              <a:buFont typeface="Calibri"/>
              <a:buChar char="●"/>
            </a:pPr>
            <a:r>
              <a:rPr lang="en" sz="935">
                <a:solidFill>
                  <a:schemeClr val="dk1"/>
                </a:solidFill>
                <a:latin typeface="Calibri"/>
                <a:ea typeface="Calibri"/>
                <a:cs typeface="Calibri"/>
                <a:sym typeface="Calibri"/>
              </a:rPr>
              <a:t> Yang Y et al. Gold and silver nanoparticles for SERS applications. Nanomaterials. 2020;9(7):1014.</a:t>
            </a:r>
            <a:endParaRPr sz="935">
              <a:solidFill>
                <a:schemeClr val="dk1"/>
              </a:solidFill>
              <a:latin typeface="Calibri"/>
              <a:ea typeface="Calibri"/>
              <a:cs typeface="Calibri"/>
              <a:sym typeface="Calibri"/>
            </a:endParaRPr>
          </a:p>
          <a:p>
            <a:pPr marL="457200" lvl="0" indent="-287973" algn="l" rtl="0">
              <a:lnSpc>
                <a:spcPct val="95000"/>
              </a:lnSpc>
              <a:spcBef>
                <a:spcPts val="0"/>
              </a:spcBef>
              <a:spcAft>
                <a:spcPts val="0"/>
              </a:spcAft>
              <a:buClr>
                <a:schemeClr val="dk1"/>
              </a:buClr>
              <a:buSzPts val="935"/>
              <a:buFont typeface="Calibri"/>
              <a:buChar char="●"/>
            </a:pPr>
            <a:r>
              <a:rPr lang="en" sz="935">
                <a:solidFill>
                  <a:schemeClr val="dk1"/>
                </a:solidFill>
                <a:latin typeface="Calibri"/>
                <a:ea typeface="Calibri"/>
                <a:cs typeface="Calibri"/>
                <a:sym typeface="Calibri"/>
              </a:rPr>
              <a:t> Nine E et al. SERS-based antibiotic susceptibility testing. Biosens Bioelectron. 2023;219:114830.</a:t>
            </a:r>
            <a:endParaRPr sz="935">
              <a:solidFill>
                <a:schemeClr val="dk1"/>
              </a:solidFill>
              <a:latin typeface="Calibri"/>
              <a:ea typeface="Calibri"/>
              <a:cs typeface="Calibri"/>
              <a:sym typeface="Calibri"/>
            </a:endParaRPr>
          </a:p>
          <a:p>
            <a:pPr marL="457200" lvl="0" indent="-287973" algn="l" rtl="0">
              <a:lnSpc>
                <a:spcPct val="95000"/>
              </a:lnSpc>
              <a:spcBef>
                <a:spcPts val="0"/>
              </a:spcBef>
              <a:spcAft>
                <a:spcPts val="0"/>
              </a:spcAft>
              <a:buClr>
                <a:schemeClr val="dk1"/>
              </a:buClr>
              <a:buSzPts val="935"/>
              <a:buFont typeface="Calibri"/>
              <a:buChar char="●"/>
            </a:pPr>
            <a:r>
              <a:rPr lang="en" sz="935">
                <a:solidFill>
                  <a:schemeClr val="dk1"/>
                </a:solidFill>
                <a:latin typeface="Calibri"/>
                <a:ea typeface="Calibri"/>
                <a:cs typeface="Calibri"/>
                <a:sym typeface="Calibri"/>
              </a:rPr>
              <a:t> Tan T, Mohamad NS. Electrochemical Aptamer Biosensors for Sepsis Diagnosis. Biosensors. 2025;15(7):402.</a:t>
            </a:r>
            <a:endParaRPr sz="935">
              <a:solidFill>
                <a:schemeClr val="dk1"/>
              </a:solidFill>
              <a:latin typeface="Calibri"/>
              <a:ea typeface="Calibri"/>
              <a:cs typeface="Calibri"/>
              <a:sym typeface="Calibri"/>
            </a:endParaRPr>
          </a:p>
          <a:p>
            <a:pPr marL="457200" lvl="0" indent="-287973" algn="l" rtl="0">
              <a:lnSpc>
                <a:spcPct val="95000"/>
              </a:lnSpc>
              <a:spcBef>
                <a:spcPts val="0"/>
              </a:spcBef>
              <a:spcAft>
                <a:spcPts val="0"/>
              </a:spcAft>
              <a:buClr>
                <a:schemeClr val="dk1"/>
              </a:buClr>
              <a:buSzPts val="935"/>
              <a:buFont typeface="Calibri"/>
              <a:buChar char="●"/>
            </a:pPr>
            <a:r>
              <a:rPr lang="en" sz="935">
                <a:solidFill>
                  <a:schemeClr val="dk1"/>
                </a:solidFill>
                <a:latin typeface="Calibri"/>
                <a:ea typeface="Calibri"/>
                <a:cs typeface="Calibri"/>
                <a:sym typeface="Calibri"/>
              </a:rPr>
              <a:t> Lin S et al. Rapid SERS method for Rhodamine B determination. RSC Advances.</a:t>
            </a:r>
            <a:endParaRPr sz="935">
              <a:solidFill>
                <a:schemeClr val="dk1"/>
              </a:solidFill>
              <a:latin typeface="Calibri"/>
              <a:ea typeface="Calibri"/>
              <a:cs typeface="Calibri"/>
              <a:sym typeface="Calibri"/>
            </a:endParaRPr>
          </a:p>
          <a:p>
            <a:pPr marL="457200" lvl="0" indent="-287973" algn="l" rtl="0">
              <a:lnSpc>
                <a:spcPct val="95000"/>
              </a:lnSpc>
              <a:spcBef>
                <a:spcPts val="0"/>
              </a:spcBef>
              <a:spcAft>
                <a:spcPts val="0"/>
              </a:spcAft>
              <a:buClr>
                <a:schemeClr val="dk1"/>
              </a:buClr>
              <a:buSzPts val="935"/>
              <a:buFont typeface="Calibri"/>
              <a:buChar char="●"/>
            </a:pPr>
            <a:r>
              <a:rPr lang="en" sz="935">
                <a:solidFill>
                  <a:schemeClr val="dk1"/>
                </a:solidFill>
                <a:latin typeface="Calibri"/>
                <a:ea typeface="Calibri"/>
                <a:cs typeface="Calibri"/>
                <a:sym typeface="Calibri"/>
              </a:rPr>
              <a:t> Kotoulas N et al. Differentiating bacteria by unique surface interactions. PLoS ONE. 2025;20(6):e0327489.</a:t>
            </a:r>
            <a:endParaRPr sz="935">
              <a:solidFill>
                <a:schemeClr val="dk1"/>
              </a:solidFill>
              <a:latin typeface="Calibri"/>
              <a:ea typeface="Calibri"/>
              <a:cs typeface="Calibri"/>
              <a:sym typeface="Calibri"/>
            </a:endParaRPr>
          </a:p>
          <a:p>
            <a:pPr marL="457200" lvl="0" indent="-287973" algn="l" rtl="0">
              <a:lnSpc>
                <a:spcPct val="95000"/>
              </a:lnSpc>
              <a:spcBef>
                <a:spcPts val="0"/>
              </a:spcBef>
              <a:spcAft>
                <a:spcPts val="0"/>
              </a:spcAft>
              <a:buClr>
                <a:schemeClr val="dk1"/>
              </a:buClr>
              <a:buSzPts val="935"/>
              <a:buFont typeface="Calibri"/>
              <a:buChar char="●"/>
            </a:pPr>
            <a:r>
              <a:rPr lang="en" sz="935">
                <a:solidFill>
                  <a:schemeClr val="dk1"/>
                </a:solidFill>
                <a:latin typeface="Calibri"/>
                <a:ea typeface="Calibri"/>
                <a:cs typeface="Calibri"/>
                <a:sym typeface="Calibri"/>
              </a:rPr>
              <a:t> Kundu A et al. Ultrasensitive detection of biomarkers on AgNP SERS platform. Sens Diagn. 2022;1:1156-1167</a:t>
            </a:r>
            <a:endParaRPr sz="153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85"/>
          <p:cNvSpPr txBox="1">
            <a:spLocks noGrp="1"/>
          </p:cNvSpPr>
          <p:nvPr>
            <p:ph type="body" idx="1"/>
          </p:nvPr>
        </p:nvSpPr>
        <p:spPr>
          <a:xfrm>
            <a:off x="119925" y="245825"/>
            <a:ext cx="8520600" cy="3416400"/>
          </a:xfrm>
          <a:prstGeom prst="rect">
            <a:avLst/>
          </a:prstGeom>
        </p:spPr>
        <p:txBody>
          <a:bodyPr spcFirstLastPara="1" wrap="square" lIns="91425" tIns="91425" rIns="91425" bIns="91425" anchor="t" anchorCtr="0">
            <a:normAutofit/>
          </a:bodyPr>
          <a:lstStyle/>
          <a:p>
            <a:pPr marL="457200" lvl="0" indent="0" algn="l" rtl="0">
              <a:spcBef>
                <a:spcPts val="0"/>
              </a:spcBef>
              <a:spcAft>
                <a:spcPts val="0"/>
              </a:spcAft>
              <a:buNone/>
            </a:pP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Yang Y et al. Specific detection of bacteria using surface cell imprinted SERS. Biosens Bioelectron. 2022;215:114524.</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Singh S et al. Point-of-Care for Antimicrobial Resistance evaluation. ACS Pharmacol Transl Sci. 2021;4(6):1838-1853.</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Reali M et al. Novel diagnostics for POC bacterial detection. Chem Soc Rev. 2019;48:1448-1472.</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Schultz KT et al. Point-of-care rapid sepsis diagnostics. Lancet Infect Dis. 2021;21(1):e1-e14.</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World Bank. Global Sepsis Burden and Economic Impact. 2020.</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SNS Insider. Sepsis Diagnostics Market Report 2032. 2024.</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Burda CC et al. Chemistry and properties of nanocrystals of different shapes. Chem Rev. 2005;105(4):1025-1102.</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Verma N et al. Gram-positive bacterial identification. J Microbiol Methods. 2021;179:106086.</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Mobed A et al. Bacterial biomarker detection methods. Biosens Bioelectron. 2020;165:112431.</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Weinstein C et al. Controlled Optimized Broth Media for Blood Infection Detection. J Clin Microbiol. 2004;42(10):4627.</a:t>
            </a:r>
            <a:endParaRPr sz="1100">
              <a:solidFill>
                <a:schemeClr val="dk1"/>
              </a:solidFill>
              <a:latin typeface="Calibri"/>
              <a:ea typeface="Calibri"/>
              <a:cs typeface="Calibri"/>
              <a:sym typeface="Calibri"/>
            </a:endParaRPr>
          </a:p>
          <a:p>
            <a:pPr marL="457200" lvl="0" indent="-2984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Tan YN et al. Sepsis Diagnostics Market. SNS Insider Report. 2024.</a:t>
            </a:r>
            <a:endParaRPr sz="1100">
              <a:solidFill>
                <a:schemeClr val="dk1"/>
              </a:solidFill>
              <a:latin typeface="Calibri"/>
              <a:ea typeface="Calibri"/>
              <a:cs typeface="Calibri"/>
              <a:sym typeface="Calibri"/>
            </a:endParaRPr>
          </a:p>
          <a:p>
            <a:pPr marL="457200" lvl="0" indent="0" algn="l" rtl="0">
              <a:spcBef>
                <a:spcPts val="0"/>
              </a:spcBef>
              <a:spcAft>
                <a:spcPts val="1200"/>
              </a:spcAft>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8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615" name="Google Shape;615;p8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616" name="Google Shape;616;p8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2640</Words>
  <Application>Microsoft Office PowerPoint</Application>
  <PresentationFormat>On-screen Show (16:9)</PresentationFormat>
  <Paragraphs>431</Paragraphs>
  <Slides>61</Slides>
  <Notes>61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61</vt:i4>
      </vt:variant>
    </vt:vector>
  </HeadingPairs>
  <TitlesOfParts>
    <vt:vector size="67" baseType="lpstr">
      <vt:lpstr>Calibri</vt:lpstr>
      <vt:lpstr>Outfit SemiBold</vt:lpstr>
      <vt:lpstr>Noto Sans Symbols</vt:lpstr>
      <vt:lpstr>Arial</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Diagram representation of   a)LPS  &amp;     b) LTA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mohamed zaki hafeez</dc:creator>
  <cp:lastModifiedBy>mohamed zaki hafeez</cp:lastModifiedBy>
  <cp:revision>9</cp:revision>
  <dcterms:modified xsi:type="dcterms:W3CDTF">2026-04-17T17:31:21Z</dcterms:modified>
</cp:coreProperties>
</file>