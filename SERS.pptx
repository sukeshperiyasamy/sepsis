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58400" cy="7772400"/>
  <p:notesSz cx="10058400" cy="7772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1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79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rgbClr val="7279A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rgbClr val="7279A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5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rgbClr val="7279A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6276" y="1153460"/>
            <a:ext cx="9705847" cy="66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>
                <a:solidFill>
                  <a:srgbClr val="7279A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16456" y="2127504"/>
            <a:ext cx="6825487" cy="3040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7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Relationship Id="rId9" Type="http://schemas.openxmlformats.org/officeDocument/2006/relationships/image" Target="../media/image3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88735" y="2913888"/>
            <a:ext cx="512063" cy="19385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98335" y="1036320"/>
            <a:ext cx="3547871" cy="5693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07" y="1085088"/>
            <a:ext cx="0" cy="347980"/>
          </a:xfrm>
          <a:custGeom>
            <a:avLst/>
            <a:gdLst/>
            <a:ahLst/>
            <a:cxnLst/>
            <a:rect l="l" t="t" r="r" b="b"/>
            <a:pathLst>
              <a:path h="347980">
                <a:moveTo>
                  <a:pt x="0" y="347471"/>
                </a:moveTo>
                <a:lnTo>
                  <a:pt x="0" y="0"/>
                </a:lnTo>
              </a:path>
            </a:pathLst>
          </a:custGeom>
          <a:ln w="45720">
            <a:solidFill>
              <a:srgbClr val="F7B8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-6603" y="3203173"/>
            <a:ext cx="5836285" cy="139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">
              <a:lnSpc>
                <a:spcPts val="3995"/>
              </a:lnSpc>
            </a:pPr>
            <a:r>
              <a:rPr sz="3700" spc="-265" dirty="0">
                <a:solidFill>
                  <a:srgbClr val="7279A7"/>
                </a:solidFill>
                <a:latin typeface="Arial"/>
                <a:cs typeface="Arial"/>
              </a:rPr>
              <a:t>S</a:t>
            </a:r>
            <a:r>
              <a:rPr sz="3700" spc="-135" dirty="0">
                <a:solidFill>
                  <a:srgbClr val="7279A7"/>
                </a:solidFill>
                <a:latin typeface="Arial"/>
                <a:cs typeface="Arial"/>
              </a:rPr>
              <a:t>ERS-</a:t>
            </a:r>
            <a:r>
              <a:rPr sz="3700" spc="-204" dirty="0">
                <a:solidFill>
                  <a:srgbClr val="7279A7"/>
                </a:solidFill>
                <a:latin typeface="Arial"/>
                <a:cs typeface="Arial"/>
              </a:rPr>
              <a:t>B</a:t>
            </a:r>
            <a:r>
              <a:rPr sz="3700" spc="285" dirty="0">
                <a:solidFill>
                  <a:srgbClr val="7279A7"/>
                </a:solidFill>
                <a:latin typeface="Arial"/>
                <a:cs typeface="Arial"/>
              </a:rPr>
              <a:t>a</a:t>
            </a:r>
            <a:r>
              <a:rPr sz="3700" spc="165" dirty="0">
                <a:solidFill>
                  <a:srgbClr val="7279A7"/>
                </a:solidFill>
                <a:latin typeface="Arial"/>
                <a:cs typeface="Arial"/>
              </a:rPr>
              <a:t>s</a:t>
            </a:r>
            <a:r>
              <a:rPr sz="3700" spc="120" dirty="0">
                <a:solidFill>
                  <a:srgbClr val="7279A7"/>
                </a:solidFill>
                <a:latin typeface="Arial"/>
                <a:cs typeface="Arial"/>
              </a:rPr>
              <a:t>e</a:t>
            </a:r>
            <a:r>
              <a:rPr sz="3700" spc="595" dirty="0">
                <a:solidFill>
                  <a:srgbClr val="7279A7"/>
                </a:solidFill>
                <a:latin typeface="Arial"/>
                <a:cs typeface="Arial"/>
              </a:rPr>
              <a:t>d</a:t>
            </a:r>
            <a:endParaRPr sz="3700">
              <a:latin typeface="Arial"/>
              <a:cs typeface="Arial"/>
            </a:endParaRPr>
          </a:p>
          <a:p>
            <a:pPr marL="12700" marR="5080" indent="20955">
              <a:lnSpc>
                <a:spcPct val="78900"/>
              </a:lnSpc>
              <a:spcBef>
                <a:spcPts val="490"/>
              </a:spcBef>
            </a:pPr>
            <a:r>
              <a:rPr sz="3700" spc="-110" dirty="0">
                <a:solidFill>
                  <a:srgbClr val="7279A7"/>
                </a:solidFill>
                <a:latin typeface="Arial"/>
                <a:cs typeface="Arial"/>
              </a:rPr>
              <a:t>N</a:t>
            </a:r>
            <a:r>
              <a:rPr sz="3700" spc="430" dirty="0">
                <a:solidFill>
                  <a:srgbClr val="7279A7"/>
                </a:solidFill>
                <a:latin typeface="Arial"/>
                <a:cs typeface="Arial"/>
              </a:rPr>
              <a:t>a</a:t>
            </a:r>
            <a:r>
              <a:rPr sz="3700" spc="275" dirty="0">
                <a:solidFill>
                  <a:srgbClr val="7279A7"/>
                </a:solidFill>
                <a:latin typeface="Arial"/>
                <a:cs typeface="Arial"/>
              </a:rPr>
              <a:t>n</a:t>
            </a:r>
            <a:r>
              <a:rPr sz="3700" spc="310" dirty="0">
                <a:solidFill>
                  <a:srgbClr val="7279A7"/>
                </a:solidFill>
                <a:latin typeface="Arial"/>
                <a:cs typeface="Arial"/>
              </a:rPr>
              <a:t>o</a:t>
            </a:r>
            <a:r>
              <a:rPr sz="3700" spc="50" dirty="0">
                <a:solidFill>
                  <a:srgbClr val="7279A7"/>
                </a:solidFill>
                <a:latin typeface="Arial"/>
                <a:cs typeface="Arial"/>
              </a:rPr>
              <a:t>b</a:t>
            </a:r>
            <a:r>
              <a:rPr sz="3700" spc="-135" dirty="0">
                <a:solidFill>
                  <a:srgbClr val="7279A7"/>
                </a:solidFill>
                <a:latin typeface="Arial"/>
                <a:cs typeface="Arial"/>
              </a:rPr>
              <a:t>i</a:t>
            </a:r>
            <a:r>
              <a:rPr sz="3700" spc="215" dirty="0">
                <a:solidFill>
                  <a:srgbClr val="7279A7"/>
                </a:solidFill>
                <a:latin typeface="Arial"/>
                <a:cs typeface="Arial"/>
              </a:rPr>
              <a:t>o</a:t>
            </a:r>
            <a:r>
              <a:rPr sz="3700" spc="90" dirty="0">
                <a:solidFill>
                  <a:srgbClr val="7279A7"/>
                </a:solidFill>
                <a:latin typeface="Arial"/>
                <a:cs typeface="Arial"/>
              </a:rPr>
              <a:t>s</a:t>
            </a:r>
            <a:r>
              <a:rPr sz="3700" spc="240" dirty="0">
                <a:solidFill>
                  <a:srgbClr val="7279A7"/>
                </a:solidFill>
                <a:latin typeface="Arial"/>
                <a:cs typeface="Arial"/>
              </a:rPr>
              <a:t>en</a:t>
            </a:r>
            <a:r>
              <a:rPr sz="3700" spc="90" dirty="0">
                <a:solidFill>
                  <a:srgbClr val="7279A7"/>
                </a:solidFill>
                <a:latin typeface="Arial"/>
                <a:cs typeface="Arial"/>
              </a:rPr>
              <a:t>s</a:t>
            </a:r>
            <a:r>
              <a:rPr sz="3700" spc="310" dirty="0">
                <a:solidFill>
                  <a:srgbClr val="7279A7"/>
                </a:solidFill>
                <a:latin typeface="Arial"/>
                <a:cs typeface="Arial"/>
              </a:rPr>
              <a:t>o</a:t>
            </a:r>
            <a:r>
              <a:rPr sz="3700" spc="245" dirty="0">
                <a:solidFill>
                  <a:srgbClr val="7279A7"/>
                </a:solidFill>
                <a:latin typeface="Arial"/>
                <a:cs typeface="Arial"/>
              </a:rPr>
              <a:t>r</a:t>
            </a:r>
            <a:r>
              <a:rPr sz="3700" spc="-445" dirty="0">
                <a:solidFill>
                  <a:srgbClr val="7279A7"/>
                </a:solidFill>
                <a:latin typeface="Arial"/>
                <a:cs typeface="Arial"/>
              </a:rPr>
              <a:t> </a:t>
            </a:r>
            <a:r>
              <a:rPr sz="3700" spc="240" dirty="0">
                <a:solidFill>
                  <a:srgbClr val="7279A7"/>
                </a:solidFill>
                <a:latin typeface="Arial"/>
                <a:cs typeface="Arial"/>
              </a:rPr>
              <a:t>W</a:t>
            </a:r>
            <a:r>
              <a:rPr sz="3700" spc="315" dirty="0">
                <a:solidFill>
                  <a:srgbClr val="7279A7"/>
                </a:solidFill>
                <a:latin typeface="Arial"/>
                <a:cs typeface="Arial"/>
              </a:rPr>
              <a:t>orkf</a:t>
            </a:r>
            <a:r>
              <a:rPr sz="3700" spc="-85" dirty="0">
                <a:solidFill>
                  <a:srgbClr val="7279A7"/>
                </a:solidFill>
                <a:latin typeface="Arial"/>
                <a:cs typeface="Arial"/>
              </a:rPr>
              <a:t>l</a:t>
            </a:r>
            <a:r>
              <a:rPr sz="3700" spc="95" dirty="0">
                <a:solidFill>
                  <a:srgbClr val="7279A7"/>
                </a:solidFill>
                <a:latin typeface="Arial"/>
                <a:cs typeface="Arial"/>
              </a:rPr>
              <a:t>o</a:t>
            </a:r>
            <a:r>
              <a:rPr sz="3700" spc="480" dirty="0">
                <a:solidFill>
                  <a:srgbClr val="7279A7"/>
                </a:solidFill>
                <a:latin typeface="Arial"/>
                <a:cs typeface="Arial"/>
              </a:rPr>
              <a:t>w</a:t>
            </a:r>
            <a:r>
              <a:rPr sz="3700" spc="185" dirty="0">
                <a:solidFill>
                  <a:srgbClr val="7279A7"/>
                </a:solidFill>
                <a:latin typeface="Arial"/>
                <a:cs typeface="Arial"/>
              </a:rPr>
              <a:t> </a:t>
            </a:r>
            <a:r>
              <a:rPr sz="3700" spc="160" dirty="0">
                <a:solidFill>
                  <a:srgbClr val="7279A7"/>
                </a:solidFill>
                <a:latin typeface="Arial"/>
                <a:cs typeface="Arial"/>
              </a:rPr>
              <a:t>f</a:t>
            </a:r>
            <a:r>
              <a:rPr sz="3700" spc="365" dirty="0">
                <a:solidFill>
                  <a:srgbClr val="7279A7"/>
                </a:solidFill>
                <a:latin typeface="Arial"/>
                <a:cs typeface="Arial"/>
              </a:rPr>
              <a:t>o</a:t>
            </a:r>
            <a:r>
              <a:rPr sz="3700" spc="270" dirty="0">
                <a:solidFill>
                  <a:srgbClr val="7279A7"/>
                </a:solidFill>
                <a:latin typeface="Arial"/>
                <a:cs typeface="Arial"/>
              </a:rPr>
              <a:t>r</a:t>
            </a:r>
            <a:r>
              <a:rPr sz="3700" spc="-420" dirty="0">
                <a:solidFill>
                  <a:srgbClr val="7279A7"/>
                </a:solidFill>
                <a:latin typeface="Arial"/>
                <a:cs typeface="Arial"/>
              </a:rPr>
              <a:t> </a:t>
            </a:r>
            <a:r>
              <a:rPr sz="3700" spc="-335" dirty="0">
                <a:solidFill>
                  <a:srgbClr val="7279A7"/>
                </a:solidFill>
                <a:latin typeface="Arial"/>
                <a:cs typeface="Arial"/>
              </a:rPr>
              <a:t>S</a:t>
            </a:r>
            <a:r>
              <a:rPr sz="3700" spc="240" dirty="0">
                <a:solidFill>
                  <a:srgbClr val="7279A7"/>
                </a:solidFill>
                <a:latin typeface="Arial"/>
                <a:cs typeface="Arial"/>
              </a:rPr>
              <a:t>e</a:t>
            </a:r>
            <a:r>
              <a:rPr sz="3700" spc="245" dirty="0">
                <a:solidFill>
                  <a:srgbClr val="7279A7"/>
                </a:solidFill>
                <a:latin typeface="Arial"/>
                <a:cs typeface="Arial"/>
              </a:rPr>
              <a:t>p</a:t>
            </a:r>
            <a:r>
              <a:rPr sz="3700" spc="-165" dirty="0">
                <a:solidFill>
                  <a:srgbClr val="7279A7"/>
                </a:solidFill>
                <a:latin typeface="Arial"/>
                <a:cs typeface="Arial"/>
              </a:rPr>
              <a:t>s</a:t>
            </a:r>
            <a:r>
              <a:rPr sz="3700" spc="-195" dirty="0">
                <a:solidFill>
                  <a:srgbClr val="7279A7"/>
                </a:solidFill>
                <a:latin typeface="Arial"/>
                <a:cs typeface="Arial"/>
              </a:rPr>
              <a:t>i</a:t>
            </a:r>
            <a:r>
              <a:rPr sz="3700" spc="165" dirty="0">
                <a:solidFill>
                  <a:srgbClr val="7279A7"/>
                </a:solidFill>
                <a:latin typeface="Arial"/>
                <a:cs typeface="Arial"/>
              </a:rPr>
              <a:t>s</a:t>
            </a:r>
            <a:r>
              <a:rPr sz="3700" spc="-310" dirty="0">
                <a:solidFill>
                  <a:srgbClr val="7279A7"/>
                </a:solidFill>
                <a:latin typeface="Arial"/>
                <a:cs typeface="Arial"/>
              </a:rPr>
              <a:t> </a:t>
            </a:r>
            <a:r>
              <a:rPr sz="3700" spc="-575" dirty="0">
                <a:solidFill>
                  <a:srgbClr val="7279A7"/>
                </a:solidFill>
                <a:latin typeface="Arial"/>
                <a:cs typeface="Arial"/>
              </a:rPr>
              <a:t>D</a:t>
            </a:r>
            <a:r>
              <a:rPr sz="3700" spc="-355" dirty="0">
                <a:solidFill>
                  <a:srgbClr val="7279A7"/>
                </a:solidFill>
                <a:latin typeface="Arial"/>
                <a:cs typeface="Arial"/>
              </a:rPr>
              <a:t>i</a:t>
            </a:r>
            <a:r>
              <a:rPr sz="3700" spc="470" dirty="0">
                <a:solidFill>
                  <a:srgbClr val="7279A7"/>
                </a:solidFill>
                <a:latin typeface="Arial"/>
                <a:cs typeface="Arial"/>
              </a:rPr>
              <a:t>a</a:t>
            </a:r>
            <a:r>
              <a:rPr sz="3700" spc="400" dirty="0">
                <a:solidFill>
                  <a:srgbClr val="7279A7"/>
                </a:solidFill>
                <a:latin typeface="Arial"/>
                <a:cs typeface="Arial"/>
              </a:rPr>
              <a:t>g</a:t>
            </a:r>
            <a:r>
              <a:rPr sz="3700" spc="195" dirty="0">
                <a:solidFill>
                  <a:srgbClr val="7279A7"/>
                </a:solidFill>
                <a:latin typeface="Arial"/>
                <a:cs typeface="Arial"/>
              </a:rPr>
              <a:t>n</a:t>
            </a:r>
            <a:r>
              <a:rPr sz="3700" spc="245" dirty="0">
                <a:solidFill>
                  <a:srgbClr val="7279A7"/>
                </a:solidFill>
                <a:latin typeface="Arial"/>
                <a:cs typeface="Arial"/>
              </a:rPr>
              <a:t>o</a:t>
            </a:r>
            <a:r>
              <a:rPr sz="3700" spc="295" dirty="0">
                <a:solidFill>
                  <a:srgbClr val="7279A7"/>
                </a:solidFill>
                <a:latin typeface="Arial"/>
                <a:cs typeface="Arial"/>
              </a:rPr>
              <a:t>s</a:t>
            </a:r>
            <a:r>
              <a:rPr sz="3700" spc="-220" dirty="0">
                <a:solidFill>
                  <a:srgbClr val="7279A7"/>
                </a:solidFill>
                <a:latin typeface="Arial"/>
                <a:cs typeface="Arial"/>
              </a:rPr>
              <a:t>t</a:t>
            </a:r>
            <a:r>
              <a:rPr sz="3700" spc="-355" dirty="0">
                <a:solidFill>
                  <a:srgbClr val="7279A7"/>
                </a:solidFill>
                <a:latin typeface="Arial"/>
                <a:cs typeface="Arial"/>
              </a:rPr>
              <a:t>i</a:t>
            </a:r>
            <a:r>
              <a:rPr sz="3700" spc="240" dirty="0">
                <a:solidFill>
                  <a:srgbClr val="7279A7"/>
                </a:solidFill>
                <a:latin typeface="Arial"/>
                <a:cs typeface="Arial"/>
              </a:rPr>
              <a:t>cs</a:t>
            </a:r>
            <a:endParaRPr sz="3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48511"/>
            <a:ext cx="2633472" cy="5669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888223" y="1048511"/>
            <a:ext cx="451103" cy="4998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888" y="1048511"/>
            <a:ext cx="1036320" cy="1499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62271" y="3523488"/>
            <a:ext cx="4657344" cy="27188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117" rIns="0" bIns="0" rtlCol="0">
            <a:spAutoFit/>
          </a:bodyPr>
          <a:lstStyle/>
          <a:p>
            <a:pPr marL="1694814">
              <a:lnSpc>
                <a:spcPts val="3095"/>
              </a:lnSpc>
            </a:pPr>
            <a:r>
              <a:rPr sz="2600" spc="25" dirty="0"/>
              <a:t>Cl</a:t>
            </a:r>
            <a:r>
              <a:rPr sz="2600" spc="45" dirty="0"/>
              <a:t>i</a:t>
            </a:r>
            <a:r>
              <a:rPr sz="2600" spc="70" dirty="0"/>
              <a:t>n</a:t>
            </a:r>
            <a:r>
              <a:rPr sz="2600" spc="-105" dirty="0"/>
              <a:t>i</a:t>
            </a:r>
            <a:r>
              <a:rPr sz="2600" spc="130" dirty="0"/>
              <a:t>cal</a:t>
            </a:r>
            <a:r>
              <a:rPr sz="2600" spc="-65" dirty="0"/>
              <a:t> </a:t>
            </a:r>
            <a:r>
              <a:rPr sz="2600" spc="40" dirty="0"/>
              <a:t>Urge</a:t>
            </a:r>
            <a:r>
              <a:rPr sz="2600" spc="10" dirty="0"/>
              <a:t>n</a:t>
            </a:r>
            <a:r>
              <a:rPr sz="2600" spc="130" dirty="0"/>
              <a:t>cy</a:t>
            </a:r>
            <a:r>
              <a:rPr sz="2600" spc="-155" dirty="0"/>
              <a:t> </a:t>
            </a:r>
            <a:r>
              <a:rPr sz="2600" spc="-50" dirty="0"/>
              <a:t>of</a:t>
            </a:r>
            <a:r>
              <a:rPr sz="2600" spc="65" dirty="0"/>
              <a:t> </a:t>
            </a:r>
            <a:r>
              <a:rPr sz="2600" spc="-20" dirty="0"/>
              <a:t>Seps</a:t>
            </a:r>
            <a:r>
              <a:rPr sz="2600" spc="45" dirty="0"/>
              <a:t>i</a:t>
            </a:r>
            <a:r>
              <a:rPr sz="2600" spc="-75" dirty="0"/>
              <a:t>s</a:t>
            </a:r>
            <a:endParaRPr sz="2600"/>
          </a:p>
        </p:txBody>
      </p:sp>
      <p:sp>
        <p:nvSpPr>
          <p:cNvPr id="7" name="object 7"/>
          <p:cNvSpPr txBox="1"/>
          <p:nvPr/>
        </p:nvSpPr>
        <p:spPr>
          <a:xfrm>
            <a:off x="2700020" y="1755584"/>
            <a:ext cx="6406515" cy="260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000"/>
              </a:lnSpc>
              <a:buClr>
                <a:srgbClr val="2A2A2A"/>
              </a:buClr>
              <a:buFont typeface="Arial"/>
              <a:buChar char="•"/>
              <a:tabLst>
                <a:tab pos="168275" algn="l"/>
              </a:tabLst>
            </a:pPr>
            <a:r>
              <a:rPr sz="1600" spc="50" dirty="0">
                <a:solidFill>
                  <a:srgbClr val="2A2A2A"/>
                </a:solidFill>
                <a:latin typeface="Arial"/>
                <a:cs typeface="Arial"/>
              </a:rPr>
              <a:t>Approximately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25" dirty="0">
                <a:solidFill>
                  <a:srgbClr val="2A2A2A"/>
                </a:solidFill>
                <a:latin typeface="Arial"/>
                <a:cs typeface="Arial"/>
              </a:rPr>
              <a:t>49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-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70" dirty="0">
                <a:solidFill>
                  <a:srgbClr val="2A2A2A"/>
                </a:solidFill>
                <a:latin typeface="Arial"/>
                <a:cs typeface="Arial"/>
              </a:rPr>
              <a:t>million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-2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20" dirty="0">
                <a:solidFill>
                  <a:srgbClr val="2A2A2A"/>
                </a:solidFill>
                <a:latin typeface="Arial"/>
                <a:cs typeface="Arial"/>
              </a:rPr>
              <a:t>sepsis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-1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50" dirty="0">
                <a:solidFill>
                  <a:srgbClr val="2A2A2A"/>
                </a:solidFill>
                <a:latin typeface="Arial"/>
                <a:cs typeface="Arial"/>
              </a:rPr>
              <a:t>cases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-1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65" dirty="0">
                <a:solidFill>
                  <a:srgbClr val="2A2A2A"/>
                </a:solidFill>
                <a:latin typeface="Arial"/>
                <a:cs typeface="Arial"/>
              </a:rPr>
              <a:t>globally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35" dirty="0">
                <a:solidFill>
                  <a:srgbClr val="2A2A2A"/>
                </a:solidFill>
                <a:latin typeface="Arial"/>
                <a:cs typeface="Arial"/>
              </a:rPr>
              <a:t>(2020)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-1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60" dirty="0">
                <a:solidFill>
                  <a:srgbClr val="3A3D42"/>
                </a:solidFill>
                <a:latin typeface="Arial"/>
                <a:cs typeface="Arial"/>
              </a:rPr>
              <a:t>with</a:t>
            </a:r>
            <a:r>
              <a:rPr sz="1600" dirty="0">
                <a:solidFill>
                  <a:srgbClr val="3A3D42"/>
                </a:solidFill>
                <a:latin typeface="Arial"/>
                <a:cs typeface="Arial"/>
              </a:rPr>
              <a:t> </a:t>
            </a:r>
            <a:r>
              <a:rPr sz="1600" spc="-130" dirty="0">
                <a:solidFill>
                  <a:srgbClr val="3A3D42"/>
                </a:solidFill>
                <a:latin typeface="Arial"/>
                <a:cs typeface="Arial"/>
              </a:rPr>
              <a:t> </a:t>
            </a:r>
            <a:r>
              <a:rPr sz="1600" spc="229" dirty="0">
                <a:solidFill>
                  <a:srgbClr val="2A2A2A"/>
                </a:solidFill>
                <a:latin typeface="Arial"/>
                <a:cs typeface="Arial"/>
              </a:rPr>
              <a:t>-</a:t>
            </a:r>
            <a:r>
              <a:rPr sz="1600" spc="-390" dirty="0">
                <a:solidFill>
                  <a:srgbClr val="2A2A2A"/>
                </a:solidFill>
                <a:latin typeface="Arial"/>
                <a:cs typeface="Arial"/>
              </a:rPr>
              <a:t>1</a:t>
            </a:r>
            <a:r>
              <a:rPr sz="1600" spc="-305" dirty="0">
                <a:solidFill>
                  <a:srgbClr val="4F4F52"/>
                </a:solidFill>
                <a:latin typeface="Arial"/>
                <a:cs typeface="Arial"/>
              </a:rPr>
              <a:t>1</a:t>
            </a:r>
            <a:r>
              <a:rPr sz="1600" spc="-155" dirty="0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sz="1600" spc="60" dirty="0">
                <a:solidFill>
                  <a:srgbClr val="2A2A2A"/>
                </a:solidFill>
                <a:latin typeface="Arial"/>
                <a:cs typeface="Arial"/>
              </a:rPr>
              <a:t>million</a:t>
            </a:r>
            <a:r>
              <a:rPr sz="1600" spc="-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60" dirty="0">
                <a:solidFill>
                  <a:srgbClr val="2A2A2A"/>
                </a:solidFill>
                <a:latin typeface="Arial"/>
                <a:cs typeface="Arial"/>
              </a:rPr>
              <a:t>deaths.</a:t>
            </a:r>
            <a:endParaRPr sz="1600">
              <a:latin typeface="Arial"/>
              <a:cs typeface="Arial"/>
            </a:endParaRPr>
          </a:p>
          <a:p>
            <a:pPr marL="12700" marR="20955">
              <a:lnSpc>
                <a:spcPct val="108800"/>
              </a:lnSpc>
              <a:spcBef>
                <a:spcPts val="20"/>
              </a:spcBef>
              <a:buClr>
                <a:srgbClr val="2A2A2A"/>
              </a:buClr>
              <a:buFont typeface="Arial"/>
              <a:buChar char="•"/>
              <a:tabLst>
                <a:tab pos="217170" algn="l"/>
                <a:tab pos="1856105" algn="l"/>
                <a:tab pos="2368550" algn="l"/>
                <a:tab pos="3484245" algn="l"/>
                <a:tab pos="3935095" algn="l"/>
                <a:tab pos="4770120" algn="l"/>
                <a:tab pos="5547360" algn="l"/>
              </a:tabLst>
            </a:pPr>
            <a:r>
              <a:rPr sz="1600" spc="-25" dirty="0">
                <a:solidFill>
                  <a:srgbClr val="2A2A2A"/>
                </a:solidFill>
                <a:latin typeface="Arial"/>
                <a:cs typeface="Arial"/>
              </a:rPr>
              <a:t>Early </a:t>
            </a:r>
            <a:r>
              <a:rPr sz="1600" spc="1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75" dirty="0">
                <a:solidFill>
                  <a:srgbClr val="2A2A2A"/>
                </a:solidFill>
                <a:latin typeface="Arial"/>
                <a:cs typeface="Arial"/>
              </a:rPr>
              <a:t>detection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114" dirty="0">
                <a:solidFill>
                  <a:srgbClr val="2A2A2A"/>
                </a:solidFill>
                <a:latin typeface="Arial"/>
                <a:cs typeface="Arial"/>
              </a:rPr>
              <a:t>and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90" dirty="0">
                <a:solidFill>
                  <a:srgbClr val="2A2A2A"/>
                </a:solidFill>
                <a:latin typeface="Arial"/>
                <a:cs typeface="Arial"/>
              </a:rPr>
              <a:t>treatment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75" dirty="0">
                <a:solidFill>
                  <a:srgbClr val="2A2A2A"/>
                </a:solidFill>
                <a:latin typeface="Arial"/>
                <a:cs typeface="Arial"/>
              </a:rPr>
              <a:t>are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60" dirty="0">
                <a:solidFill>
                  <a:srgbClr val="2A2A2A"/>
                </a:solidFill>
                <a:latin typeface="Arial"/>
                <a:cs typeface="Arial"/>
              </a:rPr>
              <a:t>critical;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60" dirty="0">
                <a:solidFill>
                  <a:srgbClr val="2A2A2A"/>
                </a:solidFill>
                <a:latin typeface="Arial"/>
                <a:cs typeface="Arial"/>
              </a:rPr>
              <a:t>delays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60" dirty="0">
                <a:solidFill>
                  <a:srgbClr val="2A2A2A"/>
                </a:solidFill>
                <a:latin typeface="Arial"/>
                <a:cs typeface="Arial"/>
              </a:rPr>
              <a:t>increase</a:t>
            </a:r>
            <a:r>
              <a:rPr sz="1600" spc="3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60" dirty="0">
                <a:solidFill>
                  <a:srgbClr val="2A2A2A"/>
                </a:solidFill>
                <a:latin typeface="Arial"/>
                <a:cs typeface="Arial"/>
              </a:rPr>
              <a:t>mortality.</a:t>
            </a:r>
            <a:endParaRPr sz="1600">
              <a:latin typeface="Arial"/>
              <a:cs typeface="Arial"/>
            </a:endParaRPr>
          </a:p>
          <a:p>
            <a:pPr marL="12700" marR="9525">
              <a:lnSpc>
                <a:spcPct val="107500"/>
              </a:lnSpc>
              <a:spcBef>
                <a:spcPts val="45"/>
              </a:spcBef>
              <a:buClr>
                <a:srgbClr val="2A2A2A"/>
              </a:buClr>
              <a:buFont typeface="Arial"/>
              <a:buChar char="•"/>
              <a:tabLst>
                <a:tab pos="208279" algn="l"/>
                <a:tab pos="944880" algn="l"/>
                <a:tab pos="1466215" algn="l"/>
                <a:tab pos="2158365" algn="l"/>
                <a:tab pos="3364865" algn="l"/>
                <a:tab pos="3691254" algn="l"/>
                <a:tab pos="5544185" algn="l"/>
                <a:tab pos="6056630" algn="l"/>
              </a:tabLst>
            </a:pPr>
            <a:r>
              <a:rPr sz="1600" spc="-20" dirty="0">
                <a:solidFill>
                  <a:srgbClr val="2A2A2A"/>
                </a:solidFill>
                <a:latin typeface="Arial"/>
                <a:cs typeface="Arial"/>
              </a:rPr>
              <a:t>Sepsis	is </a:t>
            </a:r>
            <a:r>
              <a:rPr sz="1600" spc="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95" dirty="0">
                <a:solidFill>
                  <a:srgbClr val="2A2A2A"/>
                </a:solidFill>
                <a:latin typeface="Arial"/>
                <a:cs typeface="Arial"/>
              </a:rPr>
              <a:t>a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85" dirty="0">
                <a:solidFill>
                  <a:srgbClr val="2A2A2A"/>
                </a:solidFill>
                <a:latin typeface="Arial"/>
                <a:cs typeface="Arial"/>
              </a:rPr>
              <a:t>major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65" dirty="0">
                <a:solidFill>
                  <a:srgbClr val="2A2A2A"/>
                </a:solidFill>
                <a:latin typeface="Arial"/>
                <a:cs typeface="Arial"/>
              </a:rPr>
              <a:t>contributor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80" dirty="0">
                <a:solidFill>
                  <a:srgbClr val="2A2A2A"/>
                </a:solidFill>
                <a:latin typeface="Arial"/>
                <a:cs typeface="Arial"/>
              </a:rPr>
              <a:t>to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60" dirty="0">
                <a:solidFill>
                  <a:srgbClr val="2A2A2A"/>
                </a:solidFill>
                <a:latin typeface="Arial"/>
                <a:cs typeface="Arial"/>
              </a:rPr>
              <a:t>hospital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5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100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600" spc="50" dirty="0">
                <a:solidFill>
                  <a:srgbClr val="2A2A2A"/>
                </a:solidFill>
                <a:latin typeface="Arial"/>
                <a:cs typeface="Arial"/>
              </a:rPr>
              <a:t>atalities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114" dirty="0">
                <a:solidFill>
                  <a:srgbClr val="2A2A2A"/>
                </a:solidFill>
                <a:latin typeface="Arial"/>
                <a:cs typeface="Arial"/>
              </a:rPr>
              <a:t>and</a:t>
            </a:r>
            <a:r>
              <a:rPr sz="16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600" spc="-60" dirty="0">
                <a:solidFill>
                  <a:srgbClr val="2A2A2A"/>
                </a:solidFill>
                <a:latin typeface="Arial"/>
                <a:cs typeface="Arial"/>
              </a:rPr>
              <a:t>ICU</a:t>
            </a:r>
            <a:r>
              <a:rPr sz="1600" spc="-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spc="50" dirty="0">
                <a:solidFill>
                  <a:srgbClr val="2A2A2A"/>
                </a:solidFill>
                <a:latin typeface="Arial"/>
                <a:cs typeface="Arial"/>
              </a:rPr>
              <a:t>burden.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70485" marR="3345815">
              <a:lnSpc>
                <a:spcPct val="102699"/>
              </a:lnSpc>
              <a:spcBef>
                <a:spcPts val="1085"/>
              </a:spcBef>
            </a:pPr>
            <a:r>
              <a:rPr sz="2200" b="1" spc="-285" dirty="0">
                <a:solidFill>
                  <a:srgbClr val="7279A8"/>
                </a:solidFill>
                <a:latin typeface="Arial"/>
                <a:cs typeface="Arial"/>
              </a:rPr>
              <a:t>L</a:t>
            </a:r>
            <a:r>
              <a:rPr sz="2200" b="1" spc="-135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spc="295" dirty="0">
                <a:solidFill>
                  <a:srgbClr val="7279A8"/>
                </a:solidFill>
                <a:latin typeface="Arial"/>
                <a:cs typeface="Arial"/>
              </a:rPr>
              <a:t>m</a:t>
            </a:r>
            <a:r>
              <a:rPr sz="2200" b="1" spc="-9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spc="95" dirty="0">
                <a:solidFill>
                  <a:srgbClr val="7279A8"/>
                </a:solidFill>
                <a:latin typeface="Arial"/>
                <a:cs typeface="Arial"/>
              </a:rPr>
              <a:t>tat</a:t>
            </a:r>
            <a:r>
              <a:rPr sz="2200" b="1" spc="9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dirty="0">
                <a:solidFill>
                  <a:srgbClr val="7279A8"/>
                </a:solidFill>
                <a:latin typeface="Arial"/>
                <a:cs typeface="Arial"/>
              </a:rPr>
              <a:t>ons</a:t>
            </a:r>
            <a:r>
              <a:rPr sz="2200" b="1" spc="-70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200" b="1" spc="-55" dirty="0">
                <a:solidFill>
                  <a:srgbClr val="7279A8"/>
                </a:solidFill>
                <a:latin typeface="Arial"/>
                <a:cs typeface="Arial"/>
              </a:rPr>
              <a:t>of</a:t>
            </a:r>
            <a:r>
              <a:rPr sz="2200" b="1" spc="-15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200" b="1" spc="45" dirty="0">
                <a:solidFill>
                  <a:srgbClr val="7279A8"/>
                </a:solidFill>
                <a:latin typeface="Arial"/>
                <a:cs typeface="Arial"/>
              </a:rPr>
              <a:t>Current</a:t>
            </a:r>
            <a:r>
              <a:rPr sz="2200" b="1" spc="20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200" b="1" spc="-55" dirty="0">
                <a:solidFill>
                  <a:srgbClr val="7279A8"/>
                </a:solidFill>
                <a:latin typeface="Arial"/>
                <a:cs typeface="Arial"/>
              </a:rPr>
              <a:t>D</a:t>
            </a:r>
            <a:r>
              <a:rPr sz="2200" b="1" spc="-9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spc="60" dirty="0">
                <a:solidFill>
                  <a:srgbClr val="7279A8"/>
                </a:solidFill>
                <a:latin typeface="Arial"/>
                <a:cs typeface="Arial"/>
              </a:rPr>
              <a:t>agnost</a:t>
            </a:r>
            <a:r>
              <a:rPr sz="2200" b="1" spc="7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spc="20" dirty="0">
                <a:solidFill>
                  <a:srgbClr val="7279A8"/>
                </a:solidFill>
                <a:latin typeface="Arial"/>
                <a:cs typeface="Arial"/>
              </a:rPr>
              <a:t>cs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3635" y="4563462"/>
            <a:ext cx="3751579" cy="2116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08965" algn="r">
              <a:lnSpc>
                <a:spcPct val="100000"/>
              </a:lnSpc>
            </a:pPr>
            <a:r>
              <a:rPr sz="700" spc="25" dirty="0">
                <a:solidFill>
                  <a:srgbClr val="856EE8"/>
                </a:solidFill>
                <a:latin typeface="Arial"/>
                <a:cs typeface="Arial"/>
              </a:rPr>
              <a:t>Antibiot</a:t>
            </a:r>
            <a:r>
              <a:rPr sz="700" spc="50" dirty="0">
                <a:solidFill>
                  <a:srgbClr val="856EE8"/>
                </a:solidFill>
                <a:latin typeface="Arial"/>
                <a:cs typeface="Arial"/>
              </a:rPr>
              <a:t>i</a:t>
            </a:r>
            <a:r>
              <a:rPr sz="700" spc="35" dirty="0">
                <a:solidFill>
                  <a:srgbClr val="856EE8"/>
                </a:solidFill>
                <a:latin typeface="Arial"/>
                <a:cs typeface="Arial"/>
              </a:rPr>
              <a:t>cs</a:t>
            </a:r>
            <a:endParaRPr sz="7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35"/>
              </a:spcBef>
            </a:pPr>
            <a:r>
              <a:rPr sz="550" spc="-10" dirty="0">
                <a:solidFill>
                  <a:srgbClr val="878787"/>
                </a:solidFill>
                <a:latin typeface="Arial"/>
                <a:cs typeface="Arial"/>
              </a:rPr>
              <a:t>Increases</a:t>
            </a:r>
            <a:r>
              <a:rPr sz="550" spc="-2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878787"/>
                </a:solidFill>
                <a:latin typeface="Arial"/>
                <a:cs typeface="Arial"/>
              </a:rPr>
              <a:t>antimicrobial</a:t>
            </a:r>
            <a:r>
              <a:rPr sz="550" spc="6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spc="-5" dirty="0">
                <a:solidFill>
                  <a:srgbClr val="878787"/>
                </a:solidFill>
                <a:latin typeface="Arial"/>
                <a:cs typeface="Arial"/>
              </a:rPr>
              <a:t>resistance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50">
              <a:latin typeface="Times New Roman"/>
              <a:cs typeface="Times New Roman"/>
            </a:endParaRPr>
          </a:p>
          <a:p>
            <a:pPr marL="2018030">
              <a:lnSpc>
                <a:spcPts val="790"/>
              </a:lnSpc>
            </a:pPr>
            <a:r>
              <a:rPr sz="700" spc="15" dirty="0">
                <a:solidFill>
                  <a:srgbClr val="2AAEDA"/>
                </a:solidFill>
                <a:latin typeface="Arial"/>
                <a:cs typeface="Arial"/>
              </a:rPr>
              <a:t>I</a:t>
            </a:r>
            <a:r>
              <a:rPr sz="700" spc="20" dirty="0">
                <a:solidFill>
                  <a:srgbClr val="2AAEDA"/>
                </a:solidFill>
                <a:latin typeface="Arial"/>
                <a:cs typeface="Arial"/>
              </a:rPr>
              <a:t>nfrastructure</a:t>
            </a:r>
            <a:r>
              <a:rPr sz="700" spc="50" dirty="0">
                <a:solidFill>
                  <a:srgbClr val="2AAEDA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2AAEDA"/>
                </a:solidFill>
                <a:latin typeface="Arial"/>
                <a:cs typeface="Arial"/>
              </a:rPr>
              <a:t>Dependent</a:t>
            </a:r>
            <a:endParaRPr sz="700">
              <a:latin typeface="Arial"/>
              <a:cs typeface="Arial"/>
            </a:endParaRPr>
          </a:p>
          <a:p>
            <a:pPr marL="463550" algn="ctr">
              <a:lnSpc>
                <a:spcPts val="969"/>
              </a:lnSpc>
            </a:pPr>
            <a:r>
              <a:rPr sz="850" spc="-45" dirty="0">
                <a:solidFill>
                  <a:srgbClr val="2AAEDA"/>
                </a:solidFill>
                <a:latin typeface="Courier New"/>
                <a:cs typeface="Courier New"/>
              </a:rPr>
              <a:t>PCR</a:t>
            </a:r>
            <a:endParaRPr sz="850">
              <a:latin typeface="Courier New"/>
              <a:cs typeface="Courier New"/>
            </a:endParaRPr>
          </a:p>
          <a:p>
            <a:pPr marL="2018030">
              <a:lnSpc>
                <a:spcPct val="100000"/>
              </a:lnSpc>
              <a:spcBef>
                <a:spcPts val="525"/>
              </a:spcBef>
            </a:pPr>
            <a:r>
              <a:rPr sz="550" spc="-15" dirty="0">
                <a:solidFill>
                  <a:srgbClr val="878787"/>
                </a:solidFill>
                <a:latin typeface="Arial"/>
                <a:cs typeface="Arial"/>
              </a:rPr>
              <a:t>Requires</a:t>
            </a:r>
            <a:r>
              <a:rPr sz="550" spc="1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spc="-5" dirty="0">
                <a:solidFill>
                  <a:srgbClr val="878787"/>
                </a:solidFill>
                <a:latin typeface="Arial"/>
                <a:cs typeface="Arial"/>
              </a:rPr>
              <a:t>specific</a:t>
            </a:r>
            <a:r>
              <a:rPr sz="550" spc="3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878787"/>
                </a:solidFill>
                <a:latin typeface="Arial"/>
                <a:cs typeface="Arial"/>
              </a:rPr>
              <a:t>lab</a:t>
            </a:r>
            <a:r>
              <a:rPr sz="550" spc="-3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878787"/>
                </a:solidFill>
                <a:latin typeface="Arial"/>
                <a:cs typeface="Arial"/>
              </a:rPr>
              <a:t>capabilities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650">
              <a:latin typeface="Times New Roman"/>
              <a:cs typeface="Times New Roman"/>
            </a:endParaRPr>
          </a:p>
          <a:p>
            <a:pPr marL="1347470" marR="1536065" indent="2540">
              <a:lnSpc>
                <a:spcPct val="102899"/>
              </a:lnSpc>
            </a:pPr>
            <a:r>
              <a:rPr sz="700" spc="15" dirty="0">
                <a:solidFill>
                  <a:srgbClr val="48C689"/>
                </a:solidFill>
                <a:latin typeface="Arial"/>
                <a:cs typeface="Arial"/>
              </a:rPr>
              <a:t>I</a:t>
            </a:r>
            <a:r>
              <a:rPr sz="700" spc="25" dirty="0">
                <a:solidFill>
                  <a:srgbClr val="48C689"/>
                </a:solidFill>
                <a:latin typeface="Arial"/>
                <a:cs typeface="Arial"/>
              </a:rPr>
              <a:t>nconc</a:t>
            </a:r>
            <a:r>
              <a:rPr sz="700" spc="5" dirty="0">
                <a:solidFill>
                  <a:srgbClr val="48C689"/>
                </a:solidFill>
                <a:latin typeface="Arial"/>
                <a:cs typeface="Arial"/>
              </a:rPr>
              <a:t>l</a:t>
            </a:r>
            <a:r>
              <a:rPr sz="700" spc="15" dirty="0">
                <a:solidFill>
                  <a:srgbClr val="48C689"/>
                </a:solidFill>
                <a:latin typeface="Arial"/>
                <a:cs typeface="Arial"/>
              </a:rPr>
              <a:t>usive</a:t>
            </a:r>
            <a:r>
              <a:rPr sz="700" spc="-35" dirty="0">
                <a:solidFill>
                  <a:srgbClr val="48C689"/>
                </a:solidFill>
                <a:latin typeface="Arial"/>
                <a:cs typeface="Arial"/>
              </a:rPr>
              <a:t> </a:t>
            </a:r>
            <a:r>
              <a:rPr sz="700" spc="30" dirty="0">
                <a:solidFill>
                  <a:srgbClr val="48C689"/>
                </a:solidFill>
                <a:latin typeface="Arial"/>
                <a:cs typeface="Arial"/>
              </a:rPr>
              <a:t>C</a:t>
            </a:r>
            <a:r>
              <a:rPr sz="700" dirty="0">
                <a:solidFill>
                  <a:srgbClr val="48C689"/>
                </a:solidFill>
                <a:latin typeface="Arial"/>
                <a:cs typeface="Arial"/>
              </a:rPr>
              <a:t>l</a:t>
            </a:r>
            <a:r>
              <a:rPr sz="700" spc="45" dirty="0">
                <a:solidFill>
                  <a:srgbClr val="48C689"/>
                </a:solidFill>
                <a:latin typeface="Arial"/>
                <a:cs typeface="Arial"/>
              </a:rPr>
              <a:t>in</a:t>
            </a:r>
            <a:r>
              <a:rPr sz="700" spc="-30" dirty="0">
                <a:solidFill>
                  <a:srgbClr val="48C689"/>
                </a:solidFill>
                <a:latin typeface="Arial"/>
                <a:cs typeface="Arial"/>
              </a:rPr>
              <a:t>i</a:t>
            </a:r>
            <a:r>
              <a:rPr sz="700" spc="25" dirty="0">
                <a:solidFill>
                  <a:srgbClr val="48C689"/>
                </a:solidFill>
                <a:latin typeface="Arial"/>
                <a:cs typeface="Arial"/>
              </a:rPr>
              <a:t>cal</a:t>
            </a:r>
            <a:r>
              <a:rPr sz="700" spc="15" dirty="0">
                <a:solidFill>
                  <a:srgbClr val="48C689"/>
                </a:solidFill>
                <a:latin typeface="Arial"/>
                <a:cs typeface="Arial"/>
              </a:rPr>
              <a:t> </a:t>
            </a:r>
            <a:r>
              <a:rPr sz="700" spc="5" dirty="0">
                <a:solidFill>
                  <a:srgbClr val="48C689"/>
                </a:solidFill>
                <a:latin typeface="Arial"/>
                <a:cs typeface="Arial"/>
              </a:rPr>
              <a:t>Scores</a:t>
            </a:r>
            <a:endParaRPr sz="700">
              <a:latin typeface="Arial"/>
              <a:cs typeface="Arial"/>
            </a:endParaRPr>
          </a:p>
          <a:p>
            <a:pPr marR="18415" algn="ctr">
              <a:lnSpc>
                <a:spcPct val="100000"/>
              </a:lnSpc>
              <a:spcBef>
                <a:spcPts val="555"/>
              </a:spcBef>
            </a:pPr>
            <a:r>
              <a:rPr sz="550" spc="-5" dirty="0">
                <a:solidFill>
                  <a:srgbClr val="878787"/>
                </a:solidFill>
                <a:latin typeface="Arial"/>
                <a:cs typeface="Arial"/>
              </a:rPr>
              <a:t>Lacks</a:t>
            </a:r>
            <a:r>
              <a:rPr sz="550" spc="-2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spc="-5" dirty="0">
                <a:solidFill>
                  <a:srgbClr val="878787"/>
                </a:solidFill>
                <a:latin typeface="Arial"/>
                <a:cs typeface="Arial"/>
              </a:rPr>
              <a:t>definitive</a:t>
            </a:r>
            <a:r>
              <a:rPr sz="550" spc="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878787"/>
                </a:solidFill>
                <a:latin typeface="Arial"/>
                <a:cs typeface="Arial"/>
              </a:rPr>
              <a:t>diagnostic</a:t>
            </a:r>
            <a:r>
              <a:rPr sz="550" spc="3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spc="-5" dirty="0">
                <a:solidFill>
                  <a:srgbClr val="878787"/>
                </a:solidFill>
                <a:latin typeface="Arial"/>
                <a:cs typeface="Arial"/>
              </a:rPr>
              <a:t>power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450">
              <a:latin typeface="Times New Roman"/>
              <a:cs typeface="Times New Roman"/>
            </a:endParaRPr>
          </a:p>
          <a:p>
            <a:pPr marL="850265">
              <a:lnSpc>
                <a:spcPts val="1045"/>
              </a:lnSpc>
              <a:tabLst>
                <a:tab pos="1078865" algn="l"/>
              </a:tabLst>
            </a:pPr>
            <a:r>
              <a:rPr sz="900" spc="-5" dirty="0">
                <a:solidFill>
                  <a:srgbClr val="DFCD26"/>
                </a:solidFill>
                <a:latin typeface="Arial"/>
                <a:cs typeface="Arial"/>
              </a:rPr>
              <a:t>-s	</a:t>
            </a:r>
            <a:r>
              <a:rPr sz="550" spc="-25" dirty="0">
                <a:solidFill>
                  <a:srgbClr val="E6D660"/>
                </a:solidFill>
                <a:latin typeface="Times New Roman"/>
                <a:cs typeface="Times New Roman"/>
              </a:rPr>
              <a:t>,</a:t>
            </a:r>
            <a:r>
              <a:rPr sz="550" spc="10" dirty="0">
                <a:solidFill>
                  <a:srgbClr val="DFCD26"/>
                </a:solidFill>
                <a:latin typeface="Times New Roman"/>
                <a:cs typeface="Times New Roman"/>
              </a:rPr>
              <a:t>ifi(..</a:t>
            </a:r>
            <a:endParaRPr sz="550">
              <a:latin typeface="Times New Roman"/>
              <a:cs typeface="Times New Roman"/>
            </a:endParaRPr>
          </a:p>
          <a:p>
            <a:pPr marL="762000">
              <a:lnSpc>
                <a:spcPts val="925"/>
              </a:lnSpc>
            </a:pPr>
            <a:r>
              <a:rPr sz="800" dirty="0">
                <a:solidFill>
                  <a:srgbClr val="DFCD26"/>
                </a:solidFill>
                <a:latin typeface="Times New Roman"/>
                <a:cs typeface="Times New Roman"/>
              </a:rPr>
              <a:t>a  </a:t>
            </a:r>
            <a:r>
              <a:rPr sz="800" spc="70" dirty="0">
                <a:solidFill>
                  <a:srgbClr val="DFCD26"/>
                </a:solidFill>
                <a:latin typeface="Times New Roman"/>
                <a:cs typeface="Times New Roman"/>
              </a:rPr>
              <a:t> </a:t>
            </a:r>
            <a:r>
              <a:rPr sz="550" spc="70" dirty="0">
                <a:solidFill>
                  <a:srgbClr val="DFCD26"/>
                </a:solidFill>
                <a:latin typeface="Times New Roman"/>
                <a:cs typeface="Times New Roman"/>
              </a:rPr>
              <a:t>ei</a:t>
            </a:r>
            <a:endParaRPr sz="550">
              <a:latin typeface="Times New Roman"/>
              <a:cs typeface="Times New Roman"/>
            </a:endParaRPr>
          </a:p>
          <a:p>
            <a:pPr marL="683260">
              <a:lnSpc>
                <a:spcPct val="100000"/>
              </a:lnSpc>
              <a:spcBef>
                <a:spcPts val="535"/>
              </a:spcBef>
            </a:pPr>
            <a:r>
              <a:rPr sz="550" dirty="0">
                <a:solidFill>
                  <a:srgbClr val="878787"/>
                </a:solidFill>
                <a:latin typeface="Arial"/>
                <a:cs typeface="Arial"/>
              </a:rPr>
              <a:t>Difficult</a:t>
            </a:r>
            <a:r>
              <a:rPr sz="550" spc="-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spc="5" dirty="0">
                <a:solidFill>
                  <a:srgbClr val="878787"/>
                </a:solidFill>
                <a:latin typeface="Arial"/>
                <a:cs typeface="Arial"/>
              </a:rPr>
              <a:t>to</a:t>
            </a:r>
            <a:r>
              <a:rPr sz="550" spc="-1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878787"/>
                </a:solidFill>
                <a:latin typeface="Arial"/>
                <a:cs typeface="Arial"/>
              </a:rPr>
              <a:t>confirm</a:t>
            </a:r>
            <a:r>
              <a:rPr sz="550" spc="2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878787"/>
                </a:solidFill>
                <a:latin typeface="Arial"/>
                <a:cs typeface="Arial"/>
              </a:rPr>
              <a:t>bacterial </a:t>
            </a:r>
            <a:r>
              <a:rPr sz="550" spc="-10" dirty="0">
                <a:solidFill>
                  <a:srgbClr val="878787"/>
                </a:solidFill>
                <a:latin typeface="Arial"/>
                <a:cs typeface="Arial"/>
              </a:rPr>
              <a:t>cause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</a:pPr>
            <a:r>
              <a:rPr sz="700" dirty="0">
                <a:solidFill>
                  <a:srgbClr val="DD873A"/>
                </a:solidFill>
                <a:latin typeface="Arial"/>
                <a:cs typeface="Arial"/>
              </a:rPr>
              <a:t>Slow</a:t>
            </a:r>
            <a:r>
              <a:rPr sz="700" spc="30" dirty="0">
                <a:solidFill>
                  <a:srgbClr val="DD873A"/>
                </a:solidFill>
                <a:latin typeface="Arial"/>
                <a:cs typeface="Arial"/>
              </a:rPr>
              <a:t> </a:t>
            </a:r>
            <a:r>
              <a:rPr sz="700" spc="25" dirty="0">
                <a:solidFill>
                  <a:srgbClr val="DD873A"/>
                </a:solidFill>
                <a:latin typeface="Arial"/>
                <a:cs typeface="Arial"/>
              </a:rPr>
              <a:t>Blood</a:t>
            </a:r>
            <a:r>
              <a:rPr sz="700" spc="-65" dirty="0">
                <a:solidFill>
                  <a:srgbClr val="DD873A"/>
                </a:solidFill>
                <a:latin typeface="Arial"/>
                <a:cs typeface="Arial"/>
              </a:rPr>
              <a:t> </a:t>
            </a:r>
            <a:r>
              <a:rPr sz="700" spc="10" dirty="0">
                <a:solidFill>
                  <a:srgbClr val="DD873A"/>
                </a:solidFill>
                <a:latin typeface="Arial"/>
                <a:cs typeface="Arial"/>
              </a:rPr>
              <a:t>Cultures</a:t>
            </a:r>
            <a:endParaRPr sz="700">
              <a:latin typeface="Arial"/>
              <a:cs typeface="Arial"/>
            </a:endParaRPr>
          </a:p>
          <a:p>
            <a:pPr marL="15240">
              <a:lnSpc>
                <a:spcPts val="710"/>
              </a:lnSpc>
              <a:spcBef>
                <a:spcPts val="385"/>
              </a:spcBef>
            </a:pPr>
            <a:r>
              <a:rPr sz="600" spc="-20" dirty="0">
                <a:solidFill>
                  <a:srgbClr val="878787"/>
                </a:solidFill>
                <a:latin typeface="Times New Roman"/>
                <a:cs typeface="Times New Roman"/>
              </a:rPr>
              <a:t>Delays</a:t>
            </a:r>
            <a:r>
              <a:rPr sz="600" spc="35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878787"/>
                </a:solidFill>
                <a:latin typeface="Times New Roman"/>
                <a:cs typeface="Times New Roman"/>
              </a:rPr>
              <a:t>actionable </a:t>
            </a:r>
            <a:r>
              <a:rPr sz="600" spc="5" dirty="0">
                <a:solidFill>
                  <a:srgbClr val="878787"/>
                </a:solidFill>
                <a:latin typeface="Times New Roman"/>
                <a:cs typeface="Times New Roman"/>
              </a:rPr>
              <a:t>treatment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650"/>
              </a:lnSpc>
            </a:pPr>
            <a:r>
              <a:rPr sz="550" dirty="0">
                <a:solidFill>
                  <a:srgbClr val="878787"/>
                </a:solidFill>
                <a:latin typeface="Arial"/>
                <a:cs typeface="Arial"/>
              </a:rPr>
              <a:t>decisions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7311" y="3828288"/>
            <a:ext cx="926591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74464" y="3998976"/>
            <a:ext cx="512063" cy="5608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57088" y="3828288"/>
            <a:ext cx="926591" cy="914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104" rIns="0" bIns="0" rtlCol="0">
            <a:spAutoFit/>
          </a:bodyPr>
          <a:lstStyle/>
          <a:p>
            <a:pPr marL="134620">
              <a:lnSpc>
                <a:spcPct val="100000"/>
              </a:lnSpc>
            </a:pPr>
            <a:r>
              <a:rPr sz="2650" spc="55" dirty="0"/>
              <a:t>Why</a:t>
            </a:r>
            <a:r>
              <a:rPr sz="2650" spc="95" dirty="0"/>
              <a:t> </a:t>
            </a:r>
            <a:r>
              <a:rPr sz="2650" spc="10" dirty="0"/>
              <a:t>Bacteri</a:t>
            </a:r>
            <a:r>
              <a:rPr sz="2650" spc="204" dirty="0"/>
              <a:t>al-</a:t>
            </a:r>
            <a:r>
              <a:rPr sz="2650" spc="-470" dirty="0"/>
              <a:t> </a:t>
            </a:r>
            <a:r>
              <a:rPr sz="2650" spc="-20" dirty="0"/>
              <a:t>Specif</a:t>
            </a:r>
            <a:r>
              <a:rPr sz="2650" spc="-10" dirty="0"/>
              <a:t>i</a:t>
            </a:r>
            <a:r>
              <a:rPr sz="2650" spc="100" dirty="0"/>
              <a:t>c</a:t>
            </a:r>
            <a:r>
              <a:rPr sz="2650" spc="-60" dirty="0"/>
              <a:t> </a:t>
            </a:r>
            <a:r>
              <a:rPr sz="2650" spc="-215" dirty="0"/>
              <a:t>B</a:t>
            </a:r>
            <a:r>
              <a:rPr sz="2650" spc="-195" dirty="0"/>
              <a:t>i</a:t>
            </a:r>
            <a:r>
              <a:rPr sz="2650" spc="160" dirty="0"/>
              <a:t>o</a:t>
            </a:r>
            <a:r>
              <a:rPr sz="2650" spc="215" dirty="0"/>
              <a:t>m</a:t>
            </a:r>
            <a:r>
              <a:rPr sz="2650" spc="50" dirty="0"/>
              <a:t>arke</a:t>
            </a:r>
            <a:r>
              <a:rPr sz="2650" spc="225" dirty="0"/>
              <a:t>r</a:t>
            </a:r>
            <a:r>
              <a:rPr sz="2650" spc="-220" dirty="0"/>
              <a:t>s?</a:t>
            </a:r>
            <a:endParaRPr sz="2650"/>
          </a:p>
        </p:txBody>
      </p:sp>
      <p:sp>
        <p:nvSpPr>
          <p:cNvPr id="6" name="object 6"/>
          <p:cNvSpPr txBox="1"/>
          <p:nvPr/>
        </p:nvSpPr>
        <p:spPr>
          <a:xfrm>
            <a:off x="438404" y="2073969"/>
            <a:ext cx="7951470" cy="110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775" indent="-219075">
              <a:lnSpc>
                <a:spcPct val="100000"/>
              </a:lnSpc>
              <a:buClr>
                <a:srgbClr val="2A2A2A"/>
              </a:buClr>
              <a:buFont typeface="Arial"/>
              <a:buChar char="•"/>
              <a:tabLst>
                <a:tab pos="238760" algn="l"/>
              </a:tabLst>
            </a:pPr>
            <a:r>
              <a:rPr sz="1700" spc="-75" dirty="0">
                <a:solidFill>
                  <a:srgbClr val="2A2A2A"/>
                </a:solidFill>
                <a:latin typeface="Arial"/>
                <a:cs typeface="Arial"/>
              </a:rPr>
              <a:t>Ea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r</a:t>
            </a:r>
            <a:r>
              <a:rPr sz="1700" spc="30" dirty="0">
                <a:solidFill>
                  <a:srgbClr val="2A2A2A"/>
                </a:solidFill>
                <a:latin typeface="Arial"/>
                <a:cs typeface="Arial"/>
              </a:rPr>
              <a:t>ly</a:t>
            </a:r>
            <a:r>
              <a:rPr sz="1700" spc="-3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diagnosis</a:t>
            </a:r>
            <a:r>
              <a:rPr sz="1700" spc="1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50" dirty="0">
                <a:solidFill>
                  <a:srgbClr val="2A2A2A"/>
                </a:solidFill>
                <a:latin typeface="Arial"/>
                <a:cs typeface="Arial"/>
              </a:rPr>
              <a:t>and</a:t>
            </a:r>
            <a:r>
              <a:rPr sz="1700" spc="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130" dirty="0">
                <a:solidFill>
                  <a:srgbClr val="2A2A2A"/>
                </a:solidFill>
                <a:latin typeface="Arial"/>
                <a:cs typeface="Arial"/>
              </a:rPr>
              <a:t>mproved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2A2A2A"/>
                </a:solidFill>
                <a:latin typeface="Arial"/>
                <a:cs typeface="Arial"/>
              </a:rPr>
              <a:t>clinical</a:t>
            </a:r>
            <a:r>
              <a:rPr sz="1700" spc="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85" dirty="0">
                <a:solidFill>
                  <a:srgbClr val="2A2A2A"/>
                </a:solidFill>
                <a:latin typeface="Arial"/>
                <a:cs typeface="Arial"/>
              </a:rPr>
              <a:t>outcomes.</a:t>
            </a:r>
            <a:endParaRPr sz="1700">
              <a:latin typeface="Arial"/>
              <a:cs typeface="Arial"/>
            </a:endParaRPr>
          </a:p>
          <a:p>
            <a:pPr marL="238125" indent="-225425">
              <a:lnSpc>
                <a:spcPct val="100000"/>
              </a:lnSpc>
              <a:spcBef>
                <a:spcPts val="240"/>
              </a:spcBef>
              <a:buClr>
                <a:srgbClr val="2A2A2A"/>
              </a:buClr>
              <a:buFont typeface="Arial"/>
              <a:buChar char="•"/>
              <a:tabLst>
                <a:tab pos="238760" algn="l"/>
              </a:tabLst>
            </a:pPr>
            <a:r>
              <a:rPr sz="1700" spc="45" dirty="0">
                <a:solidFill>
                  <a:srgbClr val="2A2A2A"/>
                </a:solidFill>
                <a:latin typeface="Arial"/>
                <a:cs typeface="Arial"/>
              </a:rPr>
              <a:t>Directly</a:t>
            </a:r>
            <a:r>
              <a:rPr sz="1700" spc="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100" dirty="0">
                <a:solidFill>
                  <a:srgbClr val="2A2A2A"/>
                </a:solidFill>
                <a:latin typeface="Arial"/>
                <a:cs typeface="Arial"/>
              </a:rPr>
              <a:t>ndicate</a:t>
            </a:r>
            <a:r>
              <a:rPr sz="1700" spc="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the</a:t>
            </a:r>
            <a:r>
              <a:rPr sz="1700" spc="1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presence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0" dirty="0">
                <a:solidFill>
                  <a:srgbClr val="2A2A2A"/>
                </a:solidFill>
                <a:latin typeface="Arial"/>
                <a:cs typeface="Arial"/>
              </a:rPr>
              <a:t>of</a:t>
            </a:r>
            <a:r>
              <a:rPr sz="1700" spc="18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bacteria</a:t>
            </a:r>
            <a:r>
              <a:rPr sz="1700" spc="19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700" spc="100" dirty="0">
                <a:solidFill>
                  <a:srgbClr val="2A2A2A"/>
                </a:solidFill>
                <a:latin typeface="Arial"/>
                <a:cs typeface="Arial"/>
              </a:rPr>
              <a:t>not</a:t>
            </a:r>
            <a:r>
              <a:rPr sz="1700" spc="-9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30" dirty="0">
                <a:solidFill>
                  <a:srgbClr val="2A2A2A"/>
                </a:solidFill>
                <a:latin typeface="Arial"/>
                <a:cs typeface="Arial"/>
              </a:rPr>
              <a:t>just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-17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2A2A2A"/>
                </a:solidFill>
                <a:latin typeface="Arial"/>
                <a:cs typeface="Arial"/>
              </a:rPr>
              <a:t>host</a:t>
            </a:r>
            <a:r>
              <a:rPr sz="1700" spc="6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25" dirty="0">
                <a:solidFill>
                  <a:srgbClr val="2A2A2A"/>
                </a:solidFill>
                <a:latin typeface="Arial"/>
                <a:cs typeface="Arial"/>
              </a:rPr>
              <a:t>n</a:t>
            </a:r>
            <a:r>
              <a:rPr sz="1700" spc="145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700" spc="130" dirty="0">
                <a:solidFill>
                  <a:srgbClr val="2A2A2A"/>
                </a:solidFill>
                <a:latin typeface="Arial"/>
                <a:cs typeface="Arial"/>
              </a:rPr>
              <a:t>lammation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)</a:t>
            </a:r>
            <a:r>
              <a:rPr sz="1700" spc="70" dirty="0">
                <a:solidFill>
                  <a:srgbClr val="2A2A2A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231775" marR="5080" indent="-219075">
              <a:lnSpc>
                <a:spcPts val="2280"/>
              </a:lnSpc>
              <a:spcBef>
                <a:spcPts val="90"/>
              </a:spcBef>
              <a:buClr>
                <a:srgbClr val="2A2A2A"/>
              </a:buClr>
              <a:buFont typeface="Arial"/>
              <a:buChar char="•"/>
              <a:tabLst>
                <a:tab pos="412115" algn="l"/>
                <a:tab pos="1292225" algn="l"/>
                <a:tab pos="2066925" algn="l"/>
                <a:tab pos="3679190" algn="l"/>
                <a:tab pos="4651375" algn="l"/>
                <a:tab pos="6184265" algn="l"/>
              </a:tabLst>
            </a:pPr>
            <a:r>
              <a:rPr sz="1700" spc="35" dirty="0">
                <a:solidFill>
                  <a:srgbClr val="2A2A2A"/>
                </a:solidFill>
                <a:latin typeface="Arial"/>
                <a:cs typeface="Arial"/>
              </a:rPr>
              <a:t>Enable	</a:t>
            </a:r>
            <a:r>
              <a:rPr sz="1700" spc="105" dirty="0">
                <a:solidFill>
                  <a:srgbClr val="2A2A2A"/>
                </a:solidFill>
                <a:latin typeface="Arial"/>
                <a:cs typeface="Arial"/>
              </a:rPr>
              <a:t>Gram	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class</a:t>
            </a:r>
            <a:r>
              <a:rPr sz="1700" spc="15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80" dirty="0">
                <a:solidFill>
                  <a:srgbClr val="2A2A2A"/>
                </a:solidFill>
                <a:latin typeface="Arial"/>
                <a:cs typeface="Arial"/>
              </a:rPr>
              <a:t>ficatio</a:t>
            </a:r>
            <a:r>
              <a:rPr sz="1700" spc="270" dirty="0">
                <a:solidFill>
                  <a:srgbClr val="2A2A2A"/>
                </a:solidFill>
                <a:latin typeface="Arial"/>
                <a:cs typeface="Arial"/>
              </a:rPr>
              <a:t>n</a:t>
            </a:r>
            <a:r>
              <a:rPr sz="1700" spc="45" dirty="0">
                <a:solidFill>
                  <a:srgbClr val="2A2A2A"/>
                </a:solidFill>
                <a:latin typeface="Arial"/>
                <a:cs typeface="Arial"/>
              </a:rPr>
              <a:t>.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700" spc="-270" dirty="0">
                <a:solidFill>
                  <a:srgbClr val="2A2A2A"/>
                </a:solidFill>
                <a:latin typeface="Arial"/>
                <a:cs typeface="Arial"/>
              </a:rPr>
              <a:t>R</a:t>
            </a:r>
            <a:r>
              <a:rPr sz="1700" spc="110" dirty="0">
                <a:solidFill>
                  <a:srgbClr val="2A2A2A"/>
                </a:solidFill>
                <a:latin typeface="Arial"/>
                <a:cs typeface="Arial"/>
              </a:rPr>
              <a:t>educe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unnecessary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700" spc="125" dirty="0">
                <a:solidFill>
                  <a:srgbClr val="2A2A2A"/>
                </a:solidFill>
                <a:latin typeface="Arial"/>
                <a:cs typeface="Arial"/>
              </a:rPr>
              <a:t>broad-spectrum</a:t>
            </a:r>
            <a:r>
              <a:rPr sz="1700" spc="7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antibiot</a:t>
            </a:r>
            <a:r>
              <a:rPr sz="1700" spc="130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c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2A2A2A"/>
                </a:solidFill>
                <a:latin typeface="Arial"/>
                <a:cs typeface="Arial"/>
              </a:rPr>
              <a:t>use</a:t>
            </a:r>
            <a:r>
              <a:rPr sz="1700" spc="-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50" dirty="0">
                <a:solidFill>
                  <a:srgbClr val="2A2A2A"/>
                </a:solidFill>
                <a:latin typeface="Arial"/>
                <a:cs typeface="Arial"/>
              </a:rPr>
              <a:t>and</a:t>
            </a:r>
            <a:r>
              <a:rPr sz="1700" spc="-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45" dirty="0">
                <a:solidFill>
                  <a:srgbClr val="2A2A2A"/>
                </a:solidFill>
                <a:latin typeface="Arial"/>
                <a:cs typeface="Arial"/>
              </a:rPr>
              <a:t>combat</a:t>
            </a:r>
            <a:r>
              <a:rPr sz="1700" spc="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-120" dirty="0">
                <a:solidFill>
                  <a:srgbClr val="2A2A2A"/>
                </a:solidFill>
                <a:latin typeface="Arial"/>
                <a:cs typeface="Arial"/>
              </a:rPr>
              <a:t>AMR.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7516" y="4866526"/>
            <a:ext cx="1619885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b="1" dirty="0">
                <a:solidFill>
                  <a:srgbClr val="E46460"/>
                </a:solidFill>
                <a:latin typeface="Arial"/>
                <a:cs typeface="Arial"/>
              </a:rPr>
              <a:t>Traditional</a:t>
            </a:r>
            <a:r>
              <a:rPr sz="1250" b="1" spc="45" dirty="0">
                <a:solidFill>
                  <a:srgbClr val="E46460"/>
                </a:solidFill>
                <a:latin typeface="Arial"/>
                <a:cs typeface="Arial"/>
              </a:rPr>
              <a:t> </a:t>
            </a:r>
            <a:r>
              <a:rPr sz="1250" b="1" spc="-25" dirty="0">
                <a:solidFill>
                  <a:srgbClr val="E46460"/>
                </a:solidFill>
                <a:latin typeface="Arial"/>
                <a:cs typeface="Arial"/>
              </a:rPr>
              <a:t>Approach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5972" y="5282005"/>
            <a:ext cx="2061845" cy="1013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4290" algn="ctr">
              <a:lnSpc>
                <a:spcPct val="103800"/>
              </a:lnSpc>
            </a:pPr>
            <a:r>
              <a:rPr sz="1300" spc="20" dirty="0">
                <a:solidFill>
                  <a:srgbClr val="676767"/>
                </a:solidFill>
                <a:latin typeface="Arial"/>
                <a:cs typeface="Arial"/>
              </a:rPr>
              <a:t>Host</a:t>
            </a:r>
            <a:r>
              <a:rPr sz="1300" spc="2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response</a:t>
            </a:r>
            <a:r>
              <a:rPr sz="1300" spc="6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5" dirty="0">
                <a:solidFill>
                  <a:srgbClr val="676767"/>
                </a:solidFill>
                <a:latin typeface="Arial"/>
                <a:cs typeface="Arial"/>
              </a:rPr>
              <a:t>detection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-15" dirty="0">
                <a:solidFill>
                  <a:srgbClr val="676767"/>
                </a:solidFill>
                <a:latin typeface="Arial"/>
                <a:cs typeface="Arial"/>
              </a:rPr>
              <a:t>Delayed</a:t>
            </a:r>
            <a:r>
              <a:rPr sz="1300" spc="2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30" dirty="0">
                <a:solidFill>
                  <a:srgbClr val="676767"/>
                </a:solidFill>
                <a:latin typeface="Arial"/>
                <a:cs typeface="Arial"/>
              </a:rPr>
              <a:t>immune</a:t>
            </a:r>
            <a:r>
              <a:rPr sz="1300" spc="3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676767"/>
                </a:solidFill>
                <a:latin typeface="Arial"/>
                <a:cs typeface="Arial"/>
              </a:rPr>
              <a:t>activation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 Non-specific</a:t>
            </a:r>
            <a:r>
              <a:rPr sz="1300" spc="1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30" dirty="0">
                <a:solidFill>
                  <a:srgbClr val="676767"/>
                </a:solidFill>
                <a:latin typeface="Arial"/>
                <a:cs typeface="Arial"/>
              </a:rPr>
              <a:t>inflammation</a:t>
            </a:r>
            <a:r>
              <a:rPr sz="1300" spc="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676767"/>
                </a:solidFill>
                <a:latin typeface="Arial"/>
                <a:cs typeface="Arial"/>
              </a:rPr>
              <a:t>Cannot</a:t>
            </a:r>
            <a:r>
              <a:rPr sz="1300" spc="8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guide</a:t>
            </a:r>
            <a:r>
              <a:rPr sz="1300" spc="6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25" dirty="0">
                <a:solidFill>
                  <a:srgbClr val="676767"/>
                </a:solidFill>
                <a:latin typeface="Arial"/>
                <a:cs typeface="Arial"/>
              </a:rPr>
              <a:t>antibiotics</a:t>
            </a:r>
            <a:r>
              <a:rPr sz="1300" spc="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Incremental</a:t>
            </a:r>
            <a:r>
              <a:rPr sz="1300" spc="8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improvement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7564" y="4875670"/>
            <a:ext cx="1957705" cy="18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b="1" dirty="0">
                <a:solidFill>
                  <a:srgbClr val="4BC88C"/>
                </a:solidFill>
                <a:latin typeface="Arial"/>
                <a:cs typeface="Arial"/>
              </a:rPr>
              <a:t>Bacter</a:t>
            </a:r>
            <a:r>
              <a:rPr sz="1250" b="1" spc="-10" dirty="0">
                <a:solidFill>
                  <a:srgbClr val="4BC88C"/>
                </a:solidFill>
                <a:latin typeface="Arial"/>
                <a:cs typeface="Arial"/>
              </a:rPr>
              <a:t>i</a:t>
            </a:r>
            <a:r>
              <a:rPr sz="1250" b="1" spc="25" dirty="0">
                <a:solidFill>
                  <a:srgbClr val="4BC88C"/>
                </a:solidFill>
                <a:latin typeface="Arial"/>
                <a:cs typeface="Arial"/>
              </a:rPr>
              <a:t>al</a:t>
            </a:r>
            <a:r>
              <a:rPr sz="1250" b="1" spc="-40" dirty="0">
                <a:solidFill>
                  <a:srgbClr val="4BC88C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4BC88C"/>
                </a:solidFill>
                <a:latin typeface="Arial"/>
                <a:cs typeface="Arial"/>
              </a:rPr>
              <a:t>Spec</a:t>
            </a:r>
            <a:r>
              <a:rPr sz="1250" b="1" spc="-5" dirty="0">
                <a:solidFill>
                  <a:srgbClr val="4BC88C"/>
                </a:solidFill>
                <a:latin typeface="Arial"/>
                <a:cs typeface="Arial"/>
              </a:rPr>
              <a:t>i</a:t>
            </a:r>
            <a:r>
              <a:rPr sz="1250" b="1" spc="130" dirty="0">
                <a:solidFill>
                  <a:srgbClr val="4BC88C"/>
                </a:solidFill>
                <a:latin typeface="Arial"/>
                <a:cs typeface="Arial"/>
              </a:rPr>
              <a:t>f</a:t>
            </a:r>
            <a:r>
              <a:rPr sz="1250" b="1" spc="-10" dirty="0">
                <a:solidFill>
                  <a:srgbClr val="4BC88C"/>
                </a:solidFill>
                <a:latin typeface="Arial"/>
                <a:cs typeface="Arial"/>
              </a:rPr>
              <a:t>ic</a:t>
            </a:r>
            <a:r>
              <a:rPr sz="1250" b="1" dirty="0">
                <a:solidFill>
                  <a:srgbClr val="4BC88C"/>
                </a:solidFill>
                <a:latin typeface="Arial"/>
                <a:cs typeface="Arial"/>
              </a:rPr>
              <a:t> </a:t>
            </a:r>
            <a:r>
              <a:rPr sz="1250" b="1" spc="20" dirty="0">
                <a:solidFill>
                  <a:srgbClr val="4BC88C"/>
                </a:solidFill>
                <a:latin typeface="Arial"/>
                <a:cs typeface="Arial"/>
              </a:rPr>
              <a:t>Marker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42764" y="5282005"/>
            <a:ext cx="2564765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1270" algn="ctr">
              <a:lnSpc>
                <a:spcPct val="103800"/>
              </a:lnSpc>
            </a:pPr>
            <a:r>
              <a:rPr sz="1300" spc="-10" dirty="0">
                <a:solidFill>
                  <a:srgbClr val="676767"/>
                </a:solidFill>
                <a:latin typeface="Arial"/>
                <a:cs typeface="Arial"/>
              </a:rPr>
              <a:t>Direct</a:t>
            </a:r>
            <a:r>
              <a:rPr sz="1300" spc="3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5" dirty="0">
                <a:solidFill>
                  <a:srgbClr val="676767"/>
                </a:solidFill>
                <a:latin typeface="Arial"/>
                <a:cs typeface="Arial"/>
              </a:rPr>
              <a:t>bacterial</a:t>
            </a:r>
            <a:r>
              <a:rPr sz="1300" spc="7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5" dirty="0">
                <a:solidFill>
                  <a:srgbClr val="676767"/>
                </a:solidFill>
                <a:latin typeface="Arial"/>
                <a:cs typeface="Arial"/>
              </a:rPr>
              <a:t>detection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25" dirty="0">
                <a:solidFill>
                  <a:srgbClr val="676767"/>
                </a:solidFill>
                <a:latin typeface="Arial"/>
                <a:cs typeface="Arial"/>
              </a:rPr>
              <a:t>Immediate</a:t>
            </a:r>
            <a:r>
              <a:rPr sz="1300" spc="6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bacterial</a:t>
            </a:r>
            <a:r>
              <a:rPr sz="1300" spc="1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25" dirty="0">
                <a:solidFill>
                  <a:srgbClr val="676767"/>
                </a:solidFill>
                <a:latin typeface="Arial"/>
                <a:cs typeface="Arial"/>
              </a:rPr>
              <a:t>identification</a:t>
            </a:r>
            <a:r>
              <a:rPr sz="1300" spc="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Bacterial</a:t>
            </a:r>
            <a:r>
              <a:rPr sz="1300" spc="20" dirty="0">
                <a:solidFill>
                  <a:srgbClr val="676767"/>
                </a:solidFill>
                <a:latin typeface="Arial"/>
                <a:cs typeface="Arial"/>
              </a:rPr>
              <a:t> specific</a:t>
            </a:r>
            <a:r>
              <a:rPr sz="1300" spc="10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marker</a:t>
            </a:r>
            <a:endParaRPr sz="1300">
              <a:latin typeface="Arial"/>
              <a:cs typeface="Arial"/>
            </a:endParaRPr>
          </a:p>
          <a:p>
            <a:pPr marL="347980" marR="341630" algn="ctr">
              <a:lnSpc>
                <a:spcPct val="103099"/>
              </a:lnSpc>
            </a:pPr>
            <a:r>
              <a:rPr sz="1300" spc="-15" dirty="0">
                <a:solidFill>
                  <a:srgbClr val="676767"/>
                </a:solidFill>
                <a:latin typeface="Arial"/>
                <a:cs typeface="Arial"/>
              </a:rPr>
              <a:t>Enables</a:t>
            </a:r>
            <a:r>
              <a:rPr sz="1300" spc="-4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15" dirty="0">
                <a:solidFill>
                  <a:srgbClr val="676767"/>
                </a:solidFill>
                <a:latin typeface="Arial"/>
                <a:cs typeface="Arial"/>
              </a:rPr>
              <a:t>targeted</a:t>
            </a:r>
            <a:r>
              <a:rPr sz="1300" spc="3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676767"/>
                </a:solidFill>
                <a:latin typeface="Arial"/>
                <a:cs typeface="Arial"/>
              </a:rPr>
              <a:t>therapy </a:t>
            </a:r>
            <a:r>
              <a:rPr sz="1300" spc="5" dirty="0">
                <a:solidFill>
                  <a:srgbClr val="676767"/>
                </a:solidFill>
                <a:latin typeface="Arial"/>
                <a:cs typeface="Arial"/>
              </a:rPr>
              <a:t>Paradigm</a:t>
            </a:r>
            <a:r>
              <a:rPr sz="13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300" spc="25" dirty="0">
                <a:solidFill>
                  <a:srgbClr val="676767"/>
                </a:solidFill>
                <a:latin typeface="Arial"/>
                <a:cs typeface="Arial"/>
              </a:rPr>
              <a:t>shift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1391" y="1048511"/>
            <a:ext cx="768096" cy="5974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18816" y="1048511"/>
            <a:ext cx="1060704" cy="5974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12352" y="1036319"/>
            <a:ext cx="1133855" cy="4547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08191" y="6254496"/>
            <a:ext cx="1109471" cy="4754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668511" y="6254496"/>
            <a:ext cx="170688" cy="4632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3191" y="1623060"/>
            <a:ext cx="853440" cy="0"/>
          </a:xfrm>
          <a:custGeom>
            <a:avLst/>
            <a:gdLst/>
            <a:ahLst/>
            <a:cxnLst/>
            <a:rect l="l" t="t" r="r" b="b"/>
            <a:pathLst>
              <a:path w="853440">
                <a:moveTo>
                  <a:pt x="0" y="0"/>
                </a:moveTo>
                <a:lnTo>
                  <a:pt x="853439" y="0"/>
                </a:lnTo>
              </a:path>
            </a:pathLst>
          </a:custGeom>
          <a:ln w="9144">
            <a:solidFill>
              <a:srgbClr val="3F3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7763" y="1618488"/>
            <a:ext cx="0" cy="4660900"/>
          </a:xfrm>
          <a:custGeom>
            <a:avLst/>
            <a:gdLst/>
            <a:ahLst/>
            <a:cxnLst/>
            <a:rect l="l" t="t" r="r" b="b"/>
            <a:pathLst>
              <a:path h="4660900">
                <a:moveTo>
                  <a:pt x="0" y="4660392"/>
                </a:moveTo>
                <a:lnTo>
                  <a:pt x="0" y="0"/>
                </a:lnTo>
              </a:path>
            </a:pathLst>
          </a:custGeom>
          <a:ln w="9144">
            <a:solidFill>
              <a:srgbClr val="3838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94403" y="1618488"/>
            <a:ext cx="0" cy="4660900"/>
          </a:xfrm>
          <a:custGeom>
            <a:avLst/>
            <a:gdLst/>
            <a:ahLst/>
            <a:cxnLst/>
            <a:rect l="l" t="t" r="r" b="b"/>
            <a:pathLst>
              <a:path h="4660900">
                <a:moveTo>
                  <a:pt x="0" y="4660392"/>
                </a:moveTo>
                <a:lnTo>
                  <a:pt x="0" y="0"/>
                </a:lnTo>
              </a:path>
            </a:pathLst>
          </a:custGeom>
          <a:ln w="9144">
            <a:solidFill>
              <a:srgbClr val="3838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92568" y="1618488"/>
            <a:ext cx="0" cy="4660900"/>
          </a:xfrm>
          <a:custGeom>
            <a:avLst/>
            <a:gdLst/>
            <a:ahLst/>
            <a:cxnLst/>
            <a:rect l="l" t="t" r="r" b="b"/>
            <a:pathLst>
              <a:path h="4660900">
                <a:moveTo>
                  <a:pt x="0" y="4660392"/>
                </a:moveTo>
                <a:lnTo>
                  <a:pt x="0" y="0"/>
                </a:lnTo>
              </a:path>
            </a:pathLst>
          </a:custGeom>
          <a:ln w="6096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96083" y="1618488"/>
            <a:ext cx="0" cy="4660900"/>
          </a:xfrm>
          <a:custGeom>
            <a:avLst/>
            <a:gdLst/>
            <a:ahLst/>
            <a:cxnLst/>
            <a:rect l="l" t="t" r="r" b="b"/>
            <a:pathLst>
              <a:path h="4660900">
                <a:moveTo>
                  <a:pt x="0" y="4660392"/>
                </a:moveTo>
                <a:lnTo>
                  <a:pt x="0" y="0"/>
                </a:lnTo>
              </a:path>
            </a:pathLst>
          </a:custGeom>
          <a:ln w="9144">
            <a:solidFill>
              <a:srgbClr val="3838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3191" y="6275832"/>
            <a:ext cx="5733415" cy="0"/>
          </a:xfrm>
          <a:custGeom>
            <a:avLst/>
            <a:gdLst/>
            <a:ahLst/>
            <a:cxnLst/>
            <a:rect l="l" t="t" r="r" b="b"/>
            <a:pathLst>
              <a:path w="5733415">
                <a:moveTo>
                  <a:pt x="0" y="0"/>
                </a:moveTo>
                <a:lnTo>
                  <a:pt x="5733288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99376" y="6275832"/>
            <a:ext cx="2197735" cy="0"/>
          </a:xfrm>
          <a:custGeom>
            <a:avLst/>
            <a:gdLst/>
            <a:ahLst/>
            <a:cxnLst/>
            <a:rect l="l" t="t" r="r" b="b"/>
            <a:pathLst>
              <a:path w="2197734">
                <a:moveTo>
                  <a:pt x="0" y="0"/>
                </a:moveTo>
                <a:lnTo>
                  <a:pt x="2197607" y="0"/>
                </a:lnTo>
              </a:path>
            </a:pathLst>
          </a:custGeom>
          <a:ln w="6096">
            <a:solidFill>
              <a:srgbClr val="03030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99376" y="6704076"/>
            <a:ext cx="591820" cy="0"/>
          </a:xfrm>
          <a:custGeom>
            <a:avLst/>
            <a:gdLst/>
            <a:ahLst/>
            <a:cxnLst/>
            <a:rect l="l" t="t" r="r" b="b"/>
            <a:pathLst>
              <a:path w="591820">
                <a:moveTo>
                  <a:pt x="0" y="0"/>
                </a:moveTo>
                <a:lnTo>
                  <a:pt x="591312" y="0"/>
                </a:lnTo>
              </a:path>
            </a:pathLst>
          </a:custGeom>
          <a:ln w="18288">
            <a:solidFill>
              <a:srgbClr val="C8C8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47176" y="6704076"/>
            <a:ext cx="1411605" cy="0"/>
          </a:xfrm>
          <a:custGeom>
            <a:avLst/>
            <a:gdLst/>
            <a:ahLst/>
            <a:cxnLst/>
            <a:rect l="l" t="t" r="r" b="b"/>
            <a:pathLst>
              <a:path w="1411604">
                <a:moveTo>
                  <a:pt x="0" y="0"/>
                </a:moveTo>
                <a:lnTo>
                  <a:pt x="1411224" y="0"/>
                </a:lnTo>
              </a:path>
            </a:pathLst>
          </a:custGeom>
          <a:ln w="21336">
            <a:solidFill>
              <a:srgbClr val="979C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92411" y="5565647"/>
            <a:ext cx="0" cy="713740"/>
          </a:xfrm>
          <a:custGeom>
            <a:avLst/>
            <a:gdLst/>
            <a:ahLst/>
            <a:cxnLst/>
            <a:rect l="l" t="t" r="r" b="b"/>
            <a:pathLst>
              <a:path h="713739">
                <a:moveTo>
                  <a:pt x="0" y="713231"/>
                </a:moveTo>
                <a:lnTo>
                  <a:pt x="0" y="0"/>
                </a:lnTo>
              </a:path>
            </a:pathLst>
          </a:custGeom>
          <a:ln w="9144">
            <a:solidFill>
              <a:srgbClr val="2328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3672" y="2141220"/>
            <a:ext cx="8918575" cy="0"/>
          </a:xfrm>
          <a:custGeom>
            <a:avLst/>
            <a:gdLst/>
            <a:ahLst/>
            <a:cxnLst/>
            <a:rect l="l" t="t" r="r" b="b"/>
            <a:pathLst>
              <a:path w="8918575">
                <a:moveTo>
                  <a:pt x="0" y="0"/>
                </a:moveTo>
                <a:lnTo>
                  <a:pt x="8918448" y="0"/>
                </a:lnTo>
              </a:path>
            </a:pathLst>
          </a:custGeom>
          <a:ln w="3175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3672" y="2659379"/>
            <a:ext cx="8918575" cy="0"/>
          </a:xfrm>
          <a:custGeom>
            <a:avLst/>
            <a:gdLst/>
            <a:ahLst/>
            <a:cxnLst/>
            <a:rect l="l" t="t" r="r" b="b"/>
            <a:pathLst>
              <a:path w="8918575">
                <a:moveTo>
                  <a:pt x="0" y="0"/>
                </a:moveTo>
                <a:lnTo>
                  <a:pt x="8918448" y="0"/>
                </a:lnTo>
              </a:path>
            </a:pathLst>
          </a:custGeom>
          <a:ln w="3175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3672" y="3176016"/>
            <a:ext cx="8918575" cy="0"/>
          </a:xfrm>
          <a:custGeom>
            <a:avLst/>
            <a:gdLst/>
            <a:ahLst/>
            <a:cxnLst/>
            <a:rect l="l" t="t" r="r" b="b"/>
            <a:pathLst>
              <a:path w="8918575">
                <a:moveTo>
                  <a:pt x="0" y="0"/>
                </a:moveTo>
                <a:lnTo>
                  <a:pt x="8918448" y="0"/>
                </a:lnTo>
              </a:path>
            </a:pathLst>
          </a:custGeom>
          <a:ln w="6096">
            <a:solidFill>
              <a:srgbClr val="3B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3672" y="3691128"/>
            <a:ext cx="8918575" cy="0"/>
          </a:xfrm>
          <a:custGeom>
            <a:avLst/>
            <a:gdLst/>
            <a:ahLst/>
            <a:cxnLst/>
            <a:rect l="l" t="t" r="r" b="b"/>
            <a:pathLst>
              <a:path w="8918575">
                <a:moveTo>
                  <a:pt x="0" y="0"/>
                </a:moveTo>
                <a:lnTo>
                  <a:pt x="8918448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3672" y="4207764"/>
            <a:ext cx="8918575" cy="0"/>
          </a:xfrm>
          <a:custGeom>
            <a:avLst/>
            <a:gdLst/>
            <a:ahLst/>
            <a:cxnLst/>
            <a:rect l="l" t="t" r="r" b="b"/>
            <a:pathLst>
              <a:path w="8918575">
                <a:moveTo>
                  <a:pt x="0" y="0"/>
                </a:moveTo>
                <a:lnTo>
                  <a:pt x="8918448" y="0"/>
                </a:lnTo>
              </a:path>
            </a:pathLst>
          </a:custGeom>
          <a:ln w="9144">
            <a:solidFill>
              <a:srgbClr val="3838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3672" y="4724400"/>
            <a:ext cx="8918575" cy="0"/>
          </a:xfrm>
          <a:custGeom>
            <a:avLst/>
            <a:gdLst/>
            <a:ahLst/>
            <a:cxnLst/>
            <a:rect l="l" t="t" r="r" b="b"/>
            <a:pathLst>
              <a:path w="8918575">
                <a:moveTo>
                  <a:pt x="0" y="0"/>
                </a:moveTo>
                <a:lnTo>
                  <a:pt x="8918448" y="0"/>
                </a:lnTo>
              </a:path>
            </a:pathLst>
          </a:custGeom>
          <a:ln w="6096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3672" y="5241035"/>
            <a:ext cx="8952230" cy="0"/>
          </a:xfrm>
          <a:custGeom>
            <a:avLst/>
            <a:gdLst/>
            <a:ahLst/>
            <a:cxnLst/>
            <a:rect l="l" t="t" r="r" b="b"/>
            <a:pathLst>
              <a:path w="8952230">
                <a:moveTo>
                  <a:pt x="0" y="0"/>
                </a:moveTo>
                <a:lnTo>
                  <a:pt x="8951976" y="0"/>
                </a:lnTo>
              </a:path>
            </a:pathLst>
          </a:custGeom>
          <a:ln w="9144">
            <a:solidFill>
              <a:srgbClr val="3B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3672" y="5759196"/>
            <a:ext cx="8918575" cy="0"/>
          </a:xfrm>
          <a:custGeom>
            <a:avLst/>
            <a:gdLst/>
            <a:ahLst/>
            <a:cxnLst/>
            <a:rect l="l" t="t" r="r" b="b"/>
            <a:pathLst>
              <a:path w="8918575">
                <a:moveTo>
                  <a:pt x="0" y="0"/>
                </a:moveTo>
                <a:lnTo>
                  <a:pt x="8918448" y="0"/>
                </a:lnTo>
              </a:path>
            </a:pathLst>
          </a:custGeom>
          <a:ln w="9144">
            <a:solidFill>
              <a:srgbClr val="3B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133092" y="903921"/>
            <a:ext cx="386080" cy="387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125" indent="-225425">
              <a:lnSpc>
                <a:spcPct val="100000"/>
              </a:lnSpc>
              <a:buClr>
                <a:srgbClr val="D1DBE8"/>
              </a:buClr>
              <a:buFont typeface="Courier New"/>
              <a:buChar char="•"/>
              <a:tabLst>
                <a:tab pos="238760" algn="l"/>
              </a:tabLst>
            </a:pPr>
            <a:r>
              <a:rPr sz="2850" b="1" i="1" spc="-650" dirty="0">
                <a:solidFill>
                  <a:srgbClr val="D1DBE8"/>
                </a:solidFill>
                <a:latin typeface="Courier New"/>
                <a:cs typeface="Courier New"/>
              </a:rPr>
              <a:t>v</a:t>
            </a:r>
            <a:endParaRPr sz="28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2787" y="1828260"/>
            <a:ext cx="5568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20" dirty="0">
                <a:solidFill>
                  <a:srgbClr val="010101"/>
                </a:solidFill>
                <a:latin typeface="Arial"/>
                <a:cs typeface="Arial"/>
              </a:rPr>
              <a:t>Difference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30627" y="1825212"/>
            <a:ext cx="74168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10" dirty="0">
                <a:solidFill>
                  <a:srgbClr val="010101"/>
                </a:solidFill>
                <a:latin typeface="Arial"/>
                <a:cs typeface="Arial"/>
              </a:rPr>
              <a:t>Gram-Positive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28947" y="1825212"/>
            <a:ext cx="79121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20" dirty="0">
                <a:solidFill>
                  <a:srgbClr val="010101"/>
                </a:solidFill>
                <a:latin typeface="Arial"/>
                <a:cs typeface="Arial"/>
              </a:rPr>
              <a:t>Gram-Negative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30315" y="1828260"/>
            <a:ext cx="104076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10" dirty="0">
                <a:solidFill>
                  <a:srgbClr val="010101"/>
                </a:solidFill>
                <a:latin typeface="Arial"/>
                <a:cs typeface="Arial"/>
              </a:rPr>
              <a:t>Clinical</a:t>
            </a:r>
            <a:r>
              <a:rPr sz="800" b="1" spc="-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10101"/>
                </a:solidFill>
                <a:latin typeface="Arial"/>
                <a:cs typeface="Arial"/>
              </a:rPr>
              <a:t>Significance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31683" y="1828260"/>
            <a:ext cx="54165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15" dirty="0">
                <a:solidFill>
                  <a:srgbClr val="010101"/>
                </a:solidFill>
                <a:latin typeface="Arial"/>
                <a:cs typeface="Arial"/>
              </a:rPr>
              <a:t>Reference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30315" y="2197068"/>
            <a:ext cx="1601470" cy="414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15">
              <a:lnSpc>
                <a:spcPct val="117500"/>
              </a:lnSpc>
            </a:pP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Determines</a:t>
            </a: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antibiotic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penetration</a:t>
            </a:r>
            <a:r>
              <a:rPr sz="8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55" dirty="0">
                <a:solidFill>
                  <a:srgbClr val="111111"/>
                </a:solidFill>
                <a:latin typeface="Arial"/>
                <a:cs typeface="Arial"/>
              </a:rPr>
              <a:t>SERS</a:t>
            </a:r>
            <a:r>
              <a:rPr sz="8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targeting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strategy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28635" y="2270219"/>
            <a:ext cx="1686560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 marR="5080" indent="-6350">
              <a:lnSpc>
                <a:spcPct val="114999"/>
              </a:lnSpc>
            </a:pP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Si</a:t>
            </a:r>
            <a:r>
              <a:rPr sz="800" dirty="0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havy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et</a:t>
            </a:r>
            <a:r>
              <a:rPr sz="8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al.</a:t>
            </a:r>
            <a:r>
              <a:rPr sz="8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Co</a:t>
            </a:r>
            <a:r>
              <a:rPr sz="800" dirty="0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d</a:t>
            </a:r>
            <a:r>
              <a:rPr sz="8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Spring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Harb</a:t>
            </a: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 Perspect</a:t>
            </a:r>
            <a:r>
              <a:rPr sz="800" spc="50" dirty="0">
                <a:solidFill>
                  <a:srgbClr val="010101"/>
                </a:solidFill>
                <a:latin typeface="Arial"/>
                <a:cs typeface="Arial"/>
              </a:rPr>
              <a:t> Biol</a:t>
            </a:r>
            <a:r>
              <a:rPr sz="800" spc="-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201</a:t>
            </a:r>
            <a:r>
              <a:rPr sz="800" spc="105" dirty="0">
                <a:solidFill>
                  <a:srgbClr val="111111"/>
                </a:solidFill>
                <a:latin typeface="Arial"/>
                <a:cs typeface="Arial"/>
              </a:rPr>
              <a:t>0</a:t>
            </a:r>
            <a:r>
              <a:rPr sz="800" spc="-15" dirty="0">
                <a:solidFill>
                  <a:srgbClr val="383838"/>
                </a:solidFill>
                <a:latin typeface="Arial"/>
                <a:cs typeface="Arial"/>
              </a:rPr>
              <a:t>;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2(5):a0004</a:t>
            </a:r>
            <a:r>
              <a:rPr sz="800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25900" y="2270219"/>
            <a:ext cx="137477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 marR="5080" indent="-6350">
              <a:lnSpc>
                <a:spcPct val="117500"/>
              </a:lnSpc>
            </a:pPr>
            <a:r>
              <a:rPr sz="800" spc="25" dirty="0">
                <a:solidFill>
                  <a:srgbClr val="010101"/>
                </a:solidFill>
                <a:latin typeface="Arial"/>
                <a:cs typeface="Arial"/>
              </a:rPr>
              <a:t>Thin</a:t>
            </a:r>
            <a:r>
              <a:rPr sz="800" spc="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111111"/>
                </a:solidFill>
                <a:latin typeface="Arial"/>
                <a:cs typeface="Arial"/>
              </a:rPr>
              <a:t>peptidog</a:t>
            </a:r>
            <a:r>
              <a:rPr sz="800" spc="-5" dirty="0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ycan</a:t>
            </a:r>
            <a:r>
              <a:rPr sz="8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40" dirty="0">
                <a:solidFill>
                  <a:srgbClr val="111111"/>
                </a:solidFill>
                <a:latin typeface="Arial"/>
                <a:cs typeface="Arial"/>
              </a:rPr>
              <a:t>+</a:t>
            </a:r>
            <a:r>
              <a:rPr sz="8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outer</a:t>
            </a:r>
            <a:r>
              <a:rPr sz="8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membrane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2308" y="2343372"/>
            <a:ext cx="97345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25" dirty="0">
                <a:solidFill>
                  <a:srgbClr val="010101"/>
                </a:solidFill>
                <a:latin typeface="Arial"/>
                <a:cs typeface="Arial"/>
              </a:rPr>
              <a:t>Cell</a:t>
            </a:r>
            <a:r>
              <a:rPr sz="800" b="1" spc="-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spc="15" dirty="0">
                <a:solidFill>
                  <a:srgbClr val="010101"/>
                </a:solidFill>
                <a:latin typeface="Arial"/>
                <a:cs typeface="Arial"/>
              </a:rPr>
              <a:t>Wall</a:t>
            </a:r>
            <a:r>
              <a:rPr sz="800" b="1" spc="-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spc="15" dirty="0">
                <a:solidFill>
                  <a:srgbClr val="010101"/>
                </a:solidFill>
                <a:latin typeface="Arial"/>
                <a:cs typeface="Arial"/>
              </a:rPr>
              <a:t>Structure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27579" y="2343372"/>
            <a:ext cx="162687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15" dirty="0">
                <a:solidFill>
                  <a:srgbClr val="010101"/>
                </a:solidFill>
                <a:latin typeface="Arial"/>
                <a:cs typeface="Arial"/>
              </a:rPr>
              <a:t>Thick</a:t>
            </a:r>
            <a:r>
              <a:rPr sz="800" spc="1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111111"/>
                </a:solidFill>
                <a:latin typeface="Arial"/>
                <a:cs typeface="Arial"/>
              </a:rPr>
              <a:t>peptidog</a:t>
            </a:r>
            <a:r>
              <a:rPr sz="800" spc="-5" dirty="0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ycan</a:t>
            </a:r>
            <a:r>
              <a:rPr sz="800" spc="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(20-80</a:t>
            </a:r>
            <a:r>
              <a:rPr sz="800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20" dirty="0">
                <a:solidFill>
                  <a:srgbClr val="010101"/>
                </a:solidFill>
                <a:latin typeface="Arial"/>
                <a:cs typeface="Arial"/>
              </a:rPr>
              <a:t>nm)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33364" y="2788379"/>
            <a:ext cx="1649730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40">
              <a:lnSpc>
                <a:spcPct val="114999"/>
              </a:lnSpc>
            </a:pP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Major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structural</a:t>
            </a:r>
            <a:r>
              <a:rPr sz="8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010101"/>
                </a:solidFill>
                <a:latin typeface="Arial"/>
                <a:cs typeface="Arial"/>
              </a:rPr>
              <a:t>target</a:t>
            </a:r>
            <a:r>
              <a:rPr sz="800" spc="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800" dirty="0">
                <a:solidFill>
                  <a:srgbClr val="111111"/>
                </a:solidFill>
                <a:latin typeface="Arial"/>
                <a:cs typeface="Arial"/>
              </a:rPr>
              <a:t>   </a:t>
            </a:r>
            <a:r>
              <a:rPr sz="8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-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5" dirty="0">
                <a:solidFill>
                  <a:srgbClr val="010101"/>
                </a:solidFill>
                <a:latin typeface="Arial"/>
                <a:cs typeface="Arial"/>
              </a:rPr>
              <a:t>Lactam</a:t>
            </a: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antibiotics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detection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25588" y="2788379"/>
            <a:ext cx="1716405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 marR="5080" indent="-3175">
              <a:lnSpc>
                <a:spcPct val="112500"/>
              </a:lnSpc>
            </a:pP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Vollmer</a:t>
            </a:r>
            <a:r>
              <a:rPr sz="800" spc="10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et</a:t>
            </a:r>
            <a:r>
              <a:rPr sz="8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al.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010101"/>
                </a:solidFill>
                <a:latin typeface="Arial"/>
                <a:cs typeface="Arial"/>
              </a:rPr>
              <a:t>FEMS</a:t>
            </a:r>
            <a:r>
              <a:rPr sz="800" spc="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111111"/>
                </a:solidFill>
                <a:latin typeface="Arial"/>
                <a:cs typeface="Arial"/>
              </a:rPr>
              <a:t>Microbiol</a:t>
            </a:r>
            <a:r>
              <a:rPr sz="8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5" dirty="0">
                <a:solidFill>
                  <a:srgbClr val="111111"/>
                </a:solidFill>
                <a:latin typeface="Arial"/>
                <a:cs typeface="Arial"/>
              </a:rPr>
              <a:t>Rev </a:t>
            </a:r>
            <a:r>
              <a:rPr sz="800" spc="65" dirty="0">
                <a:solidFill>
                  <a:srgbClr val="111111"/>
                </a:solidFill>
                <a:latin typeface="Arial"/>
                <a:cs typeface="Arial"/>
              </a:rPr>
              <a:t>200</a:t>
            </a:r>
            <a:r>
              <a:rPr sz="800" spc="100" dirty="0">
                <a:solidFill>
                  <a:srgbClr val="111111"/>
                </a:solidFill>
                <a:latin typeface="Arial"/>
                <a:cs typeface="Arial"/>
              </a:rPr>
              <a:t>8</a:t>
            </a:r>
            <a:r>
              <a:rPr sz="800" spc="10" dirty="0">
                <a:solidFill>
                  <a:srgbClr val="383838"/>
                </a:solidFill>
                <a:latin typeface="Arial"/>
                <a:cs typeface="Arial"/>
              </a:rPr>
              <a:t>;</a:t>
            </a:r>
            <a:r>
              <a:rPr sz="800" spc="-10" dirty="0">
                <a:solidFill>
                  <a:srgbClr val="111111"/>
                </a:solidFill>
                <a:latin typeface="Arial"/>
                <a:cs typeface="Arial"/>
              </a:rPr>
              <a:t>32(2)</a:t>
            </a:r>
            <a:r>
              <a:rPr sz="800" spc="-1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15" dirty="0">
                <a:solidFill>
                  <a:srgbClr val="383838"/>
                </a:solidFill>
                <a:latin typeface="Arial"/>
                <a:cs typeface="Arial"/>
              </a:rPr>
              <a:t>:</a:t>
            </a:r>
            <a:r>
              <a:rPr sz="800" spc="-40" dirty="0">
                <a:solidFill>
                  <a:srgbClr val="010101"/>
                </a:solidFill>
                <a:latin typeface="Arial"/>
                <a:cs typeface="Arial"/>
              </a:rPr>
              <a:t>1</a:t>
            </a:r>
            <a:r>
              <a:rPr sz="800" spc="65" dirty="0">
                <a:solidFill>
                  <a:srgbClr val="010101"/>
                </a:solidFill>
                <a:latin typeface="Arial"/>
                <a:cs typeface="Arial"/>
              </a:rPr>
              <a:t>49-</a:t>
            </a:r>
            <a:r>
              <a:rPr sz="800" spc="15" dirty="0">
                <a:solidFill>
                  <a:srgbClr val="010101"/>
                </a:solidFill>
                <a:latin typeface="Arial"/>
                <a:cs typeface="Arial"/>
              </a:rPr>
              <a:t>1</a:t>
            </a:r>
            <a:r>
              <a:rPr sz="800" dirty="0">
                <a:solidFill>
                  <a:srgbClr val="010101"/>
                </a:solidFill>
                <a:latin typeface="Arial"/>
                <a:cs typeface="Arial"/>
              </a:rPr>
              <a:t>67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5355" y="2861532"/>
            <a:ext cx="119824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15" dirty="0">
                <a:solidFill>
                  <a:srgbClr val="010101"/>
                </a:solidFill>
                <a:latin typeface="Arial"/>
                <a:cs typeface="Arial"/>
              </a:rPr>
              <a:t>Peptidoglycan</a:t>
            </a:r>
            <a:r>
              <a:rPr sz="800" b="1" spc="4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spc="25" dirty="0">
                <a:solidFill>
                  <a:srgbClr val="010101"/>
                </a:solidFill>
                <a:latin typeface="Arial"/>
                <a:cs typeface="Arial"/>
              </a:rPr>
              <a:t>Content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233676" y="2861532"/>
            <a:ext cx="109537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50" dirty="0">
                <a:solidFill>
                  <a:srgbClr val="010101"/>
                </a:solidFill>
                <a:latin typeface="Arial"/>
                <a:cs typeface="Arial"/>
              </a:rPr>
              <a:t>90%</a:t>
            </a:r>
            <a:r>
              <a:rPr sz="800" spc="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65" dirty="0">
                <a:solidFill>
                  <a:srgbClr val="111111"/>
                </a:solidFill>
                <a:latin typeface="Arial"/>
                <a:cs typeface="Arial"/>
              </a:rPr>
              <a:t>ce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sz="800" spc="225" dirty="0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wall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111111"/>
                </a:solidFill>
                <a:latin typeface="Arial"/>
                <a:cs typeface="Arial"/>
              </a:rPr>
              <a:t>mass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28947" y="2858484"/>
            <a:ext cx="118935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5-10%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cell</a:t>
            </a:r>
            <a:r>
              <a:rPr sz="8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wa</a:t>
            </a:r>
            <a:r>
              <a:rPr sz="800" spc="75" dirty="0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sz="800" spc="250" dirty="0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mass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30315" y="3230340"/>
            <a:ext cx="1595120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15">
              <a:lnSpc>
                <a:spcPct val="118800"/>
              </a:lnSpc>
            </a:pP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Primary</a:t>
            </a: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resistance</a:t>
            </a:r>
            <a:r>
              <a:rPr sz="8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mechanism;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barrier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80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800" spc="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drugs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 and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immune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system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28635" y="3303492"/>
            <a:ext cx="1689100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15">
              <a:lnSpc>
                <a:spcPct val="114999"/>
              </a:lnSpc>
            </a:pP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Nikaido</a:t>
            </a:r>
            <a:r>
              <a:rPr sz="800" spc="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" dirty="0">
                <a:solidFill>
                  <a:srgbClr val="010101"/>
                </a:solidFill>
                <a:latin typeface="Arial"/>
                <a:cs typeface="Arial"/>
              </a:rPr>
              <a:t>H.</a:t>
            </a:r>
            <a:r>
              <a:rPr sz="800" spc="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111111"/>
                </a:solidFill>
                <a:latin typeface="Arial"/>
                <a:cs typeface="Arial"/>
              </a:rPr>
              <a:t>Microbiol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70" dirty="0">
                <a:solidFill>
                  <a:srgbClr val="111111"/>
                </a:solidFill>
                <a:latin typeface="Arial"/>
                <a:cs typeface="Arial"/>
              </a:rPr>
              <a:t>Mol</a:t>
            </a:r>
            <a:r>
              <a:rPr sz="8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010101"/>
                </a:solidFill>
                <a:latin typeface="Arial"/>
                <a:cs typeface="Arial"/>
              </a:rPr>
              <a:t>Biol</a:t>
            </a:r>
            <a:r>
              <a:rPr sz="800" spc="-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-5" dirty="0">
                <a:solidFill>
                  <a:srgbClr val="111111"/>
                </a:solidFill>
                <a:latin typeface="Arial"/>
                <a:cs typeface="Arial"/>
              </a:rPr>
              <a:t>Rev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2003;67</a:t>
            </a:r>
            <a:r>
              <a:rPr sz="800" spc="25" dirty="0">
                <a:solidFill>
                  <a:srgbClr val="111111"/>
                </a:solidFill>
                <a:latin typeface="Arial"/>
                <a:cs typeface="Arial"/>
              </a:rPr>
              <a:t>(4)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:593-656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2308" y="3376643"/>
            <a:ext cx="89535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20" dirty="0">
                <a:solidFill>
                  <a:srgbClr val="010101"/>
                </a:solidFill>
                <a:latin typeface="Arial"/>
                <a:cs typeface="Arial"/>
              </a:rPr>
              <a:t>Outer</a:t>
            </a:r>
            <a:r>
              <a:rPr sz="800" b="1" spc="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spc="30" dirty="0">
                <a:solidFill>
                  <a:srgbClr val="010101"/>
                </a:solidFill>
                <a:latin typeface="Arial"/>
                <a:cs typeface="Arial"/>
              </a:rPr>
              <a:t>Membrane</a:t>
            </a:r>
            <a:endParaRPr sz="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230627" y="3379692"/>
            <a:ext cx="37020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Absent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35044" y="3376643"/>
            <a:ext cx="129095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Present</a:t>
            </a: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(barrier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function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830315" y="3821652"/>
            <a:ext cx="1565910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15">
              <a:lnSpc>
                <a:spcPct val="114999"/>
              </a:lnSpc>
            </a:pP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Major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sepsis</a:t>
            </a:r>
            <a:r>
              <a:rPr sz="800" spc="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mediator;</a:t>
            </a:r>
            <a:r>
              <a:rPr sz="8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triggers</a:t>
            </a:r>
            <a:r>
              <a:rPr sz="800" spc="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cytokine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storm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8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25" dirty="0">
                <a:solidFill>
                  <a:srgbClr val="111111"/>
                </a:solidFill>
                <a:latin typeface="Arial"/>
                <a:cs typeface="Arial"/>
              </a:rPr>
              <a:t>shock</a:t>
            </a:r>
            <a:endParaRPr sz="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34731" y="3821652"/>
            <a:ext cx="1408430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4999"/>
              </a:lnSpc>
            </a:pPr>
            <a:r>
              <a:rPr sz="800" dirty="0">
                <a:solidFill>
                  <a:srgbClr val="010101"/>
                </a:solidFill>
                <a:latin typeface="Arial"/>
                <a:cs typeface="Arial"/>
              </a:rPr>
              <a:t>Raetz</a:t>
            </a:r>
            <a:r>
              <a:rPr sz="800" spc="-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750" spc="15" dirty="0">
                <a:solidFill>
                  <a:srgbClr val="111111"/>
                </a:solidFill>
                <a:latin typeface="Arial"/>
                <a:cs typeface="Arial"/>
              </a:rPr>
              <a:t>&amp; </a:t>
            </a:r>
            <a:r>
              <a:rPr sz="800" spc="50" dirty="0">
                <a:solidFill>
                  <a:srgbClr val="010101"/>
                </a:solidFill>
                <a:latin typeface="Arial"/>
                <a:cs typeface="Arial"/>
              </a:rPr>
              <a:t>Whitfie</a:t>
            </a:r>
            <a:r>
              <a:rPr sz="800" spc="80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d.</a:t>
            </a:r>
            <a:r>
              <a:rPr sz="800" spc="-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10101"/>
                </a:solidFill>
                <a:latin typeface="Arial"/>
                <a:cs typeface="Arial"/>
              </a:rPr>
              <a:t>An</a:t>
            </a:r>
            <a:r>
              <a:rPr sz="800" spc="-1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010101"/>
                </a:solidFill>
                <a:latin typeface="Arial"/>
                <a:cs typeface="Arial"/>
              </a:rPr>
              <a:t>nu</a:t>
            </a: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-5" dirty="0">
                <a:solidFill>
                  <a:srgbClr val="010101"/>
                </a:solidFill>
                <a:latin typeface="Arial"/>
                <a:cs typeface="Arial"/>
              </a:rPr>
              <a:t>Rev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Biochem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2002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;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7</a:t>
            </a:r>
            <a:r>
              <a:rPr sz="800" spc="-55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:635-700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5355" y="3891755"/>
            <a:ext cx="131318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20" dirty="0">
                <a:solidFill>
                  <a:srgbClr val="010101"/>
                </a:solidFill>
                <a:latin typeface="Arial"/>
                <a:cs typeface="Arial"/>
              </a:rPr>
              <a:t>Lipopo</a:t>
            </a:r>
            <a:r>
              <a:rPr sz="800" b="1" spc="-25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800" b="1" spc="5" dirty="0">
                <a:solidFill>
                  <a:srgbClr val="010101"/>
                </a:solidFill>
                <a:latin typeface="Arial"/>
                <a:cs typeface="Arial"/>
              </a:rPr>
              <a:t>ysaccharide</a:t>
            </a:r>
            <a:r>
              <a:rPr sz="800" b="1" spc="1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010101"/>
                </a:solidFill>
                <a:latin typeface="Arial"/>
                <a:cs typeface="Arial"/>
              </a:rPr>
              <a:t>(</a:t>
            </a:r>
            <a:r>
              <a:rPr sz="800" b="1" spc="-25" dirty="0">
                <a:solidFill>
                  <a:srgbClr val="010101"/>
                </a:solidFill>
                <a:latin typeface="Arial"/>
                <a:cs typeface="Arial"/>
              </a:rPr>
              <a:t>LPS</a:t>
            </a:r>
            <a:r>
              <a:rPr sz="800" b="1" spc="-10" dirty="0">
                <a:solidFill>
                  <a:srgbClr val="010101"/>
                </a:solidFill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230627" y="3894804"/>
            <a:ext cx="37020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Absent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35044" y="3891755"/>
            <a:ext cx="161099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Present</a:t>
            </a: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(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endotoxin</a:t>
            </a:r>
            <a:r>
              <a:rPr sz="800" spc="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component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33364" y="4339811"/>
            <a:ext cx="1673225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40">
              <a:lnSpc>
                <a:spcPct val="112500"/>
              </a:lnSpc>
            </a:pP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Primary</a:t>
            </a: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20" dirty="0">
                <a:solidFill>
                  <a:srgbClr val="010101"/>
                </a:solidFill>
                <a:latin typeface="Arial"/>
                <a:cs typeface="Arial"/>
              </a:rPr>
              <a:t>Laboratory</a:t>
            </a:r>
            <a:r>
              <a:rPr sz="800" spc="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010101"/>
                </a:solidFill>
                <a:latin typeface="Arial"/>
                <a:cs typeface="Arial"/>
              </a:rPr>
              <a:t>identification</a:t>
            </a: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method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(95%</a:t>
            </a:r>
            <a:r>
              <a:rPr sz="8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accuracy)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628635" y="4339811"/>
            <a:ext cx="1205230" cy="26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40">
              <a:lnSpc>
                <a:spcPct val="112500"/>
              </a:lnSpc>
            </a:pP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Gram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10101"/>
                </a:solidFill>
                <a:latin typeface="Arial"/>
                <a:cs typeface="Arial"/>
              </a:rPr>
              <a:t>H</a:t>
            </a:r>
            <a:r>
              <a:rPr sz="800" spc="20" dirty="0">
                <a:solidFill>
                  <a:srgbClr val="010101"/>
                </a:solidFill>
                <a:latin typeface="Arial"/>
                <a:cs typeface="Arial"/>
              </a:rPr>
              <a:t>C</a:t>
            </a:r>
            <a:r>
              <a:rPr sz="800" spc="35" dirty="0">
                <a:solidFill>
                  <a:srgbClr val="494949"/>
                </a:solidFill>
                <a:latin typeface="Arial"/>
                <a:cs typeface="Arial"/>
              </a:rPr>
              <a:t>.</a:t>
            </a:r>
            <a:r>
              <a:rPr sz="800" spc="-3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010101"/>
                </a:solidFill>
                <a:latin typeface="Arial"/>
                <a:cs typeface="Arial"/>
              </a:rPr>
              <a:t>Fortschr</a:t>
            </a:r>
            <a:r>
              <a:rPr sz="800" spc="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Med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010101"/>
                </a:solidFill>
                <a:latin typeface="Arial"/>
                <a:cs typeface="Arial"/>
              </a:rPr>
              <a:t>1</a:t>
            </a:r>
            <a:r>
              <a:rPr sz="800" spc="40" dirty="0">
                <a:solidFill>
                  <a:srgbClr val="010101"/>
                </a:solidFill>
                <a:latin typeface="Arial"/>
                <a:cs typeface="Arial"/>
              </a:rPr>
              <a:t>88</a:t>
            </a: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4</a:t>
            </a:r>
            <a:r>
              <a:rPr sz="800" spc="5" dirty="0">
                <a:solidFill>
                  <a:srgbClr val="232323"/>
                </a:solidFill>
                <a:latin typeface="Arial"/>
                <a:cs typeface="Arial"/>
              </a:rPr>
              <a:t>;2:1</a:t>
            </a:r>
            <a:r>
              <a:rPr sz="800" spc="20" dirty="0">
                <a:solidFill>
                  <a:srgbClr val="232323"/>
                </a:solidFill>
                <a:latin typeface="Arial"/>
                <a:cs typeface="Arial"/>
              </a:rPr>
              <a:t>8</a:t>
            </a: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5-</a:t>
            </a:r>
            <a:r>
              <a:rPr sz="800" spc="-50" dirty="0">
                <a:solidFill>
                  <a:srgbClr val="010101"/>
                </a:solidFill>
                <a:latin typeface="Arial"/>
                <a:cs typeface="Arial"/>
              </a:rPr>
              <a:t>1</a:t>
            </a:r>
            <a:r>
              <a:rPr sz="800" spc="50" dirty="0">
                <a:solidFill>
                  <a:srgbClr val="010101"/>
                </a:solidFill>
                <a:latin typeface="Arial"/>
                <a:cs typeface="Arial"/>
              </a:rPr>
              <a:t>89</a:t>
            </a:r>
            <a:endParaRPr sz="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32308" y="4412963"/>
            <a:ext cx="74358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15" dirty="0">
                <a:solidFill>
                  <a:srgbClr val="010101"/>
                </a:solidFill>
                <a:latin typeface="Arial"/>
                <a:cs typeface="Arial"/>
              </a:rPr>
              <a:t>Gram</a:t>
            </a:r>
            <a:r>
              <a:rPr sz="800" b="1" spc="-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spc="10" dirty="0">
                <a:solidFill>
                  <a:srgbClr val="010101"/>
                </a:solidFill>
                <a:latin typeface="Arial"/>
                <a:cs typeface="Arial"/>
              </a:rPr>
              <a:t>Staining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236723" y="4409916"/>
            <a:ext cx="139446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Purp</a:t>
            </a:r>
            <a:r>
              <a:rPr sz="800" spc="-15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800" spc="50" dirty="0">
                <a:solidFill>
                  <a:srgbClr val="010101"/>
                </a:solidFill>
                <a:latin typeface="Arial"/>
                <a:cs typeface="Arial"/>
              </a:rPr>
              <a:t>e/Vio</a:t>
            </a: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et</a:t>
            </a:r>
            <a:r>
              <a:rPr sz="800" spc="6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25" dirty="0">
                <a:solidFill>
                  <a:srgbClr val="111111"/>
                </a:solidFill>
                <a:latin typeface="Arial"/>
                <a:cs typeface="Arial"/>
              </a:rPr>
              <a:t>(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retains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stain)</a:t>
            </a:r>
            <a:endParaRPr sz="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035044" y="4409916"/>
            <a:ext cx="108839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20" dirty="0">
                <a:solidFill>
                  <a:srgbClr val="010101"/>
                </a:solidFill>
                <a:latin typeface="Arial"/>
                <a:cs typeface="Arial"/>
              </a:rPr>
              <a:t>Pink/Red</a:t>
            </a: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65" dirty="0">
                <a:solidFill>
                  <a:srgbClr val="111111"/>
                </a:solidFill>
                <a:latin typeface="Arial"/>
                <a:cs typeface="Arial"/>
              </a:rPr>
              <a:t>(</a:t>
            </a:r>
            <a:r>
              <a:rPr sz="800" spc="-15" dirty="0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sz="800" spc="5" dirty="0">
                <a:solidFill>
                  <a:srgbClr val="111111"/>
                </a:solidFill>
                <a:latin typeface="Arial"/>
                <a:cs typeface="Arial"/>
              </a:rPr>
              <a:t>oses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stain</a:t>
            </a:r>
            <a:r>
              <a:rPr sz="800" spc="25" dirty="0">
                <a:solidFill>
                  <a:srgbClr val="111111"/>
                </a:solidFill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30315" y="4854924"/>
            <a:ext cx="16141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40">
              <a:lnSpc>
                <a:spcPct val="117500"/>
              </a:lnSpc>
            </a:pP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Guides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empirical</a:t>
            </a:r>
            <a:r>
              <a:rPr sz="8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antibiotic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sel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ection</a:t>
            </a:r>
            <a:r>
              <a:rPr sz="8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8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sepsis</a:t>
            </a:r>
            <a:r>
              <a:rPr sz="800" spc="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management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25588" y="4854924"/>
            <a:ext cx="149542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890">
              <a:lnSpc>
                <a:spcPct val="114999"/>
              </a:lnSpc>
            </a:pP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De</a:t>
            </a:r>
            <a:r>
              <a:rPr sz="800" spc="-25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800" spc="45" dirty="0">
                <a:solidFill>
                  <a:srgbClr val="010101"/>
                </a:solidFill>
                <a:latin typeface="Arial"/>
                <a:cs typeface="Arial"/>
              </a:rPr>
              <a:t>cour</a:t>
            </a:r>
            <a:r>
              <a:rPr sz="800" spc="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-15" dirty="0">
                <a:solidFill>
                  <a:srgbClr val="010101"/>
                </a:solidFill>
                <a:latin typeface="Arial"/>
                <a:cs typeface="Arial"/>
              </a:rPr>
              <a:t>AH</a:t>
            </a:r>
            <a:r>
              <a:rPr sz="800" spc="-1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232323"/>
                </a:solidFill>
                <a:latin typeface="Arial"/>
                <a:cs typeface="Arial"/>
              </a:rPr>
              <a:t>.</a:t>
            </a:r>
            <a:r>
              <a:rPr sz="800" spc="-3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010101"/>
                </a:solidFill>
                <a:latin typeface="Arial"/>
                <a:cs typeface="Arial"/>
              </a:rPr>
              <a:t>Biochim</a:t>
            </a:r>
            <a:r>
              <a:rPr sz="800" spc="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Biophys</a:t>
            </a:r>
            <a:r>
              <a:rPr sz="800" spc="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010101"/>
                </a:solidFill>
                <a:latin typeface="Arial"/>
                <a:cs typeface="Arial"/>
              </a:rPr>
              <a:t>Acta</a:t>
            </a:r>
            <a:r>
              <a:rPr sz="800" spc="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75" dirty="0">
                <a:solidFill>
                  <a:srgbClr val="111111"/>
                </a:solidFill>
                <a:latin typeface="Arial"/>
                <a:cs typeface="Arial"/>
              </a:rPr>
              <a:t>2009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;</a:t>
            </a:r>
            <a:r>
              <a:rPr sz="800" spc="-40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794(5)</a:t>
            </a:r>
            <a:r>
              <a:rPr sz="800" spc="-1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15" dirty="0">
                <a:solidFill>
                  <a:srgbClr val="383838"/>
                </a:solidFill>
                <a:latin typeface="Arial"/>
                <a:cs typeface="Arial"/>
              </a:rPr>
              <a:t>:</a:t>
            </a:r>
            <a:r>
              <a:rPr sz="800" spc="65" dirty="0">
                <a:solidFill>
                  <a:srgbClr val="111111"/>
                </a:solidFill>
                <a:latin typeface="Arial"/>
                <a:cs typeface="Arial"/>
              </a:rPr>
              <a:t>808-8</a:t>
            </a:r>
            <a:r>
              <a:rPr sz="800" spc="-10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29259" y="4928075"/>
            <a:ext cx="125476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15" dirty="0">
                <a:solidFill>
                  <a:srgbClr val="010101"/>
                </a:solidFill>
                <a:latin typeface="Arial"/>
                <a:cs typeface="Arial"/>
              </a:rPr>
              <a:t>Antibiotic</a:t>
            </a:r>
            <a:r>
              <a:rPr sz="800" b="1" spc="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spc="10" dirty="0">
                <a:solidFill>
                  <a:srgbClr val="010101"/>
                </a:solidFill>
                <a:latin typeface="Arial"/>
                <a:cs typeface="Arial"/>
              </a:rPr>
              <a:t>Susceptibility</a:t>
            </a:r>
            <a:endParaRPr sz="8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233676" y="4928075"/>
            <a:ext cx="143192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25" dirty="0">
                <a:solidFill>
                  <a:srgbClr val="111111"/>
                </a:solidFill>
                <a:latin typeface="Arial"/>
                <a:cs typeface="Arial"/>
              </a:rPr>
              <a:t>Generall</a:t>
            </a:r>
            <a:r>
              <a:rPr sz="800" spc="120" dirty="0">
                <a:solidFill>
                  <a:srgbClr val="111111"/>
                </a:solidFill>
                <a:latin typeface="Arial"/>
                <a:cs typeface="Arial"/>
              </a:rPr>
              <a:t>y</a:t>
            </a:r>
            <a:r>
              <a:rPr sz="800" spc="85" dirty="0">
                <a:solidFill>
                  <a:srgbClr val="383838"/>
                </a:solidFill>
                <a:latin typeface="Arial"/>
                <a:cs typeface="Arial"/>
              </a:rPr>
              <a:t>,</a:t>
            </a:r>
            <a:r>
              <a:rPr sz="800" spc="-8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010101"/>
                </a:solidFill>
                <a:latin typeface="Arial"/>
                <a:cs typeface="Arial"/>
              </a:rPr>
              <a:t>more</a:t>
            </a:r>
            <a:r>
              <a:rPr sz="800" spc="1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susceptibl</a:t>
            </a:r>
            <a:r>
              <a:rPr sz="800" spc="-5" dirty="0">
                <a:solidFill>
                  <a:srgbClr val="111111"/>
                </a:solidFill>
                <a:latin typeface="Arial"/>
                <a:cs typeface="Arial"/>
              </a:rPr>
              <a:t>e</a:t>
            </a:r>
            <a:endParaRPr sz="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35044" y="4928075"/>
            <a:ext cx="168402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More</a:t>
            </a:r>
            <a:r>
              <a:rPr sz="8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resistant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(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outer</a:t>
            </a:r>
            <a:r>
              <a:rPr sz="800" spc="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membrane)</a:t>
            </a:r>
            <a:endParaRPr sz="8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833364" y="5373084"/>
            <a:ext cx="1620520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40">
              <a:lnSpc>
                <a:spcPct val="114999"/>
              </a:lnSpc>
            </a:pPr>
            <a:r>
              <a:rPr sz="800" spc="-5" dirty="0">
                <a:solidFill>
                  <a:srgbClr val="111111"/>
                </a:solidFill>
                <a:latin typeface="Arial"/>
                <a:cs typeface="Arial"/>
              </a:rPr>
              <a:t>Key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 pathophysiol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ogy</a:t>
            </a:r>
            <a:r>
              <a:rPr sz="8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010101"/>
                </a:solidFill>
                <a:latin typeface="Arial"/>
                <a:cs typeface="Arial"/>
              </a:rPr>
              <a:t>difference</a:t>
            </a: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8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sepsis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severity</a:t>
            </a:r>
            <a:r>
              <a:rPr sz="8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8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outcomes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628635" y="5368547"/>
            <a:ext cx="118618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>
              <a:lnSpc>
                <a:spcPct val="100000"/>
              </a:lnSpc>
            </a:pP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Rietschel</a:t>
            </a:r>
            <a:r>
              <a:rPr sz="800" spc="-2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et</a:t>
            </a:r>
            <a:r>
              <a:rPr sz="8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al.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40" dirty="0">
                <a:solidFill>
                  <a:srgbClr val="010101"/>
                </a:solidFill>
                <a:latin typeface="Arial"/>
                <a:cs typeface="Arial"/>
              </a:rPr>
              <a:t>FA</a:t>
            </a: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S</a:t>
            </a:r>
            <a:r>
              <a:rPr sz="800" spc="-45" dirty="0">
                <a:solidFill>
                  <a:srgbClr val="010101"/>
                </a:solidFill>
                <a:latin typeface="Arial"/>
                <a:cs typeface="Arial"/>
              </a:rPr>
              <a:t>EB</a:t>
            </a:r>
            <a:r>
              <a:rPr sz="800" spc="-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50" spc="20" dirty="0">
                <a:solidFill>
                  <a:srgbClr val="010101"/>
                </a:solidFill>
                <a:latin typeface="Times New Roman"/>
                <a:cs typeface="Times New Roman"/>
              </a:rPr>
              <a:t>J</a:t>
            </a: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5" dirty="0">
                <a:solidFill>
                  <a:srgbClr val="010101"/>
                </a:solidFill>
                <a:latin typeface="Arial"/>
                <a:cs typeface="Arial"/>
              </a:rPr>
              <a:t>1</a:t>
            </a:r>
            <a:r>
              <a:rPr sz="800" spc="60" dirty="0">
                <a:solidFill>
                  <a:srgbClr val="010101"/>
                </a:solidFill>
                <a:latin typeface="Arial"/>
                <a:cs typeface="Arial"/>
              </a:rPr>
              <a:t>99</a:t>
            </a:r>
            <a:r>
              <a:rPr sz="800" spc="70" dirty="0">
                <a:solidFill>
                  <a:srgbClr val="010101"/>
                </a:solidFill>
                <a:latin typeface="Arial"/>
                <a:cs typeface="Arial"/>
              </a:rPr>
              <a:t>4</a:t>
            </a:r>
            <a:r>
              <a:rPr sz="800" dirty="0">
                <a:solidFill>
                  <a:srgbClr val="232323"/>
                </a:solidFill>
                <a:latin typeface="Arial"/>
                <a:cs typeface="Arial"/>
              </a:rPr>
              <a:t>;8</a:t>
            </a:r>
            <a:r>
              <a:rPr sz="800" spc="5" dirty="0">
                <a:solidFill>
                  <a:srgbClr val="232323"/>
                </a:solidFill>
                <a:latin typeface="Arial"/>
                <a:cs typeface="Arial"/>
              </a:rPr>
              <a:t>(2)</a:t>
            </a:r>
            <a:r>
              <a:rPr sz="800" dirty="0">
                <a:solidFill>
                  <a:srgbClr val="232323"/>
                </a:solidFill>
                <a:latin typeface="Arial"/>
                <a:cs typeface="Arial"/>
              </a:rPr>
              <a:t>:</a:t>
            </a:r>
            <a:r>
              <a:rPr sz="800" spc="15" dirty="0">
                <a:solidFill>
                  <a:srgbClr val="232323"/>
                </a:solidFill>
                <a:latin typeface="Arial"/>
                <a:cs typeface="Arial"/>
              </a:rPr>
              <a:t>2</a:t>
            </a:r>
            <a:r>
              <a:rPr sz="800" spc="-40" dirty="0">
                <a:solidFill>
                  <a:srgbClr val="010101"/>
                </a:solidFill>
                <a:latin typeface="Arial"/>
                <a:cs typeface="Arial"/>
              </a:rPr>
              <a:t>1</a:t>
            </a:r>
            <a:r>
              <a:rPr sz="800" spc="5" dirty="0">
                <a:solidFill>
                  <a:srgbClr val="010101"/>
                </a:solidFill>
                <a:latin typeface="Arial"/>
                <a:cs typeface="Arial"/>
              </a:rPr>
              <a:t>7-225</a:t>
            </a:r>
            <a:endParaRPr sz="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35355" y="5446236"/>
            <a:ext cx="11417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10" dirty="0">
                <a:solidFill>
                  <a:srgbClr val="010101"/>
                </a:solidFill>
                <a:latin typeface="Arial"/>
                <a:cs typeface="Arial"/>
              </a:rPr>
              <a:t>Endotoxin</a:t>
            </a:r>
            <a:r>
              <a:rPr sz="800" b="1" spc="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spc="20" dirty="0">
                <a:solidFill>
                  <a:srgbClr val="010101"/>
                </a:solidFill>
                <a:latin typeface="Arial"/>
                <a:cs typeface="Arial"/>
              </a:rPr>
              <a:t>Production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236723" y="5446236"/>
            <a:ext cx="69215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No</a:t>
            </a:r>
            <a:r>
              <a:rPr sz="8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endotoxin</a:t>
            </a:r>
            <a:endParaRPr sz="8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035044" y="5446236"/>
            <a:ext cx="131381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40" dirty="0">
                <a:solidFill>
                  <a:srgbClr val="010101"/>
                </a:solidFill>
                <a:latin typeface="Arial"/>
                <a:cs typeface="Arial"/>
              </a:rPr>
              <a:t>Lipid</a:t>
            </a:r>
            <a:r>
              <a:rPr sz="800" spc="-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-75" dirty="0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sz="800" spc="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endotoxin</a:t>
            </a:r>
            <a:r>
              <a:rPr sz="8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010101"/>
                </a:solidFill>
                <a:latin typeface="Arial"/>
                <a:cs typeface="Arial"/>
              </a:rPr>
              <a:t>present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830315" y="5888196"/>
            <a:ext cx="1713230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15">
              <a:lnSpc>
                <a:spcPct val="114999"/>
              </a:lnSpc>
            </a:pPr>
            <a:r>
              <a:rPr sz="800" spc="35" dirty="0">
                <a:solidFill>
                  <a:srgbClr val="010101"/>
                </a:solidFill>
                <a:latin typeface="Arial"/>
                <a:cs typeface="Arial"/>
              </a:rPr>
              <a:t>Influences</a:t>
            </a:r>
            <a:r>
              <a:rPr sz="800" spc="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010101"/>
                </a:solidFill>
                <a:latin typeface="Arial"/>
                <a:cs typeface="Arial"/>
              </a:rPr>
              <a:t>infection</a:t>
            </a:r>
            <a:r>
              <a:rPr sz="800" spc="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source,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severity, and</a:t>
            </a:r>
            <a:r>
              <a:rPr sz="8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010101"/>
                </a:solidFill>
                <a:latin typeface="Arial"/>
                <a:cs typeface="Arial"/>
              </a:rPr>
              <a:t>treatment</a:t>
            </a:r>
            <a:r>
              <a:rPr sz="800" spc="7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approach</a:t>
            </a:r>
            <a:endParaRPr sz="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628635" y="5883659"/>
            <a:ext cx="1306195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15">
              <a:lnSpc>
                <a:spcPct val="113100"/>
              </a:lnSpc>
            </a:pP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Martin</a:t>
            </a:r>
            <a:r>
              <a:rPr sz="8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et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5" dirty="0">
                <a:solidFill>
                  <a:srgbClr val="111111"/>
                </a:solidFill>
                <a:latin typeface="Arial"/>
                <a:cs typeface="Arial"/>
              </a:rPr>
              <a:t>al.</a:t>
            </a:r>
            <a:r>
              <a:rPr sz="8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10101"/>
                </a:solidFill>
                <a:latin typeface="Arial"/>
                <a:cs typeface="Arial"/>
              </a:rPr>
              <a:t>N</a:t>
            </a:r>
            <a:r>
              <a:rPr sz="800" spc="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010101"/>
                </a:solidFill>
                <a:latin typeface="Arial"/>
                <a:cs typeface="Arial"/>
              </a:rPr>
              <a:t>Engl</a:t>
            </a:r>
            <a:r>
              <a:rPr sz="800" spc="-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50" spc="45" dirty="0">
                <a:solidFill>
                  <a:srgbClr val="010101"/>
                </a:solidFill>
                <a:latin typeface="Times New Roman"/>
                <a:cs typeface="Times New Roman"/>
              </a:rPr>
              <a:t>J</a:t>
            </a:r>
            <a:r>
              <a:rPr sz="850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850" spc="-65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Med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2003;348</a:t>
            </a:r>
            <a:r>
              <a:rPr sz="800" spc="30" dirty="0">
                <a:solidFill>
                  <a:srgbClr val="111111"/>
                </a:solidFill>
                <a:latin typeface="Arial"/>
                <a:cs typeface="Arial"/>
              </a:rPr>
              <a:t>(1</a:t>
            </a:r>
            <a:r>
              <a:rPr sz="800" spc="40" dirty="0">
                <a:solidFill>
                  <a:srgbClr val="111111"/>
                </a:solidFill>
                <a:latin typeface="Arial"/>
                <a:cs typeface="Arial"/>
              </a:rPr>
              <a:t>6)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800" spc="-55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sz="800" spc="60" dirty="0">
                <a:solidFill>
                  <a:srgbClr val="111111"/>
                </a:solidFill>
                <a:latin typeface="Arial"/>
                <a:cs typeface="Arial"/>
              </a:rPr>
              <a:t>546-</a:t>
            </a:r>
            <a:r>
              <a:rPr sz="800" spc="-35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554</a:t>
            </a:r>
            <a:endParaRPr sz="8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32308" y="5961348"/>
            <a:ext cx="108902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b="1" spc="10" dirty="0">
                <a:solidFill>
                  <a:srgbClr val="010101"/>
                </a:solidFill>
                <a:latin typeface="Arial"/>
                <a:cs typeface="Arial"/>
              </a:rPr>
              <a:t>Clinical</a:t>
            </a:r>
            <a:r>
              <a:rPr sz="800" b="1" spc="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b="1" spc="20" dirty="0">
                <a:solidFill>
                  <a:srgbClr val="010101"/>
                </a:solidFill>
                <a:latin typeface="Arial"/>
                <a:cs typeface="Arial"/>
              </a:rPr>
              <a:t>Presentation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236723" y="5961348"/>
            <a:ext cx="15100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Device</a:t>
            </a:r>
            <a:r>
              <a:rPr sz="800" spc="4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010101"/>
                </a:solidFill>
                <a:latin typeface="Arial"/>
                <a:cs typeface="Arial"/>
              </a:rPr>
              <a:t>infections,</a:t>
            </a:r>
            <a:r>
              <a:rPr sz="800" spc="3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111111"/>
                </a:solidFill>
                <a:latin typeface="Arial"/>
                <a:cs typeface="Arial"/>
              </a:rPr>
              <a:t>pneumonia</a:t>
            </a:r>
            <a:endParaRPr sz="8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31996" y="5964396"/>
            <a:ext cx="110680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rgbClr val="010101"/>
                </a:solidFill>
                <a:latin typeface="Arial"/>
                <a:cs typeface="Arial"/>
              </a:rPr>
              <a:t>UT</a:t>
            </a:r>
            <a:r>
              <a:rPr sz="800" dirty="0">
                <a:solidFill>
                  <a:srgbClr val="010101"/>
                </a:solidFill>
                <a:latin typeface="Arial"/>
                <a:cs typeface="Arial"/>
              </a:rPr>
              <a:t>I</a:t>
            </a:r>
            <a:r>
              <a:rPr sz="800" spc="85" dirty="0">
                <a:solidFill>
                  <a:srgbClr val="232323"/>
                </a:solidFill>
                <a:latin typeface="Arial"/>
                <a:cs typeface="Arial"/>
              </a:rPr>
              <a:t>,</a:t>
            </a:r>
            <a:r>
              <a:rPr sz="800" spc="-10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800" spc="35" dirty="0">
                <a:solidFill>
                  <a:srgbClr val="111111"/>
                </a:solidFill>
                <a:latin typeface="Arial"/>
                <a:cs typeface="Arial"/>
              </a:rPr>
              <a:t>septic</a:t>
            </a:r>
            <a:r>
              <a:rPr sz="800" spc="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20" dirty="0">
                <a:solidFill>
                  <a:srgbClr val="111111"/>
                </a:solidFill>
                <a:latin typeface="Arial"/>
                <a:cs typeface="Arial"/>
              </a:rPr>
              <a:t>shock,</a:t>
            </a:r>
            <a:r>
              <a:rPr sz="8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010101"/>
                </a:solidFill>
                <a:latin typeface="Arial"/>
                <a:cs typeface="Arial"/>
              </a:rPr>
              <a:t>HAI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5775" y="1048511"/>
            <a:ext cx="109728" cy="4145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87424" y="1048511"/>
            <a:ext cx="109728" cy="4145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26079" y="1048511"/>
            <a:ext cx="633983" cy="1463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5232" y="1889760"/>
            <a:ext cx="463295" cy="3169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57727" y="1889760"/>
            <a:ext cx="463296" cy="3657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42176" y="1341120"/>
            <a:ext cx="3304031" cy="53888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85376" y="1065275"/>
            <a:ext cx="573405" cy="0"/>
          </a:xfrm>
          <a:custGeom>
            <a:avLst/>
            <a:gdLst/>
            <a:ahLst/>
            <a:cxnLst/>
            <a:rect l="l" t="t" r="r" b="b"/>
            <a:pathLst>
              <a:path w="573404">
                <a:moveTo>
                  <a:pt x="0" y="0"/>
                </a:moveTo>
                <a:lnTo>
                  <a:pt x="573024" y="0"/>
                </a:lnTo>
              </a:path>
            </a:pathLst>
          </a:custGeom>
          <a:ln w="15240">
            <a:solidFill>
              <a:srgbClr val="D4A8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77567" y="2225039"/>
            <a:ext cx="695325" cy="0"/>
          </a:xfrm>
          <a:custGeom>
            <a:avLst/>
            <a:gdLst/>
            <a:ahLst/>
            <a:cxnLst/>
            <a:rect l="l" t="t" r="r" b="b"/>
            <a:pathLst>
              <a:path w="695325">
                <a:moveTo>
                  <a:pt x="0" y="0"/>
                </a:moveTo>
                <a:lnTo>
                  <a:pt x="694944" y="0"/>
                </a:lnTo>
              </a:path>
            </a:pathLst>
          </a:custGeom>
          <a:ln w="12192">
            <a:solidFill>
              <a:srgbClr val="D4DB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42948" y="768053"/>
            <a:ext cx="1821180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78535" algn="l"/>
                <a:tab pos="1797685" algn="l"/>
              </a:tabLst>
            </a:pPr>
            <a:r>
              <a:rPr sz="4350" i="1" spc="-40" dirty="0">
                <a:solidFill>
                  <a:srgbClr val="D1DBE8"/>
                </a:solidFill>
                <a:latin typeface="Times New Roman"/>
                <a:cs typeface="Times New Roman"/>
              </a:rPr>
              <a:t>v</a:t>
            </a:r>
            <a:r>
              <a:rPr sz="4350" i="1" spc="75" dirty="0">
                <a:solidFill>
                  <a:srgbClr val="D1DBE8"/>
                </a:solidFill>
                <a:latin typeface="Times New Roman"/>
                <a:cs typeface="Times New Roman"/>
              </a:rPr>
              <a:t> </a:t>
            </a:r>
            <a:r>
              <a:rPr sz="4350" i="1" spc="40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4350" i="1" spc="-445" dirty="0">
                <a:solidFill>
                  <a:srgbClr val="D1DBE8"/>
                </a:solidFill>
                <a:latin typeface="Times New Roman"/>
                <a:cs typeface="Times New Roman"/>
              </a:rPr>
              <a:t> </a:t>
            </a:r>
            <a:r>
              <a:rPr sz="2700" b="1" i="1" spc="20" dirty="0">
                <a:solidFill>
                  <a:srgbClr val="D1DBE8"/>
                </a:solidFill>
                <a:latin typeface="Times New Roman"/>
                <a:cs typeface="Times New Roman"/>
              </a:rPr>
              <a:t>v</a:t>
            </a:r>
            <a:r>
              <a:rPr sz="2700" b="1" i="1" dirty="0">
                <a:solidFill>
                  <a:srgbClr val="D1DBE8"/>
                </a:solidFill>
                <a:latin typeface="Times New Roman"/>
                <a:cs typeface="Times New Roman"/>
              </a:rPr>
              <a:t>	</a:t>
            </a:r>
            <a:r>
              <a:rPr sz="2700" spc="-550" dirty="0">
                <a:solidFill>
                  <a:srgbClr val="D1DBE8"/>
                </a:solidFill>
                <a:latin typeface="Times New Roman"/>
                <a:cs typeface="Times New Roman"/>
              </a:rPr>
              <a:t>•</a:t>
            </a:r>
            <a:r>
              <a:rPr sz="2700" spc="55" dirty="0">
                <a:solidFill>
                  <a:srgbClr val="D1DBE8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D1DBE8"/>
                </a:solidFill>
                <a:latin typeface="Times New Roman"/>
                <a:cs typeface="Times New Roman"/>
              </a:rPr>
              <a:t>,</a:t>
            </a:r>
            <a:r>
              <a:rPr sz="2700" u="heavy" dirty="0">
                <a:solidFill>
                  <a:srgbClr val="D1DBE8"/>
                </a:solidFill>
                <a:latin typeface="Times New Roman"/>
                <a:cs typeface="Times New Roman"/>
              </a:rPr>
              <a:t> 	</a:t>
            </a:r>
            <a:r>
              <a:rPr sz="2700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331" y="1416684"/>
            <a:ext cx="7657465" cy="330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>
              <a:lnSpc>
                <a:spcPts val="3754"/>
              </a:lnSpc>
            </a:pPr>
            <a:r>
              <a:rPr sz="3200" b="1" spc="570" dirty="0">
                <a:solidFill>
                  <a:srgbClr val="7279A7"/>
                </a:solidFill>
                <a:latin typeface="Arial"/>
                <a:cs typeface="Arial"/>
              </a:rPr>
              <a:t>Pro</a:t>
            </a:r>
            <a:r>
              <a:rPr sz="3200" b="1" dirty="0">
                <a:solidFill>
                  <a:srgbClr val="7279A7"/>
                </a:solidFill>
                <a:latin typeface="Arial"/>
                <a:cs typeface="Arial"/>
              </a:rPr>
              <a:t>ose</a:t>
            </a:r>
            <a:r>
              <a:rPr sz="3200" b="1" spc="-484" dirty="0">
                <a:solidFill>
                  <a:srgbClr val="7279A7"/>
                </a:solidFill>
                <a:latin typeface="Arial"/>
                <a:cs typeface="Arial"/>
              </a:rPr>
              <a:t>EI</a:t>
            </a:r>
            <a:r>
              <a:rPr sz="3200" b="1" spc="-95" dirty="0">
                <a:solidFill>
                  <a:srgbClr val="7279A7"/>
                </a:solidFill>
                <a:latin typeface="Arial"/>
                <a:cs typeface="Arial"/>
              </a:rPr>
              <a:t> </a:t>
            </a:r>
            <a:r>
              <a:rPr sz="3200" b="1" spc="65" dirty="0">
                <a:solidFill>
                  <a:srgbClr val="7279A7"/>
                </a:solidFill>
                <a:latin typeface="Arial"/>
                <a:cs typeface="Arial"/>
              </a:rPr>
              <a:t>Bact</a:t>
            </a:r>
            <a:r>
              <a:rPr sz="3200" b="1" spc="75" dirty="0">
                <a:solidFill>
                  <a:srgbClr val="7279A7"/>
                </a:solidFill>
                <a:latin typeface="Arial"/>
                <a:cs typeface="Arial"/>
              </a:rPr>
              <a:t>e</a:t>
            </a:r>
            <a:r>
              <a:rPr sz="3200" b="1" spc="20" dirty="0">
                <a:solidFill>
                  <a:srgbClr val="7279A7"/>
                </a:solidFill>
                <a:latin typeface="Arial"/>
                <a:cs typeface="Arial"/>
              </a:rPr>
              <a:t>r</a:t>
            </a:r>
            <a:r>
              <a:rPr sz="3200" b="1" spc="-204" dirty="0">
                <a:solidFill>
                  <a:srgbClr val="7279A7"/>
                </a:solidFill>
                <a:latin typeface="Arial"/>
                <a:cs typeface="Arial"/>
              </a:rPr>
              <a:t>i</a:t>
            </a:r>
            <a:r>
              <a:rPr sz="3200" b="1" spc="160" dirty="0">
                <a:solidFill>
                  <a:srgbClr val="7279A7"/>
                </a:solidFill>
                <a:latin typeface="Arial"/>
                <a:cs typeface="Arial"/>
              </a:rPr>
              <a:t>al</a:t>
            </a:r>
            <a:r>
              <a:rPr sz="3200" b="1" spc="-160" dirty="0">
                <a:solidFill>
                  <a:srgbClr val="7279A7"/>
                </a:solidFill>
                <a:latin typeface="Arial"/>
                <a:cs typeface="Arial"/>
              </a:rPr>
              <a:t> </a:t>
            </a:r>
            <a:r>
              <a:rPr sz="3200" b="1" spc="-254" dirty="0">
                <a:solidFill>
                  <a:srgbClr val="7279A7"/>
                </a:solidFill>
                <a:latin typeface="Arial"/>
                <a:cs typeface="Arial"/>
              </a:rPr>
              <a:t>B</a:t>
            </a:r>
            <a:r>
              <a:rPr sz="3200" b="1" spc="-220" dirty="0">
                <a:solidFill>
                  <a:srgbClr val="7279A7"/>
                </a:solidFill>
                <a:latin typeface="Arial"/>
                <a:cs typeface="Arial"/>
              </a:rPr>
              <a:t>i</a:t>
            </a:r>
            <a:r>
              <a:rPr sz="3200" b="1" spc="175" dirty="0">
                <a:solidFill>
                  <a:srgbClr val="7279A7"/>
                </a:solidFill>
                <a:latin typeface="Arial"/>
                <a:cs typeface="Arial"/>
              </a:rPr>
              <a:t>o</a:t>
            </a:r>
            <a:r>
              <a:rPr sz="3200" b="1" spc="210" dirty="0">
                <a:solidFill>
                  <a:srgbClr val="7279A7"/>
                </a:solidFill>
                <a:latin typeface="Arial"/>
                <a:cs typeface="Arial"/>
              </a:rPr>
              <a:t>m</a:t>
            </a:r>
            <a:r>
              <a:rPr sz="3200" b="1" spc="110" dirty="0">
                <a:solidFill>
                  <a:srgbClr val="7279A7"/>
                </a:solidFill>
                <a:latin typeface="Arial"/>
                <a:cs typeface="Arial"/>
              </a:rPr>
              <a:t>ark</a:t>
            </a:r>
            <a:r>
              <a:rPr sz="3200" b="1" spc="225" dirty="0">
                <a:solidFill>
                  <a:srgbClr val="7279A7"/>
                </a:solidFill>
                <a:latin typeface="Arial"/>
                <a:cs typeface="Arial"/>
              </a:rPr>
              <a:t>e</a:t>
            </a:r>
            <a:r>
              <a:rPr sz="3200" b="1" spc="-95" dirty="0">
                <a:solidFill>
                  <a:srgbClr val="7279A7"/>
                </a:solidFill>
                <a:latin typeface="Arial"/>
                <a:cs typeface="Arial"/>
              </a:rPr>
              <a:t>r</a:t>
            </a:r>
            <a:r>
              <a:rPr sz="3200" b="1" spc="-110" dirty="0">
                <a:solidFill>
                  <a:srgbClr val="7279A7"/>
                </a:solidFill>
                <a:latin typeface="Arial"/>
                <a:cs typeface="Arial"/>
              </a:rPr>
              <a:t>s</a:t>
            </a:r>
            <a:r>
              <a:rPr sz="3200" b="1" spc="-70" dirty="0">
                <a:solidFill>
                  <a:srgbClr val="7279A7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7279A7"/>
                </a:solidFill>
                <a:latin typeface="Arial"/>
                <a:cs typeface="Arial"/>
              </a:rPr>
              <a:t>p</a:t>
            </a:r>
            <a:r>
              <a:rPr sz="3200" b="1" spc="229" dirty="0">
                <a:solidFill>
                  <a:srgbClr val="7279A7"/>
                </a:solidFill>
                <a:latin typeface="Arial"/>
                <a:cs typeface="Arial"/>
              </a:rPr>
              <a:t>a</a:t>
            </a:r>
            <a:r>
              <a:rPr sz="3200" b="1" spc="170" dirty="0">
                <a:solidFill>
                  <a:srgbClr val="7279A7"/>
                </a:solidFill>
                <a:latin typeface="Arial"/>
                <a:cs typeface="Arial"/>
              </a:rPr>
              <a:t>n</a:t>
            </a:r>
            <a:r>
              <a:rPr sz="3200" b="1" spc="225" dirty="0">
                <a:solidFill>
                  <a:srgbClr val="7279A7"/>
                </a:solidFill>
                <a:latin typeface="Arial"/>
                <a:cs typeface="Arial"/>
              </a:rPr>
              <a:t>e</a:t>
            </a:r>
            <a:r>
              <a:rPr sz="3200" b="1" spc="-40" dirty="0">
                <a:solidFill>
                  <a:srgbClr val="7279A7"/>
                </a:solidFill>
                <a:latin typeface="Arial"/>
                <a:cs typeface="Arial"/>
              </a:rPr>
              <a:t>l</a:t>
            </a:r>
            <a:endParaRPr sz="3200">
              <a:latin typeface="Arial"/>
              <a:cs typeface="Arial"/>
            </a:endParaRPr>
          </a:p>
          <a:p>
            <a:pPr marL="1804670">
              <a:lnSpc>
                <a:spcPts val="2255"/>
              </a:lnSpc>
              <a:tabLst>
                <a:tab pos="2860040" algn="l"/>
              </a:tabLst>
            </a:pPr>
            <a:r>
              <a:rPr sz="1950" b="1" u="heavy" dirty="0">
                <a:solidFill>
                  <a:srgbClr val="D1DBE8"/>
                </a:solidFill>
                <a:latin typeface="Courier New"/>
                <a:cs typeface="Courier New"/>
              </a:rPr>
              <a:t> 	</a:t>
            </a:r>
            <a:r>
              <a:rPr sz="1950" b="1" u="heavy" spc="-40" dirty="0">
                <a:solidFill>
                  <a:srgbClr val="D1DBE8"/>
                </a:solidFill>
                <a:latin typeface="Courier New"/>
                <a:cs typeface="Courier New"/>
              </a:rPr>
              <a:t>O</a:t>
            </a:r>
            <a:r>
              <a:rPr sz="1950" b="1" spc="-819" dirty="0">
                <a:solidFill>
                  <a:srgbClr val="D1DBE8"/>
                </a:solidFill>
                <a:latin typeface="Courier New"/>
                <a:cs typeface="Courier New"/>
              </a:rPr>
              <a:t> </a:t>
            </a:r>
            <a:r>
              <a:rPr sz="1950" b="1" spc="35" dirty="0">
                <a:solidFill>
                  <a:srgbClr val="D1DBE8"/>
                </a:solidFill>
                <a:latin typeface="Courier New"/>
                <a:cs typeface="Courier New"/>
              </a:rPr>
              <a:t>o</a:t>
            </a:r>
            <a:endParaRPr sz="1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1600">
              <a:latin typeface="Times New Roman"/>
              <a:cs typeface="Times New Roman"/>
            </a:endParaRPr>
          </a:p>
          <a:p>
            <a:pPr marL="338455" marR="346710" indent="-176530">
              <a:lnSpc>
                <a:spcPct val="111000"/>
              </a:lnSpc>
              <a:buClr>
                <a:srgbClr val="2A2A2A"/>
              </a:buClr>
              <a:buFont typeface="Arial"/>
              <a:buChar char="•"/>
              <a:tabLst>
                <a:tab pos="345440" algn="l"/>
                <a:tab pos="1533525" algn="l"/>
                <a:tab pos="2697480" algn="l"/>
                <a:tab pos="3977640" algn="l"/>
                <a:tab pos="5666105" algn="l"/>
                <a:tab pos="7001509" algn="l"/>
              </a:tabLst>
            </a:pPr>
            <a:r>
              <a:rPr sz="1550" spc="25" dirty="0">
                <a:solidFill>
                  <a:srgbClr val="2A2A2A"/>
                </a:solidFill>
                <a:latin typeface="Arial"/>
                <a:cs typeface="Arial"/>
              </a:rPr>
              <a:t>Universal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550" spc="45" dirty="0">
                <a:solidFill>
                  <a:srgbClr val="2A2A2A"/>
                </a:solidFill>
                <a:latin typeface="Arial"/>
                <a:cs typeface="Arial"/>
              </a:rPr>
              <a:t>Bacterial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550" spc="45" dirty="0">
                <a:solidFill>
                  <a:srgbClr val="2A2A2A"/>
                </a:solidFill>
                <a:latin typeface="Arial"/>
                <a:cs typeface="Arial"/>
              </a:rPr>
              <a:t>Detection: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Peptidoglycan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550" spc="75" dirty="0">
                <a:solidFill>
                  <a:srgbClr val="2A2A2A"/>
                </a:solidFill>
                <a:latin typeface="Arial"/>
                <a:cs typeface="Arial"/>
              </a:rPr>
              <a:t>fragments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550" spc="70" dirty="0">
                <a:solidFill>
                  <a:srgbClr val="2A2A2A"/>
                </a:solidFill>
                <a:latin typeface="Arial"/>
                <a:cs typeface="Arial"/>
              </a:rPr>
              <a:t>(N-</a:t>
            </a:r>
            <a:r>
              <a:rPr sz="1550" spc="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90" dirty="0">
                <a:solidFill>
                  <a:srgbClr val="2A2A2A"/>
                </a:solidFill>
                <a:latin typeface="Arial"/>
                <a:cs typeface="Arial"/>
              </a:rPr>
              <a:t>acetylmuramic</a:t>
            </a:r>
            <a:r>
              <a:rPr sz="1550" spc="2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90" dirty="0">
                <a:solidFill>
                  <a:srgbClr val="2A2A2A"/>
                </a:solidFill>
                <a:latin typeface="Arial"/>
                <a:cs typeface="Arial"/>
              </a:rPr>
              <a:t>acid)</a:t>
            </a:r>
            <a:endParaRPr sz="1550">
              <a:latin typeface="Arial"/>
              <a:cs typeface="Arial"/>
            </a:endParaRPr>
          </a:p>
          <a:p>
            <a:pPr marL="18415" marR="340360">
              <a:lnSpc>
                <a:spcPts val="2060"/>
              </a:lnSpc>
              <a:spcBef>
                <a:spcPts val="80"/>
              </a:spcBef>
            </a:pPr>
            <a:r>
              <a:rPr sz="1550" spc="25" dirty="0">
                <a:solidFill>
                  <a:srgbClr val="2A2A2A"/>
                </a:solidFill>
                <a:latin typeface="Arial"/>
                <a:cs typeface="Arial"/>
              </a:rPr>
              <a:t>Reason </a:t>
            </a:r>
            <a:r>
              <a:rPr sz="1550" spc="-1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90" dirty="0">
                <a:solidFill>
                  <a:srgbClr val="2A2A2A"/>
                </a:solidFill>
                <a:latin typeface="Arial"/>
                <a:cs typeface="Arial"/>
              </a:rPr>
              <a:t>:</a:t>
            </a:r>
            <a:r>
              <a:rPr sz="1550" spc="1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2A2A2A"/>
                </a:solidFill>
                <a:latin typeface="Arial"/>
                <a:cs typeface="Arial"/>
              </a:rPr>
              <a:t>Present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in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2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195" dirty="0">
                <a:solidFill>
                  <a:srgbClr val="2A2A2A"/>
                </a:solidFill>
                <a:latin typeface="Arial"/>
                <a:cs typeface="Arial"/>
              </a:rPr>
              <a:t>ALL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70" dirty="0">
                <a:solidFill>
                  <a:srgbClr val="2A2A2A"/>
                </a:solidFill>
                <a:latin typeface="Arial"/>
                <a:cs typeface="Arial"/>
              </a:rPr>
              <a:t>bacteria,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2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absent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in</a:t>
            </a:r>
            <a:r>
              <a:rPr sz="1550" spc="17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30" dirty="0">
                <a:solidFill>
                  <a:srgbClr val="2A2A2A"/>
                </a:solidFill>
                <a:latin typeface="Arial"/>
                <a:cs typeface="Arial"/>
              </a:rPr>
              <a:t>viruse</a:t>
            </a:r>
            <a:r>
              <a:rPr sz="1550" spc="200" dirty="0">
                <a:solidFill>
                  <a:srgbClr val="2A2A2A"/>
                </a:solidFill>
                <a:latin typeface="Arial"/>
                <a:cs typeface="Arial"/>
              </a:rPr>
              <a:t>s</a:t>
            </a:r>
            <a:r>
              <a:rPr sz="1550" spc="210" dirty="0">
                <a:solidFill>
                  <a:srgbClr val="2A2A2A"/>
                </a:solidFill>
                <a:latin typeface="Arial"/>
                <a:cs typeface="Arial"/>
              </a:rPr>
              <a:t>/</a:t>
            </a:r>
            <a:r>
              <a:rPr sz="1550" spc="80" dirty="0">
                <a:solidFill>
                  <a:srgbClr val="2A2A2A"/>
                </a:solidFill>
                <a:latin typeface="Arial"/>
                <a:cs typeface="Arial"/>
              </a:rPr>
              <a:t>fungi/</a:t>
            </a:r>
            <a:r>
              <a:rPr sz="1550" spc="-14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2A2A2A"/>
                </a:solidFill>
                <a:latin typeface="Arial"/>
                <a:cs typeface="Arial"/>
              </a:rPr>
              <a:t>parasites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90" dirty="0">
                <a:solidFill>
                  <a:srgbClr val="2A2A2A"/>
                </a:solidFill>
                <a:latin typeface="Arial"/>
                <a:cs typeface="Arial"/>
              </a:rPr>
              <a:t>.</a:t>
            </a:r>
            <a:r>
              <a:rPr sz="1550" spc="1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30" dirty="0">
                <a:solidFill>
                  <a:srgbClr val="2A2A2A"/>
                </a:solidFill>
                <a:latin typeface="Arial"/>
                <a:cs typeface="Arial"/>
              </a:rPr>
              <a:t>Direct</a:t>
            </a:r>
            <a:r>
              <a:rPr sz="1550" spc="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75" dirty="0">
                <a:solidFill>
                  <a:srgbClr val="2A2A2A"/>
                </a:solidFill>
                <a:latin typeface="Arial"/>
                <a:cs typeface="Arial"/>
              </a:rPr>
              <a:t>bacterial</a:t>
            </a:r>
            <a:r>
              <a:rPr sz="1550" spc="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2A2A2A"/>
                </a:solidFill>
                <a:latin typeface="Arial"/>
                <a:cs typeface="Arial"/>
              </a:rPr>
              <a:t>confirmation.Unique</a:t>
            </a:r>
            <a:r>
              <a:rPr sz="1550" spc="1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90" dirty="0">
                <a:solidFill>
                  <a:srgbClr val="2A2A2A"/>
                </a:solidFill>
                <a:latin typeface="Arial"/>
                <a:cs typeface="Arial"/>
              </a:rPr>
              <a:t>to</a:t>
            </a:r>
            <a:r>
              <a:rPr sz="1550" spc="75" dirty="0">
                <a:solidFill>
                  <a:srgbClr val="2A2A2A"/>
                </a:solidFill>
                <a:latin typeface="Arial"/>
                <a:cs typeface="Arial"/>
              </a:rPr>
              <a:t> bacterial</a:t>
            </a:r>
            <a:r>
              <a:rPr sz="1550" spc="8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85" dirty="0">
                <a:solidFill>
                  <a:srgbClr val="2A2A2A"/>
                </a:solidFill>
                <a:latin typeface="Arial"/>
                <a:cs typeface="Arial"/>
              </a:rPr>
              <a:t>peptidoglycan</a:t>
            </a:r>
            <a:r>
              <a:rPr sz="1550" spc="114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2A2A2A"/>
                </a:solidFill>
                <a:latin typeface="Arial"/>
                <a:cs typeface="Arial"/>
              </a:rPr>
              <a:t>only.</a:t>
            </a:r>
            <a:endParaRPr sz="1550">
              <a:latin typeface="Arial"/>
              <a:cs typeface="Arial"/>
            </a:endParaRPr>
          </a:p>
          <a:p>
            <a:pPr marL="338455" indent="-176530">
              <a:lnSpc>
                <a:spcPct val="100000"/>
              </a:lnSpc>
              <a:spcBef>
                <a:spcPts val="100"/>
              </a:spcBef>
              <a:buClr>
                <a:srgbClr val="2A2A2A"/>
              </a:buClr>
              <a:buFont typeface="Arial"/>
              <a:buChar char="•"/>
              <a:tabLst>
                <a:tab pos="339090" algn="l"/>
              </a:tabLst>
            </a:pPr>
            <a:r>
              <a:rPr sz="1550" spc="80" dirty="0">
                <a:solidFill>
                  <a:srgbClr val="2A2A2A"/>
                </a:solidFill>
                <a:latin typeface="Arial"/>
                <a:cs typeface="Arial"/>
              </a:rPr>
              <a:t>Gram-negative:</a:t>
            </a:r>
            <a:r>
              <a:rPr sz="1550" spc="9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Lipopolysaccharide</a:t>
            </a:r>
            <a:r>
              <a:rPr sz="15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204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65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550" spc="-130" dirty="0">
                <a:solidFill>
                  <a:srgbClr val="2A2A2A"/>
                </a:solidFill>
                <a:latin typeface="Arial"/>
                <a:cs typeface="Arial"/>
              </a:rPr>
              <a:t>LPS</a:t>
            </a:r>
            <a:r>
              <a:rPr sz="1550" spc="-65" dirty="0">
                <a:solidFill>
                  <a:srgbClr val="2A2A2A"/>
                </a:solidFill>
                <a:latin typeface="Arial"/>
                <a:cs typeface="Arial"/>
              </a:rPr>
              <a:t>)</a:t>
            </a:r>
            <a:r>
              <a:rPr sz="1550" spc="1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825" dirty="0">
                <a:solidFill>
                  <a:srgbClr val="2A2A2A"/>
                </a:solidFill>
                <a:latin typeface="Arial"/>
                <a:cs typeface="Arial"/>
              </a:rPr>
              <a:t>-</a:t>
            </a:r>
            <a:r>
              <a:rPr sz="1550" spc="-4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70" dirty="0">
                <a:solidFill>
                  <a:srgbClr val="2A2A2A"/>
                </a:solidFill>
                <a:latin typeface="Arial"/>
                <a:cs typeface="Arial"/>
              </a:rPr>
              <a:t>lipid</a:t>
            </a:r>
            <a:r>
              <a:rPr sz="1550" spc="-4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155" dirty="0">
                <a:solidFill>
                  <a:srgbClr val="2A2A2A"/>
                </a:solidFill>
                <a:latin typeface="Arial"/>
                <a:cs typeface="Arial"/>
              </a:rPr>
              <a:t>A</a:t>
            </a:r>
            <a:r>
              <a:rPr sz="1550" spc="9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400" spc="155" dirty="0">
                <a:solidFill>
                  <a:srgbClr val="2A2A2A"/>
                </a:solidFill>
                <a:latin typeface="Arial"/>
                <a:cs typeface="Arial"/>
              </a:rPr>
              <a:t>&amp;</a:t>
            </a:r>
            <a:r>
              <a:rPr sz="1400" spc="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125" dirty="0">
                <a:solidFill>
                  <a:srgbClr val="2A2A2A"/>
                </a:solidFill>
                <a:latin typeface="Arial"/>
                <a:cs typeface="Arial"/>
              </a:rPr>
              <a:t>0-antigen</a:t>
            </a:r>
            <a:r>
              <a:rPr sz="1550" spc="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90" dirty="0">
                <a:solidFill>
                  <a:srgbClr val="2A2A2A"/>
                </a:solidFill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  <a:p>
            <a:pPr marL="12700" marR="354965" indent="5715">
              <a:lnSpc>
                <a:spcPct val="111000"/>
              </a:lnSpc>
              <a:tabLst>
                <a:tab pos="868680" algn="l"/>
                <a:tab pos="1783080" algn="l"/>
                <a:tab pos="2362200" algn="l"/>
                <a:tab pos="2673350" algn="l"/>
                <a:tab pos="4319270" algn="l"/>
                <a:tab pos="5309870" algn="l"/>
                <a:tab pos="6126480" algn="l"/>
                <a:tab pos="6440805" algn="l"/>
                <a:tab pos="6809105" algn="l"/>
              </a:tabLst>
            </a:pPr>
            <a:r>
              <a:rPr sz="1550" spc="25" dirty="0">
                <a:solidFill>
                  <a:srgbClr val="2A2A2A"/>
                </a:solidFill>
                <a:latin typeface="Arial"/>
                <a:cs typeface="Arial"/>
              </a:rPr>
              <a:t>Reason	</a:t>
            </a:r>
            <a:r>
              <a:rPr sz="1550" spc="40" dirty="0">
                <a:solidFill>
                  <a:srgbClr val="2A2A2A"/>
                </a:solidFill>
                <a:latin typeface="Arial"/>
                <a:cs typeface="Arial"/>
              </a:rPr>
              <a:t>:present	</a:t>
            </a:r>
            <a:r>
              <a:rPr sz="1550" spc="15" dirty="0">
                <a:solidFill>
                  <a:srgbClr val="2A2A2A"/>
                </a:solidFill>
                <a:latin typeface="Arial"/>
                <a:cs typeface="Arial"/>
              </a:rPr>
              <a:t>Only	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in	</a:t>
            </a:r>
            <a:r>
              <a:rPr sz="1550" spc="90" dirty="0">
                <a:solidFill>
                  <a:srgbClr val="2A2A2A"/>
                </a:solidFill>
                <a:latin typeface="Arial"/>
                <a:cs typeface="Arial"/>
              </a:rPr>
              <a:t>Gram-negative	</a:t>
            </a:r>
            <a:r>
              <a:rPr sz="1550" spc="70" dirty="0">
                <a:solidFill>
                  <a:srgbClr val="2A2A2A"/>
                </a:solidFill>
                <a:latin typeface="Arial"/>
                <a:cs typeface="Arial"/>
              </a:rPr>
              <a:t>bacteria,	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absent	in	</a:t>
            </a:r>
            <a:r>
              <a:rPr sz="1550" spc="55" dirty="0">
                <a:solidFill>
                  <a:srgbClr val="2A2A2A"/>
                </a:solidFill>
                <a:latin typeface="Arial"/>
                <a:cs typeface="Arial"/>
              </a:rPr>
              <a:t>all	</a:t>
            </a:r>
            <a:r>
              <a:rPr sz="1550" spc="45" dirty="0">
                <a:solidFill>
                  <a:srgbClr val="2A2A2A"/>
                </a:solidFill>
                <a:latin typeface="Arial"/>
                <a:cs typeface="Arial"/>
              </a:rPr>
              <a:t>other</a:t>
            </a:r>
            <a:r>
              <a:rPr sz="1550" spc="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60" dirty="0">
                <a:solidFill>
                  <a:srgbClr val="2A2A2A"/>
                </a:solidFill>
                <a:latin typeface="Arial"/>
                <a:cs typeface="Arial"/>
              </a:rPr>
              <a:t>organisms</a:t>
            </a:r>
            <a:r>
              <a:rPr sz="1550" spc="95" dirty="0">
                <a:solidFill>
                  <a:srgbClr val="2A2A2A"/>
                </a:solidFill>
                <a:latin typeface="Arial"/>
                <a:cs typeface="Arial"/>
              </a:rPr>
              <a:t>.</a:t>
            </a:r>
            <a:r>
              <a:rPr sz="1550" spc="35" dirty="0">
                <a:solidFill>
                  <a:srgbClr val="2A2A2A"/>
                </a:solidFill>
                <a:latin typeface="Arial"/>
                <a:cs typeface="Arial"/>
              </a:rPr>
              <a:t>Strong </a:t>
            </a:r>
            <a:r>
              <a:rPr sz="1550" spc="80" dirty="0">
                <a:solidFill>
                  <a:srgbClr val="2A2A2A"/>
                </a:solidFill>
                <a:latin typeface="Arial"/>
                <a:cs typeface="Arial"/>
              </a:rPr>
              <a:t>enhancement,</a:t>
            </a:r>
            <a:r>
              <a:rPr sz="1550" spc="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2A2A2A"/>
                </a:solidFill>
                <a:latin typeface="Arial"/>
                <a:cs typeface="Arial"/>
              </a:rPr>
              <a:t>endotoxin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 correlation</a:t>
            </a:r>
            <a:endParaRPr sz="1550">
              <a:latin typeface="Arial"/>
              <a:cs typeface="Arial"/>
            </a:endParaRPr>
          </a:p>
          <a:p>
            <a:pPr marL="18415" marR="762635" indent="143510">
              <a:lnSpc>
                <a:spcPct val="111000"/>
              </a:lnSpc>
              <a:buClr>
                <a:srgbClr val="2A2A2A"/>
              </a:buClr>
              <a:buFont typeface="Arial"/>
              <a:buChar char="•"/>
              <a:tabLst>
                <a:tab pos="339090" algn="l"/>
              </a:tabLst>
            </a:pPr>
            <a:r>
              <a:rPr sz="1550" spc="70" dirty="0">
                <a:solidFill>
                  <a:srgbClr val="2A2A2A"/>
                </a:solidFill>
                <a:latin typeface="Arial"/>
                <a:cs typeface="Arial"/>
              </a:rPr>
              <a:t>Gram-positive:</a:t>
            </a:r>
            <a:r>
              <a:rPr sz="1550" spc="7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40" dirty="0">
                <a:solidFill>
                  <a:srgbClr val="2A2A2A"/>
                </a:solidFill>
                <a:latin typeface="Arial"/>
                <a:cs typeface="Arial"/>
              </a:rPr>
              <a:t>Lipoteichoic</a:t>
            </a:r>
            <a:r>
              <a:rPr sz="1550" spc="1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105" dirty="0">
                <a:solidFill>
                  <a:srgbClr val="2A2A2A"/>
                </a:solidFill>
                <a:latin typeface="Arial"/>
                <a:cs typeface="Arial"/>
              </a:rPr>
              <a:t>acid</a:t>
            </a:r>
            <a:r>
              <a:rPr sz="1550" spc="114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550" spc="-90" dirty="0">
                <a:solidFill>
                  <a:srgbClr val="2A2A2A"/>
                </a:solidFill>
                <a:latin typeface="Arial"/>
                <a:cs typeface="Arial"/>
              </a:rPr>
              <a:t>LTA</a:t>
            </a:r>
            <a:r>
              <a:rPr sz="1550" spc="-45" dirty="0">
                <a:solidFill>
                  <a:srgbClr val="2A2A2A"/>
                </a:solidFill>
                <a:latin typeface="Arial"/>
                <a:cs typeface="Arial"/>
              </a:rPr>
              <a:t>)</a:t>
            </a:r>
            <a:r>
              <a:rPr sz="1550" spc="13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120" dirty="0">
                <a:solidFill>
                  <a:srgbClr val="2A2A2A"/>
                </a:solidFill>
                <a:latin typeface="Arial"/>
                <a:cs typeface="Arial"/>
              </a:rPr>
              <a:t>and</a:t>
            </a:r>
            <a:r>
              <a:rPr sz="1550" spc="-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wall</a:t>
            </a:r>
            <a:r>
              <a:rPr sz="1550" spc="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2A2A2A"/>
                </a:solidFill>
                <a:latin typeface="Arial"/>
                <a:cs typeface="Arial"/>
              </a:rPr>
              <a:t>teichoic</a:t>
            </a:r>
            <a:r>
              <a:rPr sz="1550" spc="19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70" dirty="0">
                <a:solidFill>
                  <a:srgbClr val="2A2A2A"/>
                </a:solidFill>
                <a:latin typeface="Arial"/>
                <a:cs typeface="Arial"/>
              </a:rPr>
              <a:t>acids</a:t>
            </a:r>
            <a:r>
              <a:rPr sz="1550" spc="17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550" spc="-25" dirty="0">
                <a:solidFill>
                  <a:srgbClr val="2A2A2A"/>
                </a:solidFill>
                <a:latin typeface="Arial"/>
                <a:cs typeface="Arial"/>
              </a:rPr>
              <a:t>WTA</a:t>
            </a:r>
            <a:r>
              <a:rPr sz="1550" spc="-10" dirty="0">
                <a:solidFill>
                  <a:srgbClr val="2A2A2A"/>
                </a:solidFill>
                <a:latin typeface="Arial"/>
                <a:cs typeface="Arial"/>
              </a:rPr>
              <a:t>). </a:t>
            </a:r>
            <a:r>
              <a:rPr sz="1550" spc="25" dirty="0">
                <a:solidFill>
                  <a:srgbClr val="2A2A2A"/>
                </a:solidFill>
                <a:latin typeface="Arial"/>
                <a:cs typeface="Arial"/>
              </a:rPr>
              <a:t>Reason</a:t>
            </a:r>
            <a:r>
              <a:rPr sz="1550" spc="-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2A2A2A"/>
                </a:solidFill>
                <a:latin typeface="Arial"/>
                <a:cs typeface="Arial"/>
              </a:rPr>
              <a:t>:</a:t>
            </a:r>
            <a:r>
              <a:rPr sz="1550" spc="-1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50" dirty="0">
                <a:solidFill>
                  <a:srgbClr val="2A2A2A"/>
                </a:solidFill>
                <a:latin typeface="Arial"/>
                <a:cs typeface="Arial"/>
              </a:rPr>
              <a:t>present</a:t>
            </a:r>
            <a:r>
              <a:rPr sz="1550" spc="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2A2A2A"/>
                </a:solidFill>
                <a:latin typeface="Arial"/>
                <a:cs typeface="Arial"/>
              </a:rPr>
              <a:t>Only</a:t>
            </a:r>
            <a:r>
              <a:rPr sz="1550" spc="8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in</a:t>
            </a:r>
            <a:r>
              <a:rPr sz="1550" spc="-7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80" dirty="0">
                <a:solidFill>
                  <a:srgbClr val="2A2A2A"/>
                </a:solidFill>
                <a:latin typeface="Arial"/>
                <a:cs typeface="Arial"/>
              </a:rPr>
              <a:t>Gram-positive</a:t>
            </a:r>
            <a:r>
              <a:rPr sz="1550" spc="14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80" dirty="0">
                <a:solidFill>
                  <a:srgbClr val="2A2A2A"/>
                </a:solidFill>
                <a:latin typeface="Arial"/>
                <a:cs typeface="Arial"/>
              </a:rPr>
              <a:t>bacteria</a:t>
            </a:r>
            <a:r>
              <a:rPr sz="1550" spc="-1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185" dirty="0">
                <a:solidFill>
                  <a:srgbClr val="2A2A2A"/>
                </a:solidFill>
                <a:latin typeface="Arial"/>
                <a:cs typeface="Arial"/>
              </a:rPr>
              <a:t>,</a:t>
            </a:r>
            <a:r>
              <a:rPr sz="1550" spc="-2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2A2A2A"/>
                </a:solidFill>
                <a:latin typeface="Arial"/>
                <a:cs typeface="Arial"/>
              </a:rPr>
              <a:t>surface</a:t>
            </a:r>
            <a:r>
              <a:rPr sz="1550" spc="50" dirty="0">
                <a:solidFill>
                  <a:srgbClr val="2A2A2A"/>
                </a:solidFill>
                <a:latin typeface="Arial"/>
                <a:cs typeface="Arial"/>
              </a:rPr>
              <a:t> accessibility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08908" y="1027554"/>
            <a:ext cx="10604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315" dirty="0">
                <a:solidFill>
                  <a:srgbClr val="D1DBE8"/>
                </a:solidFill>
                <a:latin typeface="Arial"/>
                <a:cs typeface="Arial"/>
              </a:rPr>
              <a:t>'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56959" y="4450079"/>
            <a:ext cx="3243072" cy="1085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13576" y="5535167"/>
            <a:ext cx="777240" cy="0"/>
          </a:xfrm>
          <a:custGeom>
            <a:avLst/>
            <a:gdLst/>
            <a:ahLst/>
            <a:cxnLst/>
            <a:rect l="l" t="t" r="r" b="b"/>
            <a:pathLst>
              <a:path w="777240">
                <a:moveTo>
                  <a:pt x="0" y="0"/>
                </a:moveTo>
                <a:lnTo>
                  <a:pt x="777240" y="0"/>
                </a:lnTo>
              </a:path>
            </a:pathLst>
          </a:custGeom>
          <a:ln w="24384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263" rIns="0" bIns="0" rtlCol="0">
            <a:spAutoFit/>
          </a:bodyPr>
          <a:lstStyle/>
          <a:p>
            <a:pPr marL="52069">
              <a:lnSpc>
                <a:spcPts val="3035"/>
              </a:lnSpc>
            </a:pPr>
            <a:r>
              <a:rPr sz="2550" spc="-310" dirty="0"/>
              <a:t>SE</a:t>
            </a:r>
            <a:r>
              <a:rPr sz="2550" spc="-100" dirty="0"/>
              <a:t>R</a:t>
            </a:r>
            <a:r>
              <a:rPr sz="2550" spc="-204" dirty="0"/>
              <a:t>S</a:t>
            </a:r>
            <a:r>
              <a:rPr sz="2550" spc="-15" dirty="0"/>
              <a:t> </a:t>
            </a:r>
            <a:r>
              <a:rPr sz="2550" spc="140" dirty="0"/>
              <a:t>Nano</a:t>
            </a:r>
            <a:r>
              <a:rPr sz="2550" spc="150" dirty="0"/>
              <a:t>b</a:t>
            </a:r>
            <a:r>
              <a:rPr sz="2550" spc="-70" dirty="0"/>
              <a:t>i</a:t>
            </a:r>
            <a:r>
              <a:rPr sz="2550" spc="25" dirty="0"/>
              <a:t>osensor:</a:t>
            </a:r>
            <a:r>
              <a:rPr sz="2550" spc="-130" dirty="0"/>
              <a:t> </a:t>
            </a:r>
            <a:r>
              <a:rPr sz="2550" spc="70" dirty="0"/>
              <a:t>Overvi</a:t>
            </a:r>
            <a:r>
              <a:rPr sz="2550" spc="150" dirty="0"/>
              <a:t>ew</a:t>
            </a:r>
            <a:endParaRPr sz="2550"/>
          </a:p>
        </p:txBody>
      </p:sp>
      <p:sp>
        <p:nvSpPr>
          <p:cNvPr id="5" name="object 5"/>
          <p:cNvSpPr txBox="1"/>
          <p:nvPr/>
        </p:nvSpPr>
        <p:spPr>
          <a:xfrm>
            <a:off x="215900" y="1894645"/>
            <a:ext cx="9366250" cy="149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5430">
              <a:lnSpc>
                <a:spcPct val="100000"/>
              </a:lnSpc>
            </a:pPr>
            <a:r>
              <a:rPr sz="1700" spc="560" dirty="0">
                <a:solidFill>
                  <a:srgbClr val="2A2A2A"/>
                </a:solidFill>
                <a:latin typeface="Arial"/>
                <a:cs typeface="Arial"/>
              </a:rPr>
              <a:t>·</a:t>
            </a:r>
            <a:r>
              <a:rPr sz="1700" spc="-280" dirty="0">
                <a:solidFill>
                  <a:srgbClr val="2A2A2A"/>
                </a:solidFill>
                <a:latin typeface="Arial"/>
                <a:cs typeface="Arial"/>
              </a:rPr>
              <a:t>SER</a:t>
            </a:r>
            <a:r>
              <a:rPr sz="1700" spc="-2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-220" dirty="0">
                <a:solidFill>
                  <a:srgbClr val="2A2A2A"/>
                </a:solidFill>
                <a:latin typeface="Arial"/>
                <a:cs typeface="Arial"/>
              </a:rPr>
              <a:t>S</a:t>
            </a:r>
            <a:r>
              <a:rPr sz="1700" spc="13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=</a:t>
            </a:r>
            <a:r>
              <a:rPr sz="1700" spc="5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2A2A2A"/>
                </a:solidFill>
                <a:latin typeface="Arial"/>
                <a:cs typeface="Arial"/>
              </a:rPr>
              <a:t>Sur</a:t>
            </a:r>
            <a:r>
              <a:rPr sz="1700" spc="145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700" spc="114" dirty="0">
                <a:solidFill>
                  <a:srgbClr val="2A2A2A"/>
                </a:solidFill>
                <a:latin typeface="Arial"/>
                <a:cs typeface="Arial"/>
              </a:rPr>
              <a:t>ace-Enhanced</a:t>
            </a:r>
            <a:r>
              <a:rPr sz="1700" spc="229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-245" dirty="0">
                <a:solidFill>
                  <a:srgbClr val="2A2A2A"/>
                </a:solidFill>
                <a:latin typeface="Arial"/>
                <a:cs typeface="Arial"/>
              </a:rPr>
              <a:t>R</a:t>
            </a:r>
            <a:r>
              <a:rPr sz="1700" spc="200" dirty="0">
                <a:solidFill>
                  <a:srgbClr val="2A2A2A"/>
                </a:solidFill>
                <a:latin typeface="Arial"/>
                <a:cs typeface="Arial"/>
              </a:rPr>
              <a:t>aman</a:t>
            </a:r>
            <a:r>
              <a:rPr sz="1700" spc="80" dirty="0">
                <a:solidFill>
                  <a:srgbClr val="2A2A2A"/>
                </a:solidFill>
                <a:latin typeface="Arial"/>
                <a:cs typeface="Arial"/>
              </a:rPr>
              <a:t> Spectroscopy;</a:t>
            </a:r>
            <a:r>
              <a:rPr sz="1700" spc="2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provides</a:t>
            </a:r>
            <a:r>
              <a:rPr sz="1700" spc="10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10" dirty="0">
                <a:solidFill>
                  <a:srgbClr val="2A2A2A"/>
                </a:solidFill>
                <a:latin typeface="Arial"/>
                <a:cs typeface="Arial"/>
              </a:rPr>
              <a:t>molecular</a:t>
            </a:r>
            <a:r>
              <a:rPr sz="1700" spc="1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65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700" spc="130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120" dirty="0">
                <a:solidFill>
                  <a:srgbClr val="2A2A2A"/>
                </a:solidFill>
                <a:latin typeface="Arial"/>
                <a:cs typeface="Arial"/>
              </a:rPr>
              <a:t>ngerpr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50" dirty="0">
                <a:solidFill>
                  <a:srgbClr val="2A2A2A"/>
                </a:solidFill>
                <a:latin typeface="Arial"/>
                <a:cs typeface="Arial"/>
              </a:rPr>
              <a:t>nts.</a:t>
            </a:r>
            <a:endParaRPr sz="1700">
              <a:latin typeface="Arial"/>
              <a:cs typeface="Arial"/>
            </a:endParaRPr>
          </a:p>
          <a:p>
            <a:pPr marL="411480" indent="-146050">
              <a:lnSpc>
                <a:spcPct val="100000"/>
              </a:lnSpc>
              <a:spcBef>
                <a:spcPts val="285"/>
              </a:spcBef>
              <a:buClr>
                <a:srgbClr val="2A2A2A"/>
              </a:buClr>
              <a:buFont typeface="Arial"/>
              <a:buChar char="•"/>
              <a:tabLst>
                <a:tab pos="412115" algn="l"/>
              </a:tabLst>
            </a:pP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Plasmonic</a:t>
            </a:r>
            <a:r>
              <a:rPr sz="1700" spc="16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nanostructures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-2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700" spc="165" dirty="0">
                <a:solidFill>
                  <a:srgbClr val="2A2A2A"/>
                </a:solidFill>
                <a:latin typeface="Arial"/>
                <a:cs typeface="Arial"/>
              </a:rPr>
              <a:t>Ag</a:t>
            </a:r>
            <a:r>
              <a:rPr sz="1700" spc="195" dirty="0">
                <a:solidFill>
                  <a:srgbClr val="2A2A2A"/>
                </a:solidFill>
                <a:latin typeface="Arial"/>
                <a:cs typeface="Arial"/>
              </a:rPr>
              <a:t>/</a:t>
            </a:r>
            <a:r>
              <a:rPr sz="1700" spc="40" dirty="0">
                <a:solidFill>
                  <a:srgbClr val="2A2A2A"/>
                </a:solidFill>
                <a:latin typeface="Arial"/>
                <a:cs typeface="Arial"/>
              </a:rPr>
              <a:t>Au</a:t>
            </a:r>
            <a:r>
              <a:rPr sz="1700" spc="25" dirty="0">
                <a:solidFill>
                  <a:srgbClr val="2A2A2A"/>
                </a:solidFill>
                <a:latin typeface="Arial"/>
                <a:cs typeface="Arial"/>
              </a:rPr>
              <a:t>)</a:t>
            </a:r>
            <a:r>
              <a:rPr sz="1700" spc="204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14" dirty="0">
                <a:solidFill>
                  <a:srgbClr val="2A2A2A"/>
                </a:solidFill>
                <a:latin typeface="Arial"/>
                <a:cs typeface="Arial"/>
              </a:rPr>
              <a:t>create</a:t>
            </a:r>
            <a:r>
              <a:rPr sz="1700" spc="7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strong</a:t>
            </a:r>
            <a:r>
              <a:rPr sz="1700" spc="1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10" dirty="0">
                <a:solidFill>
                  <a:srgbClr val="2A2A2A"/>
                </a:solidFill>
                <a:latin typeface="Arial"/>
                <a:cs typeface="Arial"/>
              </a:rPr>
              <a:t>local</a:t>
            </a:r>
            <a:r>
              <a:rPr sz="1700" spc="-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2A2A2A"/>
                </a:solidFill>
                <a:latin typeface="Arial"/>
                <a:cs typeface="Arial"/>
              </a:rPr>
              <a:t>fields</a:t>
            </a:r>
            <a:r>
              <a:rPr sz="1700" spc="2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85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700" spc="110" dirty="0">
                <a:solidFill>
                  <a:srgbClr val="2A2A2A"/>
                </a:solidFill>
                <a:latin typeface="Arial"/>
                <a:cs typeface="Arial"/>
              </a:rPr>
              <a:t>hotspots</a:t>
            </a:r>
            <a:r>
              <a:rPr sz="1700" spc="85" dirty="0">
                <a:solidFill>
                  <a:srgbClr val="2A2A2A"/>
                </a:solidFill>
                <a:latin typeface="Arial"/>
                <a:cs typeface="Arial"/>
              </a:rPr>
              <a:t>)</a:t>
            </a:r>
            <a:r>
              <a:rPr sz="1700" spc="65" dirty="0">
                <a:solidFill>
                  <a:srgbClr val="2A2A2A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402590" indent="-137160">
              <a:lnSpc>
                <a:spcPct val="100000"/>
              </a:lnSpc>
              <a:spcBef>
                <a:spcPts val="265"/>
              </a:spcBef>
              <a:buClr>
                <a:srgbClr val="2A2A2A"/>
              </a:buClr>
              <a:buFont typeface="Arial"/>
              <a:buChar char="•"/>
              <a:tabLst>
                <a:tab pos="403225" algn="l"/>
              </a:tabLst>
            </a:pPr>
            <a:r>
              <a:rPr sz="1700" spc="135" dirty="0">
                <a:solidFill>
                  <a:srgbClr val="2A2A2A"/>
                </a:solidFill>
                <a:latin typeface="Arial"/>
                <a:cs typeface="Arial"/>
              </a:rPr>
              <a:t>Combine</a:t>
            </a:r>
            <a:r>
              <a:rPr sz="1700" spc="1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-280" dirty="0">
                <a:solidFill>
                  <a:srgbClr val="2A2A2A"/>
                </a:solidFill>
                <a:latin typeface="Arial"/>
                <a:cs typeface="Arial"/>
              </a:rPr>
              <a:t>SER</a:t>
            </a:r>
            <a:r>
              <a:rPr sz="1700" spc="-2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-240" dirty="0">
                <a:solidFill>
                  <a:srgbClr val="2A2A2A"/>
                </a:solidFill>
                <a:latin typeface="Arial"/>
                <a:cs typeface="Arial"/>
              </a:rPr>
              <a:t>S</a:t>
            </a:r>
            <a:r>
              <a:rPr sz="1700" spc="3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00" dirty="0">
                <a:solidFill>
                  <a:srgbClr val="2A2A2A"/>
                </a:solidFill>
                <a:latin typeface="Arial"/>
                <a:cs typeface="Arial"/>
              </a:rPr>
              <a:t>substrate</a:t>
            </a:r>
            <a:r>
              <a:rPr sz="1700" spc="5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with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25" dirty="0">
                <a:solidFill>
                  <a:srgbClr val="2A2A2A"/>
                </a:solidFill>
                <a:latin typeface="Arial"/>
                <a:cs typeface="Arial"/>
              </a:rPr>
              <a:t>capture</a:t>
            </a:r>
            <a:r>
              <a:rPr sz="1700" spc="1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10" dirty="0">
                <a:solidFill>
                  <a:srgbClr val="2A2A2A"/>
                </a:solidFill>
                <a:latin typeface="Arial"/>
                <a:cs typeface="Arial"/>
              </a:rPr>
              <a:t>probes</a:t>
            </a:r>
            <a:r>
              <a:rPr sz="1700" spc="15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700" spc="140" dirty="0">
                <a:solidFill>
                  <a:srgbClr val="2A2A2A"/>
                </a:solidFill>
                <a:latin typeface="Arial"/>
                <a:cs typeface="Arial"/>
              </a:rPr>
              <a:t>aptamer</a:t>
            </a:r>
            <a:r>
              <a:rPr sz="1700" spc="250" dirty="0">
                <a:solidFill>
                  <a:srgbClr val="2A2A2A"/>
                </a:solidFill>
                <a:latin typeface="Arial"/>
                <a:cs typeface="Arial"/>
              </a:rPr>
              <a:t>s</a:t>
            </a:r>
            <a:r>
              <a:rPr sz="1700" spc="140" dirty="0">
                <a:solidFill>
                  <a:srgbClr val="2A2A2A"/>
                </a:solidFill>
                <a:latin typeface="Arial"/>
                <a:cs typeface="Arial"/>
              </a:rPr>
              <a:t>/antibod</a:t>
            </a:r>
            <a:r>
              <a:rPr sz="1700" spc="204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55" dirty="0">
                <a:solidFill>
                  <a:srgbClr val="2A2A2A"/>
                </a:solidFill>
                <a:latin typeface="Arial"/>
                <a:cs typeface="Arial"/>
              </a:rPr>
              <a:t>es)</a:t>
            </a:r>
            <a:r>
              <a:rPr sz="1700" spc="120" dirty="0">
                <a:solidFill>
                  <a:srgbClr val="2A2A2A"/>
                </a:solidFill>
                <a:latin typeface="Arial"/>
                <a:cs typeface="Arial"/>
              </a:rPr>
              <a:t> f</a:t>
            </a:r>
            <a:r>
              <a:rPr sz="1700" spc="50" dirty="0">
                <a:solidFill>
                  <a:srgbClr val="2A2A2A"/>
                </a:solidFill>
                <a:latin typeface="Arial"/>
                <a:cs typeface="Arial"/>
              </a:rPr>
              <a:t>or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2A2A2A"/>
                </a:solidFill>
                <a:latin typeface="Arial"/>
                <a:cs typeface="Arial"/>
              </a:rPr>
              <a:t>select</a:t>
            </a:r>
            <a:r>
              <a:rPr sz="1700" spc="70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50" dirty="0">
                <a:solidFill>
                  <a:srgbClr val="2A2A2A"/>
                </a:solidFill>
                <a:latin typeface="Arial"/>
                <a:cs typeface="Arial"/>
              </a:rPr>
              <a:t>vity.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50" b="1" spc="-310" dirty="0">
                <a:solidFill>
                  <a:srgbClr val="7279A8"/>
                </a:solidFill>
                <a:latin typeface="Arial"/>
                <a:cs typeface="Arial"/>
              </a:rPr>
              <a:t>SE</a:t>
            </a:r>
            <a:r>
              <a:rPr sz="2550" b="1" spc="-100" dirty="0">
                <a:solidFill>
                  <a:srgbClr val="7279A8"/>
                </a:solidFill>
                <a:latin typeface="Arial"/>
                <a:cs typeface="Arial"/>
              </a:rPr>
              <a:t>R</a:t>
            </a:r>
            <a:r>
              <a:rPr sz="2550" b="1" spc="-204" dirty="0">
                <a:solidFill>
                  <a:srgbClr val="7279A8"/>
                </a:solidFill>
                <a:latin typeface="Arial"/>
                <a:cs typeface="Arial"/>
              </a:rPr>
              <a:t>S</a:t>
            </a:r>
            <a:r>
              <a:rPr sz="2550" b="1" spc="-15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550" b="1" spc="135" dirty="0">
                <a:solidFill>
                  <a:srgbClr val="7279A8"/>
                </a:solidFill>
                <a:latin typeface="Arial"/>
                <a:cs typeface="Arial"/>
              </a:rPr>
              <a:t>Funda</a:t>
            </a:r>
            <a:r>
              <a:rPr sz="2550" b="1" spc="220" dirty="0">
                <a:solidFill>
                  <a:srgbClr val="7279A8"/>
                </a:solidFill>
                <a:latin typeface="Arial"/>
                <a:cs typeface="Arial"/>
              </a:rPr>
              <a:t>m</a:t>
            </a:r>
            <a:r>
              <a:rPr sz="2550" b="1" spc="95" dirty="0">
                <a:solidFill>
                  <a:srgbClr val="7279A8"/>
                </a:solidFill>
                <a:latin typeface="Arial"/>
                <a:cs typeface="Arial"/>
              </a:rPr>
              <a:t>entals</a:t>
            </a:r>
            <a:endParaRPr sz="2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772" y="3671120"/>
            <a:ext cx="5410835" cy="1119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15">
              <a:lnSpc>
                <a:spcPct val="112900"/>
              </a:lnSpc>
              <a:buClr>
                <a:srgbClr val="2A2A2A"/>
              </a:buClr>
              <a:buFont typeface="Arial"/>
              <a:buChar char="•"/>
              <a:tabLst>
                <a:tab pos="180340" algn="l"/>
              </a:tabLst>
            </a:pPr>
            <a:r>
              <a:rPr sz="1700" spc="-245" dirty="0">
                <a:solidFill>
                  <a:srgbClr val="2A2A2A"/>
                </a:solidFill>
                <a:latin typeface="Arial"/>
                <a:cs typeface="Arial"/>
              </a:rPr>
              <a:t>R</a:t>
            </a:r>
            <a:r>
              <a:rPr sz="1700" spc="200" dirty="0">
                <a:solidFill>
                  <a:srgbClr val="2A2A2A"/>
                </a:solidFill>
                <a:latin typeface="Arial"/>
                <a:cs typeface="Arial"/>
              </a:rPr>
              <a:t>aman</a:t>
            </a:r>
            <a:r>
              <a:rPr sz="1700" spc="17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05" dirty="0">
                <a:solidFill>
                  <a:srgbClr val="2A2A2A"/>
                </a:solidFill>
                <a:latin typeface="Arial"/>
                <a:cs typeface="Arial"/>
              </a:rPr>
              <a:t>scatter</a:t>
            </a:r>
            <a:r>
              <a:rPr sz="1700" spc="155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170" dirty="0">
                <a:solidFill>
                  <a:srgbClr val="2A2A2A"/>
                </a:solidFill>
                <a:latin typeface="Arial"/>
                <a:cs typeface="Arial"/>
              </a:rPr>
              <a:t>ng</a:t>
            </a:r>
            <a:r>
              <a:rPr sz="1700" spc="1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10" dirty="0">
                <a:solidFill>
                  <a:srgbClr val="2A2A2A"/>
                </a:solidFill>
                <a:latin typeface="Arial"/>
                <a:cs typeface="Arial"/>
              </a:rPr>
              <a:t>measures</a:t>
            </a:r>
            <a:r>
              <a:rPr sz="1700" spc="1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vibrational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-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20" dirty="0">
                <a:solidFill>
                  <a:srgbClr val="2A2A2A"/>
                </a:solidFill>
                <a:latin typeface="Arial"/>
                <a:cs typeface="Arial"/>
              </a:rPr>
              <a:t>modes;</a:t>
            </a:r>
            <a:r>
              <a:rPr sz="1700" spc="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specific</a:t>
            </a:r>
            <a:r>
              <a:rPr sz="1700" spc="2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peaks</a:t>
            </a:r>
            <a:r>
              <a:rPr sz="1700" spc="1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= </a:t>
            </a:r>
            <a:r>
              <a:rPr sz="1700" spc="114" dirty="0">
                <a:solidFill>
                  <a:srgbClr val="2A2A2A"/>
                </a:solidFill>
                <a:latin typeface="Arial"/>
                <a:cs typeface="Arial"/>
              </a:rPr>
              <a:t>molecule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2A2A2A"/>
                </a:solidFill>
                <a:latin typeface="Arial"/>
                <a:cs typeface="Arial"/>
              </a:rPr>
              <a:t>signature.</a:t>
            </a:r>
            <a:endParaRPr sz="1700">
              <a:latin typeface="Arial"/>
              <a:cs typeface="Arial"/>
            </a:endParaRPr>
          </a:p>
          <a:p>
            <a:pPr marL="18415" marR="11430">
              <a:lnSpc>
                <a:spcPct val="111800"/>
              </a:lnSpc>
              <a:spcBef>
                <a:spcPts val="45"/>
              </a:spcBef>
              <a:buClr>
                <a:srgbClr val="2A2A2A"/>
              </a:buClr>
              <a:buFont typeface="Arial"/>
              <a:buChar char="•"/>
              <a:tabLst>
                <a:tab pos="238760" algn="l"/>
                <a:tab pos="2133600" algn="l"/>
                <a:tab pos="3791585" algn="l"/>
                <a:tab pos="4444365" algn="l"/>
              </a:tabLst>
            </a:pPr>
            <a:r>
              <a:rPr sz="1700" spc="100" dirty="0">
                <a:solidFill>
                  <a:srgbClr val="2A2A2A"/>
                </a:solidFill>
                <a:latin typeface="Arial"/>
                <a:cs typeface="Arial"/>
              </a:rPr>
              <a:t>Electromagneti</a:t>
            </a:r>
            <a:r>
              <a:rPr sz="1700" spc="114" dirty="0">
                <a:solidFill>
                  <a:srgbClr val="2A2A2A"/>
                </a:solidFill>
                <a:latin typeface="Arial"/>
                <a:cs typeface="Arial"/>
              </a:rPr>
              <a:t>c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700" spc="130" dirty="0">
                <a:solidFill>
                  <a:srgbClr val="2A2A2A"/>
                </a:solidFill>
                <a:latin typeface="Arial"/>
                <a:cs typeface="Arial"/>
              </a:rPr>
              <a:t>enhancement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700" spc="-75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700" spc="-254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75" dirty="0">
                <a:solidFill>
                  <a:srgbClr val="2A2A2A"/>
                </a:solidFill>
                <a:latin typeface="Arial"/>
                <a:cs typeface="Arial"/>
              </a:rPr>
              <a:t>rom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700" spc="145" dirty="0">
                <a:solidFill>
                  <a:srgbClr val="2A2A2A"/>
                </a:solidFill>
                <a:latin typeface="Arial"/>
                <a:cs typeface="Arial"/>
              </a:rPr>
              <a:t>plasmon</a:t>
            </a: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85" dirty="0">
                <a:solidFill>
                  <a:srgbClr val="2A2A2A"/>
                </a:solidFill>
                <a:latin typeface="Arial"/>
                <a:cs typeface="Arial"/>
              </a:rPr>
              <a:t>reson</a:t>
            </a:r>
            <a:r>
              <a:rPr sz="1700" spc="250" dirty="0">
                <a:solidFill>
                  <a:srgbClr val="2A2A2A"/>
                </a:solidFill>
                <a:latin typeface="Arial"/>
                <a:cs typeface="Arial"/>
              </a:rPr>
              <a:t>a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nee</a:t>
            </a:r>
            <a:r>
              <a:rPr sz="1700" spc="-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2A2A2A"/>
                </a:solidFill>
                <a:latin typeface="Arial"/>
                <a:cs typeface="Arial"/>
              </a:rPr>
              <a:t>se</a:t>
            </a:r>
            <a:r>
              <a:rPr sz="1700" spc="250" dirty="0">
                <a:solidFill>
                  <a:srgbClr val="2A2A2A"/>
                </a:solidFill>
                <a:latin typeface="Arial"/>
                <a:cs typeface="Arial"/>
              </a:rPr>
              <a:t>a</a:t>
            </a:r>
            <a:r>
              <a:rPr sz="1700" spc="30" dirty="0">
                <a:solidFill>
                  <a:srgbClr val="2A2A2A"/>
                </a:solidFill>
                <a:latin typeface="Arial"/>
                <a:cs typeface="Arial"/>
              </a:rPr>
              <a:t>le</a:t>
            </a:r>
            <a:r>
              <a:rPr sz="1700" spc="55" dirty="0">
                <a:solidFill>
                  <a:srgbClr val="2A2A2A"/>
                </a:solidFill>
                <a:latin typeface="Arial"/>
                <a:cs typeface="Arial"/>
              </a:rPr>
              <a:t>s</a:t>
            </a:r>
            <a:r>
              <a:rPr sz="1700" spc="-120" dirty="0">
                <a:solidFill>
                  <a:srgbClr val="2A2A2A"/>
                </a:solidFill>
                <a:latin typeface="Arial"/>
                <a:cs typeface="Arial"/>
              </a:rPr>
              <a:t>.</a:t>
            </a:r>
            <a:r>
              <a:rPr sz="1700" spc="110" dirty="0">
                <a:solidFill>
                  <a:srgbClr val="2A2A2A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724" y="4847649"/>
            <a:ext cx="1598295" cy="823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890">
              <a:lnSpc>
                <a:spcPct val="112400"/>
              </a:lnSpc>
              <a:buClr>
                <a:srgbClr val="2A2A2A"/>
              </a:buClr>
              <a:buFont typeface="Arial"/>
              <a:buChar char="•"/>
              <a:tabLst>
                <a:tab pos="406400" algn="l"/>
              </a:tabLst>
            </a:pPr>
            <a:r>
              <a:rPr sz="1700" spc="75" dirty="0">
                <a:solidFill>
                  <a:srgbClr val="2A2A2A"/>
                </a:solidFill>
                <a:latin typeface="Arial"/>
                <a:cs typeface="Arial"/>
              </a:rPr>
              <a:t>Hotspots</a:t>
            </a:r>
            <a:r>
              <a:rPr sz="1700" spc="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25" dirty="0">
                <a:solidFill>
                  <a:srgbClr val="2A2A2A"/>
                </a:solidFill>
                <a:latin typeface="Arial"/>
                <a:cs typeface="Arial"/>
              </a:rPr>
              <a:t>enhancement;</a:t>
            </a:r>
            <a:r>
              <a:rPr sz="1700" spc="65" dirty="0">
                <a:solidFill>
                  <a:srgbClr val="2A2A2A"/>
                </a:solidFill>
                <a:latin typeface="Arial"/>
                <a:cs typeface="Arial"/>
              </a:rPr>
              <a:t> possible.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0692" y="4847649"/>
            <a:ext cx="375412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5134" marR="5080" indent="-433070">
              <a:lnSpc>
                <a:spcPct val="110600"/>
              </a:lnSpc>
              <a:tabLst>
                <a:tab pos="1600200" algn="l"/>
                <a:tab pos="2346960" algn="l"/>
                <a:tab pos="2691765" algn="l"/>
                <a:tab pos="3002280" algn="l"/>
              </a:tabLst>
            </a:pPr>
            <a:r>
              <a:rPr sz="1700" spc="135" dirty="0">
                <a:solidFill>
                  <a:srgbClr val="2A2A2A"/>
                </a:solidFill>
                <a:latin typeface="Arial"/>
                <a:cs typeface="Arial"/>
              </a:rPr>
              <a:t>(nanogaps)	</a:t>
            </a:r>
            <a:r>
              <a:rPr sz="1700" spc="175" dirty="0">
                <a:solidFill>
                  <a:srgbClr val="2A2A2A"/>
                </a:solidFill>
                <a:latin typeface="Arial"/>
                <a:cs typeface="Arial"/>
              </a:rPr>
              <a:t>g</a:t>
            </a:r>
            <a:r>
              <a:rPr sz="1700" spc="5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700" spc="95" dirty="0">
                <a:solidFill>
                  <a:srgbClr val="2A2A2A"/>
                </a:solidFill>
                <a:latin typeface="Arial"/>
                <a:cs typeface="Arial"/>
              </a:rPr>
              <a:t>ve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700" spc="110" dirty="0">
                <a:solidFill>
                  <a:srgbClr val="2A2A2A"/>
                </a:solidFill>
                <a:latin typeface="Arial"/>
                <a:cs typeface="Arial"/>
              </a:rPr>
              <a:t>the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700" spc="90" dirty="0">
                <a:solidFill>
                  <a:srgbClr val="2A2A2A"/>
                </a:solidFill>
                <a:latin typeface="Arial"/>
                <a:cs typeface="Arial"/>
              </a:rPr>
              <a:t>largest</a:t>
            </a:r>
            <a:r>
              <a:rPr sz="1700" spc="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700" spc="114" dirty="0">
                <a:solidFill>
                  <a:srgbClr val="2A2A2A"/>
                </a:solidFill>
                <a:latin typeface="Arial"/>
                <a:cs typeface="Arial"/>
              </a:rPr>
              <a:t>single-molecule</a:t>
            </a:r>
            <a:r>
              <a:rPr sz="1700" dirty="0">
                <a:solidFill>
                  <a:srgbClr val="2A2A2A"/>
                </a:solidFill>
                <a:latin typeface="Arial"/>
                <a:cs typeface="Arial"/>
              </a:rPr>
              <a:t>		</a:t>
            </a:r>
            <a:r>
              <a:rPr sz="1700" spc="65" dirty="0">
                <a:solidFill>
                  <a:srgbClr val="2A2A2A"/>
                </a:solidFill>
                <a:latin typeface="Arial"/>
                <a:cs typeface="Arial"/>
              </a:rPr>
              <a:t>sensitivity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0916" y="3380271"/>
            <a:ext cx="467359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-105" dirty="0">
                <a:solidFill>
                  <a:srgbClr val="131313"/>
                </a:solidFill>
                <a:latin typeface="Times New Roman"/>
                <a:cs typeface="Times New Roman"/>
              </a:rPr>
              <a:t>,,,_ </a:t>
            </a:r>
            <a:r>
              <a:rPr sz="650" spc="-1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2150" spc="-195" dirty="0">
                <a:solidFill>
                  <a:srgbClr val="131313"/>
                </a:solidFill>
                <a:latin typeface="Times New Roman"/>
                <a:cs typeface="Times New Roman"/>
              </a:rPr>
              <a:t>-</a:t>
            </a:r>
            <a:r>
              <a:rPr sz="2150" spc="-32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131313"/>
                </a:solidFill>
                <a:latin typeface="Arial"/>
                <a:cs typeface="Arial"/>
              </a:rPr>
              <a:t>-</a:t>
            </a:r>
            <a:r>
              <a:rPr sz="1300" spc="-11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1850" spc="100" dirty="0">
                <a:solidFill>
                  <a:srgbClr val="131313"/>
                </a:solidFill>
                <a:latin typeface="Times New Roman"/>
                <a:cs typeface="Times New Roman"/>
              </a:rPr>
              <a:t>-</a:t>
            </a:r>
            <a:r>
              <a:rPr sz="2500" spc="-285" dirty="0">
                <a:solidFill>
                  <a:srgbClr val="131313"/>
                </a:solidFill>
                <a:latin typeface="Times New Roman"/>
                <a:cs typeface="Times New Roman"/>
              </a:rPr>
              <a:t>-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5571" y="3631167"/>
            <a:ext cx="160655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" spc="555" dirty="0">
                <a:solidFill>
                  <a:srgbClr val="131313"/>
                </a:solidFill>
                <a:latin typeface="Arial"/>
                <a:cs typeface="Arial"/>
              </a:rPr>
              <a:t>;</a:t>
            </a:r>
            <a:endParaRPr sz="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9556" y="3590004"/>
            <a:ext cx="8509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10" dirty="0">
                <a:solidFill>
                  <a:srgbClr val="131313"/>
                </a:solidFill>
                <a:latin typeface="Arial"/>
                <a:cs typeface="Arial"/>
              </a:rPr>
              <a:t>....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92316" y="3682914"/>
            <a:ext cx="1206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125" dirty="0">
                <a:solidFill>
                  <a:srgbClr val="131313"/>
                </a:solidFill>
                <a:latin typeface="Times New Roman"/>
                <a:cs typeface="Times New Roman"/>
              </a:rPr>
              <a:t>/'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8804" y="3662475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390" dirty="0">
                <a:solidFill>
                  <a:srgbClr val="131313"/>
                </a:solidFill>
                <a:latin typeface="Times New Roman"/>
                <a:cs typeface="Times New Roman"/>
              </a:rPr>
              <a:t>'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49643" y="3811754"/>
            <a:ext cx="596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i="1" spc="100" dirty="0">
                <a:solidFill>
                  <a:srgbClr val="131313"/>
                </a:solidFill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09764" y="3811754"/>
            <a:ext cx="719455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i="1" spc="322" baseline="23148" dirty="0">
                <a:solidFill>
                  <a:srgbClr val="131313"/>
                </a:solidFill>
                <a:latin typeface="Arial"/>
                <a:cs typeface="Arial"/>
              </a:rPr>
              <a:t>'</a:t>
            </a:r>
            <a:r>
              <a:rPr sz="550" spc="400" dirty="0">
                <a:solidFill>
                  <a:srgbClr val="131313"/>
                </a:solidFill>
                <a:latin typeface="Arial"/>
                <a:cs typeface="Arial"/>
              </a:rPr>
              <a:t>I</a:t>
            </a:r>
            <a:r>
              <a:rPr sz="55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550" spc="5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595959"/>
                </a:solidFill>
                <a:latin typeface="Arial"/>
                <a:cs typeface="Arial"/>
              </a:rPr>
              <a:t>BI</a:t>
            </a:r>
            <a:r>
              <a:rPr sz="500" spc="-40" dirty="0">
                <a:solidFill>
                  <a:srgbClr val="595959"/>
                </a:solidFill>
                <a:latin typeface="Arial"/>
                <a:cs typeface="Arial"/>
              </a:rPr>
              <a:t>O</a:t>
            </a:r>
            <a:r>
              <a:rPr sz="500" spc="-25" dirty="0">
                <a:solidFill>
                  <a:srgbClr val="828282"/>
                </a:solidFill>
                <a:latin typeface="Arial"/>
                <a:cs typeface="Arial"/>
              </a:rPr>
              <a:t>-</a:t>
            </a:r>
            <a:r>
              <a:rPr sz="500" spc="-95" dirty="0">
                <a:solidFill>
                  <a:srgbClr val="828282"/>
                </a:solidFill>
                <a:latin typeface="Arial"/>
                <a:cs typeface="Arial"/>
              </a:rPr>
              <a:t> </a:t>
            </a:r>
            <a:r>
              <a:rPr sz="500" spc="-35" dirty="0">
                <a:solidFill>
                  <a:srgbClr val="595959"/>
                </a:solidFill>
                <a:latin typeface="Arial"/>
                <a:cs typeface="Arial"/>
              </a:rPr>
              <a:t>RECOGNITION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7452" y="3911748"/>
            <a:ext cx="8699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80"/>
              </a:lnSpc>
            </a:pPr>
            <a:r>
              <a:rPr sz="1050" spc="185" dirty="0">
                <a:solidFill>
                  <a:srgbClr val="131313"/>
                </a:solidFill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  <a:p>
            <a:pPr marL="36830">
              <a:lnSpc>
                <a:spcPts val="580"/>
              </a:lnSpc>
            </a:pPr>
            <a:r>
              <a:rPr sz="550" spc="105" dirty="0">
                <a:solidFill>
                  <a:srgbClr val="131313"/>
                </a:solidFill>
                <a:latin typeface="Arial"/>
                <a:cs typeface="Arial"/>
              </a:rPr>
              <a:t>\</a:t>
            </a:r>
            <a:endParaRPr sz="5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28052" y="3968348"/>
            <a:ext cx="5924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575"/>
              </a:lnSpc>
              <a:tabLst>
                <a:tab pos="271145" algn="l"/>
              </a:tabLst>
            </a:pPr>
            <a:r>
              <a:rPr sz="500" spc="275" dirty="0">
                <a:solidFill>
                  <a:srgbClr val="131313"/>
                </a:solidFill>
                <a:latin typeface="Arial"/>
                <a:cs typeface="Arial"/>
              </a:rPr>
              <a:t>I	</a:t>
            </a:r>
            <a:r>
              <a:rPr sz="500" spc="-40" dirty="0">
                <a:solidFill>
                  <a:srgbClr val="595959"/>
                </a:solidFill>
                <a:latin typeface="Arial"/>
                <a:cs typeface="Arial"/>
              </a:rPr>
              <a:t>ELEMENTS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ts val="635"/>
              </a:lnSpc>
            </a:pPr>
            <a:r>
              <a:rPr sz="550" i="1" spc="140" dirty="0">
                <a:solidFill>
                  <a:srgbClr val="131313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10604" y="4063558"/>
            <a:ext cx="685800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502" baseline="-4629" dirty="0">
                <a:solidFill>
                  <a:srgbClr val="131313"/>
                </a:solidFill>
                <a:latin typeface="Times New Roman"/>
                <a:cs typeface="Times New Roman"/>
              </a:rPr>
              <a:t>'</a:t>
            </a:r>
            <a:r>
              <a:rPr sz="800" spc="-95" dirty="0">
                <a:solidFill>
                  <a:srgbClr val="131313"/>
                </a:solidFill>
                <a:latin typeface="Times New Roman"/>
                <a:cs typeface="Times New Roman"/>
              </a:rPr>
              <a:t>....</a:t>
            </a:r>
            <a:r>
              <a:rPr sz="800" spc="-1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200" spc="-165" baseline="-24305" dirty="0">
                <a:solidFill>
                  <a:srgbClr val="131313"/>
                </a:solidFill>
                <a:latin typeface="Arial"/>
                <a:cs typeface="Arial"/>
              </a:rPr>
              <a:t>....</a:t>
            </a:r>
            <a:r>
              <a:rPr sz="1200" baseline="-2430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650" spc="-90" dirty="0">
                <a:solidFill>
                  <a:srgbClr val="131313"/>
                </a:solidFill>
                <a:latin typeface="Arial"/>
                <a:cs typeface="Arial"/>
              </a:rPr>
              <a:t>.....</a:t>
            </a:r>
            <a:r>
              <a:rPr sz="650" spc="6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1600" spc="-400" dirty="0">
                <a:solidFill>
                  <a:srgbClr val="131313"/>
                </a:solidFill>
                <a:latin typeface="Times New Roman"/>
                <a:cs typeface="Times New Roman"/>
              </a:rPr>
              <a:t>_</a:t>
            </a:r>
            <a:r>
              <a:rPr sz="1600" spc="-6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spc="-400" dirty="0">
                <a:solidFill>
                  <a:srgbClr val="131313"/>
                </a:solidFill>
                <a:latin typeface="Times New Roman"/>
                <a:cs typeface="Times New Roman"/>
              </a:rPr>
              <a:t>_</a:t>
            </a:r>
            <a:r>
              <a:rPr sz="1600" spc="-6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spc="-400" dirty="0">
                <a:solidFill>
                  <a:srgbClr val="131313"/>
                </a:solidFill>
                <a:latin typeface="Times New Roman"/>
                <a:cs typeface="Times New Roman"/>
              </a:rPr>
              <a:t>_</a:t>
            </a:r>
            <a:r>
              <a:rPr sz="1600" spc="-6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600" spc="-425" dirty="0">
                <a:solidFill>
                  <a:srgbClr val="131313"/>
                </a:solidFill>
                <a:latin typeface="Times New Roman"/>
                <a:cs typeface="Times New Roman"/>
              </a:rPr>
              <a:t>_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70140" y="4098233"/>
            <a:ext cx="8255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5" dirty="0">
                <a:solidFill>
                  <a:srgbClr val="131313"/>
                </a:solidFill>
                <a:latin typeface="Arial"/>
                <a:cs typeface="Arial"/>
              </a:rPr>
              <a:t>"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11643" y="4228576"/>
            <a:ext cx="160655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" spc="555" dirty="0">
                <a:solidFill>
                  <a:srgbClr val="131313"/>
                </a:solidFill>
                <a:latin typeface="Arial"/>
                <a:cs typeface="Arial"/>
              </a:rPr>
              <a:t>;</a:t>
            </a:r>
            <a:endParaRPr sz="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75980" y="5541475"/>
            <a:ext cx="558165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-65" dirty="0">
                <a:solidFill>
                  <a:srgbClr val="595959"/>
                </a:solidFill>
                <a:latin typeface="Times New Roman"/>
                <a:cs typeface="Times New Roman"/>
              </a:rPr>
              <a:t>RAMAN  </a:t>
            </a:r>
            <a:r>
              <a:rPr sz="500" spc="-45" dirty="0">
                <a:solidFill>
                  <a:srgbClr val="707070"/>
                </a:solidFill>
                <a:latin typeface="Times New Roman"/>
                <a:cs typeface="Times New Roman"/>
              </a:rPr>
              <a:t>SHIFT</a:t>
            </a:r>
            <a:r>
              <a:rPr sz="500" spc="10" dirty="0">
                <a:solidFill>
                  <a:srgbClr val="707070"/>
                </a:solidFill>
                <a:latin typeface="Times New Roman"/>
                <a:cs typeface="Times New Roman"/>
              </a:rPr>
              <a:t> </a:t>
            </a:r>
            <a:r>
              <a:rPr sz="500" spc="-2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500" spc="-75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500" spc="-40" dirty="0">
                <a:solidFill>
                  <a:srgbClr val="828282"/>
                </a:solidFill>
                <a:latin typeface="Times New Roman"/>
                <a:cs typeface="Times New Roman"/>
              </a:rPr>
              <a:t>·</a:t>
            </a:r>
            <a:r>
              <a:rPr sz="500" spc="9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11771" y="5626460"/>
            <a:ext cx="353060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-50" dirty="0">
                <a:solidFill>
                  <a:srgbClr val="595959"/>
                </a:solidFill>
                <a:latin typeface="Arial"/>
                <a:cs typeface="Arial"/>
              </a:rPr>
              <a:t>SUBSTRATE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95359" y="1048511"/>
            <a:ext cx="1450848" cy="1499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923" y="1097348"/>
            <a:ext cx="6494780" cy="387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29"/>
              </a:lnSpc>
            </a:pPr>
            <a:r>
              <a:rPr sz="3050" spc="-145" dirty="0">
                <a:solidFill>
                  <a:srgbClr val="7279A8"/>
                </a:solidFill>
                <a:latin typeface="Arial"/>
                <a:cs typeface="Arial"/>
              </a:rPr>
              <a:t>N</a:t>
            </a:r>
            <a:r>
              <a:rPr sz="3050" spc="285" dirty="0">
                <a:solidFill>
                  <a:srgbClr val="7279A8"/>
                </a:solidFill>
                <a:latin typeface="Arial"/>
                <a:cs typeface="Arial"/>
              </a:rPr>
              <a:t>a</a:t>
            </a:r>
            <a:r>
              <a:rPr sz="3050" spc="155" dirty="0">
                <a:solidFill>
                  <a:srgbClr val="7279A8"/>
                </a:solidFill>
                <a:latin typeface="Arial"/>
                <a:cs typeface="Arial"/>
              </a:rPr>
              <a:t>n</a:t>
            </a:r>
            <a:r>
              <a:rPr sz="3050" spc="265" dirty="0">
                <a:solidFill>
                  <a:srgbClr val="7279A8"/>
                </a:solidFill>
                <a:latin typeface="Arial"/>
                <a:cs typeface="Arial"/>
              </a:rPr>
              <a:t>o</a:t>
            </a:r>
            <a:r>
              <a:rPr sz="3050" spc="434" dirty="0">
                <a:solidFill>
                  <a:srgbClr val="7279A8"/>
                </a:solidFill>
                <a:latin typeface="Arial"/>
                <a:cs typeface="Arial"/>
              </a:rPr>
              <a:t>m</a:t>
            </a:r>
            <a:r>
              <a:rPr sz="3050" spc="190" dirty="0">
                <a:solidFill>
                  <a:srgbClr val="7279A8"/>
                </a:solidFill>
                <a:latin typeface="Arial"/>
                <a:cs typeface="Arial"/>
              </a:rPr>
              <a:t>at</a:t>
            </a:r>
            <a:r>
              <a:rPr sz="3050" spc="275" dirty="0">
                <a:solidFill>
                  <a:srgbClr val="7279A8"/>
                </a:solidFill>
                <a:latin typeface="Arial"/>
                <a:cs typeface="Arial"/>
              </a:rPr>
              <a:t>e</a:t>
            </a:r>
            <a:r>
              <a:rPr sz="3050" spc="250" dirty="0">
                <a:solidFill>
                  <a:srgbClr val="7279A8"/>
                </a:solidFill>
                <a:latin typeface="Arial"/>
                <a:cs typeface="Arial"/>
              </a:rPr>
              <a:t>r</a:t>
            </a:r>
            <a:r>
              <a:rPr sz="3050" spc="-13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3050" spc="335" dirty="0">
                <a:solidFill>
                  <a:srgbClr val="7279A8"/>
                </a:solidFill>
                <a:latin typeface="Arial"/>
                <a:cs typeface="Arial"/>
              </a:rPr>
              <a:t>a</a:t>
            </a:r>
            <a:r>
              <a:rPr sz="3050" spc="70" dirty="0">
                <a:solidFill>
                  <a:srgbClr val="7279A8"/>
                </a:solidFill>
                <a:latin typeface="Arial"/>
                <a:cs typeface="Arial"/>
              </a:rPr>
              <a:t>l</a:t>
            </a:r>
            <a:r>
              <a:rPr sz="3050" spc="60" dirty="0">
                <a:solidFill>
                  <a:srgbClr val="7279A8"/>
                </a:solidFill>
                <a:latin typeface="Arial"/>
                <a:cs typeface="Arial"/>
              </a:rPr>
              <a:t>s</a:t>
            </a:r>
            <a:r>
              <a:rPr sz="3050" spc="-229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900" spc="45" dirty="0">
                <a:solidFill>
                  <a:srgbClr val="7279A8"/>
                </a:solidFill>
                <a:latin typeface="Times New Roman"/>
                <a:cs typeface="Times New Roman"/>
              </a:rPr>
              <a:t>&amp;</a:t>
            </a:r>
            <a:r>
              <a:rPr sz="2900" spc="-70" dirty="0">
                <a:solidFill>
                  <a:srgbClr val="7279A8"/>
                </a:solidFill>
                <a:latin typeface="Times New Roman"/>
                <a:cs typeface="Times New Roman"/>
              </a:rPr>
              <a:t> </a:t>
            </a:r>
            <a:r>
              <a:rPr sz="3050" spc="-45" dirty="0">
                <a:solidFill>
                  <a:srgbClr val="7279A8"/>
                </a:solidFill>
                <a:latin typeface="Arial"/>
                <a:cs typeface="Arial"/>
              </a:rPr>
              <a:t>S</a:t>
            </a:r>
            <a:r>
              <a:rPr sz="3050" spc="15" dirty="0">
                <a:solidFill>
                  <a:srgbClr val="7279A8"/>
                </a:solidFill>
                <a:latin typeface="Arial"/>
                <a:cs typeface="Arial"/>
              </a:rPr>
              <a:t>u</a:t>
            </a:r>
            <a:r>
              <a:rPr sz="3050" spc="170" dirty="0">
                <a:solidFill>
                  <a:srgbClr val="7279A8"/>
                </a:solidFill>
                <a:latin typeface="Arial"/>
                <a:cs typeface="Arial"/>
              </a:rPr>
              <a:t>b</a:t>
            </a:r>
            <a:r>
              <a:rPr sz="3050" spc="150" dirty="0">
                <a:solidFill>
                  <a:srgbClr val="7279A8"/>
                </a:solidFill>
                <a:latin typeface="Arial"/>
                <a:cs typeface="Arial"/>
              </a:rPr>
              <a:t>strate</a:t>
            </a:r>
            <a:r>
              <a:rPr sz="3050" spc="-5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3050" spc="-240" dirty="0">
                <a:solidFill>
                  <a:srgbClr val="7279A8"/>
                </a:solidFill>
                <a:latin typeface="Arial"/>
                <a:cs typeface="Arial"/>
              </a:rPr>
              <a:t>D</a:t>
            </a:r>
            <a:r>
              <a:rPr sz="3050" spc="125" dirty="0">
                <a:solidFill>
                  <a:srgbClr val="7279A8"/>
                </a:solidFill>
                <a:latin typeface="Arial"/>
                <a:cs typeface="Arial"/>
              </a:rPr>
              <a:t>es</a:t>
            </a:r>
            <a:r>
              <a:rPr sz="3050" spc="-35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3050" spc="365" dirty="0">
                <a:solidFill>
                  <a:srgbClr val="7279A8"/>
                </a:solidFill>
                <a:latin typeface="Arial"/>
                <a:cs typeface="Arial"/>
              </a:rPr>
              <a:t>g</a:t>
            </a:r>
            <a:r>
              <a:rPr sz="3050" spc="420" dirty="0">
                <a:solidFill>
                  <a:srgbClr val="7279A8"/>
                </a:solidFill>
                <a:latin typeface="Arial"/>
                <a:cs typeface="Arial"/>
              </a:rPr>
              <a:t>n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923" y="1639366"/>
            <a:ext cx="8500110" cy="432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1525" marR="5080">
              <a:lnSpc>
                <a:spcPct val="110500"/>
              </a:lnSpc>
              <a:buClr>
                <a:srgbClr val="2A2A2A"/>
              </a:buClr>
              <a:buFont typeface="Arial"/>
              <a:buChar char="•"/>
              <a:tabLst>
                <a:tab pos="985519" algn="l"/>
                <a:tab pos="1941830" algn="l"/>
                <a:tab pos="2301240" algn="l"/>
                <a:tab pos="3130550" algn="l"/>
                <a:tab pos="4791710" algn="l"/>
                <a:tab pos="5958840" algn="l"/>
                <a:tab pos="6708775" algn="l"/>
                <a:tab pos="7672070" algn="l"/>
              </a:tabLst>
            </a:pPr>
            <a:r>
              <a:rPr sz="1900" spc="95" dirty="0">
                <a:solidFill>
                  <a:srgbClr val="2A2A2A"/>
                </a:solidFill>
                <a:latin typeface="Arial"/>
                <a:cs typeface="Arial"/>
              </a:rPr>
              <a:t>Choice	</a:t>
            </a:r>
            <a:r>
              <a:rPr sz="1900" spc="20" dirty="0">
                <a:solidFill>
                  <a:srgbClr val="2A2A2A"/>
                </a:solidFill>
                <a:latin typeface="Arial"/>
                <a:cs typeface="Arial"/>
              </a:rPr>
              <a:t>of	</a:t>
            </a:r>
            <a:r>
              <a:rPr sz="1900" spc="145" dirty="0">
                <a:solidFill>
                  <a:srgbClr val="2A2A2A"/>
                </a:solidFill>
                <a:latin typeface="Arial"/>
                <a:cs typeface="Arial"/>
              </a:rPr>
              <a:t>metal	</a:t>
            </a:r>
            <a:r>
              <a:rPr sz="1900" spc="60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900" spc="100" dirty="0">
                <a:solidFill>
                  <a:srgbClr val="2A2A2A"/>
                </a:solidFill>
                <a:latin typeface="Arial"/>
                <a:cs typeface="Arial"/>
              </a:rPr>
              <a:t>Ag </a:t>
            </a:r>
            <a:r>
              <a:rPr sz="1900" spc="-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2A2A2A"/>
                </a:solidFill>
                <a:latin typeface="Arial"/>
                <a:cs typeface="Arial"/>
              </a:rPr>
              <a:t>stronger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900" spc="-305" dirty="0">
                <a:solidFill>
                  <a:srgbClr val="2A2A2A"/>
                </a:solidFill>
                <a:latin typeface="Arial"/>
                <a:cs typeface="Arial"/>
              </a:rPr>
              <a:t>SE</a:t>
            </a:r>
            <a:r>
              <a:rPr sz="1900" spc="-145" dirty="0">
                <a:solidFill>
                  <a:srgbClr val="2A2A2A"/>
                </a:solidFill>
                <a:latin typeface="Arial"/>
                <a:cs typeface="Arial"/>
              </a:rPr>
              <a:t>RS;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-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-15" dirty="0">
                <a:solidFill>
                  <a:srgbClr val="2A2A2A"/>
                </a:solidFill>
                <a:latin typeface="Arial"/>
                <a:cs typeface="Arial"/>
              </a:rPr>
              <a:t>Au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900" spc="140" dirty="0">
                <a:solidFill>
                  <a:srgbClr val="2A2A2A"/>
                </a:solidFill>
                <a:latin typeface="Arial"/>
                <a:cs typeface="Arial"/>
              </a:rPr>
              <a:t>more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900" spc="90" dirty="0">
                <a:solidFill>
                  <a:srgbClr val="2A2A2A"/>
                </a:solidFill>
                <a:latin typeface="Arial"/>
                <a:cs typeface="Arial"/>
              </a:rPr>
              <a:t>stable</a:t>
            </a:r>
            <a:r>
              <a:rPr sz="1900" spc="75" dirty="0">
                <a:solidFill>
                  <a:srgbClr val="2A2A2A"/>
                </a:solidFill>
                <a:latin typeface="Arial"/>
                <a:cs typeface="Arial"/>
              </a:rPr>
              <a:t>)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1900" spc="80" dirty="0">
                <a:solidFill>
                  <a:srgbClr val="2A2A2A"/>
                </a:solidFill>
                <a:latin typeface="Arial"/>
                <a:cs typeface="Arial"/>
              </a:rPr>
              <a:t>a</a:t>
            </a:r>
            <a:r>
              <a:rPr sz="1900" spc="155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900" spc="105" dirty="0">
                <a:solidFill>
                  <a:srgbClr val="414246"/>
                </a:solidFill>
                <a:latin typeface="Arial"/>
                <a:cs typeface="Arial"/>
              </a:rPr>
              <a:t>f</a:t>
            </a:r>
            <a:r>
              <a:rPr sz="1900" spc="110" dirty="0">
                <a:solidFill>
                  <a:srgbClr val="414246"/>
                </a:solidFill>
                <a:latin typeface="Arial"/>
                <a:cs typeface="Arial"/>
              </a:rPr>
              <a:t>e</a:t>
            </a:r>
            <a:r>
              <a:rPr sz="1900" spc="95" dirty="0">
                <a:solidFill>
                  <a:srgbClr val="2A2A2A"/>
                </a:solidFill>
                <a:latin typeface="Arial"/>
                <a:cs typeface="Arial"/>
              </a:rPr>
              <a:t>cts</a:t>
            </a:r>
            <a:r>
              <a:rPr sz="1900" spc="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75" dirty="0">
                <a:solidFill>
                  <a:srgbClr val="2A2A2A"/>
                </a:solidFill>
                <a:latin typeface="Arial"/>
                <a:cs typeface="Arial"/>
              </a:rPr>
              <a:t>resonance.</a:t>
            </a:r>
            <a:endParaRPr sz="1900">
              <a:latin typeface="Arial"/>
              <a:cs typeface="Arial"/>
            </a:endParaRPr>
          </a:p>
          <a:p>
            <a:pPr marL="932815" indent="-161290">
              <a:lnSpc>
                <a:spcPct val="100000"/>
              </a:lnSpc>
              <a:spcBef>
                <a:spcPts val="285"/>
              </a:spcBef>
              <a:buClr>
                <a:srgbClr val="2A2A2A"/>
              </a:buClr>
              <a:buFont typeface="Arial"/>
              <a:buChar char="•"/>
              <a:tabLst>
                <a:tab pos="933450" algn="l"/>
              </a:tabLst>
            </a:pPr>
            <a:r>
              <a:rPr sz="1900" spc="-35" dirty="0">
                <a:solidFill>
                  <a:srgbClr val="2A2A2A"/>
                </a:solidFill>
                <a:latin typeface="Arial"/>
                <a:cs typeface="Arial"/>
              </a:rPr>
              <a:t>Pa</a:t>
            </a:r>
            <a:r>
              <a:rPr sz="1900" spc="35" dirty="0">
                <a:solidFill>
                  <a:srgbClr val="2A2A2A"/>
                </a:solidFill>
                <a:latin typeface="Arial"/>
                <a:cs typeface="Arial"/>
              </a:rPr>
              <a:t>r</a:t>
            </a:r>
            <a:r>
              <a:rPr sz="1900" spc="80" dirty="0">
                <a:solidFill>
                  <a:srgbClr val="2A2A2A"/>
                </a:solidFill>
                <a:latin typeface="Arial"/>
                <a:cs typeface="Arial"/>
              </a:rPr>
              <a:t>ticle</a:t>
            </a:r>
            <a:r>
              <a:rPr sz="1900" spc="7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14" dirty="0">
                <a:solidFill>
                  <a:srgbClr val="2A2A2A"/>
                </a:solidFill>
                <a:latin typeface="Arial"/>
                <a:cs typeface="Arial"/>
              </a:rPr>
              <a:t>geometry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-2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75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900" spc="90" dirty="0">
                <a:solidFill>
                  <a:srgbClr val="2A2A2A"/>
                </a:solidFill>
                <a:latin typeface="Arial"/>
                <a:cs typeface="Arial"/>
              </a:rPr>
              <a:t>sta</a:t>
            </a:r>
            <a:r>
              <a:rPr sz="1900" spc="175" dirty="0">
                <a:solidFill>
                  <a:srgbClr val="2A2A2A"/>
                </a:solidFill>
                <a:latin typeface="Arial"/>
                <a:cs typeface="Arial"/>
              </a:rPr>
              <a:t>r</a:t>
            </a:r>
            <a:r>
              <a:rPr sz="1900" spc="-65" dirty="0">
                <a:solidFill>
                  <a:srgbClr val="2A2A2A"/>
                </a:solidFill>
                <a:latin typeface="Arial"/>
                <a:cs typeface="Arial"/>
              </a:rPr>
              <a:t>s</a:t>
            </a:r>
            <a:r>
              <a:rPr sz="1900" spc="210" dirty="0">
                <a:solidFill>
                  <a:srgbClr val="2A2A2A"/>
                </a:solidFill>
                <a:latin typeface="Arial"/>
                <a:cs typeface="Arial"/>
              </a:rPr>
              <a:t>,</a:t>
            </a:r>
            <a:r>
              <a:rPr sz="1900" spc="-26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80" dirty="0">
                <a:solidFill>
                  <a:srgbClr val="2A2A2A"/>
                </a:solidFill>
                <a:latin typeface="Arial"/>
                <a:cs typeface="Arial"/>
              </a:rPr>
              <a:t>rod</a:t>
            </a:r>
            <a:r>
              <a:rPr sz="1900" spc="40" dirty="0">
                <a:solidFill>
                  <a:srgbClr val="2A2A2A"/>
                </a:solidFill>
                <a:latin typeface="Arial"/>
                <a:cs typeface="Arial"/>
              </a:rPr>
              <a:t>s</a:t>
            </a:r>
            <a:r>
              <a:rPr sz="1900" spc="400" dirty="0">
                <a:solidFill>
                  <a:srgbClr val="2A2A2A"/>
                </a:solidFill>
                <a:latin typeface="Arial"/>
                <a:cs typeface="Arial"/>
              </a:rPr>
              <a:t>,</a:t>
            </a:r>
            <a:r>
              <a:rPr sz="1900" spc="130" dirty="0">
                <a:solidFill>
                  <a:srgbClr val="2A2A2A"/>
                </a:solidFill>
                <a:latin typeface="Arial"/>
                <a:cs typeface="Arial"/>
              </a:rPr>
              <a:t>gaps)</a:t>
            </a:r>
            <a:r>
              <a:rPr sz="1900" spc="17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70" dirty="0">
                <a:solidFill>
                  <a:srgbClr val="2A2A2A"/>
                </a:solidFill>
                <a:latin typeface="Arial"/>
                <a:cs typeface="Arial"/>
              </a:rPr>
              <a:t>tunes</a:t>
            </a:r>
            <a:r>
              <a:rPr sz="1900" spc="19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05" dirty="0">
                <a:solidFill>
                  <a:srgbClr val="2A2A2A"/>
                </a:solidFill>
                <a:latin typeface="Arial"/>
                <a:cs typeface="Arial"/>
              </a:rPr>
              <a:t>hotspot</a:t>
            </a:r>
            <a:r>
              <a:rPr sz="1900" spc="1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2A2A2A"/>
                </a:solidFill>
                <a:latin typeface="Arial"/>
                <a:cs typeface="Arial"/>
              </a:rPr>
              <a:t>intensity.</a:t>
            </a:r>
            <a:endParaRPr sz="1900">
              <a:latin typeface="Arial"/>
              <a:cs typeface="Arial"/>
            </a:endParaRPr>
          </a:p>
          <a:p>
            <a:pPr marL="762000" marR="17145" indent="9525">
              <a:lnSpc>
                <a:spcPct val="110500"/>
              </a:lnSpc>
              <a:spcBef>
                <a:spcPts val="25"/>
              </a:spcBef>
              <a:buClr>
                <a:srgbClr val="2A2A2A"/>
              </a:buClr>
              <a:buFont typeface="Arial"/>
              <a:buChar char="•"/>
              <a:tabLst>
                <a:tab pos="930275" algn="l"/>
              </a:tabLst>
            </a:pPr>
            <a:r>
              <a:rPr sz="1900" spc="70" dirty="0">
                <a:solidFill>
                  <a:srgbClr val="2A2A2A"/>
                </a:solidFill>
                <a:latin typeface="Arial"/>
                <a:cs typeface="Arial"/>
              </a:rPr>
              <a:t>Substrate</a:t>
            </a:r>
            <a:r>
              <a:rPr sz="1900" spc="1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35" dirty="0">
                <a:solidFill>
                  <a:srgbClr val="2A2A2A"/>
                </a:solidFill>
                <a:latin typeface="Arial"/>
                <a:cs typeface="Arial"/>
              </a:rPr>
              <a:t>un</a:t>
            </a:r>
            <a:r>
              <a:rPr sz="1900" spc="-55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900" spc="-60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900" spc="-3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10" dirty="0">
                <a:solidFill>
                  <a:srgbClr val="2A2A2A"/>
                </a:solidFill>
                <a:latin typeface="Arial"/>
                <a:cs typeface="Arial"/>
              </a:rPr>
              <a:t>ormity</a:t>
            </a:r>
            <a:r>
              <a:rPr sz="1900" spc="8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-135" dirty="0">
                <a:solidFill>
                  <a:srgbClr val="2A2A2A"/>
                </a:solidFill>
                <a:latin typeface="Times New Roman"/>
                <a:cs typeface="Times New Roman"/>
              </a:rPr>
              <a:t>&amp;</a:t>
            </a:r>
            <a:r>
              <a:rPr sz="1900" spc="11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900" spc="70" dirty="0">
                <a:solidFill>
                  <a:srgbClr val="2A2A2A"/>
                </a:solidFill>
                <a:latin typeface="Arial"/>
                <a:cs typeface="Arial"/>
              </a:rPr>
              <a:t>rep</a:t>
            </a:r>
            <a:r>
              <a:rPr sz="1900" spc="165" dirty="0">
                <a:solidFill>
                  <a:srgbClr val="2A2A2A"/>
                </a:solidFill>
                <a:latin typeface="Arial"/>
                <a:cs typeface="Arial"/>
              </a:rPr>
              <a:t>r</a:t>
            </a:r>
            <a:r>
              <a:rPr sz="1900" spc="114" dirty="0">
                <a:solidFill>
                  <a:srgbClr val="2A2A2A"/>
                </a:solidFill>
                <a:latin typeface="Arial"/>
                <a:cs typeface="Arial"/>
              </a:rPr>
              <a:t>oducible</a:t>
            </a:r>
            <a:r>
              <a:rPr sz="1900" spc="9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05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900" spc="145" dirty="0">
                <a:solidFill>
                  <a:srgbClr val="2A2A2A"/>
                </a:solidFill>
                <a:latin typeface="Arial"/>
                <a:cs typeface="Arial"/>
              </a:rPr>
              <a:t>abr</a:t>
            </a:r>
            <a:r>
              <a:rPr sz="1900" spc="80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900" spc="125" dirty="0">
                <a:solidFill>
                  <a:srgbClr val="2A2A2A"/>
                </a:solidFill>
                <a:latin typeface="Arial"/>
                <a:cs typeface="Arial"/>
              </a:rPr>
              <a:t>cation</a:t>
            </a:r>
            <a:r>
              <a:rPr sz="1900" spc="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05" dirty="0">
                <a:solidFill>
                  <a:srgbClr val="2A2A2A"/>
                </a:solidFill>
                <a:latin typeface="Arial"/>
                <a:cs typeface="Arial"/>
              </a:rPr>
              <a:t>are</a:t>
            </a:r>
            <a:r>
              <a:rPr sz="1900" spc="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2A2A2A"/>
                </a:solidFill>
                <a:latin typeface="Arial"/>
                <a:cs typeface="Arial"/>
              </a:rPr>
              <a:t>essential</a:t>
            </a:r>
            <a:r>
              <a:rPr sz="1900" spc="10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14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900" spc="30" dirty="0">
                <a:solidFill>
                  <a:srgbClr val="2A2A2A"/>
                </a:solidFill>
                <a:latin typeface="Arial"/>
                <a:cs typeface="Arial"/>
              </a:rPr>
              <a:t>or</a:t>
            </a:r>
            <a:r>
              <a:rPr sz="1900" spc="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05" dirty="0">
                <a:solidFill>
                  <a:srgbClr val="2A2A2A"/>
                </a:solidFill>
                <a:latin typeface="Arial"/>
                <a:cs typeface="Arial"/>
              </a:rPr>
              <a:t>cl</a:t>
            </a:r>
            <a:r>
              <a:rPr sz="1900" spc="95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900" spc="145" dirty="0">
                <a:solidFill>
                  <a:srgbClr val="2A2A2A"/>
                </a:solidFill>
                <a:latin typeface="Arial"/>
                <a:cs typeface="Arial"/>
              </a:rPr>
              <a:t>n</a:t>
            </a:r>
            <a:r>
              <a:rPr sz="1900" spc="-25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900" spc="135" dirty="0">
                <a:solidFill>
                  <a:srgbClr val="2A2A2A"/>
                </a:solidFill>
                <a:latin typeface="Arial"/>
                <a:cs typeface="Arial"/>
              </a:rPr>
              <a:t>cal</a:t>
            </a:r>
            <a:r>
              <a:rPr sz="1900" spc="3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25" dirty="0">
                <a:solidFill>
                  <a:srgbClr val="2A2A2A"/>
                </a:solidFill>
                <a:latin typeface="Arial"/>
                <a:cs typeface="Arial"/>
              </a:rPr>
              <a:t>use.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Clr>
                <a:srgbClr val="2A2A2A"/>
              </a:buClr>
              <a:buFont typeface="Arial"/>
              <a:buChar char="•"/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700" b="1" spc="-145" dirty="0">
                <a:solidFill>
                  <a:srgbClr val="7279A8"/>
                </a:solidFill>
                <a:latin typeface="Arial"/>
                <a:cs typeface="Arial"/>
              </a:rPr>
              <a:t>Exc</a:t>
            </a:r>
            <a:r>
              <a:rPr sz="2700" b="1" spc="-16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700" b="1" spc="120" dirty="0">
                <a:solidFill>
                  <a:srgbClr val="7279A8"/>
                </a:solidFill>
                <a:latin typeface="Arial"/>
                <a:cs typeface="Arial"/>
              </a:rPr>
              <a:t>tat</a:t>
            </a:r>
            <a:r>
              <a:rPr sz="2700" b="1" spc="105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700" b="1" spc="65" dirty="0">
                <a:solidFill>
                  <a:srgbClr val="7279A8"/>
                </a:solidFill>
                <a:latin typeface="Arial"/>
                <a:cs typeface="Arial"/>
              </a:rPr>
              <a:t>on</a:t>
            </a:r>
            <a:r>
              <a:rPr sz="2700" b="1" spc="-180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700" b="1" spc="75" dirty="0">
                <a:solidFill>
                  <a:srgbClr val="7279A8"/>
                </a:solidFill>
                <a:latin typeface="Arial"/>
                <a:cs typeface="Arial"/>
              </a:rPr>
              <a:t>Wavelength</a:t>
            </a:r>
            <a:r>
              <a:rPr sz="2700" b="1" spc="215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550" b="1" spc="40" dirty="0">
                <a:solidFill>
                  <a:srgbClr val="7279A8"/>
                </a:solidFill>
                <a:latin typeface="Times New Roman"/>
                <a:cs typeface="Times New Roman"/>
              </a:rPr>
              <a:t>&amp;</a:t>
            </a:r>
            <a:r>
              <a:rPr sz="2550" b="1" spc="-45" dirty="0">
                <a:solidFill>
                  <a:srgbClr val="7279A8"/>
                </a:solidFill>
                <a:latin typeface="Times New Roman"/>
                <a:cs typeface="Times New Roman"/>
              </a:rPr>
              <a:t> </a:t>
            </a:r>
            <a:r>
              <a:rPr sz="2700" b="1" spc="40" dirty="0">
                <a:solidFill>
                  <a:srgbClr val="7279A8"/>
                </a:solidFill>
                <a:latin typeface="Arial"/>
                <a:cs typeface="Arial"/>
              </a:rPr>
              <a:t>Pract</a:t>
            </a:r>
            <a:r>
              <a:rPr sz="2700" b="1" spc="-75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700" b="1" spc="110" dirty="0">
                <a:solidFill>
                  <a:srgbClr val="7279A8"/>
                </a:solidFill>
                <a:latin typeface="Arial"/>
                <a:cs typeface="Arial"/>
              </a:rPr>
              <a:t>cal</a:t>
            </a:r>
            <a:r>
              <a:rPr sz="2700" b="1" spc="-150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7279A8"/>
                </a:solidFill>
                <a:latin typeface="Arial"/>
                <a:cs typeface="Arial"/>
              </a:rPr>
              <a:t>Cons</a:t>
            </a:r>
            <a:r>
              <a:rPr sz="2700" b="1" spc="4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700" b="1" spc="105" dirty="0">
                <a:solidFill>
                  <a:srgbClr val="7279A8"/>
                </a:solidFill>
                <a:latin typeface="Arial"/>
                <a:cs typeface="Arial"/>
              </a:rPr>
              <a:t>derat</a:t>
            </a:r>
            <a:r>
              <a:rPr sz="2700" b="1" spc="65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700" b="1" dirty="0">
                <a:solidFill>
                  <a:srgbClr val="7279A8"/>
                </a:solidFill>
                <a:latin typeface="Arial"/>
                <a:cs typeface="Arial"/>
              </a:rPr>
              <a:t>ons</a:t>
            </a:r>
            <a:endParaRPr sz="2700">
              <a:latin typeface="Arial"/>
              <a:cs typeface="Arial"/>
            </a:endParaRPr>
          </a:p>
          <a:p>
            <a:pPr marL="759460" marR="49530" indent="12065">
              <a:lnSpc>
                <a:spcPct val="114700"/>
              </a:lnSpc>
              <a:spcBef>
                <a:spcPts val="605"/>
              </a:spcBef>
              <a:buClr>
                <a:srgbClr val="2A2A2A"/>
              </a:buClr>
              <a:buFont typeface="Arial"/>
              <a:buChar char="•"/>
              <a:tabLst>
                <a:tab pos="924560" algn="l"/>
              </a:tabLst>
            </a:pPr>
            <a:r>
              <a:rPr sz="1900" spc="175" dirty="0">
                <a:solidFill>
                  <a:srgbClr val="2A2A2A"/>
                </a:solidFill>
                <a:latin typeface="Arial"/>
                <a:cs typeface="Arial"/>
              </a:rPr>
              <a:t>Common</a:t>
            </a:r>
            <a:r>
              <a:rPr sz="1900" spc="1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2A2A2A"/>
                </a:solidFill>
                <a:latin typeface="Arial"/>
                <a:cs typeface="Arial"/>
              </a:rPr>
              <a:t>lase</a:t>
            </a:r>
            <a:r>
              <a:rPr sz="1900" spc="150" dirty="0">
                <a:solidFill>
                  <a:srgbClr val="2A2A2A"/>
                </a:solidFill>
                <a:latin typeface="Arial"/>
                <a:cs typeface="Arial"/>
              </a:rPr>
              <a:t>r</a:t>
            </a:r>
            <a:r>
              <a:rPr sz="1900" spc="-55" dirty="0">
                <a:solidFill>
                  <a:srgbClr val="2A2A2A"/>
                </a:solidFill>
                <a:latin typeface="Arial"/>
                <a:cs typeface="Arial"/>
              </a:rPr>
              <a:t>s: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30" dirty="0">
                <a:solidFill>
                  <a:srgbClr val="2A2A2A"/>
                </a:solidFill>
                <a:latin typeface="Arial"/>
                <a:cs typeface="Arial"/>
              </a:rPr>
              <a:t>532</a:t>
            </a:r>
            <a:r>
              <a:rPr sz="1900" spc="7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210" dirty="0">
                <a:solidFill>
                  <a:srgbClr val="2A2A2A"/>
                </a:solidFill>
                <a:latin typeface="Arial"/>
                <a:cs typeface="Arial"/>
              </a:rPr>
              <a:t>nm</a:t>
            </a:r>
            <a:r>
              <a:rPr sz="1900" spc="8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75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900" spc="100" dirty="0">
                <a:solidFill>
                  <a:srgbClr val="2A2A2A"/>
                </a:solidFill>
                <a:latin typeface="Arial"/>
                <a:cs typeface="Arial"/>
              </a:rPr>
              <a:t>resonant</a:t>
            </a:r>
            <a:r>
              <a:rPr sz="1900" spc="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90" dirty="0">
                <a:solidFill>
                  <a:srgbClr val="2A2A2A"/>
                </a:solidFill>
                <a:latin typeface="Arial"/>
                <a:cs typeface="Arial"/>
              </a:rPr>
              <a:t>dyes)</a:t>
            </a:r>
            <a:r>
              <a:rPr sz="1900" spc="45" dirty="0">
                <a:solidFill>
                  <a:srgbClr val="2A2A2A"/>
                </a:solidFill>
                <a:latin typeface="Arial"/>
                <a:cs typeface="Arial"/>
              </a:rPr>
              <a:t>,</a:t>
            </a:r>
            <a:r>
              <a:rPr sz="1900" spc="20" dirty="0">
                <a:solidFill>
                  <a:srgbClr val="2A2A2A"/>
                </a:solidFill>
                <a:latin typeface="Arial"/>
                <a:cs typeface="Arial"/>
              </a:rPr>
              <a:t> 633</a:t>
            </a:r>
            <a:r>
              <a:rPr sz="1900" spc="1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65" dirty="0">
                <a:solidFill>
                  <a:srgbClr val="2A2A2A"/>
                </a:solidFill>
                <a:latin typeface="Arial"/>
                <a:cs typeface="Arial"/>
              </a:rPr>
              <a:t>n</a:t>
            </a:r>
            <a:r>
              <a:rPr sz="1900" spc="160" dirty="0">
                <a:solidFill>
                  <a:srgbClr val="2A2A2A"/>
                </a:solidFill>
                <a:latin typeface="Arial"/>
                <a:cs typeface="Arial"/>
              </a:rPr>
              <a:t>m</a:t>
            </a:r>
            <a:r>
              <a:rPr sz="1900" spc="400" dirty="0">
                <a:solidFill>
                  <a:srgbClr val="2A2A2A"/>
                </a:solidFill>
                <a:latin typeface="Arial"/>
                <a:cs typeface="Arial"/>
              </a:rPr>
              <a:t>,</a:t>
            </a:r>
            <a:r>
              <a:rPr sz="1900" spc="40" dirty="0">
                <a:solidFill>
                  <a:srgbClr val="2A2A2A"/>
                </a:solidFill>
                <a:latin typeface="Arial"/>
                <a:cs typeface="Arial"/>
              </a:rPr>
              <a:t>785</a:t>
            </a:r>
            <a:r>
              <a:rPr sz="1900" spc="1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220" dirty="0">
                <a:solidFill>
                  <a:srgbClr val="2A2A2A"/>
                </a:solidFill>
                <a:latin typeface="Arial"/>
                <a:cs typeface="Arial"/>
              </a:rPr>
              <a:t>nm</a:t>
            </a:r>
            <a:r>
              <a:rPr sz="1900" spc="8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60" dirty="0">
                <a:solidFill>
                  <a:srgbClr val="2A2A2A"/>
                </a:solidFill>
                <a:latin typeface="Arial"/>
                <a:cs typeface="Arial"/>
              </a:rPr>
              <a:t>(b</a:t>
            </a:r>
            <a:r>
              <a:rPr sz="1900" spc="15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1900" spc="190" dirty="0">
                <a:solidFill>
                  <a:srgbClr val="2A2A2A"/>
                </a:solidFill>
                <a:latin typeface="Arial"/>
                <a:cs typeface="Arial"/>
              </a:rPr>
              <a:t>o­</a:t>
            </a:r>
            <a:r>
              <a:rPr sz="1900" spc="1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900" spc="-2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85" dirty="0">
                <a:solidFill>
                  <a:srgbClr val="2A2A2A"/>
                </a:solidFill>
                <a:latin typeface="Arial"/>
                <a:cs typeface="Arial"/>
              </a:rPr>
              <a:t>riendly)</a:t>
            </a:r>
            <a:r>
              <a:rPr sz="1900" spc="50" dirty="0">
                <a:solidFill>
                  <a:srgbClr val="2A2A2A"/>
                </a:solidFill>
                <a:latin typeface="Arial"/>
                <a:cs typeface="Arial"/>
              </a:rPr>
              <a:t>,</a:t>
            </a:r>
            <a:r>
              <a:rPr sz="1900" spc="-11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1064</a:t>
            </a:r>
            <a:r>
              <a:rPr sz="1900" spc="-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220" dirty="0">
                <a:solidFill>
                  <a:srgbClr val="2A2A2A"/>
                </a:solidFill>
                <a:latin typeface="Arial"/>
                <a:cs typeface="Arial"/>
              </a:rPr>
              <a:t>nm</a:t>
            </a:r>
            <a:r>
              <a:rPr sz="1900" spc="5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14" dirty="0">
                <a:solidFill>
                  <a:srgbClr val="2A2A2A"/>
                </a:solidFill>
                <a:latin typeface="Arial"/>
                <a:cs typeface="Arial"/>
              </a:rPr>
              <a:t>(high</a:t>
            </a:r>
            <a:r>
              <a:rPr sz="1900" spc="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90" dirty="0">
                <a:solidFill>
                  <a:srgbClr val="2A2A2A"/>
                </a:solidFill>
                <a:latin typeface="Arial"/>
                <a:cs typeface="Arial"/>
              </a:rPr>
              <a:t>autof</a:t>
            </a:r>
            <a:r>
              <a:rPr sz="1900" spc="-24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90" dirty="0">
                <a:solidFill>
                  <a:srgbClr val="2A2A2A"/>
                </a:solidFill>
                <a:latin typeface="Arial"/>
                <a:cs typeface="Arial"/>
              </a:rPr>
              <a:t>luorescence</a:t>
            </a:r>
            <a:r>
              <a:rPr sz="1900" spc="1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14" dirty="0">
                <a:solidFill>
                  <a:srgbClr val="2A2A2A"/>
                </a:solidFill>
                <a:latin typeface="Arial"/>
                <a:cs typeface="Arial"/>
              </a:rPr>
              <a:t>samples)</a:t>
            </a:r>
            <a:r>
              <a:rPr sz="1900" spc="55" dirty="0">
                <a:solidFill>
                  <a:srgbClr val="2A2A2A"/>
                </a:solid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  <a:p>
            <a:pPr marL="932815" indent="-161290">
              <a:lnSpc>
                <a:spcPct val="100000"/>
              </a:lnSpc>
              <a:spcBef>
                <a:spcPts val="60"/>
              </a:spcBef>
              <a:buClr>
                <a:srgbClr val="2A2A2A"/>
              </a:buClr>
              <a:buFont typeface="Arial"/>
              <a:buChar char="•"/>
              <a:tabLst>
                <a:tab pos="933450" algn="l"/>
              </a:tabLst>
            </a:pPr>
            <a:r>
              <a:rPr sz="1900" spc="60" dirty="0">
                <a:solidFill>
                  <a:srgbClr val="2A2A2A"/>
                </a:solidFill>
                <a:latin typeface="Arial"/>
                <a:cs typeface="Arial"/>
              </a:rPr>
              <a:t>Balance:</a:t>
            </a:r>
            <a:r>
              <a:rPr sz="1900" spc="-4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65" dirty="0">
                <a:solidFill>
                  <a:srgbClr val="2A2A2A"/>
                </a:solidFill>
                <a:latin typeface="Arial"/>
                <a:cs typeface="Arial"/>
              </a:rPr>
              <a:t>stronger</a:t>
            </a:r>
            <a:r>
              <a:rPr sz="1900" spc="2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95" dirty="0">
                <a:solidFill>
                  <a:srgbClr val="2A2A2A"/>
                </a:solidFill>
                <a:latin typeface="Arial"/>
                <a:cs typeface="Arial"/>
              </a:rPr>
              <a:t>scattering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-2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2A2A2A"/>
                </a:solidFill>
                <a:latin typeface="Arial"/>
                <a:cs typeface="Arial"/>
              </a:rPr>
              <a:t>(</a:t>
            </a:r>
            <a:r>
              <a:rPr sz="1900" spc="75" dirty="0">
                <a:solidFill>
                  <a:srgbClr val="2A2A2A"/>
                </a:solidFill>
                <a:latin typeface="Arial"/>
                <a:cs typeface="Arial"/>
              </a:rPr>
              <a:t>shorter</a:t>
            </a:r>
            <a:r>
              <a:rPr sz="1900" spc="4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2150" i="1" spc="-5" dirty="0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sz="2150" i="1" dirty="0">
                <a:solidFill>
                  <a:srgbClr val="2A2A2A"/>
                </a:solidFill>
                <a:latin typeface="Arial"/>
                <a:cs typeface="Arial"/>
              </a:rPr>
              <a:t>\</a:t>
            </a:r>
            <a:r>
              <a:rPr sz="2150" i="1" spc="-155" dirty="0">
                <a:solidFill>
                  <a:srgbClr val="2A2A2A"/>
                </a:solidFill>
                <a:latin typeface="Arial"/>
                <a:cs typeface="Arial"/>
              </a:rPr>
              <a:t>)</a:t>
            </a:r>
            <a:r>
              <a:rPr sz="2150" i="1" spc="15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A2A2A"/>
                </a:solidFill>
                <a:latin typeface="Arial"/>
                <a:cs typeface="Arial"/>
              </a:rPr>
              <a:t>vs.</a:t>
            </a:r>
            <a:endParaRPr sz="1900">
              <a:latin typeface="Arial"/>
              <a:cs typeface="Arial"/>
            </a:endParaRPr>
          </a:p>
          <a:p>
            <a:pPr marL="759460">
              <a:lnSpc>
                <a:spcPct val="100000"/>
              </a:lnSpc>
              <a:spcBef>
                <a:spcPts val="285"/>
              </a:spcBef>
            </a:pPr>
            <a:r>
              <a:rPr sz="1900" spc="-85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900" spc="-26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85" dirty="0">
                <a:solidFill>
                  <a:srgbClr val="2A2A2A"/>
                </a:solidFill>
                <a:latin typeface="Arial"/>
                <a:cs typeface="Arial"/>
              </a:rPr>
              <a:t>luorescence/</a:t>
            </a:r>
            <a:r>
              <a:rPr sz="1900" spc="-1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20" dirty="0">
                <a:solidFill>
                  <a:srgbClr val="2A2A2A"/>
                </a:solidFill>
                <a:latin typeface="Arial"/>
                <a:cs typeface="Arial"/>
              </a:rPr>
              <a:t>backg</a:t>
            </a:r>
            <a:r>
              <a:rPr sz="1900" spc="215" dirty="0">
                <a:solidFill>
                  <a:srgbClr val="2A2A2A"/>
                </a:solidFill>
                <a:latin typeface="Arial"/>
                <a:cs typeface="Arial"/>
              </a:rPr>
              <a:t>r</a:t>
            </a:r>
            <a:r>
              <a:rPr sz="1900" spc="135" dirty="0">
                <a:solidFill>
                  <a:srgbClr val="2A2A2A"/>
                </a:solidFill>
                <a:latin typeface="Arial"/>
                <a:cs typeface="Arial"/>
              </a:rPr>
              <a:t>ound</a:t>
            </a:r>
            <a:r>
              <a:rPr sz="1900" spc="4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65" dirty="0">
                <a:solidFill>
                  <a:srgbClr val="2A2A2A"/>
                </a:solidFill>
                <a:latin typeface="Arial"/>
                <a:cs typeface="Arial"/>
              </a:rPr>
              <a:t>and</a:t>
            </a:r>
            <a:r>
              <a:rPr sz="1900" spc="1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30" dirty="0">
                <a:solidFill>
                  <a:srgbClr val="2A2A2A"/>
                </a:solidFill>
                <a:latin typeface="Arial"/>
                <a:cs typeface="Arial"/>
              </a:rPr>
              <a:t>sample</a:t>
            </a:r>
            <a:r>
              <a:rPr sz="1900" spc="18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90" dirty="0">
                <a:solidFill>
                  <a:srgbClr val="2A2A2A"/>
                </a:solidFill>
                <a:latin typeface="Arial"/>
                <a:cs typeface="Arial"/>
              </a:rPr>
              <a:t>heating.</a:t>
            </a:r>
            <a:endParaRPr sz="1900">
              <a:latin typeface="Arial"/>
              <a:cs typeface="Arial"/>
            </a:endParaRPr>
          </a:p>
          <a:p>
            <a:pPr marL="765175" marR="309245" indent="9525">
              <a:lnSpc>
                <a:spcPct val="113700"/>
              </a:lnSpc>
              <a:buClr>
                <a:srgbClr val="2A2A2A"/>
              </a:buClr>
              <a:buFont typeface="Arial"/>
              <a:buChar char="•"/>
              <a:tabLst>
                <a:tab pos="933450" algn="l"/>
              </a:tabLst>
            </a:pPr>
            <a:r>
              <a:rPr sz="1900" spc="-10" dirty="0">
                <a:solidFill>
                  <a:srgbClr val="2A2A2A"/>
                </a:solidFill>
                <a:latin typeface="Arial"/>
                <a:cs typeface="Arial"/>
              </a:rPr>
              <a:t>Laser</a:t>
            </a:r>
            <a:r>
              <a:rPr sz="1900" spc="16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90" dirty="0">
                <a:solidFill>
                  <a:srgbClr val="2A2A2A"/>
                </a:solidFill>
                <a:latin typeface="Arial"/>
                <a:cs typeface="Arial"/>
              </a:rPr>
              <a:t>power</a:t>
            </a:r>
            <a:r>
              <a:rPr sz="1900" spc="1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55" dirty="0">
                <a:solidFill>
                  <a:srgbClr val="2A2A2A"/>
                </a:solidFill>
                <a:latin typeface="Arial"/>
                <a:cs typeface="Arial"/>
              </a:rPr>
              <a:t>and</a:t>
            </a:r>
            <a:r>
              <a:rPr sz="1900" spc="2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75" dirty="0">
                <a:solidFill>
                  <a:srgbClr val="2A2A2A"/>
                </a:solidFill>
                <a:latin typeface="Arial"/>
                <a:cs typeface="Arial"/>
              </a:rPr>
              <a:t>exposure</a:t>
            </a:r>
            <a:r>
              <a:rPr sz="1900" spc="5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30" dirty="0">
                <a:solidFill>
                  <a:srgbClr val="2A2A2A"/>
                </a:solidFill>
                <a:latin typeface="Arial"/>
                <a:cs typeface="Arial"/>
              </a:rPr>
              <a:t>time </a:t>
            </a:r>
            <a:r>
              <a:rPr sz="1900" spc="120" dirty="0">
                <a:solidFill>
                  <a:srgbClr val="2A2A2A"/>
                </a:solidFill>
                <a:latin typeface="Arial"/>
                <a:cs typeface="Arial"/>
              </a:rPr>
              <a:t>must</a:t>
            </a:r>
            <a:r>
              <a:rPr sz="1900" spc="10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45" dirty="0">
                <a:solidFill>
                  <a:srgbClr val="2A2A2A"/>
                </a:solidFill>
                <a:latin typeface="Arial"/>
                <a:cs typeface="Arial"/>
              </a:rPr>
              <a:t>be</a:t>
            </a:r>
            <a:r>
              <a:rPr sz="1900" spc="-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95" dirty="0">
                <a:solidFill>
                  <a:srgbClr val="2A2A2A"/>
                </a:solidFill>
                <a:latin typeface="Arial"/>
                <a:cs typeface="Arial"/>
              </a:rPr>
              <a:t>optimized</a:t>
            </a:r>
            <a:r>
              <a:rPr sz="1900" spc="8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105" dirty="0">
                <a:solidFill>
                  <a:srgbClr val="2A2A2A"/>
                </a:solidFill>
                <a:latin typeface="Arial"/>
                <a:cs typeface="Arial"/>
              </a:rPr>
              <a:t>f</a:t>
            </a:r>
            <a:r>
              <a:rPr sz="1900" spc="40" dirty="0">
                <a:solidFill>
                  <a:srgbClr val="2A2A2A"/>
                </a:solidFill>
                <a:latin typeface="Arial"/>
                <a:cs typeface="Arial"/>
              </a:rPr>
              <a:t>or</a:t>
            </a:r>
            <a:r>
              <a:rPr sz="1900" spc="9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90" dirty="0">
                <a:solidFill>
                  <a:srgbClr val="2A2A2A"/>
                </a:solidFill>
                <a:latin typeface="Arial"/>
                <a:cs typeface="Arial"/>
              </a:rPr>
              <a:t>clinical</a:t>
            </a:r>
            <a:r>
              <a:rPr sz="1900" spc="6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900" spc="85" dirty="0">
                <a:solidFill>
                  <a:srgbClr val="2A2A2A"/>
                </a:solidFill>
                <a:latin typeface="Arial"/>
                <a:cs typeface="Arial"/>
              </a:rPr>
              <a:t>samples.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687" y="4011167"/>
            <a:ext cx="6327648" cy="1231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815071" y="3133344"/>
            <a:ext cx="2194560" cy="1353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3407" y="4218432"/>
            <a:ext cx="743711" cy="3779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93407" y="5023103"/>
            <a:ext cx="1670303" cy="5974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78240" y="4876800"/>
            <a:ext cx="1072896" cy="4998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1372" y="3090672"/>
            <a:ext cx="0" cy="939165"/>
          </a:xfrm>
          <a:custGeom>
            <a:avLst/>
            <a:gdLst/>
            <a:ahLst/>
            <a:cxnLst/>
            <a:rect l="l" t="t" r="r" b="b"/>
            <a:pathLst>
              <a:path h="939164">
                <a:moveTo>
                  <a:pt x="0" y="938783"/>
                </a:moveTo>
                <a:lnTo>
                  <a:pt x="0" y="0"/>
                </a:lnTo>
              </a:path>
            </a:pathLst>
          </a:custGeom>
          <a:ln w="15240">
            <a:solidFill>
              <a:srgbClr val="6767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17164" y="2843783"/>
            <a:ext cx="0" cy="1186180"/>
          </a:xfrm>
          <a:custGeom>
            <a:avLst/>
            <a:gdLst/>
            <a:ahLst/>
            <a:cxnLst/>
            <a:rect l="l" t="t" r="r" b="b"/>
            <a:pathLst>
              <a:path h="1186179">
                <a:moveTo>
                  <a:pt x="0" y="1185672"/>
                </a:moveTo>
                <a:lnTo>
                  <a:pt x="0" y="0"/>
                </a:lnTo>
              </a:path>
            </a:pathLst>
          </a:custGeom>
          <a:ln w="15240">
            <a:solidFill>
              <a:srgbClr val="6767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6003" y="3255264"/>
            <a:ext cx="0" cy="774700"/>
          </a:xfrm>
          <a:custGeom>
            <a:avLst/>
            <a:gdLst/>
            <a:ahLst/>
            <a:cxnLst/>
            <a:rect l="l" t="t" r="r" b="b"/>
            <a:pathLst>
              <a:path h="774700">
                <a:moveTo>
                  <a:pt x="0" y="774191"/>
                </a:moveTo>
                <a:lnTo>
                  <a:pt x="0" y="0"/>
                </a:lnTo>
              </a:path>
            </a:pathLst>
          </a:custGeom>
          <a:ln w="15240">
            <a:solidFill>
              <a:srgbClr val="6767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79676" y="5224271"/>
            <a:ext cx="0" cy="1179830"/>
          </a:xfrm>
          <a:custGeom>
            <a:avLst/>
            <a:gdLst/>
            <a:ahLst/>
            <a:cxnLst/>
            <a:rect l="l" t="t" r="r" b="b"/>
            <a:pathLst>
              <a:path h="1179829">
                <a:moveTo>
                  <a:pt x="0" y="1179576"/>
                </a:moveTo>
                <a:lnTo>
                  <a:pt x="0" y="0"/>
                </a:lnTo>
              </a:path>
            </a:pathLst>
          </a:custGeom>
          <a:ln w="15240">
            <a:solidFill>
              <a:srgbClr val="6467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25467" y="5224271"/>
            <a:ext cx="0" cy="932815"/>
          </a:xfrm>
          <a:custGeom>
            <a:avLst/>
            <a:gdLst/>
            <a:ahLst/>
            <a:cxnLst/>
            <a:rect l="l" t="t" r="r" b="b"/>
            <a:pathLst>
              <a:path h="932814">
                <a:moveTo>
                  <a:pt x="0" y="932688"/>
                </a:moveTo>
                <a:lnTo>
                  <a:pt x="0" y="0"/>
                </a:lnTo>
              </a:path>
            </a:pathLst>
          </a:custGeom>
          <a:ln w="15240">
            <a:solidFill>
              <a:srgbClr val="646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24471" y="3153155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87" y="0"/>
                </a:lnTo>
              </a:path>
            </a:pathLst>
          </a:custGeom>
          <a:ln w="15240">
            <a:solidFill>
              <a:srgbClr val="4F4F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994392" y="3282696"/>
            <a:ext cx="0" cy="2216150"/>
          </a:xfrm>
          <a:custGeom>
            <a:avLst/>
            <a:gdLst/>
            <a:ahLst/>
            <a:cxnLst/>
            <a:rect l="l" t="t" r="r" b="b"/>
            <a:pathLst>
              <a:path h="2216150">
                <a:moveTo>
                  <a:pt x="0" y="2215895"/>
                </a:moveTo>
                <a:lnTo>
                  <a:pt x="0" y="0"/>
                </a:lnTo>
              </a:path>
            </a:pathLst>
          </a:custGeom>
          <a:ln w="6096">
            <a:solidFill>
              <a:srgbClr val="606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97040" y="5682996"/>
            <a:ext cx="3112135" cy="0"/>
          </a:xfrm>
          <a:custGeom>
            <a:avLst/>
            <a:gdLst/>
            <a:ahLst/>
            <a:cxnLst/>
            <a:rect l="l" t="t" r="r" b="b"/>
            <a:pathLst>
              <a:path w="3112134">
                <a:moveTo>
                  <a:pt x="0" y="0"/>
                </a:moveTo>
                <a:lnTo>
                  <a:pt x="3112007" y="0"/>
                </a:lnTo>
              </a:path>
            </a:pathLst>
          </a:custGeom>
          <a:ln w="9144">
            <a:solidFill>
              <a:srgbClr val="28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2619" y="1352543"/>
            <a:ext cx="8782050" cy="577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 marR="5080" indent="-744220">
              <a:lnSpc>
                <a:spcPct val="123400"/>
              </a:lnSpc>
            </a:pPr>
            <a:r>
              <a:rPr sz="1750" b="1" spc="40" dirty="0">
                <a:latin typeface="Arial"/>
                <a:cs typeface="Arial"/>
              </a:rPr>
              <a:t>Objective:</a:t>
            </a:r>
            <a:r>
              <a:rPr sz="1750" b="1" spc="80" dirty="0">
                <a:latin typeface="Arial"/>
                <a:cs typeface="Arial"/>
              </a:rPr>
              <a:t> </a:t>
            </a:r>
            <a:r>
              <a:rPr sz="1750" b="1" spc="-75" dirty="0">
                <a:latin typeface="Arial"/>
                <a:cs typeface="Arial"/>
              </a:rPr>
              <a:t>To</a:t>
            </a:r>
            <a:r>
              <a:rPr sz="1750" b="1" spc="145" dirty="0">
                <a:latin typeface="Arial"/>
                <a:cs typeface="Arial"/>
              </a:rPr>
              <a:t> </a:t>
            </a:r>
            <a:r>
              <a:rPr sz="1750" b="1" spc="120" dirty="0">
                <a:latin typeface="Arial"/>
                <a:cs typeface="Arial"/>
              </a:rPr>
              <a:t>d</a:t>
            </a:r>
            <a:r>
              <a:rPr sz="1750" b="1" spc="75" dirty="0">
                <a:latin typeface="Arial"/>
                <a:cs typeface="Arial"/>
              </a:rPr>
              <a:t>eve</a:t>
            </a:r>
            <a:r>
              <a:rPr sz="1750" b="1" spc="65" dirty="0">
                <a:latin typeface="Arial"/>
                <a:cs typeface="Arial"/>
              </a:rPr>
              <a:t>l</a:t>
            </a:r>
            <a:r>
              <a:rPr sz="1750" b="1" spc="40" dirty="0">
                <a:latin typeface="Arial"/>
                <a:cs typeface="Arial"/>
              </a:rPr>
              <a:t>op</a:t>
            </a:r>
            <a:r>
              <a:rPr sz="1750" b="1" spc="55" dirty="0">
                <a:latin typeface="Arial"/>
                <a:cs typeface="Arial"/>
              </a:rPr>
              <a:t> </a:t>
            </a:r>
            <a:r>
              <a:rPr sz="1750" b="1" spc="45" dirty="0">
                <a:latin typeface="Arial"/>
                <a:cs typeface="Arial"/>
              </a:rPr>
              <a:t>a</a:t>
            </a:r>
            <a:r>
              <a:rPr sz="1750" b="1" spc="75" dirty="0">
                <a:latin typeface="Arial"/>
                <a:cs typeface="Arial"/>
              </a:rPr>
              <a:t> </a:t>
            </a:r>
            <a:r>
              <a:rPr sz="1750" b="1" spc="50" dirty="0">
                <a:latin typeface="Arial"/>
                <a:cs typeface="Arial"/>
              </a:rPr>
              <a:t>reproducible</a:t>
            </a:r>
            <a:r>
              <a:rPr sz="1750" b="1" dirty="0">
                <a:latin typeface="Arial"/>
                <a:cs typeface="Arial"/>
              </a:rPr>
              <a:t> </a:t>
            </a:r>
            <a:r>
              <a:rPr sz="1750" b="1" spc="-210" dirty="0">
                <a:latin typeface="Arial"/>
                <a:cs typeface="Arial"/>
              </a:rPr>
              <a:t> </a:t>
            </a:r>
            <a:r>
              <a:rPr sz="1750" b="1" spc="170" dirty="0">
                <a:latin typeface="Arial"/>
                <a:cs typeface="Arial"/>
              </a:rPr>
              <a:t>p</a:t>
            </a:r>
            <a:r>
              <a:rPr sz="1750" b="1" spc="-40" dirty="0">
                <a:latin typeface="Arial"/>
                <a:cs typeface="Arial"/>
              </a:rPr>
              <a:t>l</a:t>
            </a:r>
            <a:r>
              <a:rPr sz="1750" b="1" spc="20" dirty="0">
                <a:latin typeface="Arial"/>
                <a:cs typeface="Arial"/>
              </a:rPr>
              <a:t>asmonic</a:t>
            </a:r>
            <a:r>
              <a:rPr sz="1750" b="1" spc="170" dirty="0">
                <a:latin typeface="Arial"/>
                <a:cs typeface="Arial"/>
              </a:rPr>
              <a:t> </a:t>
            </a:r>
            <a:r>
              <a:rPr sz="1750" b="1" spc="40" dirty="0">
                <a:latin typeface="Arial"/>
                <a:cs typeface="Arial"/>
              </a:rPr>
              <a:t>substrate</a:t>
            </a:r>
            <a:r>
              <a:rPr sz="1750" b="1" spc="215" dirty="0">
                <a:latin typeface="Arial"/>
                <a:cs typeface="Arial"/>
              </a:rPr>
              <a:t> </a:t>
            </a:r>
            <a:r>
              <a:rPr sz="1750" b="1" spc="40" dirty="0">
                <a:latin typeface="Arial"/>
                <a:cs typeface="Arial"/>
              </a:rPr>
              <a:t>with</a:t>
            </a:r>
            <a:r>
              <a:rPr sz="1750" b="1" spc="150" dirty="0">
                <a:latin typeface="Arial"/>
                <a:cs typeface="Arial"/>
              </a:rPr>
              <a:t> </a:t>
            </a:r>
            <a:r>
              <a:rPr sz="1750" b="1" spc="45" dirty="0">
                <a:latin typeface="Arial"/>
                <a:cs typeface="Arial"/>
              </a:rPr>
              <a:t>strong</a:t>
            </a:r>
            <a:r>
              <a:rPr sz="1750" b="1" spc="130" dirty="0">
                <a:latin typeface="Arial"/>
                <a:cs typeface="Arial"/>
              </a:rPr>
              <a:t> </a:t>
            </a:r>
            <a:r>
              <a:rPr sz="1750" b="1" spc="-140" dirty="0">
                <a:latin typeface="Arial"/>
                <a:cs typeface="Arial"/>
              </a:rPr>
              <a:t>R</a:t>
            </a:r>
            <a:r>
              <a:rPr sz="1750" b="1" spc="45" dirty="0">
                <a:latin typeface="Arial"/>
                <a:cs typeface="Arial"/>
              </a:rPr>
              <a:t>aman</a:t>
            </a:r>
            <a:r>
              <a:rPr sz="1750" b="1" spc="15" dirty="0">
                <a:latin typeface="Arial"/>
                <a:cs typeface="Arial"/>
              </a:rPr>
              <a:t> </a:t>
            </a:r>
            <a:r>
              <a:rPr sz="1750" b="1" spc="70" dirty="0">
                <a:latin typeface="Arial"/>
                <a:cs typeface="Arial"/>
              </a:rPr>
              <a:t>enhancement</a:t>
            </a:r>
            <a:r>
              <a:rPr sz="1750" b="1" spc="150" dirty="0">
                <a:latin typeface="Arial"/>
                <a:cs typeface="Arial"/>
              </a:rPr>
              <a:t> </a:t>
            </a:r>
            <a:r>
              <a:rPr sz="1750" b="1" spc="45" dirty="0">
                <a:latin typeface="Arial"/>
                <a:cs typeface="Arial"/>
              </a:rPr>
              <a:t>for</a:t>
            </a:r>
            <a:r>
              <a:rPr sz="1750" b="1" spc="235" dirty="0">
                <a:latin typeface="Arial"/>
                <a:cs typeface="Arial"/>
              </a:rPr>
              <a:t> </a:t>
            </a:r>
            <a:r>
              <a:rPr sz="1750" b="1" spc="60" dirty="0">
                <a:latin typeface="Arial"/>
                <a:cs typeface="Arial"/>
              </a:rPr>
              <a:t>bacterial</a:t>
            </a:r>
            <a:r>
              <a:rPr sz="1750" b="1" spc="95" dirty="0">
                <a:latin typeface="Arial"/>
                <a:cs typeface="Arial"/>
              </a:rPr>
              <a:t> </a:t>
            </a:r>
            <a:r>
              <a:rPr sz="1750" b="1" spc="15" dirty="0">
                <a:latin typeface="Arial"/>
                <a:cs typeface="Arial"/>
              </a:rPr>
              <a:t>bi</a:t>
            </a:r>
            <a:r>
              <a:rPr sz="1750" b="1" spc="175" dirty="0">
                <a:latin typeface="Arial"/>
                <a:cs typeface="Arial"/>
              </a:rPr>
              <a:t>o</a:t>
            </a:r>
            <a:r>
              <a:rPr sz="1750" b="1" spc="35" dirty="0">
                <a:latin typeface="Arial"/>
                <a:cs typeface="Arial"/>
              </a:rPr>
              <a:t>marker</a:t>
            </a:r>
            <a:r>
              <a:rPr sz="1750" b="1" spc="160" dirty="0">
                <a:latin typeface="Arial"/>
                <a:cs typeface="Arial"/>
              </a:rPr>
              <a:t> </a:t>
            </a:r>
            <a:r>
              <a:rPr sz="1750" b="1" spc="75" dirty="0">
                <a:latin typeface="Arial"/>
                <a:cs typeface="Arial"/>
              </a:rPr>
              <a:t>detection</a:t>
            </a:r>
            <a:r>
              <a:rPr sz="1750" b="1" spc="200" dirty="0">
                <a:latin typeface="Arial"/>
                <a:cs typeface="Arial"/>
              </a:rPr>
              <a:t> </a:t>
            </a:r>
            <a:r>
              <a:rPr sz="1750" b="1" spc="-114" dirty="0">
                <a:latin typeface="Arial"/>
                <a:cs typeface="Arial"/>
              </a:rPr>
              <a:t>(</a:t>
            </a:r>
            <a:r>
              <a:rPr sz="1750" b="1" spc="-315" dirty="0">
                <a:latin typeface="Arial"/>
                <a:cs typeface="Arial"/>
              </a:rPr>
              <a:t> </a:t>
            </a:r>
            <a:r>
              <a:rPr sz="1750" b="1" spc="-50" dirty="0">
                <a:latin typeface="Arial"/>
                <a:cs typeface="Arial"/>
              </a:rPr>
              <a:t>LPS,</a:t>
            </a:r>
            <a:r>
              <a:rPr sz="1750" b="1" spc="125" dirty="0">
                <a:latin typeface="Arial"/>
                <a:cs typeface="Arial"/>
              </a:rPr>
              <a:t> </a:t>
            </a:r>
            <a:r>
              <a:rPr sz="1750" b="1" spc="-365" dirty="0">
                <a:latin typeface="Arial"/>
                <a:cs typeface="Arial"/>
              </a:rPr>
              <a:t>L</a:t>
            </a:r>
            <a:r>
              <a:rPr sz="1750" b="1" spc="-60" dirty="0">
                <a:latin typeface="Arial"/>
                <a:cs typeface="Arial"/>
              </a:rPr>
              <a:t>TA,</a:t>
            </a:r>
            <a:r>
              <a:rPr sz="1750" b="1" spc="195" dirty="0">
                <a:latin typeface="Arial"/>
                <a:cs typeface="Arial"/>
              </a:rPr>
              <a:t> </a:t>
            </a:r>
            <a:r>
              <a:rPr sz="1750" b="1" spc="-60" dirty="0">
                <a:latin typeface="Arial"/>
                <a:cs typeface="Arial"/>
              </a:rPr>
              <a:t>P</a:t>
            </a:r>
            <a:r>
              <a:rPr sz="1750" b="1" spc="120" dirty="0">
                <a:latin typeface="Arial"/>
                <a:cs typeface="Arial"/>
              </a:rPr>
              <a:t>G</a:t>
            </a:r>
            <a:r>
              <a:rPr sz="1750" b="1" dirty="0">
                <a:latin typeface="Arial"/>
                <a:cs typeface="Arial"/>
              </a:rPr>
              <a:t>N</a:t>
            </a:r>
            <a:r>
              <a:rPr sz="1750" b="1" spc="120" dirty="0">
                <a:latin typeface="Arial"/>
                <a:cs typeface="Arial"/>
              </a:rPr>
              <a:t>)</a:t>
            </a:r>
            <a:r>
              <a:rPr sz="1750" b="1" spc="-65" dirty="0"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2676" y="2488136"/>
            <a:ext cx="332422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20" dirty="0">
                <a:solidFill>
                  <a:srgbClr val="4F4F4F"/>
                </a:solidFill>
                <a:latin typeface="Arial"/>
                <a:cs typeface="Arial"/>
              </a:rPr>
              <a:t>Nanosensor</a:t>
            </a:r>
            <a:r>
              <a:rPr sz="1200" b="1" spc="9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200" b="1" spc="20" dirty="0">
                <a:solidFill>
                  <a:srgbClr val="4F4F4F"/>
                </a:solidFill>
                <a:latin typeface="Arial"/>
                <a:cs typeface="Arial"/>
              </a:rPr>
              <a:t>Substrate</a:t>
            </a:r>
            <a:r>
              <a:rPr sz="1200" b="1" spc="1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200" b="1" spc="10" dirty="0">
                <a:solidFill>
                  <a:srgbClr val="4F4F4F"/>
                </a:solidFill>
                <a:latin typeface="Arial"/>
                <a:cs typeface="Arial"/>
              </a:rPr>
              <a:t>Fabr</a:t>
            </a:r>
            <a:r>
              <a:rPr sz="1200" b="1" spc="-15" dirty="0">
                <a:solidFill>
                  <a:srgbClr val="4F4F4F"/>
                </a:solidFill>
                <a:latin typeface="Arial"/>
                <a:cs typeface="Arial"/>
              </a:rPr>
              <a:t>i</a:t>
            </a:r>
            <a:r>
              <a:rPr sz="1200" b="1" spc="25" dirty="0">
                <a:solidFill>
                  <a:srgbClr val="4F4F4F"/>
                </a:solidFill>
                <a:latin typeface="Arial"/>
                <a:cs typeface="Arial"/>
              </a:rPr>
              <a:t>cation</a:t>
            </a:r>
            <a:r>
              <a:rPr sz="1200" b="1" spc="7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200" b="1" spc="25" dirty="0">
                <a:solidFill>
                  <a:srgbClr val="4F4F4F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00476" y="2865334"/>
            <a:ext cx="129032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04520" indent="8890">
              <a:lnSpc>
                <a:spcPct val="108000"/>
              </a:lnSpc>
            </a:pPr>
            <a:r>
              <a:rPr sz="1000" b="1" spc="-5" dirty="0">
                <a:solidFill>
                  <a:srgbClr val="97BF44"/>
                </a:solidFill>
                <a:latin typeface="Arial"/>
                <a:cs typeface="Arial"/>
              </a:rPr>
              <a:t>Deposition Technique</a:t>
            </a:r>
            <a:endParaRPr sz="1000">
              <a:latin typeface="Arial"/>
              <a:cs typeface="Arial"/>
            </a:endParaRPr>
          </a:p>
          <a:p>
            <a:pPr marL="18415" marR="5080">
              <a:lnSpc>
                <a:spcPct val="101699"/>
              </a:lnSpc>
              <a:spcBef>
                <a:spcPts val="660"/>
              </a:spcBef>
            </a:pPr>
            <a:r>
              <a:rPr sz="800" spc="-10" dirty="0">
                <a:solidFill>
                  <a:srgbClr val="777777"/>
                </a:solidFill>
                <a:latin typeface="Arial"/>
                <a:cs typeface="Arial"/>
              </a:rPr>
              <a:t>Drop-casting,</a:t>
            </a:r>
            <a:r>
              <a:rPr sz="800" spc="1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spin-coating, </a:t>
            </a:r>
            <a:r>
              <a:rPr sz="800" spc="-20" dirty="0">
                <a:solidFill>
                  <a:srgbClr val="777777"/>
                </a:solidFill>
                <a:latin typeface="Arial"/>
                <a:cs typeface="Arial"/>
              </a:rPr>
              <a:t>or</a:t>
            </a:r>
            <a:r>
              <a:rPr sz="800" spc="1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electrochemical depos</a:t>
            </a:r>
            <a:r>
              <a:rPr sz="800" spc="-5" dirty="0">
                <a:solidFill>
                  <a:srgbClr val="777777"/>
                </a:solidFill>
                <a:latin typeface="Arial"/>
                <a:cs typeface="Arial"/>
              </a:rPr>
              <a:t>i</a:t>
            </a:r>
            <a:r>
              <a:rPr sz="800" spc="20" dirty="0">
                <a:solidFill>
                  <a:srgbClr val="777777"/>
                </a:solidFill>
                <a:latin typeface="Arial"/>
                <a:cs typeface="Arial"/>
              </a:rPr>
              <a:t>tion</a:t>
            </a:r>
            <a:r>
              <a:rPr sz="800" spc="-1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777777"/>
                </a:solidFill>
                <a:latin typeface="Arial"/>
                <a:cs typeface="Arial"/>
              </a:rPr>
              <a:t>for</a:t>
            </a:r>
            <a:r>
              <a:rPr sz="800" spc="1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878787"/>
                </a:solidFill>
                <a:latin typeface="Arial"/>
                <a:cs typeface="Arial"/>
              </a:rPr>
              <a:t>uniform</a:t>
            </a:r>
            <a:r>
              <a:rPr sz="800" spc="2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777777"/>
                </a:solidFill>
                <a:latin typeface="Arial"/>
                <a:cs typeface="Arial"/>
              </a:rPr>
              <a:t>layer</a:t>
            </a:r>
            <a:r>
              <a:rPr sz="800" spc="-1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777777"/>
                </a:solidFill>
                <a:latin typeface="Arial"/>
                <a:cs typeface="Arial"/>
              </a:rPr>
              <a:t>formation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49315" y="3276813"/>
            <a:ext cx="1057275" cy="486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>
              <a:lnSpc>
                <a:spcPct val="100000"/>
              </a:lnSpc>
            </a:pPr>
            <a:r>
              <a:rPr sz="1000" b="1" spc="-10" dirty="0">
                <a:solidFill>
                  <a:srgbClr val="876EE9"/>
                </a:solidFill>
                <a:latin typeface="Arial"/>
                <a:cs typeface="Arial"/>
              </a:rPr>
              <a:t>Outcome</a:t>
            </a:r>
            <a:endParaRPr sz="1000">
              <a:latin typeface="Arial"/>
              <a:cs typeface="Arial"/>
            </a:endParaRPr>
          </a:p>
          <a:p>
            <a:pPr marL="15240" marR="5080" indent="-3175">
              <a:lnSpc>
                <a:spcPct val="102499"/>
              </a:lnSpc>
              <a:spcBef>
                <a:spcPts val="655"/>
              </a:spcBef>
            </a:pPr>
            <a:r>
              <a:rPr sz="800" spc="-10" dirty="0">
                <a:solidFill>
                  <a:srgbClr val="777777"/>
                </a:solidFill>
                <a:latin typeface="Arial"/>
                <a:cs typeface="Arial"/>
              </a:rPr>
              <a:t>Achieving </a:t>
            </a:r>
            <a:r>
              <a:rPr sz="800" spc="-11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40" dirty="0">
                <a:solidFill>
                  <a:srgbClr val="777777"/>
                </a:solidFill>
                <a:latin typeface="Arial"/>
                <a:cs typeface="Arial"/>
              </a:rPr>
              <a:t>a</a:t>
            </a:r>
            <a:r>
              <a:rPr sz="800" spc="1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stable</a:t>
            </a:r>
            <a:r>
              <a:rPr sz="800" spc="2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77777"/>
                </a:solidFill>
                <a:latin typeface="Arial"/>
                <a:cs typeface="Arial"/>
              </a:rPr>
              <a:t>and</a:t>
            </a:r>
            <a:r>
              <a:rPr sz="800" spc="-5" dirty="0">
                <a:solidFill>
                  <a:srgbClr val="777777"/>
                </a:solidFill>
                <a:latin typeface="Arial"/>
                <a:cs typeface="Arial"/>
              </a:rPr>
              <a:t> enhanced</a:t>
            </a:r>
            <a:r>
              <a:rPr sz="800" spc="4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878787"/>
                </a:solidFill>
                <a:latin typeface="Arial"/>
                <a:cs typeface="Arial"/>
              </a:rPr>
              <a:t>substrate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32523" y="3252233"/>
            <a:ext cx="1046480" cy="171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8120" algn="l"/>
                <a:tab pos="794385" algn="l"/>
                <a:tab pos="978535" algn="l"/>
              </a:tabLst>
            </a:pPr>
            <a:r>
              <a:rPr sz="1100" spc="-375" dirty="0">
                <a:solidFill>
                  <a:srgbClr val="282828"/>
                </a:solidFill>
                <a:latin typeface="Arial"/>
                <a:cs typeface="Arial"/>
              </a:rPr>
              <a:t>A	</a:t>
            </a:r>
            <a:r>
              <a:rPr sz="1100" u="sng" spc="-5" dirty="0">
                <a:solidFill>
                  <a:srgbClr val="282828"/>
                </a:solidFill>
                <a:latin typeface="Arial"/>
                <a:cs typeface="Arial"/>
              </a:rPr>
              <a:t> 	</a:t>
            </a:r>
            <a:r>
              <a:rPr sz="1100" spc="-5" dirty="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sz="1150" spc="-350" dirty="0">
                <a:solidFill>
                  <a:srgbClr val="161616"/>
                </a:solidFill>
                <a:latin typeface="Arial"/>
                <a:cs typeface="Arial"/>
              </a:rPr>
              <a:t>B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61907" y="3206874"/>
            <a:ext cx="7810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-415" dirty="0">
                <a:solidFill>
                  <a:srgbClr val="161616"/>
                </a:solidFill>
                <a:latin typeface="Arial"/>
                <a:cs typeface="Arial"/>
              </a:rPr>
              <a:t>c</a:t>
            </a:r>
            <a:endParaRPr sz="1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76107" y="3378544"/>
            <a:ext cx="33528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210" dirty="0">
                <a:solidFill>
                  <a:srgbClr val="383838"/>
                </a:solidFill>
                <a:latin typeface="Arial"/>
                <a:cs typeface="Arial"/>
              </a:rPr>
              <a:t>Was</a:t>
            </a:r>
            <a:r>
              <a:rPr sz="900" spc="-50" dirty="0">
                <a:solidFill>
                  <a:srgbClr val="383838"/>
                </a:solidFill>
                <a:latin typeface="Arial"/>
                <a:cs typeface="Arial"/>
              </a:rPr>
              <a:t>t</a:t>
            </a:r>
            <a:r>
              <a:rPr sz="900" spc="-305" dirty="0">
                <a:solidFill>
                  <a:srgbClr val="383838"/>
                </a:solidFill>
                <a:latin typeface="Arial"/>
                <a:cs typeface="Arial"/>
              </a:rPr>
              <a:t>11a</a:t>
            </a:r>
            <a:r>
              <a:rPr sz="900" spc="-155" dirty="0">
                <a:solidFill>
                  <a:srgbClr val="383838"/>
                </a:solidFill>
                <a:latin typeface="Arial"/>
                <a:cs typeface="Arial"/>
              </a:rPr>
              <a:t>l</a:t>
            </a:r>
            <a:r>
              <a:rPr sz="900" spc="-200" dirty="0">
                <a:solidFill>
                  <a:srgbClr val="383838"/>
                </a:solidFill>
                <a:latin typeface="Arial"/>
                <a:cs typeface="Arial"/>
              </a:rPr>
              <a:t>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01204" y="3615426"/>
            <a:ext cx="826135" cy="142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150" spc="10" dirty="0">
                <a:solidFill>
                  <a:srgbClr val="383838"/>
                </a:solidFill>
                <a:latin typeface="Times New Roman"/>
                <a:cs typeface="Times New Roman"/>
              </a:rPr>
              <a:t>-</a:t>
            </a:r>
            <a:r>
              <a:rPr sz="5150" spc="-980" dirty="0">
                <a:solidFill>
                  <a:srgbClr val="383838"/>
                </a:solidFill>
                <a:latin typeface="Times New Roman"/>
                <a:cs typeface="Times New Roman"/>
              </a:rPr>
              <a:t>·</a:t>
            </a:r>
            <a:r>
              <a:rPr sz="5150" spc="-250" dirty="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sz="5150" spc="-700" dirty="0">
                <a:solidFill>
                  <a:srgbClr val="383838"/>
                </a:solidFill>
                <a:latin typeface="Times New Roman"/>
                <a:cs typeface="Times New Roman"/>
              </a:rPr>
              <a:t>8</a:t>
            </a:r>
            <a:endParaRPr sz="5150">
              <a:latin typeface="Times New Roman"/>
              <a:cs typeface="Times New Roman"/>
            </a:endParaRPr>
          </a:p>
          <a:p>
            <a:pPr marL="182245" algn="ctr">
              <a:lnSpc>
                <a:spcPts val="415"/>
              </a:lnSpc>
              <a:spcBef>
                <a:spcPts val="3465"/>
              </a:spcBef>
            </a:pPr>
            <a:r>
              <a:rPr sz="350" spc="250" dirty="0">
                <a:solidFill>
                  <a:srgbClr val="383838"/>
                </a:solidFill>
                <a:latin typeface="Arial"/>
                <a:cs typeface="Arial"/>
              </a:rPr>
              <a:t>I</a:t>
            </a:r>
            <a:endParaRPr sz="350">
              <a:latin typeface="Arial"/>
              <a:cs typeface="Arial"/>
            </a:endParaRPr>
          </a:p>
          <a:p>
            <a:pPr marL="36830">
              <a:lnSpc>
                <a:spcPts val="960"/>
              </a:lnSpc>
              <a:tabLst>
                <a:tab pos="792480" algn="l"/>
              </a:tabLst>
            </a:pPr>
            <a:r>
              <a:rPr sz="800" spc="-150" dirty="0">
                <a:solidFill>
                  <a:srgbClr val="383838"/>
                </a:solidFill>
                <a:latin typeface="Times New Roman"/>
                <a:cs typeface="Times New Roman"/>
              </a:rPr>
              <a:t>.6</a:t>
            </a:r>
            <a:r>
              <a:rPr sz="800" spc="-140" dirty="0">
                <a:solidFill>
                  <a:srgbClr val="383838"/>
                </a:solidFill>
                <a:latin typeface="Times New Roman"/>
                <a:cs typeface="Times New Roman"/>
              </a:rPr>
              <a:t>JJ-ft/J</a:t>
            </a:r>
            <a:r>
              <a:rPr sz="800" spc="-40" dirty="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sz="850" spc="-150" dirty="0">
                <a:solidFill>
                  <a:srgbClr val="282828"/>
                </a:solidFill>
                <a:latin typeface="Arial"/>
                <a:cs typeface="Arial"/>
              </a:rPr>
              <a:t>bi</a:t>
            </a:r>
            <a:r>
              <a:rPr sz="850" spc="-330" dirty="0">
                <a:solidFill>
                  <a:srgbClr val="282828"/>
                </a:solidFill>
                <a:latin typeface="Arial"/>
                <a:cs typeface="Arial"/>
              </a:rPr>
              <a:t>m</a:t>
            </a:r>
            <a:r>
              <a:rPr sz="850" spc="-235" dirty="0">
                <a:solidFill>
                  <a:srgbClr val="4F4F4F"/>
                </a:solidFill>
                <a:latin typeface="Arial"/>
                <a:cs typeface="Arial"/>
              </a:rPr>
              <a:t>etamc</a:t>
            </a:r>
            <a:r>
              <a:rPr sz="85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50" spc="-12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850" spc="-95" dirty="0">
                <a:solidFill>
                  <a:srgbClr val="4F4F4F"/>
                </a:solidFill>
                <a:latin typeface="Arial"/>
                <a:cs typeface="Arial"/>
              </a:rPr>
              <a:t>·</a:t>
            </a:r>
            <a:r>
              <a:rPr sz="850" spc="130" dirty="0">
                <a:solidFill>
                  <a:srgbClr val="777777"/>
                </a:solidFill>
                <a:latin typeface="Arial"/>
                <a:cs typeface="Arial"/>
              </a:rPr>
              <a:t>,</a:t>
            </a:r>
            <a:r>
              <a:rPr sz="850" dirty="0">
                <a:solidFill>
                  <a:srgbClr val="777777"/>
                </a:solidFill>
                <a:latin typeface="Arial"/>
                <a:cs typeface="Arial"/>
              </a:rPr>
              <a:t>	</a:t>
            </a:r>
            <a:r>
              <a:rPr sz="350" i="1" spc="60" dirty="0">
                <a:solidFill>
                  <a:srgbClr val="4F4F4F"/>
                </a:solidFill>
                <a:latin typeface="Arial"/>
                <a:cs typeface="Arial"/>
              </a:rPr>
              <a:t>I</a:t>
            </a:r>
            <a:endParaRPr sz="350">
              <a:latin typeface="Arial"/>
              <a:cs typeface="Arial"/>
            </a:endParaRPr>
          </a:p>
          <a:p>
            <a:pPr marL="78105" algn="ctr">
              <a:lnSpc>
                <a:spcPts val="1025"/>
              </a:lnSpc>
              <a:tabLst>
                <a:tab pos="499109" algn="l"/>
              </a:tabLst>
            </a:pPr>
            <a:r>
              <a:rPr sz="900" spc="-229" dirty="0">
                <a:solidFill>
                  <a:srgbClr val="383838"/>
                </a:solidFill>
                <a:latin typeface="Arial"/>
                <a:cs typeface="Arial"/>
              </a:rPr>
              <a:t>sensors	</a:t>
            </a:r>
            <a:r>
              <a:rPr sz="900" spc="55" dirty="0">
                <a:solidFill>
                  <a:srgbClr val="4F4F4F"/>
                </a:solidFill>
                <a:latin typeface="Arial"/>
                <a:cs typeface="Arial"/>
              </a:rPr>
              <a:t>,   </a:t>
            </a:r>
            <a:r>
              <a:rPr sz="900" spc="-4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900" spc="120" dirty="0">
                <a:solidFill>
                  <a:srgbClr val="4F4F4F"/>
                </a:solidFill>
                <a:latin typeface="Arial"/>
                <a:cs typeface="Arial"/>
              </a:rPr>
              <a:t>,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98995" y="3613241"/>
            <a:ext cx="6819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720" algn="l"/>
                <a:tab pos="668655" algn="l"/>
              </a:tabLst>
            </a:pPr>
            <a:r>
              <a:rPr sz="900" u="heavy" spc="-5" dirty="0">
                <a:solidFill>
                  <a:srgbClr val="383838"/>
                </a:solidFill>
                <a:latin typeface="Arial"/>
                <a:cs typeface="Arial"/>
              </a:rPr>
              <a:t> 	</a:t>
            </a:r>
            <a:r>
              <a:rPr sz="900" u="heavy" spc="-290" dirty="0">
                <a:solidFill>
                  <a:srgbClr val="383838"/>
                </a:solidFill>
                <a:latin typeface="Arial"/>
                <a:cs typeface="Arial"/>
              </a:rPr>
              <a:t>Pa</a:t>
            </a:r>
            <a:r>
              <a:rPr sz="900" u="heavy" spc="-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900" u="heavy" spc="-200" dirty="0">
                <a:solidFill>
                  <a:srgbClr val="383838"/>
                </a:solidFill>
                <a:latin typeface="Arial"/>
                <a:cs typeface="Arial"/>
              </a:rPr>
              <a:t>er</a:t>
            </a:r>
            <a:r>
              <a:rPr sz="900" u="heavy" spc="-5" dirty="0">
                <a:solidFill>
                  <a:srgbClr val="383838"/>
                </a:solidFill>
                <a:latin typeface="Arial"/>
                <a:cs typeface="Arial"/>
              </a:rPr>
              <a:t> 	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39788" y="3887561"/>
            <a:ext cx="421005" cy="255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855" marR="5080" indent="-97790">
              <a:lnSpc>
                <a:spcPct val="73000"/>
              </a:lnSpc>
            </a:pPr>
            <a:r>
              <a:rPr sz="900" spc="-245" dirty="0">
                <a:solidFill>
                  <a:srgbClr val="383838"/>
                </a:solidFill>
                <a:latin typeface="Arial"/>
                <a:cs typeface="Arial"/>
              </a:rPr>
              <a:t>Screen</a:t>
            </a:r>
            <a:r>
              <a:rPr sz="900" spc="-9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900" spc="-175" dirty="0">
                <a:solidFill>
                  <a:srgbClr val="383838"/>
                </a:solidFill>
                <a:latin typeface="Arial"/>
                <a:cs typeface="Arial"/>
              </a:rPr>
              <a:t>prin</a:t>
            </a:r>
            <a:r>
              <a:rPr sz="900" spc="-105" dirty="0">
                <a:solidFill>
                  <a:srgbClr val="383838"/>
                </a:solidFill>
                <a:latin typeface="Arial"/>
                <a:cs typeface="Arial"/>
              </a:rPr>
              <a:t>l</a:t>
            </a:r>
            <a:r>
              <a:rPr sz="900" spc="-110" dirty="0">
                <a:solidFill>
                  <a:srgbClr val="878787"/>
                </a:solidFill>
                <a:latin typeface="Arial"/>
                <a:cs typeface="Arial"/>
              </a:rPr>
              <a:t>i</a:t>
            </a:r>
            <a:r>
              <a:rPr sz="900" spc="-245" dirty="0">
                <a:solidFill>
                  <a:srgbClr val="383838"/>
                </a:solidFill>
                <a:latin typeface="Arial"/>
                <a:cs typeface="Arial"/>
              </a:rPr>
              <a:t>ng</a:t>
            </a:r>
            <a:r>
              <a:rPr sz="900" spc="-12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900" spc="-290" dirty="0">
                <a:solidFill>
                  <a:srgbClr val="383838"/>
                </a:solidFill>
                <a:latin typeface="Arial"/>
                <a:cs typeface="Arial"/>
              </a:rPr>
              <a:t>Ag</a:t>
            </a:r>
            <a:r>
              <a:rPr sz="90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000" spc="-260" dirty="0">
                <a:solidFill>
                  <a:srgbClr val="4F4F4F"/>
                </a:solidFill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0780" y="3112222"/>
            <a:ext cx="1275080" cy="629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solidFill>
                  <a:srgbClr val="598EE6"/>
                </a:solidFill>
                <a:latin typeface="Arial"/>
                <a:cs typeface="Arial"/>
              </a:rPr>
              <a:t>Substrate</a:t>
            </a:r>
            <a:r>
              <a:rPr sz="1000" b="1" spc="55" dirty="0">
                <a:solidFill>
                  <a:srgbClr val="598EE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98EE6"/>
                </a:solidFill>
                <a:latin typeface="Arial"/>
                <a:cs typeface="Arial"/>
              </a:rPr>
              <a:t>Selection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1200"/>
              </a:lnSpc>
              <a:spcBef>
                <a:spcPts val="835"/>
              </a:spcBef>
            </a:pP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Choosing</a:t>
            </a:r>
            <a:r>
              <a:rPr sz="800" spc="-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the</a:t>
            </a:r>
            <a:r>
              <a:rPr sz="800" spc="3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77777"/>
                </a:solidFill>
                <a:latin typeface="Arial"/>
                <a:cs typeface="Arial"/>
              </a:rPr>
              <a:t>base</a:t>
            </a:r>
            <a:r>
              <a:rPr sz="800" spc="2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material </a:t>
            </a:r>
            <a:r>
              <a:rPr sz="800" spc="5" dirty="0">
                <a:solidFill>
                  <a:srgbClr val="777777"/>
                </a:solidFill>
                <a:latin typeface="Arial"/>
                <a:cs typeface="Arial"/>
              </a:rPr>
              <a:t>for</a:t>
            </a:r>
            <a:r>
              <a:rPr sz="800" spc="1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the</a:t>
            </a:r>
            <a:r>
              <a:rPr sz="800" spc="1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substrate</a:t>
            </a:r>
            <a:r>
              <a:rPr sz="800" spc="8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878787"/>
                </a:solidFill>
                <a:latin typeface="Arial"/>
                <a:cs typeface="Arial"/>
              </a:rPr>
              <a:t>(glass,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silicon,</a:t>
            </a:r>
            <a:r>
              <a:rPr sz="800" spc="-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777777"/>
                </a:solidFill>
                <a:latin typeface="Arial"/>
                <a:cs typeface="Arial"/>
              </a:rPr>
              <a:t>or</a:t>
            </a:r>
            <a:r>
              <a:rPr sz="800" spc="3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polymer</a:t>
            </a:r>
            <a:r>
              <a:rPr sz="800" spc="2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base)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4852" y="5504901"/>
            <a:ext cx="928369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950" marR="5080" indent="-116205" algn="r">
              <a:lnSpc>
                <a:spcPct val="108000"/>
              </a:lnSpc>
            </a:pPr>
            <a:r>
              <a:rPr sz="1000" b="1" spc="10" dirty="0">
                <a:solidFill>
                  <a:srgbClr val="49C88A"/>
                </a:solidFill>
                <a:latin typeface="Arial"/>
                <a:cs typeface="Arial"/>
              </a:rPr>
              <a:t>Nanopart</a:t>
            </a:r>
            <a:r>
              <a:rPr sz="1000" b="1" spc="25" dirty="0">
                <a:solidFill>
                  <a:srgbClr val="49C88A"/>
                </a:solidFill>
                <a:latin typeface="Arial"/>
                <a:cs typeface="Arial"/>
              </a:rPr>
              <a:t>i</a:t>
            </a:r>
            <a:r>
              <a:rPr sz="1000" b="1" spc="10" dirty="0">
                <a:solidFill>
                  <a:srgbClr val="49C88A"/>
                </a:solidFill>
                <a:latin typeface="Arial"/>
                <a:cs typeface="Arial"/>
              </a:rPr>
              <a:t>cle</a:t>
            </a:r>
            <a:r>
              <a:rPr sz="1000" b="1" spc="5" dirty="0">
                <a:solidFill>
                  <a:srgbClr val="49C88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49C88A"/>
                </a:solidFill>
                <a:latin typeface="Arial"/>
                <a:cs typeface="Arial"/>
              </a:rPr>
              <a:t>Synthesis</a:t>
            </a:r>
            <a:endParaRPr sz="1000">
              <a:latin typeface="Arial"/>
              <a:cs typeface="Arial"/>
            </a:endParaRPr>
          </a:p>
          <a:p>
            <a:pPr marL="12700" marR="12065" indent="222250" algn="r">
              <a:lnSpc>
                <a:spcPct val="101699"/>
              </a:lnSpc>
              <a:spcBef>
                <a:spcPts val="660"/>
              </a:spcBef>
            </a:pPr>
            <a:r>
              <a:rPr sz="800" spc="-15" dirty="0">
                <a:solidFill>
                  <a:srgbClr val="777777"/>
                </a:solidFill>
                <a:latin typeface="Arial"/>
                <a:cs typeface="Arial"/>
              </a:rPr>
              <a:t>Gold</a:t>
            </a:r>
            <a:r>
              <a:rPr sz="800" spc="1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77777"/>
                </a:solidFill>
                <a:latin typeface="Arial"/>
                <a:cs typeface="Arial"/>
              </a:rPr>
              <a:t>and</a:t>
            </a:r>
            <a:r>
              <a:rPr sz="800" spc="2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77777"/>
                </a:solidFill>
                <a:latin typeface="Arial"/>
                <a:cs typeface="Arial"/>
              </a:rPr>
              <a:t>silver</a:t>
            </a:r>
            <a:r>
              <a:rPr sz="800" spc="-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nanoparticles </a:t>
            </a:r>
            <a:r>
              <a:rPr sz="800" dirty="0">
                <a:solidFill>
                  <a:srgbClr val="878787"/>
                </a:solidFill>
                <a:latin typeface="Arial"/>
                <a:cs typeface="Arial"/>
              </a:rPr>
              <a:t>(</a:t>
            </a:r>
            <a:r>
              <a:rPr sz="800" spc="-5" dirty="0">
                <a:solidFill>
                  <a:srgbClr val="878787"/>
                </a:solidFill>
                <a:latin typeface="Arial"/>
                <a:cs typeface="Arial"/>
              </a:rPr>
              <a:t>AuNPs/AgNPs</a:t>
            </a:r>
            <a:r>
              <a:rPr sz="800" dirty="0">
                <a:solidFill>
                  <a:srgbClr val="878787"/>
                </a:solidFill>
                <a:latin typeface="Arial"/>
                <a:cs typeface="Arial"/>
              </a:rPr>
              <a:t>)</a:t>
            </a:r>
            <a:r>
              <a:rPr sz="800" spc="7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878787"/>
                </a:solidFill>
                <a:latin typeface="Arial"/>
                <a:cs typeface="Arial"/>
              </a:rPr>
              <a:t>via</a:t>
            </a:r>
            <a:r>
              <a:rPr sz="800" spc="-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800" spc="5" dirty="0">
                <a:solidFill>
                  <a:srgbClr val="777777"/>
                </a:solidFill>
                <a:latin typeface="Arial"/>
                <a:cs typeface="Arial"/>
              </a:rPr>
              <a:t>chemical</a:t>
            </a:r>
            <a:r>
              <a:rPr sz="800" spc="3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878787"/>
                </a:solidFill>
                <a:latin typeface="Arial"/>
                <a:cs typeface="Arial"/>
              </a:rPr>
              <a:t>reduction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5092" y="5504901"/>
            <a:ext cx="1148080" cy="650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42620" algn="r">
              <a:lnSpc>
                <a:spcPct val="108000"/>
              </a:lnSpc>
            </a:pPr>
            <a:r>
              <a:rPr sz="1000" b="1" spc="5" dirty="0">
                <a:solidFill>
                  <a:srgbClr val="2DAFDB"/>
                </a:solidFill>
                <a:latin typeface="Arial"/>
                <a:cs typeface="Arial"/>
              </a:rPr>
              <a:t>Surface Functionalization</a:t>
            </a:r>
            <a:endParaRPr sz="1000">
              <a:latin typeface="Arial"/>
              <a:cs typeface="Arial"/>
            </a:endParaRPr>
          </a:p>
          <a:p>
            <a:pPr marL="161925" marR="9525" indent="-149860" algn="r">
              <a:lnSpc>
                <a:spcPct val="102499"/>
              </a:lnSpc>
              <a:spcBef>
                <a:spcPts val="655"/>
              </a:spcBef>
            </a:pP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Attaching</a:t>
            </a:r>
            <a:r>
              <a:rPr sz="800" spc="5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5" dirty="0">
                <a:solidFill>
                  <a:srgbClr val="777777"/>
                </a:solidFill>
                <a:latin typeface="Arial"/>
                <a:cs typeface="Arial"/>
              </a:rPr>
              <a:t>biorecognition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 probes</a:t>
            </a:r>
            <a:r>
              <a:rPr sz="800" spc="-3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15" dirty="0">
                <a:solidFill>
                  <a:srgbClr val="777777"/>
                </a:solidFill>
                <a:latin typeface="Arial"/>
                <a:cs typeface="Arial"/>
              </a:rPr>
              <a:t>to</a:t>
            </a:r>
            <a:r>
              <a:rPr sz="800" spc="-2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10" dirty="0">
                <a:solidFill>
                  <a:srgbClr val="777777"/>
                </a:solidFill>
                <a:latin typeface="Arial"/>
                <a:cs typeface="Arial"/>
              </a:rPr>
              <a:t>the</a:t>
            </a:r>
            <a:r>
              <a:rPr sz="800" spc="-1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777777"/>
                </a:solidFill>
                <a:latin typeface="Arial"/>
                <a:cs typeface="Arial"/>
              </a:rPr>
              <a:t>surface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42252" y="4683088"/>
            <a:ext cx="54292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i="1" spc="10" dirty="0">
                <a:solidFill>
                  <a:srgbClr val="1C599C"/>
                </a:solidFill>
                <a:latin typeface="Arial"/>
                <a:cs typeface="Arial"/>
              </a:rPr>
              <a:t>(</a:t>
            </a:r>
            <a:r>
              <a:rPr sz="900" i="1" spc="5" dirty="0">
                <a:solidFill>
                  <a:srgbClr val="1C599C"/>
                </a:solidFill>
                <a:latin typeface="Arial"/>
                <a:cs typeface="Arial"/>
              </a:rPr>
              <a:t>. </a:t>
            </a:r>
            <a:r>
              <a:rPr sz="900" i="1" spc="-90" dirty="0">
                <a:solidFill>
                  <a:srgbClr val="1C599C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383838"/>
                </a:solidFill>
                <a:latin typeface="Arial"/>
                <a:cs typeface="Arial"/>
              </a:rPr>
              <a:t>SCleen</a:t>
            </a:r>
            <a:r>
              <a:rPr sz="900" spc="-114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F4F4F"/>
                </a:solidFill>
                <a:latin typeface="Arial"/>
                <a:cs typeface="Arial"/>
              </a:rPr>
              <a:t>p</a:t>
            </a:r>
            <a:r>
              <a:rPr sz="900" spc="-35" dirty="0">
                <a:solidFill>
                  <a:srgbClr val="4F4F4F"/>
                </a:solidFill>
                <a:latin typeface="Arial"/>
                <a:cs typeface="Arial"/>
              </a:rPr>
              <a:t>r</a:t>
            </a:r>
            <a:r>
              <a:rPr sz="900" spc="-114" dirty="0">
                <a:solidFill>
                  <a:srgbClr val="4F4F4F"/>
                </a:solidFill>
                <a:latin typeface="Arial"/>
                <a:cs typeface="Arial"/>
              </a:rPr>
              <a:t>t</a:t>
            </a:r>
            <a:r>
              <a:rPr sz="900" spc="-110" dirty="0">
                <a:solidFill>
                  <a:srgbClr val="878787"/>
                </a:solidFill>
                <a:latin typeface="Arial"/>
                <a:cs typeface="Arial"/>
              </a:rPr>
              <a:t>i</a:t>
            </a:r>
            <a:r>
              <a:rPr sz="900" spc="-245" dirty="0">
                <a:solidFill>
                  <a:srgbClr val="383838"/>
                </a:solidFill>
                <a:latin typeface="Arial"/>
                <a:cs typeface="Arial"/>
              </a:rPr>
              <a:t>ng</a:t>
            </a:r>
            <a:endParaRPr sz="900">
              <a:latin typeface="Arial"/>
              <a:cs typeface="Arial"/>
            </a:endParaRPr>
          </a:p>
          <a:p>
            <a:pPr marL="85725" algn="ctr">
              <a:lnSpc>
                <a:spcPct val="100000"/>
              </a:lnSpc>
              <a:spcBef>
                <a:spcPts val="70"/>
              </a:spcBef>
            </a:pPr>
            <a:r>
              <a:rPr sz="950" spc="-210" dirty="0">
                <a:solidFill>
                  <a:srgbClr val="282828"/>
                </a:solidFill>
                <a:latin typeface="Times New Roman"/>
                <a:cs typeface="Times New Roman"/>
              </a:rPr>
              <a:t>.6</a:t>
            </a:r>
            <a:r>
              <a:rPr sz="950" spc="-190" dirty="0">
                <a:solidFill>
                  <a:srgbClr val="282828"/>
                </a:solidFill>
                <a:latin typeface="Times New Roman"/>
                <a:cs typeface="Times New Roman"/>
              </a:rPr>
              <a:t>Jl</a:t>
            </a:r>
            <a:r>
              <a:rPr sz="950" spc="-1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950" spc="-85" dirty="0">
                <a:solidFill>
                  <a:srgbClr val="282828"/>
                </a:solidFill>
                <a:latin typeface="Times New Roman"/>
                <a:cs typeface="Times New Roman"/>
              </a:rPr>
              <a:t>iri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66835" y="4555073"/>
            <a:ext cx="26479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85" dirty="0">
                <a:solidFill>
                  <a:srgbClr val="383838"/>
                </a:solidFill>
                <a:latin typeface="Arial"/>
                <a:cs typeface="Arial"/>
              </a:rPr>
              <a:t>tio  </a:t>
            </a:r>
            <a:r>
              <a:rPr sz="900" spc="-12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900" spc="-235" dirty="0">
                <a:solidFill>
                  <a:srgbClr val="383838"/>
                </a:solidFill>
                <a:latin typeface="Arial"/>
                <a:cs typeface="Arial"/>
              </a:rPr>
              <a:t>ne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22156" y="4428957"/>
            <a:ext cx="4305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-95" dirty="0">
                <a:solidFill>
                  <a:srgbClr val="161616"/>
                </a:solidFill>
                <a:latin typeface="Times New Roman"/>
                <a:cs typeface="Times New Roman"/>
              </a:rPr>
              <a:t>c</a:t>
            </a:r>
            <a:r>
              <a:rPr sz="950" spc="-170" dirty="0">
                <a:solidFill>
                  <a:srgbClr val="383838"/>
                </a:solidFill>
                <a:latin typeface="Times New Roman"/>
                <a:cs typeface="Times New Roman"/>
              </a:rPr>
              <a:t>aii</a:t>
            </a:r>
            <a:r>
              <a:rPr sz="950" spc="-125" dirty="0">
                <a:solidFill>
                  <a:srgbClr val="383838"/>
                </a:solidFill>
                <a:latin typeface="Times New Roman"/>
                <a:cs typeface="Times New Roman"/>
              </a:rPr>
              <a:t>i</a:t>
            </a:r>
            <a:r>
              <a:rPr sz="950" spc="-170" dirty="0">
                <a:solidFill>
                  <a:srgbClr val="777777"/>
                </a:solidFill>
                <a:latin typeface="Times New Roman"/>
                <a:cs typeface="Times New Roman"/>
              </a:rPr>
              <a:t>l</a:t>
            </a:r>
            <a:r>
              <a:rPr sz="950" spc="-155" dirty="0">
                <a:solidFill>
                  <a:srgbClr val="777777"/>
                </a:solidFill>
                <a:latin typeface="Times New Roman"/>
                <a:cs typeface="Times New Roman"/>
              </a:rPr>
              <a:t>l</a:t>
            </a:r>
            <a:r>
              <a:rPr sz="950" spc="-204" dirty="0">
                <a:solidFill>
                  <a:srgbClr val="383838"/>
                </a:solidFill>
                <a:latin typeface="Times New Roman"/>
                <a:cs typeface="Times New Roman"/>
              </a:rPr>
              <a:t>ary</a:t>
            </a:r>
            <a:r>
              <a:rPr sz="950" spc="-90" dirty="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sz="1000" spc="-260" dirty="0">
                <a:solidFill>
                  <a:srgbClr val="282828"/>
                </a:solidFill>
                <a:latin typeface="Arial"/>
                <a:cs typeface="Arial"/>
              </a:rPr>
              <a:t>act</a:t>
            </a:r>
            <a:r>
              <a:rPr sz="1000" spc="10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000" spc="-254" dirty="0">
                <a:solidFill>
                  <a:srgbClr val="282828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73971" y="5370520"/>
            <a:ext cx="622300" cy="260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50"/>
              </a:lnSpc>
              <a:tabLst>
                <a:tab pos="227965" algn="l"/>
              </a:tabLst>
            </a:pPr>
            <a:r>
              <a:rPr sz="950" spc="-215" dirty="0">
                <a:solidFill>
                  <a:srgbClr val="383838"/>
                </a:solidFill>
                <a:latin typeface="Times New Roman"/>
                <a:cs typeface="Times New Roman"/>
              </a:rPr>
              <a:t>500	</a:t>
            </a:r>
            <a:r>
              <a:rPr sz="950" spc="-220" dirty="0">
                <a:solidFill>
                  <a:srgbClr val="4F4F4F"/>
                </a:solidFill>
                <a:latin typeface="Times New Roman"/>
                <a:cs typeface="Times New Roman"/>
              </a:rPr>
              <a:t>1000   </a:t>
            </a:r>
            <a:r>
              <a:rPr sz="950" spc="-105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950" spc="-240" dirty="0">
                <a:solidFill>
                  <a:srgbClr val="4F4F4F"/>
                </a:solidFill>
                <a:latin typeface="Times New Roman"/>
                <a:cs typeface="Times New Roman"/>
              </a:rPr>
              <a:t>1</a:t>
            </a:r>
            <a:r>
              <a:rPr sz="950" spc="-215" dirty="0">
                <a:solidFill>
                  <a:srgbClr val="282828"/>
                </a:solidFill>
                <a:latin typeface="Times New Roman"/>
                <a:cs typeface="Times New Roman"/>
              </a:rPr>
              <a:t>500</a:t>
            </a:r>
            <a:endParaRPr sz="950">
              <a:latin typeface="Times New Roman"/>
              <a:cs typeface="Times New Roman"/>
            </a:endParaRPr>
          </a:p>
          <a:p>
            <a:pPr marL="1270" algn="ctr">
              <a:lnSpc>
                <a:spcPts val="990"/>
              </a:lnSpc>
            </a:pPr>
            <a:r>
              <a:rPr sz="900" spc="-285" dirty="0">
                <a:solidFill>
                  <a:srgbClr val="282828"/>
                </a:solidFill>
                <a:latin typeface="Arial"/>
                <a:cs typeface="Arial"/>
              </a:rPr>
              <a:t>Raman</a:t>
            </a:r>
            <a:r>
              <a:rPr sz="900" spc="-12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900" spc="-305" dirty="0">
                <a:solidFill>
                  <a:srgbClr val="383838"/>
                </a:solidFill>
                <a:latin typeface="Arial"/>
                <a:cs typeface="Arial"/>
              </a:rPr>
              <a:t>S</a:t>
            </a:r>
            <a:r>
              <a:rPr sz="900" spc="-240" dirty="0">
                <a:solidFill>
                  <a:srgbClr val="383838"/>
                </a:solidFill>
                <a:latin typeface="Arial"/>
                <a:cs typeface="Arial"/>
              </a:rPr>
              <a:t>h</a:t>
            </a:r>
            <a:r>
              <a:rPr sz="900" spc="-110" dirty="0">
                <a:solidFill>
                  <a:srgbClr val="777777"/>
                </a:solidFill>
                <a:latin typeface="Arial"/>
                <a:cs typeface="Arial"/>
              </a:rPr>
              <a:t>i</a:t>
            </a:r>
            <a:r>
              <a:rPr sz="900" spc="-135" dirty="0">
                <a:solidFill>
                  <a:srgbClr val="383838"/>
                </a:solidFill>
                <a:latin typeface="Arial"/>
                <a:cs typeface="Arial"/>
              </a:rPr>
              <a:t>ft</a:t>
            </a:r>
            <a:r>
              <a:rPr sz="900" spc="-11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900" spc="-160" dirty="0">
                <a:solidFill>
                  <a:srgbClr val="4F4F4F"/>
                </a:solidFill>
                <a:latin typeface="Arial"/>
                <a:cs typeface="Arial"/>
              </a:rPr>
              <a:t>(</a:t>
            </a:r>
            <a:r>
              <a:rPr sz="900" spc="-160" dirty="0">
                <a:solidFill>
                  <a:srgbClr val="282828"/>
                </a:solidFill>
                <a:latin typeface="Arial"/>
                <a:cs typeface="Arial"/>
              </a:rPr>
              <a:t>err!</a:t>
            </a:r>
            <a:r>
              <a:rPr sz="900" spc="-140" dirty="0">
                <a:solidFill>
                  <a:srgbClr val="282828"/>
                </a:solidFill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4127" y="1048511"/>
            <a:ext cx="1207008" cy="11826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50592" y="1048511"/>
            <a:ext cx="1292352" cy="13411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90816" y="3072383"/>
            <a:ext cx="414527" cy="3413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98464" y="4230623"/>
            <a:ext cx="1011936" cy="914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27519" y="5852159"/>
            <a:ext cx="134111" cy="414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08632" y="2231135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>
                <a:moveTo>
                  <a:pt x="0" y="0"/>
                </a:moveTo>
                <a:lnTo>
                  <a:pt x="371856" y="0"/>
                </a:lnTo>
              </a:path>
            </a:pathLst>
          </a:custGeom>
          <a:ln w="27432">
            <a:solidFill>
              <a:srgbClr val="D4DB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75503" y="1091183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>
                <a:moveTo>
                  <a:pt x="0" y="0"/>
                </a:moveTo>
                <a:lnTo>
                  <a:pt x="844296" y="0"/>
                </a:lnTo>
              </a:path>
            </a:pathLst>
          </a:custGeom>
          <a:ln w="6096">
            <a:solidFill>
              <a:srgbClr val="7783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75503" y="1411224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>
                <a:moveTo>
                  <a:pt x="0" y="0"/>
                </a:moveTo>
                <a:lnTo>
                  <a:pt x="844296" y="0"/>
                </a:lnTo>
              </a:path>
            </a:pathLst>
          </a:custGeom>
          <a:ln w="6096">
            <a:solidFill>
              <a:srgbClr val="7783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62728" y="1615439"/>
            <a:ext cx="0" cy="424180"/>
          </a:xfrm>
          <a:custGeom>
            <a:avLst/>
            <a:gdLst/>
            <a:ahLst/>
            <a:cxnLst/>
            <a:rect l="l" t="t" r="r" b="b"/>
            <a:pathLst>
              <a:path h="424180">
                <a:moveTo>
                  <a:pt x="0" y="423672"/>
                </a:moveTo>
                <a:lnTo>
                  <a:pt x="0" y="0"/>
                </a:lnTo>
              </a:path>
            </a:pathLst>
          </a:custGeom>
          <a:ln w="6096">
            <a:solidFill>
              <a:srgbClr val="808C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62728" y="1618488"/>
            <a:ext cx="1073150" cy="0"/>
          </a:xfrm>
          <a:custGeom>
            <a:avLst/>
            <a:gdLst/>
            <a:ahLst/>
            <a:cxnLst/>
            <a:rect l="l" t="t" r="r" b="b"/>
            <a:pathLst>
              <a:path w="1073150">
                <a:moveTo>
                  <a:pt x="0" y="0"/>
                </a:moveTo>
                <a:lnTo>
                  <a:pt x="1072896" y="0"/>
                </a:lnTo>
              </a:path>
            </a:pathLst>
          </a:custGeom>
          <a:ln w="6096">
            <a:solidFill>
              <a:srgbClr val="6B74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62728" y="2036064"/>
            <a:ext cx="1073150" cy="0"/>
          </a:xfrm>
          <a:custGeom>
            <a:avLst/>
            <a:gdLst/>
            <a:ahLst/>
            <a:cxnLst/>
            <a:rect l="l" t="t" r="r" b="b"/>
            <a:pathLst>
              <a:path w="1073150">
                <a:moveTo>
                  <a:pt x="0" y="0"/>
                </a:moveTo>
                <a:lnTo>
                  <a:pt x="1072896" y="0"/>
                </a:lnTo>
              </a:path>
            </a:pathLst>
          </a:custGeom>
          <a:ln w="6096">
            <a:solidFill>
              <a:srgbClr val="7077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42559" y="224332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6096">
            <a:solidFill>
              <a:srgbClr val="6B70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42559" y="246430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9144">
            <a:solidFill>
              <a:srgbClr val="8087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32576" y="1615439"/>
            <a:ext cx="0" cy="424180"/>
          </a:xfrm>
          <a:custGeom>
            <a:avLst/>
            <a:gdLst/>
            <a:ahLst/>
            <a:cxnLst/>
            <a:rect l="l" t="t" r="r" b="b"/>
            <a:pathLst>
              <a:path h="424180">
                <a:moveTo>
                  <a:pt x="0" y="423672"/>
                </a:moveTo>
                <a:lnTo>
                  <a:pt x="0" y="0"/>
                </a:lnTo>
              </a:path>
            </a:pathLst>
          </a:custGeom>
          <a:ln w="6096">
            <a:solidFill>
              <a:srgbClr val="6B74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99888" y="2670048"/>
            <a:ext cx="3176270" cy="0"/>
          </a:xfrm>
          <a:custGeom>
            <a:avLst/>
            <a:gdLst/>
            <a:ahLst/>
            <a:cxnLst/>
            <a:rect l="l" t="t" r="r" b="b"/>
            <a:pathLst>
              <a:path w="3176270">
                <a:moveTo>
                  <a:pt x="0" y="0"/>
                </a:moveTo>
                <a:lnTo>
                  <a:pt x="3176016" y="0"/>
                </a:lnTo>
              </a:path>
            </a:pathLst>
          </a:custGeom>
          <a:ln w="6096">
            <a:solidFill>
              <a:srgbClr val="E497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02935" y="26670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ln w="6096">
            <a:solidFill>
              <a:srgbClr val="EBA0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43144" y="2822448"/>
            <a:ext cx="509270" cy="0"/>
          </a:xfrm>
          <a:custGeom>
            <a:avLst/>
            <a:gdLst/>
            <a:ahLst/>
            <a:cxnLst/>
            <a:rect l="l" t="t" r="r" b="b"/>
            <a:pathLst>
              <a:path w="509270">
                <a:moveTo>
                  <a:pt x="0" y="0"/>
                </a:moveTo>
                <a:lnTo>
                  <a:pt x="509015" y="0"/>
                </a:lnTo>
              </a:path>
            </a:pathLst>
          </a:custGeom>
          <a:ln w="6096">
            <a:solidFill>
              <a:srgbClr val="8387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53328" y="2822448"/>
            <a:ext cx="902335" cy="0"/>
          </a:xfrm>
          <a:custGeom>
            <a:avLst/>
            <a:gdLst/>
            <a:ahLst/>
            <a:cxnLst/>
            <a:rect l="l" t="t" r="r" b="b"/>
            <a:pathLst>
              <a:path w="902334">
                <a:moveTo>
                  <a:pt x="0" y="0"/>
                </a:moveTo>
                <a:lnTo>
                  <a:pt x="902207" y="0"/>
                </a:lnTo>
              </a:path>
            </a:pathLst>
          </a:custGeom>
          <a:ln w="6096">
            <a:solidFill>
              <a:srgbClr val="8387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56704" y="2773679"/>
            <a:ext cx="1073150" cy="0"/>
          </a:xfrm>
          <a:custGeom>
            <a:avLst/>
            <a:gdLst/>
            <a:ahLst/>
            <a:cxnLst/>
            <a:rect l="l" t="t" r="r" b="b"/>
            <a:pathLst>
              <a:path w="1073150">
                <a:moveTo>
                  <a:pt x="0" y="0"/>
                </a:moveTo>
                <a:lnTo>
                  <a:pt x="1072896" y="0"/>
                </a:lnTo>
              </a:path>
            </a:pathLst>
          </a:custGeom>
          <a:ln w="6096">
            <a:solidFill>
              <a:srgbClr val="8087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99888" y="3197351"/>
            <a:ext cx="2487295" cy="0"/>
          </a:xfrm>
          <a:custGeom>
            <a:avLst/>
            <a:gdLst/>
            <a:ahLst/>
            <a:cxnLst/>
            <a:rect l="l" t="t" r="r" b="b"/>
            <a:pathLst>
              <a:path w="2487295">
                <a:moveTo>
                  <a:pt x="0" y="0"/>
                </a:moveTo>
                <a:lnTo>
                  <a:pt x="2487167" y="0"/>
                </a:lnTo>
              </a:path>
            </a:pathLst>
          </a:custGeom>
          <a:ln w="6096">
            <a:solidFill>
              <a:srgbClr val="EB93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37503" y="3404615"/>
            <a:ext cx="1106805" cy="0"/>
          </a:xfrm>
          <a:custGeom>
            <a:avLst/>
            <a:gdLst/>
            <a:ahLst/>
            <a:cxnLst/>
            <a:rect l="l" t="t" r="r" b="b"/>
            <a:pathLst>
              <a:path w="1106804">
                <a:moveTo>
                  <a:pt x="0" y="0"/>
                </a:moveTo>
                <a:lnTo>
                  <a:pt x="1106424" y="0"/>
                </a:lnTo>
              </a:path>
            </a:pathLst>
          </a:custGeom>
          <a:ln w="6096">
            <a:solidFill>
              <a:srgbClr val="6B7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07608" y="3931920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647" y="0"/>
                </a:lnTo>
              </a:path>
            </a:pathLst>
          </a:custGeom>
          <a:ln w="6096">
            <a:solidFill>
              <a:srgbClr val="808C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87567" y="5504688"/>
            <a:ext cx="728980" cy="0"/>
          </a:xfrm>
          <a:custGeom>
            <a:avLst/>
            <a:gdLst/>
            <a:ahLst/>
            <a:cxnLst/>
            <a:rect l="l" t="t" r="r" b="b"/>
            <a:pathLst>
              <a:path w="728979">
                <a:moveTo>
                  <a:pt x="0" y="0"/>
                </a:moveTo>
                <a:lnTo>
                  <a:pt x="728472" y="0"/>
                </a:lnTo>
              </a:path>
            </a:pathLst>
          </a:custGeom>
          <a:ln w="6096">
            <a:solidFill>
              <a:srgbClr val="707C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17207" y="5504688"/>
            <a:ext cx="783590" cy="0"/>
          </a:xfrm>
          <a:custGeom>
            <a:avLst/>
            <a:gdLst/>
            <a:ahLst/>
            <a:cxnLst/>
            <a:rect l="l" t="t" r="r" b="b"/>
            <a:pathLst>
              <a:path w="783590">
                <a:moveTo>
                  <a:pt x="0" y="0"/>
                </a:moveTo>
                <a:lnTo>
                  <a:pt x="783336" y="0"/>
                </a:lnTo>
              </a:path>
            </a:pathLst>
          </a:custGeom>
          <a:ln w="6096">
            <a:solidFill>
              <a:srgbClr val="747C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87567" y="5727191"/>
            <a:ext cx="728980" cy="0"/>
          </a:xfrm>
          <a:custGeom>
            <a:avLst/>
            <a:gdLst/>
            <a:ahLst/>
            <a:cxnLst/>
            <a:rect l="l" t="t" r="r" b="b"/>
            <a:pathLst>
              <a:path w="728979">
                <a:moveTo>
                  <a:pt x="0" y="0"/>
                </a:moveTo>
                <a:lnTo>
                  <a:pt x="728472" y="0"/>
                </a:lnTo>
              </a:path>
            </a:pathLst>
          </a:custGeom>
          <a:ln w="6096">
            <a:solidFill>
              <a:srgbClr val="747C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17207" y="5727191"/>
            <a:ext cx="783590" cy="0"/>
          </a:xfrm>
          <a:custGeom>
            <a:avLst/>
            <a:gdLst/>
            <a:ahLst/>
            <a:cxnLst/>
            <a:rect l="l" t="t" r="r" b="b"/>
            <a:pathLst>
              <a:path w="783590">
                <a:moveTo>
                  <a:pt x="0" y="0"/>
                </a:moveTo>
                <a:lnTo>
                  <a:pt x="783336" y="0"/>
                </a:lnTo>
              </a:path>
            </a:pathLst>
          </a:custGeom>
          <a:ln w="6096">
            <a:solidFill>
              <a:srgbClr val="747C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71615" y="5934455"/>
            <a:ext cx="774700" cy="0"/>
          </a:xfrm>
          <a:custGeom>
            <a:avLst/>
            <a:gdLst/>
            <a:ahLst/>
            <a:cxnLst/>
            <a:rect l="l" t="t" r="r" b="b"/>
            <a:pathLst>
              <a:path w="774700">
                <a:moveTo>
                  <a:pt x="0" y="0"/>
                </a:moveTo>
                <a:lnTo>
                  <a:pt x="774191" y="0"/>
                </a:lnTo>
              </a:path>
            </a:pathLst>
          </a:custGeom>
          <a:ln w="6096">
            <a:solidFill>
              <a:srgbClr val="707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71615" y="625449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>
                <a:moveTo>
                  <a:pt x="0" y="0"/>
                </a:moveTo>
                <a:lnTo>
                  <a:pt x="865632" y="0"/>
                </a:lnTo>
              </a:path>
            </a:pathLst>
          </a:custGeom>
          <a:ln w="6096">
            <a:solidFill>
              <a:srgbClr val="707C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092952" y="6458711"/>
            <a:ext cx="826135" cy="0"/>
          </a:xfrm>
          <a:custGeom>
            <a:avLst/>
            <a:gdLst/>
            <a:ahLst/>
            <a:cxnLst/>
            <a:rect l="l" t="t" r="r" b="b"/>
            <a:pathLst>
              <a:path w="826134">
                <a:moveTo>
                  <a:pt x="0" y="0"/>
                </a:moveTo>
                <a:lnTo>
                  <a:pt x="826007" y="0"/>
                </a:lnTo>
              </a:path>
            </a:pathLst>
          </a:custGeom>
          <a:ln w="6096">
            <a:solidFill>
              <a:srgbClr val="778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92952" y="6681216"/>
            <a:ext cx="822960" cy="0"/>
          </a:xfrm>
          <a:custGeom>
            <a:avLst/>
            <a:gdLst/>
            <a:ahLst/>
            <a:cxnLst/>
            <a:rect l="l" t="t" r="r" b="b"/>
            <a:pathLst>
              <a:path w="822959">
                <a:moveTo>
                  <a:pt x="0" y="0"/>
                </a:moveTo>
                <a:lnTo>
                  <a:pt x="822959" y="0"/>
                </a:lnTo>
              </a:path>
            </a:pathLst>
          </a:custGeom>
          <a:ln w="6096">
            <a:solidFill>
              <a:srgbClr val="747C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372856" y="2670048"/>
            <a:ext cx="0" cy="530860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530351"/>
                </a:moveTo>
                <a:lnTo>
                  <a:pt x="0" y="0"/>
                </a:lnTo>
              </a:path>
            </a:pathLst>
          </a:custGeom>
          <a:ln w="6096">
            <a:solidFill>
              <a:srgbClr val="E89C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474724" y="802047"/>
            <a:ext cx="374015" cy="88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750" spc="-1989" dirty="0">
                <a:solidFill>
                  <a:srgbClr val="D1DBE8"/>
                </a:solidFill>
                <a:latin typeface="Courier New"/>
                <a:cs typeface="Courier New"/>
              </a:rPr>
              <a:t>L</a:t>
            </a:r>
            <a:r>
              <a:rPr sz="6750" spc="-3375" dirty="0">
                <a:solidFill>
                  <a:srgbClr val="D1DBE8"/>
                </a:solidFill>
                <a:latin typeface="Courier New"/>
                <a:cs typeface="Courier New"/>
              </a:rPr>
              <a:t>V</a:t>
            </a:r>
            <a:endParaRPr sz="67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16100" y="911035"/>
            <a:ext cx="760095" cy="781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065" algn="ctr">
              <a:lnSpc>
                <a:spcPts val="3585"/>
              </a:lnSpc>
            </a:pPr>
            <a:r>
              <a:rPr sz="3100" spc="-459" dirty="0">
                <a:solidFill>
                  <a:srgbClr val="D1DBE8"/>
                </a:solidFill>
                <a:latin typeface="Times New Roman"/>
                <a:cs typeface="Times New Roman"/>
              </a:rPr>
              <a:t>•</a:t>
            </a:r>
            <a:endParaRPr sz="3100">
              <a:latin typeface="Times New Roman"/>
              <a:cs typeface="Times New Roman"/>
            </a:endParaRPr>
          </a:p>
          <a:p>
            <a:pPr algn="ctr">
              <a:lnSpc>
                <a:spcPts val="2985"/>
              </a:lnSpc>
            </a:pPr>
            <a:r>
              <a:rPr sz="1450" dirty="0">
                <a:solidFill>
                  <a:srgbClr val="D1DBE8"/>
                </a:solidFill>
                <a:latin typeface="Arial"/>
                <a:cs typeface="Arial"/>
              </a:rPr>
              <a:t>-</a:t>
            </a:r>
            <a:r>
              <a:rPr sz="1450" spc="-200" dirty="0">
                <a:solidFill>
                  <a:srgbClr val="D1DBE8"/>
                </a:solidFill>
                <a:latin typeface="Arial"/>
                <a:cs typeface="Arial"/>
              </a:rPr>
              <a:t>-</a:t>
            </a:r>
            <a:r>
              <a:rPr sz="2600" spc="-459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1450" spc="-400" dirty="0">
                <a:solidFill>
                  <a:srgbClr val="D1DBE8"/>
                </a:solidFill>
                <a:latin typeface="Arial"/>
                <a:cs typeface="Arial"/>
              </a:rPr>
              <a:t>.</a:t>
            </a:r>
            <a:r>
              <a:rPr sz="2600" spc="-445" dirty="0">
                <a:solidFill>
                  <a:srgbClr val="D1DBE8"/>
                </a:solidFill>
                <a:latin typeface="Times New Roman"/>
                <a:cs typeface="Times New Roman"/>
              </a:rPr>
              <a:t>..</a:t>
            </a:r>
            <a:r>
              <a:rPr sz="2600" spc="-509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2600" spc="-125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2600" spc="-409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2600" spc="-125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2600" spc="-409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2600" spc="-125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2600" spc="-409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2600" u="sng" spc="-125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2600" spc="-125" dirty="0">
                <a:solidFill>
                  <a:srgbClr val="D1DBE8"/>
                </a:solidFill>
                <a:latin typeface="Times New Roman"/>
                <a:cs typeface="Times New Roman"/>
              </a:rPr>
              <a:t>.</a:t>
            </a:r>
            <a:r>
              <a:rPr sz="2600" spc="-170" dirty="0">
                <a:solidFill>
                  <a:srgbClr val="D1DBE8"/>
                </a:solidFill>
                <a:latin typeface="Times New Roman"/>
                <a:cs typeface="Times New Roman"/>
              </a:rPr>
              <a:t> </a:t>
            </a:r>
            <a:r>
              <a:rPr sz="1500" spc="-345" dirty="0">
                <a:solidFill>
                  <a:srgbClr val="D1DBE8"/>
                </a:solidFill>
                <a:latin typeface="Times New Roman"/>
                <a:cs typeface="Times New Roman"/>
              </a:rPr>
              <a:t>_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66875" y="2818567"/>
            <a:ext cx="2023745" cy="1060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485" marR="5080" indent="-58419">
              <a:lnSpc>
                <a:spcPct val="119400"/>
              </a:lnSpc>
            </a:pPr>
            <a:r>
              <a:rPr sz="3350" b="1" spc="75" dirty="0">
                <a:latin typeface="Arial"/>
                <a:cs typeface="Arial"/>
              </a:rPr>
              <a:t>Workf</a:t>
            </a:r>
            <a:r>
              <a:rPr sz="3350" b="1" spc="190" dirty="0">
                <a:latin typeface="Arial"/>
                <a:cs typeface="Arial"/>
              </a:rPr>
              <a:t>l</a:t>
            </a:r>
            <a:r>
              <a:rPr sz="3350" b="1" spc="-25" dirty="0">
                <a:latin typeface="Arial"/>
                <a:cs typeface="Arial"/>
              </a:rPr>
              <a:t>ow</a:t>
            </a:r>
            <a:r>
              <a:rPr sz="3350" b="1" spc="-10" dirty="0">
                <a:latin typeface="Arial"/>
                <a:cs typeface="Arial"/>
              </a:rPr>
              <a:t> </a:t>
            </a:r>
            <a:r>
              <a:rPr sz="3350" b="1" spc="45" dirty="0">
                <a:latin typeface="Arial"/>
                <a:cs typeface="Arial"/>
              </a:rPr>
              <a:t>Pipel</a:t>
            </a:r>
            <a:r>
              <a:rPr sz="3350" b="1" spc="155" dirty="0">
                <a:latin typeface="Arial"/>
                <a:cs typeface="Arial"/>
              </a:rPr>
              <a:t>i</a:t>
            </a:r>
            <a:r>
              <a:rPr sz="3350" b="1" spc="80" dirty="0">
                <a:latin typeface="Arial"/>
                <a:cs typeface="Arial"/>
              </a:rPr>
              <a:t>n</a:t>
            </a:r>
            <a:r>
              <a:rPr sz="3350" b="1" spc="45" dirty="0">
                <a:latin typeface="Arial"/>
                <a:cs typeface="Arial"/>
              </a:rPr>
              <a:t>e</a:t>
            </a:r>
            <a:r>
              <a:rPr sz="3350" b="1" spc="375" dirty="0">
                <a:latin typeface="Arial"/>
                <a:cs typeface="Arial"/>
              </a:rPr>
              <a:t>:</a:t>
            </a:r>
            <a:endParaRPr sz="3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08908" y="1027554"/>
            <a:ext cx="10604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spc="315" dirty="0">
                <a:solidFill>
                  <a:srgbClr val="D1DBE8"/>
                </a:solidFill>
                <a:latin typeface="Arial"/>
                <a:cs typeface="Arial"/>
              </a:rPr>
              <a:t>'</a:t>
            </a:r>
            <a:endParaRPr sz="16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94252" y="1209781"/>
            <a:ext cx="305435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00" i="1" spc="20" dirty="0">
                <a:solidFill>
                  <a:srgbClr val="D1DBE8"/>
                </a:solidFill>
                <a:latin typeface="Arial"/>
                <a:cs typeface="Arial"/>
              </a:rPr>
              <a:t>+</a:t>
            </a:r>
            <a:endParaRPr sz="3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93867" y="1163238"/>
            <a:ext cx="61341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" spc="20" dirty="0">
                <a:solidFill>
                  <a:srgbClr val="525B60"/>
                </a:solidFill>
                <a:latin typeface="Arial"/>
                <a:cs typeface="Arial"/>
              </a:rPr>
              <a:t>Raw</a:t>
            </a:r>
            <a:r>
              <a:rPr sz="450" spc="1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spc="25" dirty="0">
                <a:solidFill>
                  <a:srgbClr val="646D70"/>
                </a:solidFill>
                <a:latin typeface="Arial"/>
                <a:cs typeface="Arial"/>
              </a:rPr>
              <a:t>Clinical</a:t>
            </a:r>
            <a:r>
              <a:rPr sz="450" spc="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30" dirty="0">
                <a:solidFill>
                  <a:srgbClr val="646D70"/>
                </a:solidFill>
                <a:latin typeface="Arial"/>
                <a:cs typeface="Arial"/>
              </a:rPr>
              <a:t>Sample</a:t>
            </a:r>
            <a:endParaRPr sz="450">
              <a:latin typeface="Arial"/>
              <a:cs typeface="Arial"/>
            </a:endParaRPr>
          </a:p>
          <a:p>
            <a:pPr marL="64135">
              <a:lnSpc>
                <a:spcPct val="100000"/>
              </a:lnSpc>
              <a:spcBef>
                <a:spcPts val="175"/>
              </a:spcBef>
            </a:pPr>
            <a:r>
              <a:rPr sz="500" spc="0" dirty="0">
                <a:solidFill>
                  <a:srgbClr val="646D70"/>
                </a:solidFill>
                <a:latin typeface="Arial"/>
                <a:cs typeface="Arial"/>
              </a:rPr>
              <a:t>e</a:t>
            </a:r>
            <a:r>
              <a:rPr sz="500" spc="-25" dirty="0">
                <a:solidFill>
                  <a:srgbClr val="7B858E"/>
                </a:solidFill>
                <a:latin typeface="Arial"/>
                <a:cs typeface="Arial"/>
              </a:rPr>
              <a:t>.</a:t>
            </a:r>
            <a:r>
              <a:rPr sz="500" spc="30" dirty="0">
                <a:solidFill>
                  <a:srgbClr val="646D70"/>
                </a:solidFill>
                <a:latin typeface="Arial"/>
                <a:cs typeface="Arial"/>
              </a:rPr>
              <a:t>g</a:t>
            </a:r>
            <a:r>
              <a:rPr sz="500" spc="-45" dirty="0">
                <a:solidFill>
                  <a:srgbClr val="7B858E"/>
                </a:solidFill>
                <a:latin typeface="Arial"/>
                <a:cs typeface="Arial"/>
              </a:rPr>
              <a:t>.</a:t>
            </a:r>
            <a:r>
              <a:rPr sz="500" spc="45" dirty="0">
                <a:solidFill>
                  <a:srgbClr val="646D70"/>
                </a:solidFill>
                <a:latin typeface="Arial"/>
                <a:cs typeface="Arial"/>
              </a:rPr>
              <a:t>,</a:t>
            </a:r>
            <a:r>
              <a:rPr sz="500" spc="-6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500" spc="-5" dirty="0">
                <a:solidFill>
                  <a:srgbClr val="525B60"/>
                </a:solidFill>
                <a:latin typeface="Arial"/>
                <a:cs typeface="Arial"/>
              </a:rPr>
              <a:t>Blood,</a:t>
            </a:r>
            <a:r>
              <a:rPr sz="500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6D70"/>
                </a:solidFill>
                <a:latin typeface="Arial"/>
                <a:cs typeface="Arial"/>
              </a:rPr>
              <a:t>Urine</a:t>
            </a:r>
            <a:endParaRPr sz="5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62728" y="1618488"/>
            <a:ext cx="106997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9075" marR="207010" indent="1270" algn="ctr">
              <a:lnSpc>
                <a:spcPct val="136900"/>
              </a:lnSpc>
            </a:pPr>
            <a:r>
              <a:rPr sz="500" spc="-5" dirty="0">
                <a:solidFill>
                  <a:srgbClr val="646D70"/>
                </a:solidFill>
                <a:latin typeface="Arial"/>
                <a:cs typeface="Arial"/>
              </a:rPr>
              <a:t>Step</a:t>
            </a:r>
            <a:r>
              <a:rPr sz="500" spc="30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525B60"/>
                </a:solidFill>
                <a:latin typeface="Arial"/>
                <a:cs typeface="Arial"/>
              </a:rPr>
              <a:t>1</a:t>
            </a:r>
            <a:r>
              <a:rPr sz="500" spc="95" dirty="0">
                <a:solidFill>
                  <a:srgbClr val="7B858E"/>
                </a:solidFill>
                <a:latin typeface="Arial"/>
                <a:cs typeface="Arial"/>
              </a:rPr>
              <a:t>:</a:t>
            </a:r>
            <a:r>
              <a:rPr sz="500" dirty="0">
                <a:solidFill>
                  <a:srgbClr val="646D70"/>
                </a:solidFill>
                <a:latin typeface="Arial"/>
                <a:cs typeface="Arial"/>
              </a:rPr>
              <a:t>Sample</a:t>
            </a:r>
            <a:r>
              <a:rPr sz="500" spc="4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500" spc="-50" dirty="0">
                <a:solidFill>
                  <a:srgbClr val="525B60"/>
                </a:solidFill>
                <a:latin typeface="Arial"/>
                <a:cs typeface="Arial"/>
              </a:rPr>
              <a:t>Pre-­</a:t>
            </a:r>
            <a:r>
              <a:rPr sz="500" spc="-30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spc="30" dirty="0">
                <a:solidFill>
                  <a:srgbClr val="525B60"/>
                </a:solidFill>
                <a:latin typeface="Arial"/>
                <a:cs typeface="Arial"/>
              </a:rPr>
              <a:t>processing</a:t>
            </a:r>
            <a:r>
              <a:rPr sz="450" spc="1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spc="30" dirty="0">
                <a:solidFill>
                  <a:srgbClr val="646D70"/>
                </a:solidFill>
                <a:latin typeface="Arial"/>
                <a:cs typeface="Arial"/>
              </a:rPr>
              <a:t>Centrifugation</a:t>
            </a:r>
            <a:r>
              <a:rPr sz="450" spc="3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646D70"/>
                </a:solidFill>
                <a:latin typeface="Arial"/>
                <a:cs typeface="Arial"/>
              </a:rPr>
              <a:t>&amp;</a:t>
            </a:r>
            <a:r>
              <a:rPr sz="500" spc="2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15" dirty="0">
                <a:solidFill>
                  <a:srgbClr val="525B60"/>
                </a:solidFill>
                <a:latin typeface="Arial"/>
                <a:cs typeface="Arial"/>
              </a:rPr>
              <a:t>Lysis</a:t>
            </a:r>
            <a:endParaRPr sz="4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57876" y="2315382"/>
            <a:ext cx="481330" cy="82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" spc="20" dirty="0">
                <a:solidFill>
                  <a:srgbClr val="646D70"/>
                </a:solidFill>
                <a:latin typeface="Arial"/>
                <a:cs typeface="Arial"/>
              </a:rPr>
              <a:t>Treated</a:t>
            </a:r>
            <a:r>
              <a:rPr sz="450" spc="50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25" dirty="0">
                <a:solidFill>
                  <a:srgbClr val="646D70"/>
                </a:solidFill>
                <a:latin typeface="Arial"/>
                <a:cs typeface="Arial"/>
              </a:rPr>
              <a:t>Sample</a:t>
            </a:r>
            <a:endParaRPr sz="4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43144" y="2905105"/>
            <a:ext cx="517525" cy="63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5"/>
              </a:lnSpc>
              <a:tabLst>
                <a:tab pos="516890" algn="l"/>
              </a:tabLst>
            </a:pPr>
            <a:r>
              <a:rPr sz="500" u="sng" spc="-5" dirty="0">
                <a:solidFill>
                  <a:srgbClr val="525B60"/>
                </a:solidFill>
                <a:latin typeface="Arial"/>
                <a:cs typeface="Arial"/>
              </a:rPr>
              <a:t>       </a:t>
            </a:r>
            <a:r>
              <a:rPr sz="500" u="sng" spc="-20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500" u="sng" spc="5" dirty="0">
                <a:solidFill>
                  <a:srgbClr val="525B60"/>
                </a:solidFill>
                <a:latin typeface="Arial"/>
                <a:cs typeface="Arial"/>
              </a:rPr>
              <a:t>Filtration</a:t>
            </a:r>
            <a:r>
              <a:rPr sz="500" u="sng" spc="-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500" u="sng" dirty="0">
                <a:solidFill>
                  <a:srgbClr val="525B60"/>
                </a:solidFill>
                <a:latin typeface="Arial"/>
                <a:cs typeface="Arial"/>
              </a:rPr>
              <a:t>	</a:t>
            </a:r>
            <a:endParaRPr sz="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92240" y="2693842"/>
            <a:ext cx="594360" cy="5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450" spc="25" dirty="0">
                <a:solidFill>
                  <a:srgbClr val="79605D"/>
                </a:solidFill>
                <a:latin typeface="Arial"/>
                <a:cs typeface="Arial"/>
              </a:rPr>
              <a:t>Choose</a:t>
            </a:r>
            <a:r>
              <a:rPr sz="450" spc="45" dirty="0">
                <a:solidFill>
                  <a:srgbClr val="79605D"/>
                </a:solidFill>
                <a:latin typeface="Arial"/>
                <a:cs typeface="Arial"/>
              </a:rPr>
              <a:t> </a:t>
            </a:r>
            <a:r>
              <a:rPr sz="450" spc="10" dirty="0">
                <a:solidFill>
                  <a:srgbClr val="79605D"/>
                </a:solidFill>
                <a:latin typeface="Arial"/>
                <a:cs typeface="Arial"/>
              </a:rPr>
              <a:t>One</a:t>
            </a:r>
            <a:r>
              <a:rPr sz="450" spc="35" dirty="0">
                <a:solidFill>
                  <a:srgbClr val="79605D"/>
                </a:solidFill>
                <a:latin typeface="Arial"/>
                <a:cs typeface="Arial"/>
              </a:rPr>
              <a:t> Method</a:t>
            </a:r>
            <a:endParaRPr sz="4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53328" y="2910250"/>
            <a:ext cx="908685" cy="5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  <a:tabLst>
                <a:tab pos="908050" algn="l"/>
              </a:tabLst>
            </a:pPr>
            <a:r>
              <a:rPr sz="450" u="sng" spc="-5" dirty="0">
                <a:solidFill>
                  <a:srgbClr val="525B60"/>
                </a:solidFill>
                <a:latin typeface="Arial"/>
                <a:cs typeface="Arial"/>
              </a:rPr>
              <a:t>        </a:t>
            </a:r>
            <a:r>
              <a:rPr sz="450" u="sng" spc="-4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u="sng" spc="20" dirty="0">
                <a:solidFill>
                  <a:srgbClr val="525B60"/>
                </a:solidFill>
                <a:latin typeface="Arial"/>
                <a:cs typeface="Arial"/>
              </a:rPr>
              <a:t>Density</a:t>
            </a:r>
            <a:r>
              <a:rPr sz="450" u="sng" spc="2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u="sng" spc="30" dirty="0">
                <a:solidFill>
                  <a:srgbClr val="646D70"/>
                </a:solidFill>
                <a:latin typeface="Arial"/>
                <a:cs typeface="Arial"/>
              </a:rPr>
              <a:t>Centrifugation</a:t>
            </a:r>
            <a:r>
              <a:rPr sz="450" u="sng" spc="-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u="sng" dirty="0">
                <a:solidFill>
                  <a:srgbClr val="646D70"/>
                </a:solidFill>
                <a:latin typeface="Arial"/>
                <a:cs typeface="Arial"/>
              </a:rPr>
              <a:t>	</a:t>
            </a:r>
            <a:endParaRPr sz="4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31023" y="2856337"/>
            <a:ext cx="50800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" spc="10" dirty="0">
                <a:solidFill>
                  <a:srgbClr val="525B60"/>
                </a:solidFill>
                <a:latin typeface="Arial"/>
                <a:cs typeface="Arial"/>
              </a:rPr>
              <a:t>lmmunomagnetic</a:t>
            </a:r>
            <a:endParaRPr sz="500">
              <a:latin typeface="Arial"/>
              <a:cs typeface="Arial"/>
            </a:endParaRPr>
          </a:p>
          <a:p>
            <a:pPr marL="17780" algn="ctr">
              <a:lnSpc>
                <a:spcPts val="535"/>
              </a:lnSpc>
              <a:spcBef>
                <a:spcPts val="215"/>
              </a:spcBef>
            </a:pPr>
            <a:r>
              <a:rPr sz="450" spc="25" dirty="0">
                <a:solidFill>
                  <a:srgbClr val="646D70"/>
                </a:solidFill>
                <a:latin typeface="Arial"/>
                <a:cs typeface="Arial"/>
              </a:rPr>
              <a:t>Separation</a:t>
            </a:r>
            <a:endParaRPr sz="4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55284" y="3476670"/>
            <a:ext cx="110807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2440" marR="5080" indent="-460375">
              <a:lnSpc>
                <a:spcPct val="142200"/>
              </a:lnSpc>
              <a:tabLst>
                <a:tab pos="216535" algn="l"/>
                <a:tab pos="1094740" algn="l"/>
              </a:tabLst>
            </a:pPr>
            <a:r>
              <a:rPr sz="450" u="sng" spc="-5" dirty="0">
                <a:solidFill>
                  <a:srgbClr val="525B60"/>
                </a:solidFill>
                <a:latin typeface="Arial"/>
                <a:cs typeface="Arial"/>
              </a:rPr>
              <a:t> 	</a:t>
            </a:r>
            <a:r>
              <a:rPr sz="450" u="sng" spc="25" dirty="0">
                <a:solidFill>
                  <a:srgbClr val="525B60"/>
                </a:solidFill>
                <a:latin typeface="Arial"/>
                <a:cs typeface="Arial"/>
              </a:rPr>
              <a:t>Concentrated</a:t>
            </a:r>
            <a:r>
              <a:rPr sz="450" u="sng" spc="-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u="sng" spc="-1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u="sng" spc="25" dirty="0">
                <a:solidFill>
                  <a:srgbClr val="525B60"/>
                </a:solidFill>
                <a:latin typeface="Arial"/>
                <a:cs typeface="Arial"/>
              </a:rPr>
              <a:t>Bacterial</a:t>
            </a:r>
            <a:r>
              <a:rPr sz="450" u="sng" spc="-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u="sng" dirty="0">
                <a:solidFill>
                  <a:srgbClr val="525B60"/>
                </a:solidFill>
                <a:latin typeface="Arial"/>
                <a:cs typeface="Arial"/>
              </a:rPr>
              <a:t>	</a:t>
            </a:r>
            <a:r>
              <a:rPr sz="450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spc="15" dirty="0">
                <a:solidFill>
                  <a:srgbClr val="525B60"/>
                </a:solidFill>
                <a:latin typeface="Arial"/>
                <a:cs typeface="Arial"/>
              </a:rPr>
              <a:t>Pellet</a:t>
            </a:r>
            <a:endParaRPr sz="4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22923" y="4003974"/>
            <a:ext cx="763270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 marR="5080" indent="-15240">
              <a:lnSpc>
                <a:spcPct val="142200"/>
              </a:lnSpc>
            </a:pPr>
            <a:r>
              <a:rPr sz="450" spc="25" dirty="0">
                <a:solidFill>
                  <a:srgbClr val="646D70"/>
                </a:solidFill>
                <a:latin typeface="Arial"/>
                <a:cs typeface="Arial"/>
              </a:rPr>
              <a:t>Step</a:t>
            </a:r>
            <a:r>
              <a:rPr sz="450" spc="1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60" dirty="0">
                <a:solidFill>
                  <a:srgbClr val="646D70"/>
                </a:solidFill>
                <a:latin typeface="Arial"/>
                <a:cs typeface="Arial"/>
              </a:rPr>
              <a:t>3</a:t>
            </a:r>
            <a:r>
              <a:rPr sz="450" spc="5" dirty="0">
                <a:solidFill>
                  <a:srgbClr val="7B858E"/>
                </a:solidFill>
                <a:latin typeface="Arial"/>
                <a:cs typeface="Arial"/>
              </a:rPr>
              <a:t>:</a:t>
            </a:r>
            <a:r>
              <a:rPr sz="450" spc="-20" dirty="0">
                <a:solidFill>
                  <a:srgbClr val="7B858E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646D70"/>
                </a:solidFill>
                <a:latin typeface="Arial"/>
                <a:cs typeface="Arial"/>
              </a:rPr>
              <a:t>SJgnal</a:t>
            </a:r>
            <a:r>
              <a:rPr sz="450" spc="20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30" dirty="0">
                <a:solidFill>
                  <a:srgbClr val="646D70"/>
                </a:solidFill>
                <a:latin typeface="Arial"/>
                <a:cs typeface="Arial"/>
              </a:rPr>
              <a:t>Acquisition</a:t>
            </a:r>
            <a:r>
              <a:rPr sz="450" spc="20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40" dirty="0">
                <a:solidFill>
                  <a:srgbClr val="525B60"/>
                </a:solidFill>
                <a:latin typeface="Arial"/>
                <a:cs typeface="Arial"/>
              </a:rPr>
              <a:t>Mix</a:t>
            </a:r>
            <a:r>
              <a:rPr sz="450" spc="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spc="30" dirty="0">
                <a:solidFill>
                  <a:srgbClr val="646D70"/>
                </a:solidFill>
                <a:latin typeface="Arial"/>
                <a:cs typeface="Arial"/>
              </a:rPr>
              <a:t>with</a:t>
            </a:r>
            <a:r>
              <a:rPr sz="450" spc="1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-5" dirty="0">
                <a:solidFill>
                  <a:srgbClr val="646D70"/>
                </a:solidFill>
                <a:latin typeface="Arial"/>
                <a:cs typeface="Arial"/>
              </a:rPr>
              <a:t>SERS</a:t>
            </a:r>
            <a:r>
              <a:rPr sz="450" spc="1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25" dirty="0">
                <a:solidFill>
                  <a:srgbClr val="646D70"/>
                </a:solidFill>
                <a:latin typeface="Arial"/>
                <a:cs typeface="Arial"/>
              </a:rPr>
              <a:t>Substrate</a:t>
            </a:r>
            <a:endParaRPr sz="4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48020" y="5214030"/>
            <a:ext cx="613410" cy="183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2065">
              <a:lnSpc>
                <a:spcPct val="146700"/>
              </a:lnSpc>
            </a:pPr>
            <a:r>
              <a:rPr sz="450" spc="25" dirty="0">
                <a:solidFill>
                  <a:srgbClr val="525B60"/>
                </a:solidFill>
                <a:latin typeface="Arial"/>
                <a:cs typeface="Arial"/>
              </a:rPr>
              <a:t>Universal</a:t>
            </a:r>
            <a:r>
              <a:rPr sz="450" spc="30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450" spc="25" dirty="0">
                <a:solidFill>
                  <a:srgbClr val="646D70"/>
                </a:solidFill>
                <a:latin typeface="Arial"/>
                <a:cs typeface="Arial"/>
              </a:rPr>
              <a:t>Detection</a:t>
            </a:r>
            <a:r>
              <a:rPr sz="450" spc="1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20" dirty="0">
                <a:solidFill>
                  <a:srgbClr val="646D70"/>
                </a:solidFill>
                <a:latin typeface="Arial"/>
                <a:cs typeface="Arial"/>
              </a:rPr>
              <a:t>Direct </a:t>
            </a:r>
            <a:r>
              <a:rPr sz="450" spc="25" dirty="0">
                <a:solidFill>
                  <a:srgbClr val="646D70"/>
                </a:solidFill>
                <a:latin typeface="Arial"/>
                <a:cs typeface="Arial"/>
              </a:rPr>
              <a:t>Fingerprinting</a:t>
            </a:r>
            <a:endParaRPr sz="4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35571" y="5217078"/>
            <a:ext cx="55054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 marR="5080" indent="-85725">
              <a:lnSpc>
                <a:spcPct val="142200"/>
              </a:lnSpc>
            </a:pPr>
            <a:r>
              <a:rPr sz="450" spc="20" dirty="0">
                <a:solidFill>
                  <a:srgbClr val="646D70"/>
                </a:solidFill>
                <a:latin typeface="Arial"/>
                <a:cs typeface="Arial"/>
              </a:rPr>
              <a:t>Specific </a:t>
            </a:r>
            <a:r>
              <a:rPr sz="450" spc="-6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25" dirty="0">
                <a:solidFill>
                  <a:srgbClr val="646D70"/>
                </a:solidFill>
                <a:latin typeface="Arial"/>
                <a:cs typeface="Arial"/>
              </a:rPr>
              <a:t>Detection Pathogen</a:t>
            </a:r>
            <a:r>
              <a:rPr sz="450" spc="30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5" dirty="0">
                <a:solidFill>
                  <a:srgbClr val="646D70"/>
                </a:solidFill>
                <a:latin typeface="Arial"/>
                <a:cs typeface="Arial"/>
              </a:rPr>
              <a:t>ID</a:t>
            </a:r>
            <a:endParaRPr sz="4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05932" y="5571597"/>
            <a:ext cx="497840" cy="8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0" spc="-10" dirty="0">
                <a:solidFill>
                  <a:srgbClr val="525B60"/>
                </a:solidFill>
                <a:latin typeface="Arial"/>
                <a:cs typeface="Arial"/>
              </a:rPr>
              <a:t>Label-Free</a:t>
            </a:r>
            <a:r>
              <a:rPr sz="500" spc="10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500" spc="-45" dirty="0">
                <a:solidFill>
                  <a:srgbClr val="646D70"/>
                </a:solidFill>
                <a:latin typeface="Arial"/>
                <a:cs typeface="Arial"/>
              </a:rPr>
              <a:t>SERS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35571" y="5566451"/>
            <a:ext cx="552450" cy="95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50" spc="-30" dirty="0">
                <a:solidFill>
                  <a:srgbClr val="525B60"/>
                </a:solidFill>
                <a:latin typeface="Arial"/>
                <a:cs typeface="Arial"/>
              </a:rPr>
              <a:t>Labe</a:t>
            </a:r>
            <a:r>
              <a:rPr sz="550" spc="-20" dirty="0">
                <a:solidFill>
                  <a:srgbClr val="525B60"/>
                </a:solidFill>
                <a:latin typeface="Arial"/>
                <a:cs typeface="Arial"/>
              </a:rPr>
              <a:t>l</a:t>
            </a:r>
            <a:r>
              <a:rPr sz="550" spc="-20" dirty="0">
                <a:solidFill>
                  <a:srgbClr val="7B858E"/>
                </a:solidFill>
                <a:latin typeface="Arial"/>
                <a:cs typeface="Arial"/>
              </a:rPr>
              <a:t>-</a:t>
            </a:r>
            <a:r>
              <a:rPr sz="550" spc="-35" dirty="0">
                <a:solidFill>
                  <a:srgbClr val="525B60"/>
                </a:solidFill>
                <a:latin typeface="Arial"/>
                <a:cs typeface="Arial"/>
              </a:rPr>
              <a:t>Based</a:t>
            </a:r>
            <a:r>
              <a:rPr sz="550" spc="-1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550" spc="-80" dirty="0">
                <a:solidFill>
                  <a:srgbClr val="646D70"/>
                </a:solidFill>
                <a:latin typeface="Arial"/>
                <a:cs typeface="Arial"/>
              </a:rPr>
              <a:t>SERS</a:t>
            </a:r>
            <a:endParaRPr sz="5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186932" y="6006510"/>
            <a:ext cx="63246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" spc="25" dirty="0">
                <a:solidFill>
                  <a:srgbClr val="646D70"/>
                </a:solidFill>
                <a:latin typeface="Arial"/>
                <a:cs typeface="Arial"/>
              </a:rPr>
              <a:t>Step</a:t>
            </a:r>
            <a:r>
              <a:rPr sz="450" spc="-10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55" dirty="0">
                <a:solidFill>
                  <a:srgbClr val="525B60"/>
                </a:solidFill>
                <a:latin typeface="Arial"/>
                <a:cs typeface="Arial"/>
              </a:rPr>
              <a:t>4</a:t>
            </a:r>
            <a:r>
              <a:rPr sz="450" spc="70" dirty="0">
                <a:solidFill>
                  <a:srgbClr val="7B858E"/>
                </a:solidFill>
                <a:latin typeface="Arial"/>
                <a:cs typeface="Arial"/>
              </a:rPr>
              <a:t>:</a:t>
            </a:r>
            <a:r>
              <a:rPr sz="450" spc="-60" dirty="0">
                <a:solidFill>
                  <a:srgbClr val="7B858E"/>
                </a:solidFill>
                <a:latin typeface="Arial"/>
                <a:cs typeface="Arial"/>
              </a:rPr>
              <a:t> </a:t>
            </a:r>
            <a:r>
              <a:rPr sz="450" spc="20" dirty="0">
                <a:solidFill>
                  <a:srgbClr val="646D70"/>
                </a:solidFill>
                <a:latin typeface="Arial"/>
                <a:cs typeface="Arial"/>
              </a:rPr>
              <a:t>Data</a:t>
            </a:r>
            <a:r>
              <a:rPr sz="450" spc="5" dirty="0">
                <a:solidFill>
                  <a:srgbClr val="646D70"/>
                </a:solidFill>
                <a:latin typeface="Arial"/>
                <a:cs typeface="Arial"/>
              </a:rPr>
              <a:t> </a:t>
            </a:r>
            <a:r>
              <a:rPr sz="450" spc="20" dirty="0">
                <a:solidFill>
                  <a:srgbClr val="646D70"/>
                </a:solidFill>
                <a:latin typeface="Arial"/>
                <a:cs typeface="Arial"/>
              </a:rPr>
              <a:t>Analysis</a:t>
            </a:r>
            <a:endParaRPr sz="450">
              <a:latin typeface="Arial"/>
              <a:cs typeface="Arial"/>
            </a:endParaRPr>
          </a:p>
          <a:p>
            <a:pPr marL="57785">
              <a:lnSpc>
                <a:spcPct val="100000"/>
              </a:lnSpc>
              <a:spcBef>
                <a:spcPts val="175"/>
              </a:spcBef>
            </a:pPr>
            <a:r>
              <a:rPr sz="500" spc="5" dirty="0">
                <a:solidFill>
                  <a:srgbClr val="646D70"/>
                </a:solidFill>
                <a:latin typeface="Arial"/>
                <a:cs typeface="Arial"/>
              </a:rPr>
              <a:t>A</a:t>
            </a:r>
            <a:r>
              <a:rPr sz="500" spc="20" dirty="0">
                <a:solidFill>
                  <a:srgbClr val="646D70"/>
                </a:solidFill>
                <a:latin typeface="Arial"/>
                <a:cs typeface="Arial"/>
              </a:rPr>
              <a:t>l</a:t>
            </a:r>
            <a:r>
              <a:rPr sz="500" spc="25" dirty="0">
                <a:solidFill>
                  <a:srgbClr val="7B858E"/>
                </a:solidFill>
                <a:latin typeface="Arial"/>
                <a:cs typeface="Arial"/>
              </a:rPr>
              <a:t>/</a:t>
            </a:r>
            <a:r>
              <a:rPr sz="500" spc="-90" dirty="0">
                <a:solidFill>
                  <a:srgbClr val="7B858E"/>
                </a:solidFill>
                <a:latin typeface="Arial"/>
                <a:cs typeface="Arial"/>
              </a:rPr>
              <a:t> </a:t>
            </a:r>
            <a:r>
              <a:rPr sz="500" spc="130" dirty="0">
                <a:solidFill>
                  <a:srgbClr val="525B60"/>
                </a:solidFill>
                <a:latin typeface="Arial"/>
                <a:cs typeface="Arial"/>
              </a:rPr>
              <a:t>Ml</a:t>
            </a:r>
            <a:r>
              <a:rPr sz="500" spc="-75" dirty="0">
                <a:solidFill>
                  <a:srgbClr val="525B6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525B60"/>
                </a:solidFill>
                <a:latin typeface="Arial"/>
                <a:cs typeface="Arial"/>
              </a:rPr>
              <a:t>Processing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211315" y="6533814"/>
            <a:ext cx="596900" cy="82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50" spc="15" dirty="0">
                <a:solidFill>
                  <a:srgbClr val="525B60"/>
                </a:solidFill>
                <a:latin typeface="Arial"/>
                <a:cs typeface="Arial"/>
              </a:rPr>
              <a:t>Resul</a:t>
            </a:r>
            <a:r>
              <a:rPr sz="450" spc="60" dirty="0">
                <a:solidFill>
                  <a:srgbClr val="525B60"/>
                </a:solidFill>
                <a:latin typeface="Arial"/>
                <a:cs typeface="Arial"/>
              </a:rPr>
              <a:t>t</a:t>
            </a:r>
            <a:r>
              <a:rPr sz="450" spc="5" dirty="0">
                <a:solidFill>
                  <a:srgbClr val="7B858E"/>
                </a:solidFill>
                <a:latin typeface="Arial"/>
                <a:cs typeface="Arial"/>
              </a:rPr>
              <a:t>:</a:t>
            </a:r>
            <a:r>
              <a:rPr sz="450" spc="-20" dirty="0">
                <a:solidFill>
                  <a:srgbClr val="7B858E"/>
                </a:solidFill>
                <a:latin typeface="Arial"/>
                <a:cs typeface="Arial"/>
              </a:rPr>
              <a:t> </a:t>
            </a:r>
            <a:r>
              <a:rPr sz="450" spc="30" dirty="0">
                <a:solidFill>
                  <a:srgbClr val="525B60"/>
                </a:solidFill>
                <a:latin typeface="Arial"/>
                <a:cs typeface="Arial"/>
              </a:rPr>
              <a:t>Pathogen </a:t>
            </a:r>
            <a:r>
              <a:rPr sz="450" spc="5" dirty="0">
                <a:solidFill>
                  <a:srgbClr val="525B60"/>
                </a:solidFill>
                <a:latin typeface="Arial"/>
                <a:cs typeface="Arial"/>
              </a:rPr>
              <a:t>ID</a:t>
            </a:r>
            <a:endParaRPr sz="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3311" y="2596895"/>
            <a:ext cx="7339584" cy="1280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1391" y="1048511"/>
            <a:ext cx="158496" cy="8046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7424" y="1048511"/>
            <a:ext cx="85343" cy="4267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67583" y="1121663"/>
            <a:ext cx="780288" cy="2072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3344" y="1816607"/>
            <a:ext cx="499871" cy="390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38015" y="4328159"/>
            <a:ext cx="2157984" cy="1938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9295" y="4328159"/>
            <a:ext cx="2133600" cy="19385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42948" y="816589"/>
            <a:ext cx="2072005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78535" algn="l"/>
                <a:tab pos="1978025" algn="l"/>
              </a:tabLst>
            </a:pPr>
            <a:r>
              <a:rPr sz="3700" i="1" spc="35" dirty="0">
                <a:solidFill>
                  <a:srgbClr val="D3DDE8"/>
                </a:solidFill>
                <a:latin typeface="Arial"/>
                <a:cs typeface="Arial"/>
              </a:rPr>
              <a:t>v</a:t>
            </a:r>
            <a:r>
              <a:rPr sz="3700" i="1" spc="155" dirty="0">
                <a:solidFill>
                  <a:srgbClr val="D3DDE8"/>
                </a:solidFill>
                <a:latin typeface="Arial"/>
                <a:cs typeface="Arial"/>
              </a:rPr>
              <a:t> </a:t>
            </a:r>
            <a:r>
              <a:rPr sz="3700" spc="204" dirty="0">
                <a:solidFill>
                  <a:srgbClr val="D3DDE8"/>
                </a:solidFill>
                <a:latin typeface="Arial"/>
                <a:cs typeface="Arial"/>
              </a:rPr>
              <a:t>.</a:t>
            </a:r>
            <a:r>
              <a:rPr sz="3700" spc="-495" dirty="0">
                <a:solidFill>
                  <a:srgbClr val="D3DDE8"/>
                </a:solidFill>
                <a:latin typeface="Arial"/>
                <a:cs typeface="Arial"/>
              </a:rPr>
              <a:t> </a:t>
            </a:r>
            <a:r>
              <a:rPr sz="1750" i="1" spc="35" dirty="0">
                <a:solidFill>
                  <a:srgbClr val="D3DDE8"/>
                </a:solidFill>
                <a:latin typeface="Arial"/>
                <a:cs typeface="Arial"/>
              </a:rPr>
              <a:t>V</a:t>
            </a:r>
            <a:r>
              <a:rPr sz="1750" i="1" dirty="0">
                <a:solidFill>
                  <a:srgbClr val="D3DDE8"/>
                </a:solidFill>
                <a:latin typeface="Arial"/>
                <a:cs typeface="Arial"/>
              </a:rPr>
              <a:t>	</a:t>
            </a:r>
            <a:r>
              <a:rPr sz="1050" spc="540" dirty="0">
                <a:solidFill>
                  <a:srgbClr val="D3DDE8"/>
                </a:solidFill>
                <a:latin typeface="Arial"/>
                <a:cs typeface="Arial"/>
              </a:rPr>
              <a:t>I</a:t>
            </a:r>
            <a:r>
              <a:rPr sz="1050" dirty="0">
                <a:solidFill>
                  <a:srgbClr val="D3DDE8"/>
                </a:solidFill>
                <a:latin typeface="Arial"/>
                <a:cs typeface="Arial"/>
              </a:rPr>
              <a:t>	</a:t>
            </a:r>
            <a:r>
              <a:rPr sz="1050" spc="430" dirty="0">
                <a:solidFill>
                  <a:srgbClr val="D3DDE8"/>
                </a:solidFill>
                <a:latin typeface="Arial"/>
                <a:cs typeface="Arial"/>
              </a:rPr>
              <a:t>'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3283" y="1429269"/>
            <a:ext cx="5119370" cy="735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00" spc="-180" dirty="0">
                <a:solidFill>
                  <a:srgbClr val="8990B5"/>
                </a:solidFill>
                <a:latin typeface="Arial"/>
                <a:cs typeface="Arial"/>
              </a:rPr>
              <a:t>D</a:t>
            </a:r>
            <a:r>
              <a:rPr sz="2900" spc="20" dirty="0">
                <a:solidFill>
                  <a:srgbClr val="8990B5"/>
                </a:solidFill>
                <a:latin typeface="Arial"/>
                <a:cs typeface="Arial"/>
              </a:rPr>
              <a:t>i</a:t>
            </a:r>
            <a:r>
              <a:rPr sz="2900" spc="290" dirty="0">
                <a:solidFill>
                  <a:srgbClr val="8990B5"/>
                </a:solidFill>
                <a:latin typeface="Arial"/>
                <a:cs typeface="Arial"/>
              </a:rPr>
              <a:t>a</a:t>
            </a:r>
            <a:r>
              <a:rPr sz="2900" spc="275" dirty="0">
                <a:solidFill>
                  <a:srgbClr val="8990B5"/>
                </a:solidFill>
                <a:latin typeface="Arial"/>
                <a:cs typeface="Arial"/>
              </a:rPr>
              <a:t>g</a:t>
            </a:r>
            <a:r>
              <a:rPr sz="2900" spc="110" dirty="0">
                <a:solidFill>
                  <a:srgbClr val="8990B5"/>
                </a:solidFill>
                <a:latin typeface="Arial"/>
                <a:cs typeface="Arial"/>
              </a:rPr>
              <a:t>n</a:t>
            </a:r>
            <a:r>
              <a:rPr sz="2900" spc="140" dirty="0">
                <a:solidFill>
                  <a:srgbClr val="8990B5"/>
                </a:solidFill>
                <a:latin typeface="Arial"/>
                <a:cs typeface="Arial"/>
              </a:rPr>
              <a:t>ost</a:t>
            </a:r>
            <a:r>
              <a:rPr sz="2900" spc="10" dirty="0">
                <a:solidFill>
                  <a:srgbClr val="8990B5"/>
                </a:solidFill>
                <a:latin typeface="Arial"/>
                <a:cs typeface="Arial"/>
              </a:rPr>
              <a:t>i</a:t>
            </a:r>
            <a:r>
              <a:rPr sz="2900" spc="170" dirty="0">
                <a:solidFill>
                  <a:srgbClr val="8990B5"/>
                </a:solidFill>
                <a:latin typeface="Arial"/>
                <a:cs typeface="Arial"/>
              </a:rPr>
              <a:t>c</a:t>
            </a:r>
            <a:r>
              <a:rPr sz="2900" spc="-175" dirty="0">
                <a:solidFill>
                  <a:srgbClr val="8990B5"/>
                </a:solidFill>
                <a:latin typeface="Arial"/>
                <a:cs typeface="Arial"/>
              </a:rPr>
              <a:t> </a:t>
            </a:r>
            <a:r>
              <a:rPr sz="2900" spc="80" dirty="0">
                <a:solidFill>
                  <a:srgbClr val="8990B5"/>
                </a:solidFill>
                <a:latin typeface="Arial"/>
                <a:cs typeface="Arial"/>
              </a:rPr>
              <a:t>W</a:t>
            </a:r>
            <a:r>
              <a:rPr sz="2900" spc="175" dirty="0">
                <a:solidFill>
                  <a:srgbClr val="8990B5"/>
                </a:solidFill>
                <a:latin typeface="Arial"/>
                <a:cs typeface="Arial"/>
              </a:rPr>
              <a:t>o</a:t>
            </a:r>
            <a:r>
              <a:rPr sz="2900" spc="135" dirty="0">
                <a:solidFill>
                  <a:srgbClr val="8990B5"/>
                </a:solidFill>
                <a:latin typeface="Arial"/>
                <a:cs typeface="Arial"/>
              </a:rPr>
              <a:t>rkf</a:t>
            </a:r>
            <a:r>
              <a:rPr sz="2900" spc="-45" dirty="0">
                <a:solidFill>
                  <a:srgbClr val="8990B5"/>
                </a:solidFill>
                <a:latin typeface="Arial"/>
                <a:cs typeface="Arial"/>
              </a:rPr>
              <a:t>l</a:t>
            </a:r>
            <a:r>
              <a:rPr sz="2900" spc="165" dirty="0">
                <a:solidFill>
                  <a:srgbClr val="8990B5"/>
                </a:solidFill>
                <a:latin typeface="Arial"/>
                <a:cs typeface="Arial"/>
              </a:rPr>
              <a:t>ow</a:t>
            </a:r>
            <a:r>
              <a:rPr sz="2900" spc="50" dirty="0">
                <a:solidFill>
                  <a:srgbClr val="8990B5"/>
                </a:solidFill>
                <a:latin typeface="Arial"/>
                <a:cs typeface="Arial"/>
              </a:rPr>
              <a:t> </a:t>
            </a:r>
            <a:r>
              <a:rPr sz="2900" spc="220" dirty="0">
                <a:solidFill>
                  <a:srgbClr val="7279A8"/>
                </a:solidFill>
                <a:latin typeface="Arial"/>
                <a:cs typeface="Arial"/>
              </a:rPr>
              <a:t>{</a:t>
            </a:r>
            <a:r>
              <a:rPr sz="2900" spc="100" dirty="0">
                <a:solidFill>
                  <a:srgbClr val="7279A8"/>
                </a:solidFill>
                <a:latin typeface="Arial"/>
                <a:cs typeface="Arial"/>
              </a:rPr>
              <a:t>Pat</a:t>
            </a:r>
            <a:r>
              <a:rPr sz="2900" spc="-11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900" spc="160" dirty="0">
                <a:solidFill>
                  <a:srgbClr val="7279A8"/>
                </a:solidFill>
                <a:latin typeface="Arial"/>
                <a:cs typeface="Arial"/>
              </a:rPr>
              <a:t>e</a:t>
            </a:r>
            <a:r>
              <a:rPr sz="2900" spc="65" dirty="0">
                <a:solidFill>
                  <a:srgbClr val="7279A8"/>
                </a:solidFill>
                <a:latin typeface="Arial"/>
                <a:cs typeface="Arial"/>
              </a:rPr>
              <a:t>n</a:t>
            </a:r>
            <a:r>
              <a:rPr sz="2900" spc="225" dirty="0">
                <a:solidFill>
                  <a:srgbClr val="7279A8"/>
                </a:solidFill>
                <a:latin typeface="Arial"/>
                <a:cs typeface="Arial"/>
              </a:rPr>
              <a:t>t</a:t>
            </a:r>
            <a:endParaRPr sz="2900">
              <a:latin typeface="Arial"/>
              <a:cs typeface="Arial"/>
            </a:endParaRPr>
          </a:p>
          <a:p>
            <a:pPr marL="1261745">
              <a:lnSpc>
                <a:spcPct val="100000"/>
              </a:lnSpc>
              <a:spcBef>
                <a:spcPts val="5"/>
              </a:spcBef>
              <a:tabLst>
                <a:tab pos="1713230" algn="l"/>
              </a:tabLst>
            </a:pPr>
            <a:r>
              <a:rPr sz="2100" u="heavy" dirty="0">
                <a:solidFill>
                  <a:srgbClr val="D3DDE8"/>
                </a:solidFill>
                <a:latin typeface="Courier New"/>
                <a:cs typeface="Courier New"/>
              </a:rPr>
              <a:t> 	</a:t>
            </a:r>
            <a:r>
              <a:rPr sz="2100" spc="225" dirty="0">
                <a:solidFill>
                  <a:srgbClr val="D3DDE8"/>
                </a:solidFill>
                <a:latin typeface="Courier New"/>
                <a:cs typeface="Courier New"/>
              </a:rPr>
              <a:t>O</a:t>
            </a:r>
            <a:r>
              <a:rPr sz="2100" spc="100" dirty="0">
                <a:solidFill>
                  <a:srgbClr val="D3DDE8"/>
                </a:solidFill>
                <a:latin typeface="Courier New"/>
                <a:cs typeface="Courier New"/>
              </a:rPr>
              <a:t>o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85507" y="1429269"/>
            <a:ext cx="150368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00" spc="95" dirty="0">
                <a:solidFill>
                  <a:srgbClr val="7279A8"/>
                </a:solidFill>
                <a:latin typeface="Arial"/>
                <a:cs typeface="Arial"/>
              </a:rPr>
              <a:t>A</a:t>
            </a:r>
            <a:r>
              <a:rPr sz="2900" spc="114" dirty="0">
                <a:solidFill>
                  <a:srgbClr val="7279A8"/>
                </a:solidFill>
                <a:latin typeface="Arial"/>
                <a:cs typeface="Arial"/>
              </a:rPr>
              <a:t>n</a:t>
            </a:r>
            <a:r>
              <a:rPr sz="2900" spc="120" dirty="0">
                <a:solidFill>
                  <a:srgbClr val="7279A8"/>
                </a:solidFill>
                <a:latin typeface="Arial"/>
                <a:cs typeface="Arial"/>
              </a:rPr>
              <a:t>sw</a:t>
            </a:r>
            <a:r>
              <a:rPr sz="2900" spc="160" dirty="0">
                <a:solidFill>
                  <a:srgbClr val="7279A8"/>
                </a:solidFill>
                <a:latin typeface="Arial"/>
                <a:cs typeface="Arial"/>
              </a:rPr>
              <a:t>e</a:t>
            </a:r>
            <a:r>
              <a:rPr sz="2900" spc="170" dirty="0">
                <a:solidFill>
                  <a:srgbClr val="7279A8"/>
                </a:solidFill>
                <a:latin typeface="Arial"/>
                <a:cs typeface="Arial"/>
              </a:rPr>
              <a:t>r)</a:t>
            </a:r>
            <a:endParaRPr sz="2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1427" y="1737748"/>
            <a:ext cx="323215" cy="476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550" i="1" spc="210" dirty="0">
                <a:solidFill>
                  <a:srgbClr val="D3DDE8"/>
                </a:solidFill>
                <a:latin typeface="Courier New"/>
                <a:cs typeface="Courier New"/>
              </a:rPr>
              <a:t>+</a:t>
            </a:r>
            <a:endParaRPr sz="355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85001" y="2246966"/>
            <a:ext cx="336550" cy="226060"/>
          </a:xfrm>
          <a:custGeom>
            <a:avLst/>
            <a:gdLst/>
            <a:ahLst/>
            <a:cxnLst/>
            <a:rect l="l" t="t" r="r" b="b"/>
            <a:pathLst>
              <a:path w="336550" h="226060">
                <a:moveTo>
                  <a:pt x="0" y="0"/>
                </a:moveTo>
                <a:lnTo>
                  <a:pt x="335933" y="0"/>
                </a:lnTo>
                <a:lnTo>
                  <a:pt x="335933" y="225551"/>
                </a:lnTo>
                <a:lnTo>
                  <a:pt x="0" y="225551"/>
                </a:lnTo>
                <a:lnTo>
                  <a:pt x="0" y="0"/>
                </a:lnTo>
                <a:close/>
              </a:path>
            </a:pathLst>
          </a:custGeom>
          <a:solidFill>
            <a:srgbClr val="4BC8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59725" y="2246966"/>
            <a:ext cx="313055" cy="226060"/>
          </a:xfrm>
          <a:custGeom>
            <a:avLst/>
            <a:gdLst/>
            <a:ahLst/>
            <a:cxnLst/>
            <a:rect l="l" t="t" r="r" b="b"/>
            <a:pathLst>
              <a:path w="313054" h="226060">
                <a:moveTo>
                  <a:pt x="0" y="0"/>
                </a:moveTo>
                <a:lnTo>
                  <a:pt x="312687" y="0"/>
                </a:lnTo>
                <a:lnTo>
                  <a:pt x="312687" y="225551"/>
                </a:lnTo>
                <a:lnTo>
                  <a:pt x="0" y="225551"/>
                </a:lnTo>
                <a:lnTo>
                  <a:pt x="0" y="0"/>
                </a:lnTo>
                <a:close/>
              </a:path>
            </a:pathLst>
          </a:custGeom>
          <a:solidFill>
            <a:srgbClr val="4BC8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546340" y="3835617"/>
            <a:ext cx="368935" cy="546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100" spc="1789" dirty="0">
                <a:solidFill>
                  <a:srgbClr val="545454"/>
                </a:solidFill>
                <a:latin typeface="Arial"/>
                <a:cs typeface="Arial"/>
              </a:rPr>
              <a:t>l</a:t>
            </a:r>
            <a:endParaRPr sz="4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38164" y="5624401"/>
            <a:ext cx="107314" cy="171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260" dirty="0">
                <a:solidFill>
                  <a:srgbClr val="545454"/>
                </a:solidFill>
                <a:latin typeface="Times New Roman"/>
                <a:cs typeface="Times New Roman"/>
              </a:rPr>
              <a:t>(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530388" y="2250014"/>
          <a:ext cx="998219" cy="474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2503">
                <a:tc>
                  <a:txBody>
                    <a:bodyPr/>
                    <a:lstStyle/>
                    <a:p>
                      <a:endParaRPr sz="35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695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Sa</a:t>
                      </a:r>
                      <a:r>
                        <a:rPr sz="1450" spc="-5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450" spc="-35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450" spc="-615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l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692">
                      <a:solidFill>
                        <a:srgbClr val="46B8DF"/>
                      </a:solidFill>
                      <a:prstDash val="solid"/>
                    </a:lnR>
                    <a:solidFill>
                      <a:srgbClr val="2FAFD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0">
                        <a:lnSpc>
                          <a:spcPts val="1695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692">
                      <a:solidFill>
                        <a:srgbClr val="46B8DF"/>
                      </a:solidFill>
                      <a:prstDash val="solid"/>
                    </a:lnL>
                    <a:solidFill>
                      <a:srgbClr val="2FAF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228">
                <a:tc gridSpan="3"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Pr</a:t>
                      </a:r>
                      <a:r>
                        <a:rPr sz="1450" spc="-9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para</a:t>
                      </a:r>
                      <a:r>
                        <a:rPr sz="1450" spc="-1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450" spc="-665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48748">
                      <a:solidFill>
                        <a:srgbClr val="46B8DF"/>
                      </a:solidFill>
                      <a:prstDash val="solid"/>
                    </a:lnR>
                    <a:solidFill>
                      <a:srgbClr val="2FAF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on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48748">
                      <a:solidFill>
                        <a:srgbClr val="46B8DF"/>
                      </a:solidFill>
                      <a:prstDash val="solid"/>
                    </a:lnL>
                    <a:solidFill>
                      <a:srgbClr val="2FAF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005520" y="2250014"/>
          <a:ext cx="859155" cy="474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866">
                <a:tc>
                  <a:txBody>
                    <a:bodyPr/>
                    <a:lstStyle/>
                    <a:p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Sam</a:t>
                      </a:r>
                      <a:r>
                        <a:rPr sz="1450" spc="-35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450" spc="-445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l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50692">
                      <a:solidFill>
                        <a:srgbClr val="709EEB"/>
                      </a:solidFill>
                      <a:prstDash val="solid"/>
                    </a:lnR>
                    <a:solidFill>
                      <a:srgbClr val="5B90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692">
                      <a:solidFill>
                        <a:srgbClr val="709EEB"/>
                      </a:solidFill>
                      <a:prstDash val="solid"/>
                    </a:lnL>
                    <a:solidFill>
                      <a:srgbClr val="5B90E6"/>
                    </a:solidFill>
                  </a:tcPr>
                </a:tc>
                <a:tc>
                  <a:txBody>
                    <a:bodyPr/>
                    <a:lstStyle/>
                    <a:p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66">
                <a:tc gridSpan="2"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Co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48768">
                      <a:solidFill>
                        <a:srgbClr val="709EEB"/>
                      </a:solidFill>
                      <a:prstDash val="solid"/>
                    </a:lnR>
                    <a:solidFill>
                      <a:srgbClr val="5B90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50" spc="-22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1450" spc="-33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ect</a:t>
                      </a:r>
                      <a:r>
                        <a:rPr sz="1450" spc="-6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on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48768">
                      <a:solidFill>
                        <a:srgbClr val="709EEB"/>
                      </a:solidFill>
                      <a:prstDash val="solid"/>
                    </a:lnL>
                    <a:solidFill>
                      <a:srgbClr val="5B90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204220" y="2246966"/>
          <a:ext cx="841375" cy="476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1">
                <a:tc>
                  <a:txBody>
                    <a:bodyPr/>
                    <a:lstStyle/>
                    <a:p>
                      <a:pPr marL="80010">
                        <a:lnSpc>
                          <a:spcPts val="1720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Ap</a:t>
                      </a:r>
                      <a:r>
                        <a:rPr sz="1450" spc="105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450" spc="-58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l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45415">
                      <a:solidFill>
                        <a:srgbClr val="62CF9A"/>
                      </a:solidFill>
                      <a:prstDash val="solid"/>
                    </a:lnR>
                    <a:solidFill>
                      <a:srgbClr val="4BC88C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ts val="1720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450" spc="-7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to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45415">
                      <a:solidFill>
                        <a:srgbClr val="62CF9A"/>
                      </a:solidFill>
                      <a:prstDash val="solid"/>
                    </a:lnL>
                    <a:solidFill>
                      <a:srgbClr val="4BC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228">
                <a:tc gridSpan="2"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</a:pP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1450" spc="-11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450" dirty="0">
                          <a:solidFill>
                            <a:srgbClr val="E9F4F7"/>
                          </a:solidFill>
                          <a:latin typeface="Arial"/>
                          <a:cs typeface="Arial"/>
                        </a:rPr>
                        <a:t>osensor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4BC8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97152" y="5181600"/>
            <a:ext cx="6864350" cy="0"/>
          </a:xfrm>
          <a:custGeom>
            <a:avLst/>
            <a:gdLst/>
            <a:ahLst/>
            <a:cxnLst/>
            <a:rect l="l" t="t" r="r" b="b"/>
            <a:pathLst>
              <a:path w="6864350">
                <a:moveTo>
                  <a:pt x="0" y="0"/>
                </a:moveTo>
                <a:lnTo>
                  <a:pt x="686409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-3556" y="1476922"/>
            <a:ext cx="669861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spc="-35" dirty="0">
                <a:solidFill>
                  <a:srgbClr val="7279A8"/>
                </a:solidFill>
                <a:latin typeface="Arial"/>
                <a:cs typeface="Arial"/>
              </a:rPr>
              <a:t>C</a:t>
            </a:r>
            <a:r>
              <a:rPr sz="2200" b="1" spc="90" dirty="0">
                <a:solidFill>
                  <a:srgbClr val="7279A8"/>
                </a:solidFill>
                <a:latin typeface="Arial"/>
                <a:cs typeface="Arial"/>
              </a:rPr>
              <a:t>o</a:t>
            </a:r>
            <a:r>
              <a:rPr sz="2200" b="1" spc="170" dirty="0">
                <a:solidFill>
                  <a:srgbClr val="7279A8"/>
                </a:solidFill>
                <a:latin typeface="Arial"/>
                <a:cs typeface="Arial"/>
              </a:rPr>
              <a:t>m</a:t>
            </a:r>
            <a:r>
              <a:rPr sz="2200" b="1" spc="40" dirty="0">
                <a:solidFill>
                  <a:srgbClr val="7279A8"/>
                </a:solidFill>
                <a:latin typeface="Arial"/>
                <a:cs typeface="Arial"/>
              </a:rPr>
              <a:t>pet</a:t>
            </a:r>
            <a:r>
              <a:rPr sz="2200" b="1" spc="-125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spc="85" dirty="0">
                <a:solidFill>
                  <a:srgbClr val="7279A8"/>
                </a:solidFill>
                <a:latin typeface="Arial"/>
                <a:cs typeface="Arial"/>
              </a:rPr>
              <a:t>t</a:t>
            </a:r>
            <a:r>
              <a:rPr sz="2200" b="1" spc="-5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spc="45" dirty="0">
                <a:solidFill>
                  <a:srgbClr val="7279A8"/>
                </a:solidFill>
                <a:latin typeface="Arial"/>
                <a:cs typeface="Arial"/>
              </a:rPr>
              <a:t>ve</a:t>
            </a:r>
            <a:r>
              <a:rPr sz="2200" b="1" spc="-204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200" b="1" spc="35" dirty="0">
                <a:solidFill>
                  <a:srgbClr val="7279A8"/>
                </a:solidFill>
                <a:latin typeface="Arial"/>
                <a:cs typeface="Arial"/>
              </a:rPr>
              <a:t>Advantage</a:t>
            </a:r>
            <a:r>
              <a:rPr sz="2200" b="1" spc="10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050" b="1" spc="50" dirty="0">
                <a:solidFill>
                  <a:srgbClr val="7279A8"/>
                </a:solidFill>
                <a:latin typeface="Times New Roman"/>
                <a:cs typeface="Times New Roman"/>
              </a:rPr>
              <a:t>&amp;</a:t>
            </a:r>
            <a:r>
              <a:rPr sz="2050" b="1" spc="-160" dirty="0">
                <a:solidFill>
                  <a:srgbClr val="7279A8"/>
                </a:solidFill>
                <a:latin typeface="Times New Roman"/>
                <a:cs typeface="Times New Roman"/>
              </a:rPr>
              <a:t> </a:t>
            </a:r>
            <a:r>
              <a:rPr sz="2200" b="1" spc="-15" dirty="0">
                <a:solidFill>
                  <a:srgbClr val="7279A8"/>
                </a:solidFill>
                <a:latin typeface="Arial"/>
                <a:cs typeface="Arial"/>
              </a:rPr>
              <a:t>M</a:t>
            </a:r>
            <a:r>
              <a:rPr sz="2200" b="1" spc="60" dirty="0">
                <a:solidFill>
                  <a:srgbClr val="7279A8"/>
                </a:solidFill>
                <a:latin typeface="Arial"/>
                <a:cs typeface="Arial"/>
              </a:rPr>
              <a:t>arket</a:t>
            </a:r>
            <a:r>
              <a:rPr sz="2200" b="1" spc="-90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200" b="1" spc="-125" dirty="0">
                <a:solidFill>
                  <a:srgbClr val="7279A8"/>
                </a:solidFill>
                <a:latin typeface="Arial"/>
                <a:cs typeface="Arial"/>
              </a:rPr>
              <a:t>D</a:t>
            </a:r>
            <a:r>
              <a:rPr sz="2200" b="1" spc="-95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spc="5" dirty="0">
                <a:solidFill>
                  <a:srgbClr val="7279A8"/>
                </a:solidFill>
                <a:latin typeface="Arial"/>
                <a:cs typeface="Arial"/>
              </a:rPr>
              <a:t>fferent</a:t>
            </a:r>
            <a:r>
              <a:rPr sz="2200" b="1" spc="60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spc="125" dirty="0">
                <a:solidFill>
                  <a:srgbClr val="7279A8"/>
                </a:solidFill>
                <a:latin typeface="Arial"/>
                <a:cs typeface="Arial"/>
              </a:rPr>
              <a:t>at</a:t>
            </a:r>
            <a:r>
              <a:rPr sz="2200" b="1" spc="-45" dirty="0">
                <a:solidFill>
                  <a:srgbClr val="7279A8"/>
                </a:solidFill>
                <a:latin typeface="Arial"/>
                <a:cs typeface="Arial"/>
              </a:rPr>
              <a:t>i</a:t>
            </a:r>
            <a:r>
              <a:rPr sz="2200" b="1" spc="25" dirty="0">
                <a:solidFill>
                  <a:srgbClr val="7279A8"/>
                </a:solidFill>
                <a:latin typeface="Arial"/>
                <a:cs typeface="Arial"/>
              </a:rPr>
              <a:t>on</a:t>
            </a:r>
            <a:r>
              <a:rPr sz="2200" b="1" spc="-260" dirty="0">
                <a:solidFill>
                  <a:srgbClr val="7279A8"/>
                </a:solidFill>
                <a:latin typeface="Arial"/>
                <a:cs typeface="Arial"/>
              </a:rPr>
              <a:t> </a:t>
            </a:r>
            <a:r>
              <a:rPr sz="2200" spc="565" dirty="0">
                <a:solidFill>
                  <a:srgbClr val="7279A8"/>
                </a:solidFill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7500" y="5390979"/>
            <a:ext cx="688467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35" dirty="0">
                <a:solidFill>
                  <a:srgbClr val="010101"/>
                </a:solidFill>
                <a:latin typeface="Arial"/>
                <a:cs typeface="Arial"/>
              </a:rPr>
              <a:t>Key</a:t>
            </a:r>
            <a:r>
              <a:rPr sz="1100" spc="8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10101"/>
                </a:solidFill>
                <a:latin typeface="Arial"/>
                <a:cs typeface="Arial"/>
              </a:rPr>
              <a:t>Messag</a:t>
            </a:r>
            <a:r>
              <a:rPr sz="1100" spc="75" dirty="0">
                <a:solidFill>
                  <a:srgbClr val="010101"/>
                </a:solidFill>
                <a:latin typeface="Arial"/>
                <a:cs typeface="Arial"/>
              </a:rPr>
              <a:t>e</a:t>
            </a:r>
            <a:r>
              <a:rPr sz="1100" spc="15" dirty="0">
                <a:solidFill>
                  <a:srgbClr val="15161A"/>
                </a:solidFill>
                <a:latin typeface="Arial"/>
                <a:cs typeface="Arial"/>
              </a:rPr>
              <a:t>:</a:t>
            </a:r>
            <a:r>
              <a:rPr sz="1100" spc="-105" dirty="0">
                <a:solidFill>
                  <a:srgbClr val="15161A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010101"/>
                </a:solidFill>
                <a:latin typeface="Arial"/>
                <a:cs typeface="Arial"/>
              </a:rPr>
              <a:t>With </a:t>
            </a:r>
            <a:r>
              <a:rPr sz="1100" spc="60" dirty="0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sz="1100" spc="75" dirty="0">
                <a:solidFill>
                  <a:srgbClr val="010101"/>
                </a:solidFill>
                <a:latin typeface="Arial"/>
                <a:cs typeface="Arial"/>
              </a:rPr>
              <a:t> he</a:t>
            </a:r>
            <a:r>
              <a:rPr sz="1100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1100" spc="60" dirty="0">
                <a:solidFill>
                  <a:srgbClr val="010101"/>
                </a:solidFill>
                <a:latin typeface="Arial"/>
                <a:cs typeface="Arial"/>
              </a:rPr>
              <a:t>p</a:t>
            </a:r>
            <a:r>
              <a:rPr sz="1100" spc="-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010101"/>
                </a:solidFill>
                <a:latin typeface="Arial"/>
                <a:cs typeface="Arial"/>
              </a:rPr>
              <a:t>of</a:t>
            </a:r>
            <a:r>
              <a:rPr sz="11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010101"/>
                </a:solidFill>
                <a:latin typeface="Arial"/>
                <a:cs typeface="Arial"/>
              </a:rPr>
              <a:t>this</a:t>
            </a:r>
            <a:r>
              <a:rPr sz="1100" spc="6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010101"/>
                </a:solidFill>
                <a:latin typeface="Arial"/>
                <a:cs typeface="Arial"/>
              </a:rPr>
              <a:t>p</a:t>
            </a:r>
            <a:r>
              <a:rPr sz="1100" spc="30" dirty="0">
                <a:solidFill>
                  <a:srgbClr val="15161A"/>
                </a:solidFill>
                <a:latin typeface="Arial"/>
                <a:cs typeface="Arial"/>
              </a:rPr>
              <a:t>r</a:t>
            </a:r>
            <a:r>
              <a:rPr sz="1100" spc="45" dirty="0">
                <a:solidFill>
                  <a:srgbClr val="010101"/>
                </a:solidFill>
                <a:latin typeface="Arial"/>
                <a:cs typeface="Arial"/>
              </a:rPr>
              <a:t>oject</a:t>
            </a:r>
            <a:r>
              <a:rPr sz="1100" spc="2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010101"/>
                </a:solidFill>
                <a:latin typeface="Arial"/>
                <a:cs typeface="Arial"/>
              </a:rPr>
              <a:t>we</a:t>
            </a:r>
            <a:r>
              <a:rPr sz="1100" spc="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40" dirty="0">
                <a:solidFill>
                  <a:srgbClr val="010101"/>
                </a:solidFill>
                <a:latin typeface="Arial"/>
                <a:cs typeface="Arial"/>
              </a:rPr>
              <a:t>envision</a:t>
            </a:r>
            <a:r>
              <a:rPr sz="1100" spc="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75" dirty="0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sz="1100" spc="1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40" dirty="0">
                <a:solidFill>
                  <a:srgbClr val="010101"/>
                </a:solidFill>
                <a:latin typeface="Arial"/>
                <a:cs typeface="Arial"/>
              </a:rPr>
              <a:t>bridge</a:t>
            </a:r>
            <a:r>
              <a:rPr sz="1100" spc="-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sz="1100" spc="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010101"/>
                </a:solidFill>
                <a:latin typeface="Arial"/>
                <a:cs typeface="Arial"/>
              </a:rPr>
              <a:t>gap</a:t>
            </a:r>
            <a:r>
              <a:rPr sz="1100" spc="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40" dirty="0">
                <a:solidFill>
                  <a:srgbClr val="010101"/>
                </a:solidFill>
                <a:latin typeface="Arial"/>
                <a:cs typeface="Arial"/>
              </a:rPr>
              <a:t>between</a:t>
            </a:r>
            <a:r>
              <a:rPr sz="110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010101"/>
                </a:solidFill>
                <a:latin typeface="Arial"/>
                <a:cs typeface="Arial"/>
              </a:rPr>
              <a:t>speed</a:t>
            </a:r>
            <a:r>
              <a:rPr sz="1100" spc="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35" dirty="0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sz="1100" spc="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1100" spc="45" dirty="0">
                <a:solidFill>
                  <a:srgbClr val="010101"/>
                </a:solidFill>
                <a:latin typeface="Arial"/>
                <a:cs typeface="Arial"/>
              </a:rPr>
              <a:t>specificity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24583" y="2127504"/>
          <a:ext cx="6817359" cy="3040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5240">
                      <a:solidFill>
                        <a:srgbClr val="9C9C9C"/>
                      </a:solidFill>
                      <a:prstDash val="solid"/>
                    </a:lnL>
                    <a:lnR w="24384">
                      <a:solidFill>
                        <a:srgbClr val="939393"/>
                      </a:solidFill>
                      <a:prstDash val="solid"/>
                    </a:lnR>
                    <a:lnT w="3048">
                      <a:solidFill>
                        <a:srgbClr val="A0A0A0"/>
                      </a:solidFill>
                      <a:prstDash val="solid"/>
                    </a:lnT>
                    <a:lnB w="27432">
                      <a:solidFill>
                        <a:srgbClr val="0F0F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8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ood</a:t>
                      </a:r>
                      <a:r>
                        <a:rPr sz="800" spc="1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Cu</a:t>
                      </a:r>
                      <a:r>
                        <a:rPr sz="800" spc="-6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ture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4384">
                      <a:solidFill>
                        <a:srgbClr val="939393"/>
                      </a:solidFill>
                      <a:prstDash val="solid"/>
                    </a:lnL>
                    <a:lnR w="27432">
                      <a:solidFill>
                        <a:srgbClr val="979797"/>
                      </a:solidFill>
                      <a:prstDash val="solid"/>
                    </a:lnR>
                    <a:lnT w="3048">
                      <a:solidFill>
                        <a:srgbClr val="A0A0A0"/>
                      </a:solidFill>
                      <a:prstDash val="solid"/>
                    </a:lnT>
                    <a:lnB w="27432">
                      <a:solidFill>
                        <a:srgbClr val="0F0F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PCT/CRP Tests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79797"/>
                      </a:solidFill>
                      <a:prstDash val="solid"/>
                    </a:lnL>
                    <a:lnR w="27432">
                      <a:solidFill>
                        <a:srgbClr val="9C9C9C"/>
                      </a:solidFill>
                      <a:prstDash val="solid"/>
                    </a:lnR>
                    <a:lnT w="3048">
                      <a:solidFill>
                        <a:srgbClr val="A0A0A0"/>
                      </a:solidFill>
                      <a:prstDash val="solid"/>
                    </a:lnT>
                    <a:lnB w="27432">
                      <a:solidFill>
                        <a:srgbClr val="0F0F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Our</a:t>
                      </a:r>
                      <a:r>
                        <a:rPr sz="800" spc="1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SERS</a:t>
                      </a:r>
                      <a:r>
                        <a:rPr sz="800" spc="5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Biosensor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C9C9C"/>
                      </a:solidFill>
                      <a:prstDash val="solid"/>
                    </a:lnL>
                    <a:lnR w="15240">
                      <a:solidFill>
                        <a:srgbClr val="9C9C9C"/>
                      </a:solidFill>
                      <a:prstDash val="solid"/>
                    </a:lnR>
                    <a:lnT w="3048">
                      <a:solidFill>
                        <a:srgbClr val="A0A0A0"/>
                      </a:solidFill>
                      <a:prstDash val="solid"/>
                    </a:lnT>
                    <a:lnB w="27432">
                      <a:solidFill>
                        <a:srgbClr val="0F0F0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79"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Time-to-Resu</a:t>
                      </a:r>
                      <a:r>
                        <a:rPr sz="800" spc="1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5240">
                      <a:solidFill>
                        <a:srgbClr val="9C9C9C"/>
                      </a:solidFill>
                      <a:prstDash val="solid"/>
                    </a:lnL>
                    <a:lnR w="24384">
                      <a:solidFill>
                        <a:srgbClr val="939393"/>
                      </a:solidFill>
                      <a:prstDash val="solid"/>
                    </a:lnR>
                    <a:lnT w="27432">
                      <a:solidFill>
                        <a:srgbClr val="0F0F0F"/>
                      </a:solidFill>
                      <a:prstDash val="solid"/>
                    </a:lnT>
                    <a:lnB w="2438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24-72</a:t>
                      </a:r>
                      <a:r>
                        <a:rPr sz="800" spc="6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hours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4384">
                      <a:solidFill>
                        <a:srgbClr val="939393"/>
                      </a:solidFill>
                      <a:prstDash val="solid"/>
                    </a:lnL>
                    <a:lnR w="27432">
                      <a:solidFill>
                        <a:srgbClr val="979797"/>
                      </a:solidFill>
                      <a:prstDash val="solid"/>
                    </a:lnR>
                    <a:lnT w="27432">
                      <a:solidFill>
                        <a:srgbClr val="0F0F0F"/>
                      </a:solidFill>
                      <a:prstDash val="solid"/>
                    </a:lnT>
                    <a:lnB w="2438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25" dirty="0">
                          <a:solidFill>
                            <a:srgbClr val="333438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8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79797"/>
                      </a:solidFill>
                      <a:prstDash val="solid"/>
                    </a:lnL>
                    <a:lnR w="27432">
                      <a:solidFill>
                        <a:srgbClr val="9C9C9C"/>
                      </a:solidFill>
                      <a:prstDash val="solid"/>
                    </a:lnR>
                    <a:lnT w="27432">
                      <a:solidFill>
                        <a:srgbClr val="0F0F0F"/>
                      </a:solidFill>
                      <a:prstDash val="solid"/>
                    </a:lnT>
                    <a:lnB w="2438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333438"/>
                          </a:solidFill>
                          <a:latin typeface="Arial"/>
                          <a:cs typeface="Arial"/>
                        </a:rPr>
                        <a:t>&lt;</a:t>
                      </a:r>
                      <a:r>
                        <a:rPr sz="700" spc="15" dirty="0">
                          <a:solidFill>
                            <a:srgbClr val="3334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5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MINUTES</a:t>
                      </a:r>
                      <a:r>
                        <a:rPr sz="800" spc="4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333438"/>
                          </a:solidFill>
                          <a:latin typeface="Arial"/>
                          <a:cs typeface="Arial"/>
                        </a:rPr>
                        <a:t>*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C9C9C"/>
                      </a:solidFill>
                      <a:prstDash val="solid"/>
                    </a:lnL>
                    <a:lnR w="15240">
                      <a:solidFill>
                        <a:srgbClr val="9C9C9C"/>
                      </a:solidFill>
                      <a:prstDash val="solid"/>
                    </a:lnR>
                    <a:lnT w="27432">
                      <a:solidFill>
                        <a:srgbClr val="0F0F0F"/>
                      </a:solidFill>
                      <a:prstDash val="solid"/>
                    </a:lnT>
                    <a:lnB w="2438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79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Pathogen</a:t>
                      </a:r>
                      <a:r>
                        <a:rPr sz="800" spc="-1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Specificity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5240">
                      <a:solidFill>
                        <a:srgbClr val="9C9C9C"/>
                      </a:solidFill>
                      <a:prstDash val="solid"/>
                    </a:lnL>
                    <a:lnR w="24384">
                      <a:solidFill>
                        <a:srgbClr val="939393"/>
                      </a:solidFill>
                      <a:prstDash val="solid"/>
                    </a:lnR>
                    <a:lnT w="24384">
                      <a:solidFill>
                        <a:srgbClr val="000000"/>
                      </a:solidFill>
                      <a:prstDash val="solid"/>
                    </a:lnT>
                    <a:lnB w="27432">
                      <a:solidFill>
                        <a:srgbClr val="0C0C0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4384">
                      <a:solidFill>
                        <a:srgbClr val="939393"/>
                      </a:solidFill>
                      <a:prstDash val="solid"/>
                    </a:lnL>
                    <a:lnR w="27432">
                      <a:solidFill>
                        <a:srgbClr val="979797"/>
                      </a:solidFill>
                      <a:prstDash val="solid"/>
                    </a:lnR>
                    <a:lnT w="24384">
                      <a:solidFill>
                        <a:srgbClr val="000000"/>
                      </a:solidFill>
                      <a:prstDash val="solid"/>
                    </a:lnT>
                    <a:lnB w="27432">
                      <a:solidFill>
                        <a:srgbClr val="0C0C0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79797"/>
                      </a:solidFill>
                      <a:prstDash val="solid"/>
                    </a:lnL>
                    <a:lnR w="27432">
                      <a:solidFill>
                        <a:srgbClr val="9C9C9C"/>
                      </a:solidFill>
                      <a:prstDash val="solid"/>
                    </a:lnR>
                    <a:lnT w="24384">
                      <a:solidFill>
                        <a:srgbClr val="000000"/>
                      </a:solidFill>
                      <a:prstDash val="solid"/>
                    </a:lnT>
                    <a:lnB w="27432">
                      <a:solidFill>
                        <a:srgbClr val="0C0C0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sz="800" spc="10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(Bacterial </a:t>
                      </a:r>
                      <a:r>
                        <a:rPr sz="75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750" spc="1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Gram-Type)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C9C9C"/>
                      </a:solidFill>
                      <a:prstDash val="solid"/>
                    </a:lnL>
                    <a:lnR w="15240">
                      <a:solidFill>
                        <a:srgbClr val="9C9C9C"/>
                      </a:solidFill>
                      <a:prstDash val="solid"/>
                    </a:lnR>
                    <a:lnT w="24384">
                      <a:solidFill>
                        <a:srgbClr val="000000"/>
                      </a:solidFill>
                      <a:prstDash val="solid"/>
                    </a:lnT>
                    <a:lnB w="27432">
                      <a:solidFill>
                        <a:srgbClr val="0C0C0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AMR</a:t>
                      </a:r>
                      <a:r>
                        <a:rPr sz="800" spc="5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Guidance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5240">
                      <a:solidFill>
                        <a:srgbClr val="9C9C9C"/>
                      </a:solidFill>
                      <a:prstDash val="solid"/>
                    </a:lnL>
                    <a:lnR w="24384">
                      <a:solidFill>
                        <a:srgbClr val="939393"/>
                      </a:solidFill>
                      <a:prstDash val="solid"/>
                    </a:lnR>
                    <a:lnT w="27432">
                      <a:solidFill>
                        <a:srgbClr val="0C0C0C"/>
                      </a:solidFill>
                      <a:prstDash val="solid"/>
                    </a:lnT>
                    <a:lnB w="27432">
                      <a:solidFill>
                        <a:srgbClr val="0F0F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spc="-4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ayed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4384">
                      <a:solidFill>
                        <a:srgbClr val="939393"/>
                      </a:solidFill>
                      <a:prstDash val="solid"/>
                    </a:lnL>
                    <a:lnR w="27432">
                      <a:solidFill>
                        <a:srgbClr val="979797"/>
                      </a:solidFill>
                      <a:prstDash val="solid"/>
                    </a:lnR>
                    <a:lnT w="27432">
                      <a:solidFill>
                        <a:srgbClr val="0C0C0C"/>
                      </a:solidFill>
                      <a:prstDash val="solid"/>
                    </a:lnT>
                    <a:lnB w="27432">
                      <a:solidFill>
                        <a:srgbClr val="0F0F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79797"/>
                      </a:solidFill>
                      <a:prstDash val="solid"/>
                    </a:lnL>
                    <a:lnR w="27432">
                      <a:solidFill>
                        <a:srgbClr val="9C9C9C"/>
                      </a:solidFill>
                      <a:prstDash val="solid"/>
                    </a:lnR>
                    <a:lnT w="27432">
                      <a:solidFill>
                        <a:srgbClr val="0C0C0C"/>
                      </a:solidFill>
                      <a:prstDash val="solid"/>
                    </a:lnT>
                    <a:lnB w="27432">
                      <a:solidFill>
                        <a:srgbClr val="0F0F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IMMEDIATE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C9C9C"/>
                      </a:solidFill>
                      <a:prstDash val="solid"/>
                    </a:lnL>
                    <a:lnR w="15240">
                      <a:solidFill>
                        <a:srgbClr val="9C9C9C"/>
                      </a:solidFill>
                      <a:prstDash val="solid"/>
                    </a:lnR>
                    <a:lnT w="27432">
                      <a:solidFill>
                        <a:srgbClr val="0C0C0C"/>
                      </a:solidFill>
                      <a:prstDash val="solid"/>
                    </a:lnT>
                    <a:lnB w="27432">
                      <a:solidFill>
                        <a:srgbClr val="0F0F0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7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atform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5240">
                      <a:solidFill>
                        <a:srgbClr val="9C9C9C"/>
                      </a:solidFill>
                      <a:prstDash val="solid"/>
                    </a:lnL>
                    <a:lnR w="24384">
                      <a:solidFill>
                        <a:srgbClr val="939393"/>
                      </a:solidFill>
                      <a:prstDash val="solid"/>
                    </a:lnR>
                    <a:lnT w="27432">
                      <a:solidFill>
                        <a:srgbClr val="0F0F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Central</a:t>
                      </a:r>
                      <a:r>
                        <a:rPr sz="800" spc="3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Lab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4384">
                      <a:solidFill>
                        <a:srgbClr val="939393"/>
                      </a:solidFill>
                      <a:prstDash val="solid"/>
                    </a:lnL>
                    <a:lnR w="27432">
                      <a:solidFill>
                        <a:srgbClr val="979797"/>
                      </a:solidFill>
                      <a:prstDash val="solid"/>
                    </a:lnR>
                    <a:lnT w="27432">
                      <a:solidFill>
                        <a:srgbClr val="0F0F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Poin</a:t>
                      </a:r>
                      <a:r>
                        <a:rPr sz="800" spc="5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20" dirty="0">
                          <a:solidFill>
                            <a:srgbClr val="333438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of-Care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79797"/>
                      </a:solidFill>
                      <a:prstDash val="solid"/>
                    </a:lnL>
                    <a:lnR w="27432">
                      <a:solidFill>
                        <a:srgbClr val="9C9C9C"/>
                      </a:solidFill>
                      <a:prstDash val="solid"/>
                    </a:lnR>
                    <a:lnT w="27432">
                      <a:solidFill>
                        <a:srgbClr val="0F0F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5161A"/>
                          </a:solidFill>
                          <a:latin typeface="Arial"/>
                          <a:cs typeface="Arial"/>
                        </a:rPr>
                        <a:t>POINT-OF-CARE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432">
                      <a:solidFill>
                        <a:srgbClr val="9C9C9C"/>
                      </a:solidFill>
                      <a:prstDash val="solid"/>
                    </a:lnL>
                    <a:lnR w="15240">
                      <a:solidFill>
                        <a:srgbClr val="9C9C9C"/>
                      </a:solidFill>
                      <a:prstDash val="solid"/>
                    </a:lnR>
                    <a:lnT w="27432">
                      <a:solidFill>
                        <a:srgbClr val="0F0F0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03520" y="1048511"/>
            <a:ext cx="4742687" cy="4791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54" rIns="0" bIns="0" rtlCol="0">
            <a:spAutoFit/>
          </a:bodyPr>
          <a:lstStyle/>
          <a:p>
            <a:pPr>
              <a:lnSpc>
                <a:spcPts val="3225"/>
              </a:lnSpc>
            </a:pPr>
            <a:r>
              <a:rPr sz="2700" spc="-15" dirty="0">
                <a:solidFill>
                  <a:srgbClr val="7279A7"/>
                </a:solidFill>
              </a:rPr>
              <a:t>Cl</a:t>
            </a:r>
            <a:r>
              <a:rPr sz="2700" spc="20" dirty="0">
                <a:solidFill>
                  <a:srgbClr val="7279A7"/>
                </a:solidFill>
              </a:rPr>
              <a:t>i</a:t>
            </a:r>
            <a:r>
              <a:rPr sz="2700" spc="-15" dirty="0">
                <a:solidFill>
                  <a:srgbClr val="7279A7"/>
                </a:solidFill>
              </a:rPr>
              <a:t>n</a:t>
            </a:r>
            <a:r>
              <a:rPr sz="2700" spc="-110" dirty="0">
                <a:solidFill>
                  <a:srgbClr val="7279A7"/>
                </a:solidFill>
              </a:rPr>
              <a:t>i</a:t>
            </a:r>
            <a:r>
              <a:rPr sz="2700" spc="75" dirty="0">
                <a:solidFill>
                  <a:srgbClr val="7279A7"/>
                </a:solidFill>
              </a:rPr>
              <a:t>cal</a:t>
            </a:r>
            <a:r>
              <a:rPr sz="2700" spc="-85" dirty="0">
                <a:solidFill>
                  <a:srgbClr val="7279A7"/>
                </a:solidFill>
              </a:rPr>
              <a:t> </a:t>
            </a:r>
            <a:r>
              <a:rPr sz="2700" spc="-45" dirty="0">
                <a:solidFill>
                  <a:srgbClr val="7279A7"/>
                </a:solidFill>
              </a:rPr>
              <a:t>Ut</a:t>
            </a:r>
            <a:r>
              <a:rPr sz="2700" spc="-50" dirty="0">
                <a:solidFill>
                  <a:srgbClr val="7279A7"/>
                </a:solidFill>
              </a:rPr>
              <a:t>i</a:t>
            </a:r>
            <a:r>
              <a:rPr sz="2700" spc="-30" dirty="0">
                <a:solidFill>
                  <a:srgbClr val="7279A7"/>
                </a:solidFill>
              </a:rPr>
              <a:t>l</a:t>
            </a:r>
            <a:r>
              <a:rPr sz="2700" spc="-210" dirty="0">
                <a:solidFill>
                  <a:srgbClr val="7279A7"/>
                </a:solidFill>
              </a:rPr>
              <a:t>i</a:t>
            </a:r>
            <a:r>
              <a:rPr sz="2700" spc="70" dirty="0">
                <a:solidFill>
                  <a:srgbClr val="7279A7"/>
                </a:solidFill>
              </a:rPr>
              <a:t>ty</a:t>
            </a:r>
            <a:r>
              <a:rPr sz="2700" spc="-130" dirty="0">
                <a:solidFill>
                  <a:srgbClr val="7279A7"/>
                </a:solidFill>
              </a:rPr>
              <a:t> </a:t>
            </a:r>
            <a:r>
              <a:rPr sz="2700" spc="-160" dirty="0">
                <a:solidFill>
                  <a:srgbClr val="7279A7"/>
                </a:solidFill>
                <a:latin typeface="Times New Roman"/>
                <a:cs typeface="Times New Roman"/>
              </a:rPr>
              <a:t>&amp;</a:t>
            </a:r>
            <a:r>
              <a:rPr sz="2700" spc="-80" dirty="0">
                <a:solidFill>
                  <a:srgbClr val="7279A7"/>
                </a:solidFill>
                <a:latin typeface="Times New Roman"/>
                <a:cs typeface="Times New Roman"/>
              </a:rPr>
              <a:t> </a:t>
            </a:r>
            <a:r>
              <a:rPr sz="2700" spc="65" dirty="0">
                <a:solidFill>
                  <a:srgbClr val="7279A7"/>
                </a:solidFill>
              </a:rPr>
              <a:t>I</a:t>
            </a:r>
            <a:r>
              <a:rPr sz="2700" spc="180" dirty="0">
                <a:solidFill>
                  <a:srgbClr val="7279A7"/>
                </a:solidFill>
              </a:rPr>
              <a:t>m</a:t>
            </a:r>
            <a:r>
              <a:rPr sz="2700" spc="80" dirty="0">
                <a:solidFill>
                  <a:srgbClr val="7279A7"/>
                </a:solidFill>
              </a:rPr>
              <a:t>pact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563" y="2097745"/>
            <a:ext cx="4860290" cy="82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2225" indent="2540">
              <a:lnSpc>
                <a:spcPct val="112000"/>
              </a:lnSpc>
              <a:buClr>
                <a:srgbClr val="2D2D2D"/>
              </a:buClr>
              <a:buFont typeface="Arial"/>
              <a:buChar char="•"/>
              <a:tabLst>
                <a:tab pos="149860" algn="l"/>
              </a:tabLst>
            </a:pPr>
            <a:r>
              <a:rPr sz="1000" spc="45" dirty="0">
                <a:solidFill>
                  <a:srgbClr val="2D2D2D"/>
                </a:solidFill>
                <a:latin typeface="Arial"/>
                <a:cs typeface="Arial"/>
              </a:rPr>
              <a:t>Rapid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2D2D2D"/>
                </a:solidFill>
                <a:latin typeface="Arial"/>
                <a:cs typeface="Arial"/>
              </a:rPr>
              <a:t>Gram-level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7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info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enables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8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35" dirty="0">
                <a:solidFill>
                  <a:srgbClr val="2D2D2D"/>
                </a:solidFill>
                <a:latin typeface="Arial"/>
                <a:cs typeface="Arial"/>
              </a:rPr>
              <a:t>earlier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1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2D2D2D"/>
                </a:solidFill>
                <a:latin typeface="Arial"/>
                <a:cs typeface="Arial"/>
              </a:rPr>
              <a:t>targeted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8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antibiotics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4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2D2D2D"/>
                </a:solidFill>
                <a:latin typeface="Arial"/>
                <a:cs typeface="Arial"/>
              </a:rPr>
              <a:t>(improves</a:t>
            </a:r>
            <a:r>
              <a:rPr sz="1000" spc="3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2D2D2D"/>
                </a:solidFill>
                <a:latin typeface="Arial"/>
                <a:cs typeface="Arial"/>
              </a:rPr>
              <a:t>survival)</a:t>
            </a:r>
            <a:r>
              <a:rPr sz="1000" spc="-10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45" dirty="0">
                <a:solidFill>
                  <a:srgbClr val="525252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00965" indent="-85725">
              <a:lnSpc>
                <a:spcPct val="100000"/>
              </a:lnSpc>
              <a:spcBef>
                <a:spcPts val="165"/>
              </a:spcBef>
              <a:buClr>
                <a:srgbClr val="2D2D2D"/>
              </a:buClr>
              <a:buFont typeface="Arial"/>
              <a:buChar char="•"/>
              <a:tabLst>
                <a:tab pos="101600" algn="l"/>
              </a:tabLst>
            </a:pPr>
            <a:r>
              <a:rPr sz="1000" spc="-25" dirty="0">
                <a:solidFill>
                  <a:srgbClr val="2D2D2D"/>
                </a:solidFill>
                <a:latin typeface="Arial"/>
                <a:cs typeface="Arial"/>
              </a:rPr>
              <a:t>Less</a:t>
            </a:r>
            <a:r>
              <a:rPr sz="1000" spc="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empiric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2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85" dirty="0">
                <a:solidFill>
                  <a:srgbClr val="2D2D2D"/>
                </a:solidFill>
                <a:latin typeface="Arial"/>
                <a:cs typeface="Arial"/>
              </a:rPr>
              <a:t>broad-spectrum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3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use</a:t>
            </a:r>
            <a:r>
              <a:rPr sz="1000" spc="-4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650" spc="215" dirty="0">
                <a:solidFill>
                  <a:srgbClr val="2D2D2D"/>
                </a:solidFill>
                <a:latin typeface="Arial"/>
                <a:cs typeface="Arial"/>
              </a:rPr>
              <a:t>-7</a:t>
            </a:r>
            <a:r>
              <a:rPr sz="65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650" spc="-8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supports</a:t>
            </a:r>
            <a:r>
              <a:rPr sz="1000" spc="65" dirty="0">
                <a:solidFill>
                  <a:srgbClr val="2D2D2D"/>
                </a:solidFill>
                <a:latin typeface="Arial"/>
                <a:cs typeface="Arial"/>
              </a:rPr>
              <a:t> antimicrobial</a:t>
            </a:r>
            <a:r>
              <a:rPr sz="1000" spc="9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stewardshi</a:t>
            </a:r>
            <a:r>
              <a:rPr sz="1000" spc="175" dirty="0">
                <a:solidFill>
                  <a:srgbClr val="2D2D2D"/>
                </a:solidFill>
                <a:latin typeface="Arial"/>
                <a:cs typeface="Arial"/>
              </a:rPr>
              <a:t>p</a:t>
            </a:r>
            <a:r>
              <a:rPr sz="1000" spc="45" dirty="0">
                <a:solidFill>
                  <a:srgbClr val="525252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21920" indent="-106680">
              <a:lnSpc>
                <a:spcPct val="100000"/>
              </a:lnSpc>
              <a:spcBef>
                <a:spcPts val="190"/>
              </a:spcBef>
              <a:buClr>
                <a:srgbClr val="2D2D2D"/>
              </a:buClr>
              <a:buFont typeface="Arial"/>
              <a:buChar char="•"/>
              <a:tabLst>
                <a:tab pos="122555" algn="l"/>
              </a:tabLst>
            </a:pPr>
            <a:r>
              <a:rPr sz="1000" spc="45" dirty="0">
                <a:solidFill>
                  <a:srgbClr val="2D2D2D"/>
                </a:solidFill>
                <a:latin typeface="Arial"/>
                <a:cs typeface="Arial"/>
              </a:rPr>
              <a:t>Portable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40" dirty="0">
                <a:solidFill>
                  <a:srgbClr val="2D2D2D"/>
                </a:solidFill>
                <a:latin typeface="Arial"/>
                <a:cs typeface="Arial"/>
              </a:rPr>
              <a:t>SERS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devices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00" dirty="0">
                <a:solidFill>
                  <a:srgbClr val="2D2D2D"/>
                </a:solidFill>
                <a:latin typeface="Arial"/>
                <a:cs typeface="Arial"/>
              </a:rPr>
              <a:t>can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2D2D2D"/>
                </a:solidFill>
                <a:latin typeface="Arial"/>
                <a:cs typeface="Arial"/>
              </a:rPr>
              <a:t>enable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2D2D2D"/>
                </a:solidFill>
                <a:latin typeface="Arial"/>
                <a:cs typeface="Arial"/>
              </a:rPr>
              <a:t>near-patient,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90" dirty="0">
                <a:solidFill>
                  <a:srgbClr val="2D2D2D"/>
                </a:solidFill>
                <a:latin typeface="Arial"/>
                <a:cs typeface="Arial"/>
              </a:rPr>
              <a:t>point-of-care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8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testing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80" dirty="0">
                <a:solidFill>
                  <a:srgbClr val="2D2D2D"/>
                </a:solidFill>
                <a:latin typeface="Arial"/>
                <a:cs typeface="Arial"/>
              </a:rPr>
              <a:t>in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130"/>
              </a:lnSpc>
              <a:spcBef>
                <a:spcPts val="215"/>
              </a:spcBef>
            </a:pPr>
            <a:r>
              <a:rPr sz="950" spc="20" dirty="0">
                <a:solidFill>
                  <a:srgbClr val="2D2D2D"/>
                </a:solidFill>
                <a:latin typeface="Arial"/>
                <a:cs typeface="Arial"/>
              </a:rPr>
              <a:t>ED/IC</a:t>
            </a:r>
            <a:r>
              <a:rPr sz="950" spc="5" dirty="0">
                <a:solidFill>
                  <a:srgbClr val="2D2D2D"/>
                </a:solidFill>
                <a:latin typeface="Arial"/>
                <a:cs typeface="Arial"/>
              </a:rPr>
              <a:t>U</a:t>
            </a:r>
            <a:r>
              <a:rPr sz="950" spc="60" dirty="0">
                <a:solidFill>
                  <a:srgbClr val="525252"/>
                </a:solidFill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507" y="3461530"/>
            <a:ext cx="3972560" cy="370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b="1" spc="10" dirty="0">
                <a:solidFill>
                  <a:srgbClr val="7279A7"/>
                </a:solidFill>
                <a:latin typeface="Arial"/>
                <a:cs typeface="Arial"/>
              </a:rPr>
              <a:t>Challenges</a:t>
            </a:r>
            <a:r>
              <a:rPr sz="2700" b="1" spc="50" dirty="0">
                <a:solidFill>
                  <a:srgbClr val="7279A7"/>
                </a:solidFill>
                <a:latin typeface="Arial"/>
                <a:cs typeface="Arial"/>
              </a:rPr>
              <a:t> </a:t>
            </a:r>
            <a:r>
              <a:rPr sz="2700" b="1" spc="-160" dirty="0">
                <a:solidFill>
                  <a:srgbClr val="7279A7"/>
                </a:solidFill>
                <a:latin typeface="Times New Roman"/>
                <a:cs typeface="Times New Roman"/>
              </a:rPr>
              <a:t>&amp;</a:t>
            </a:r>
            <a:r>
              <a:rPr sz="2700" b="1" spc="-80" dirty="0">
                <a:solidFill>
                  <a:srgbClr val="7279A7"/>
                </a:solidFill>
                <a:latin typeface="Times New Roman"/>
                <a:cs typeface="Times New Roman"/>
              </a:rPr>
              <a:t> </a:t>
            </a:r>
            <a:r>
              <a:rPr sz="2700" b="1" spc="70" dirty="0">
                <a:solidFill>
                  <a:srgbClr val="7279A7"/>
                </a:solidFill>
                <a:latin typeface="Arial"/>
                <a:cs typeface="Arial"/>
              </a:rPr>
              <a:t>Roadmap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515" y="4179022"/>
            <a:ext cx="4855210" cy="1880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indent="-130810">
              <a:lnSpc>
                <a:spcPct val="100000"/>
              </a:lnSpc>
              <a:buClr>
                <a:srgbClr val="2D2D2D"/>
              </a:buClr>
              <a:buFont typeface="Arial"/>
              <a:buChar char="•"/>
              <a:tabLst>
                <a:tab pos="232410" algn="l"/>
              </a:tabLst>
            </a:pPr>
            <a:r>
              <a:rPr sz="1000" spc="10" dirty="0">
                <a:solidFill>
                  <a:srgbClr val="2D2D2D"/>
                </a:solidFill>
                <a:latin typeface="Arial"/>
                <a:cs typeface="Arial"/>
              </a:rPr>
              <a:t>Extensive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literature </a:t>
            </a:r>
            <a:r>
              <a:rPr sz="1000" spc="45" dirty="0">
                <a:solidFill>
                  <a:srgbClr val="2D2D2D"/>
                </a:solidFill>
                <a:latin typeface="Arial"/>
                <a:cs typeface="Arial"/>
              </a:rPr>
              <a:t>review</a:t>
            </a:r>
            <a:r>
              <a:rPr sz="1000" spc="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2D2D2D"/>
                </a:solidFill>
                <a:latin typeface="Arial"/>
                <a:cs typeface="Arial"/>
              </a:rPr>
              <a:t>done</a:t>
            </a:r>
            <a:r>
              <a:rPr sz="1000" spc="4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00" dirty="0">
                <a:solidFill>
                  <a:srgbClr val="2D2D2D"/>
                </a:solidFill>
                <a:latin typeface="Arial"/>
                <a:cs typeface="Arial"/>
              </a:rPr>
              <a:t>and</a:t>
            </a:r>
            <a:r>
              <a:rPr sz="1000" spc="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2D2D2D"/>
                </a:solidFill>
                <a:latin typeface="Arial"/>
                <a:cs typeface="Arial"/>
              </a:rPr>
              <a:t>finalization</a:t>
            </a:r>
            <a:r>
              <a:rPr sz="1000" spc="1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2D2D2D"/>
                </a:solidFill>
                <a:latin typeface="Arial"/>
                <a:cs typeface="Arial"/>
              </a:rPr>
              <a:t>of</a:t>
            </a:r>
            <a:r>
              <a:rPr sz="1000" spc="12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biomarker</a:t>
            </a:r>
            <a:r>
              <a:rPr sz="1000" spc="1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process</a:t>
            </a:r>
            <a:r>
              <a:rPr sz="1000" spc="3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45" dirty="0">
                <a:solidFill>
                  <a:srgbClr val="2D2D2D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228600" marR="14604" indent="-130810">
              <a:lnSpc>
                <a:spcPct val="112000"/>
              </a:lnSpc>
              <a:spcBef>
                <a:spcPts val="20"/>
              </a:spcBef>
              <a:buClr>
                <a:srgbClr val="2D2D2D"/>
              </a:buClr>
              <a:buFont typeface="Arial"/>
              <a:buChar char="•"/>
              <a:tabLst>
                <a:tab pos="232410" algn="l"/>
              </a:tabLst>
            </a:pPr>
            <a:r>
              <a:rPr sz="1000" spc="-145" dirty="0">
                <a:solidFill>
                  <a:srgbClr val="2D2D2D"/>
                </a:solidFill>
                <a:latin typeface="Arial"/>
                <a:cs typeface="Arial"/>
              </a:rPr>
              <a:t>SERS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simulations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initiation</a:t>
            </a:r>
            <a:r>
              <a:rPr sz="1000" spc="11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2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optimize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spectral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7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response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14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00" dirty="0">
                <a:solidFill>
                  <a:srgbClr val="2D2D2D"/>
                </a:solidFill>
                <a:latin typeface="Arial"/>
                <a:cs typeface="Arial"/>
              </a:rPr>
              <a:t>and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2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substrate</a:t>
            </a:r>
            <a:r>
              <a:rPr sz="1000" spc="3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45" dirty="0">
                <a:solidFill>
                  <a:srgbClr val="2D2D2D"/>
                </a:solidFill>
                <a:latin typeface="Arial"/>
                <a:cs typeface="Arial"/>
              </a:rPr>
              <a:t>design.</a:t>
            </a:r>
            <a:endParaRPr sz="1000">
              <a:latin typeface="Arial"/>
              <a:cs typeface="Arial"/>
            </a:endParaRPr>
          </a:p>
          <a:p>
            <a:pPr marL="228600" marR="10160" indent="-130810">
              <a:lnSpc>
                <a:spcPct val="113999"/>
              </a:lnSpc>
              <a:buClr>
                <a:srgbClr val="2D2D2D"/>
              </a:buClr>
              <a:buFont typeface="Arial"/>
              <a:buChar char="•"/>
              <a:tabLst>
                <a:tab pos="232410" algn="l"/>
              </a:tabLst>
            </a:pP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Next:  </a:t>
            </a:r>
            <a:r>
              <a:rPr sz="1000" spc="-7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experimental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6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validation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0" dirty="0">
                <a:solidFill>
                  <a:srgbClr val="2D2D2D"/>
                </a:solidFill>
                <a:latin typeface="Arial"/>
                <a:cs typeface="Arial"/>
              </a:rPr>
              <a:t>of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7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simulation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8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35" dirty="0">
                <a:solidFill>
                  <a:srgbClr val="2D2D2D"/>
                </a:solidFill>
                <a:latin typeface="Arial"/>
                <a:cs typeface="Arial"/>
              </a:rPr>
              <a:t>results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using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1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2D2D2D"/>
                </a:solidFill>
                <a:latin typeface="Arial"/>
                <a:cs typeface="Arial"/>
              </a:rPr>
              <a:t>standard</a:t>
            </a:r>
            <a:r>
              <a:rPr sz="1000" spc="4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samples.</a:t>
            </a:r>
            <a:endParaRPr sz="1000">
              <a:latin typeface="Arial"/>
              <a:cs typeface="Arial"/>
            </a:endParaRPr>
          </a:p>
          <a:p>
            <a:pPr marL="231775" marR="6350" indent="-133985">
              <a:lnSpc>
                <a:spcPts val="1390"/>
              </a:lnSpc>
              <a:spcBef>
                <a:spcPts val="30"/>
              </a:spcBef>
              <a:buClr>
                <a:srgbClr val="2D2D2D"/>
              </a:buClr>
              <a:buFont typeface="Arial"/>
              <a:buChar char="•"/>
              <a:tabLst>
                <a:tab pos="232410" algn="l"/>
              </a:tabLst>
            </a:pPr>
            <a:r>
              <a:rPr sz="1000" spc="45" dirty="0">
                <a:solidFill>
                  <a:srgbClr val="2D2D2D"/>
                </a:solidFill>
                <a:latin typeface="Arial"/>
                <a:cs typeface="Arial"/>
              </a:rPr>
              <a:t>Prototype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4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2D2D2D"/>
                </a:solidFill>
                <a:latin typeface="Arial"/>
                <a:cs typeface="Arial"/>
              </a:rPr>
              <a:t>fabrication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00" dirty="0">
                <a:solidFill>
                  <a:srgbClr val="2D2D2D"/>
                </a:solidFill>
                <a:latin typeface="Arial"/>
                <a:cs typeface="Arial"/>
              </a:rPr>
              <a:t>and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4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spectral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3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2D2D2D"/>
                </a:solidFill>
                <a:latin typeface="Arial"/>
                <a:cs typeface="Arial"/>
              </a:rPr>
              <a:t>benchmarking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80" dirty="0">
                <a:solidFill>
                  <a:srgbClr val="2D2D2D"/>
                </a:solidFill>
                <a:latin typeface="Arial"/>
                <a:cs typeface="Arial"/>
              </a:rPr>
              <a:t>planned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2D2D2D"/>
                </a:solidFill>
                <a:latin typeface="Arial"/>
                <a:cs typeface="Arial"/>
              </a:rPr>
              <a:t>in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-6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35" dirty="0">
                <a:solidFill>
                  <a:srgbClr val="2D2D2D"/>
                </a:solidFill>
                <a:latin typeface="Arial"/>
                <a:cs typeface="Arial"/>
              </a:rPr>
              <a:t>next</a:t>
            </a:r>
            <a:r>
              <a:rPr sz="1000" spc="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2D2D2D"/>
                </a:solidFill>
                <a:latin typeface="Arial"/>
                <a:cs typeface="Arial"/>
              </a:rPr>
              <a:t>phas</a:t>
            </a:r>
            <a:r>
              <a:rPr sz="1000" spc="85" dirty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000" spc="45" dirty="0">
                <a:solidFill>
                  <a:srgbClr val="525252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231775" indent="-133985">
              <a:lnSpc>
                <a:spcPct val="100000"/>
              </a:lnSpc>
              <a:spcBef>
                <a:spcPts val="65"/>
              </a:spcBef>
              <a:buClr>
                <a:srgbClr val="2D2D2D"/>
              </a:buClr>
              <a:buFont typeface="Arial"/>
              <a:buChar char="•"/>
              <a:tabLst>
                <a:tab pos="232410" algn="l"/>
              </a:tabLst>
            </a:pPr>
            <a:r>
              <a:rPr sz="1000" spc="-10" dirty="0">
                <a:solidFill>
                  <a:srgbClr val="2D2D2D"/>
                </a:solidFill>
                <a:latin typeface="Arial"/>
                <a:cs typeface="Arial"/>
              </a:rPr>
              <a:t>Key</a:t>
            </a:r>
            <a:r>
              <a:rPr sz="1000" spc="4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challenges: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 ensuring</a:t>
            </a:r>
            <a:r>
              <a:rPr sz="1000" spc="10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signal</a:t>
            </a:r>
            <a:r>
              <a:rPr sz="1000" spc="8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reproducibility,</a:t>
            </a:r>
            <a:r>
              <a:rPr sz="1000" spc="3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substrate</a:t>
            </a:r>
            <a:r>
              <a:rPr sz="1000" spc="1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uniformity,</a:t>
            </a:r>
            <a:r>
              <a:rPr sz="1000" spc="-1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10" dirty="0">
                <a:solidFill>
                  <a:srgbClr val="2D2D2D"/>
                </a:solidFill>
                <a:latin typeface="Arial"/>
                <a:cs typeface="Arial"/>
              </a:rPr>
              <a:t>and</a:t>
            </a:r>
            <a:endParaRPr sz="10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145"/>
              </a:spcBef>
            </a:pP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scaling</a:t>
            </a:r>
            <a:r>
              <a:rPr sz="1000" spc="3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30" dirty="0">
                <a:solidFill>
                  <a:srgbClr val="2D2D2D"/>
                </a:solidFill>
                <a:latin typeface="Arial"/>
                <a:cs typeface="Arial"/>
              </a:rPr>
              <a:t>for</a:t>
            </a:r>
            <a:r>
              <a:rPr sz="1000" spc="10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2D2D2D"/>
                </a:solidFill>
                <a:latin typeface="Arial"/>
                <a:cs typeface="Arial"/>
              </a:rPr>
              <a:t>real-world</a:t>
            </a:r>
            <a:r>
              <a:rPr sz="1000" spc="3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D2D2D"/>
                </a:solidFill>
                <a:latin typeface="Arial"/>
                <a:cs typeface="Arial"/>
              </a:rPr>
              <a:t>us</a:t>
            </a:r>
            <a:r>
              <a:rPr sz="1000" spc="30" dirty="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sz="1000" spc="45" dirty="0">
                <a:solidFill>
                  <a:srgbClr val="525252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2700" marR="13970" indent="2540">
              <a:lnSpc>
                <a:spcPct val="113999"/>
              </a:lnSpc>
            </a:pPr>
            <a:r>
              <a:rPr sz="1000" spc="75" dirty="0">
                <a:solidFill>
                  <a:srgbClr val="2D2D2D"/>
                </a:solidFill>
                <a:latin typeface="Arial"/>
                <a:cs typeface="Arial"/>
              </a:rPr>
              <a:t>Long-term </a:t>
            </a:r>
            <a:r>
              <a:rPr sz="1000" spc="-6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85" dirty="0">
                <a:solidFill>
                  <a:srgbClr val="2D2D2D"/>
                </a:solidFill>
                <a:latin typeface="Arial"/>
                <a:cs typeface="Arial"/>
              </a:rPr>
              <a:t>goa</a:t>
            </a:r>
            <a:r>
              <a:rPr sz="1000" spc="70" dirty="0">
                <a:solidFill>
                  <a:srgbClr val="2D2D2D"/>
                </a:solidFill>
                <a:latin typeface="Arial"/>
                <a:cs typeface="Arial"/>
              </a:rPr>
              <a:t>l</a:t>
            </a:r>
            <a:r>
              <a:rPr sz="1000" spc="45" dirty="0">
                <a:solidFill>
                  <a:srgbClr val="525252"/>
                </a:solidFill>
                <a:latin typeface="Arial"/>
                <a:cs typeface="Arial"/>
              </a:rPr>
              <a:t>:</a:t>
            </a:r>
            <a:r>
              <a:rPr sz="1000" spc="4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D2D2D"/>
                </a:solidFill>
                <a:latin typeface="Arial"/>
                <a:cs typeface="Arial"/>
              </a:rPr>
              <a:t>translate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optimized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1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45" dirty="0">
                <a:solidFill>
                  <a:srgbClr val="2D2D2D"/>
                </a:solidFill>
                <a:latin typeface="Arial"/>
                <a:cs typeface="Arial"/>
              </a:rPr>
              <a:t>SERS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2D2D2D"/>
                </a:solidFill>
                <a:latin typeface="Arial"/>
                <a:cs typeface="Arial"/>
              </a:rPr>
              <a:t>workflow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 into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2D2D2D"/>
                </a:solidFill>
                <a:latin typeface="Arial"/>
                <a:cs typeface="Arial"/>
              </a:rPr>
              <a:t>a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2D2D2D"/>
                </a:solidFill>
                <a:latin typeface="Arial"/>
                <a:cs typeface="Arial"/>
              </a:rPr>
              <a:t>portable</a:t>
            </a:r>
            <a:r>
              <a:rPr sz="100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30" dirty="0">
                <a:solidFill>
                  <a:srgbClr val="2D2D2D"/>
                </a:solidFill>
                <a:latin typeface="Arial"/>
                <a:cs typeface="Arial"/>
              </a:rPr>
              <a:t>sepsis</a:t>
            </a:r>
            <a:r>
              <a:rPr sz="1000" spc="1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2D2D2D"/>
                </a:solidFill>
                <a:latin typeface="Arial"/>
                <a:cs typeface="Arial"/>
              </a:rPr>
              <a:t>diagnostic</a:t>
            </a:r>
            <a:r>
              <a:rPr sz="1000" spc="11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00" spc="45" dirty="0">
                <a:solidFill>
                  <a:srgbClr val="2D2D2D"/>
                </a:solidFill>
                <a:latin typeface="Arial"/>
                <a:cs typeface="Arial"/>
              </a:rPr>
              <a:t>device.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185"/>
              </a:lnSpc>
            </a:pPr>
            <a:r>
              <a:rPr spc="-75" dirty="0"/>
              <a:t>R</a:t>
            </a:r>
            <a:r>
              <a:rPr spc="-385" dirty="0"/>
              <a:t>e</a:t>
            </a:r>
            <a:r>
              <a:rPr spc="135" dirty="0"/>
              <a:t>f</a:t>
            </a:r>
            <a:r>
              <a:rPr spc="370" dirty="0"/>
              <a:t>e</a:t>
            </a:r>
            <a:r>
              <a:rPr spc="220" dirty="0"/>
              <a:t>r</a:t>
            </a:r>
            <a:r>
              <a:rPr spc="90" dirty="0"/>
              <a:t>e</a:t>
            </a:r>
            <a:r>
              <a:rPr spc="55" dirty="0"/>
              <a:t>n</a:t>
            </a:r>
            <a:r>
              <a:rPr spc="180" dirty="0"/>
              <a:t>c</a:t>
            </a:r>
            <a:r>
              <a:rPr spc="270" dirty="0"/>
              <a:t>e</a:t>
            </a:r>
            <a:r>
              <a:rPr spc="-3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747" y="2143827"/>
            <a:ext cx="9559925" cy="4274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700"/>
              </a:lnSpc>
            </a:pPr>
            <a:r>
              <a:rPr sz="1500" spc="165" dirty="0">
                <a:solidFill>
                  <a:srgbClr val="161C1F"/>
                </a:solidFill>
                <a:latin typeface="Arial"/>
                <a:cs typeface="Arial"/>
              </a:rPr>
              <a:t>l</a:t>
            </a:r>
            <a:r>
              <a:rPr sz="1500" spc="17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-24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spc="2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nger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M.</a:t>
            </a:r>
            <a:r>
              <a:rPr sz="1500" spc="-13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al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345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The</a:t>
            </a:r>
            <a:r>
              <a:rPr sz="1500" spc="2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Th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10" dirty="0">
                <a:solidFill>
                  <a:srgbClr val="161C1F"/>
                </a:solidFill>
                <a:latin typeface="Arial"/>
                <a:cs typeface="Arial"/>
              </a:rPr>
              <a:t>rd</a:t>
            </a:r>
            <a:r>
              <a:rPr sz="1500" spc="-3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International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Consensus</a:t>
            </a:r>
            <a:r>
              <a:rPr sz="1500" spc="14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Defin</a:t>
            </a:r>
            <a:r>
              <a:rPr sz="1500" spc="-4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14" dirty="0">
                <a:solidFill>
                  <a:srgbClr val="161C1F"/>
                </a:solidFill>
                <a:latin typeface="Arial"/>
                <a:cs typeface="Arial"/>
              </a:rPr>
              <a:t>t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ons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for</a:t>
            </a:r>
            <a:r>
              <a:rPr sz="1500" spc="12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Sepsis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40" dirty="0">
                <a:solidFill>
                  <a:srgbClr val="161C1F"/>
                </a:solidFill>
                <a:latin typeface="Arial"/>
                <a:cs typeface="Arial"/>
              </a:rPr>
              <a:t>and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Sept</a:t>
            </a:r>
            <a:r>
              <a:rPr sz="1500" spc="3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c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Shock</a:t>
            </a:r>
            <a:r>
              <a:rPr sz="1500" spc="19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30" dirty="0">
                <a:solidFill>
                  <a:srgbClr val="161C1F"/>
                </a:solidFill>
                <a:latin typeface="Arial"/>
                <a:cs typeface="Arial"/>
              </a:rPr>
              <a:t>(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Seps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25" dirty="0">
                <a:solidFill>
                  <a:srgbClr val="161C1F"/>
                </a:solidFill>
                <a:latin typeface="Arial"/>
                <a:cs typeface="Arial"/>
              </a:rPr>
              <a:t>s-3)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. 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JAMA.</a:t>
            </a:r>
            <a:r>
              <a:rPr sz="1500" spc="2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55" dirty="0">
                <a:solidFill>
                  <a:srgbClr val="161C1F"/>
                </a:solidFill>
                <a:latin typeface="Arial"/>
                <a:cs typeface="Arial"/>
              </a:rPr>
              <a:t>2016.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buClr>
                <a:srgbClr val="161C1F"/>
              </a:buClr>
              <a:buFont typeface="Arial"/>
              <a:buAutoNum type="arabicPeriod" startAt="2"/>
              <a:tabLst>
                <a:tab pos="217170" algn="l"/>
              </a:tabLst>
            </a:pP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Kundu</a:t>
            </a:r>
            <a:r>
              <a:rPr sz="1500" spc="-3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A.</a:t>
            </a:r>
            <a:r>
              <a:rPr sz="1500" spc="-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-2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al</a:t>
            </a:r>
            <a:r>
              <a:rPr sz="1500" spc="-35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345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-240" dirty="0">
                <a:solidFill>
                  <a:srgbClr val="161C1F"/>
                </a:solidFill>
                <a:latin typeface="Arial"/>
                <a:cs typeface="Arial"/>
              </a:rPr>
              <a:t>SER</a:t>
            </a:r>
            <a:r>
              <a:rPr sz="1500" spc="-229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215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detect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ion</a:t>
            </a:r>
            <a:r>
              <a:rPr sz="1500" spc="-3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of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sepsis</a:t>
            </a:r>
            <a:r>
              <a:rPr sz="1500" spc="114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65" dirty="0">
                <a:solidFill>
                  <a:srgbClr val="161C1F"/>
                </a:solidFill>
                <a:latin typeface="Arial"/>
                <a:cs typeface="Arial"/>
              </a:rPr>
              <a:t>b</a:t>
            </a:r>
            <a:r>
              <a:rPr sz="1500" spc="-2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omarkers</a:t>
            </a:r>
            <a:r>
              <a:rPr sz="1500" spc="10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on</a:t>
            </a:r>
            <a:r>
              <a:rPr sz="1500" spc="-3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Ag-BP</a:t>
            </a:r>
            <a:r>
              <a:rPr sz="1500" spc="14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platfor</a:t>
            </a:r>
            <a:r>
              <a:rPr sz="1500" spc="220" dirty="0">
                <a:solidFill>
                  <a:srgbClr val="161C1F"/>
                </a:solidFill>
                <a:latin typeface="Arial"/>
                <a:cs typeface="Arial"/>
              </a:rPr>
              <a:t>m</a:t>
            </a:r>
            <a:r>
              <a:rPr sz="1500" spc="17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-26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Sensor</a:t>
            </a:r>
            <a:r>
              <a:rPr sz="1500" spc="150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spc="90" dirty="0">
                <a:solidFill>
                  <a:srgbClr val="161C1F"/>
                </a:solidFill>
                <a:latin typeface="Arial"/>
                <a:cs typeface="Arial"/>
              </a:rPr>
              <a:t>/D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agnosti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cs,</a:t>
            </a:r>
            <a:r>
              <a:rPr sz="1500" spc="-11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2022.</a:t>
            </a:r>
            <a:endParaRPr sz="1500">
              <a:latin typeface="Arial"/>
              <a:cs typeface="Arial"/>
            </a:endParaRPr>
          </a:p>
          <a:p>
            <a:pPr marL="12700" marR="89535">
              <a:lnSpc>
                <a:spcPct val="110700"/>
              </a:lnSpc>
              <a:buClr>
                <a:srgbClr val="161C1F"/>
              </a:buClr>
              <a:buFont typeface="Arial"/>
              <a:buAutoNum type="arabicPeriod" startAt="2"/>
              <a:tabLst>
                <a:tab pos="220345" algn="l"/>
              </a:tabLst>
            </a:pP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Hung</a:t>
            </a:r>
            <a:r>
              <a:rPr sz="1500" spc="-3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114" dirty="0">
                <a:solidFill>
                  <a:srgbClr val="161C1F"/>
                </a:solidFill>
                <a:latin typeface="Arial"/>
                <a:cs typeface="Arial"/>
              </a:rPr>
              <a:t>S.</a:t>
            </a:r>
            <a:r>
              <a:rPr sz="1500" spc="1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61C1F"/>
                </a:solidFill>
                <a:latin typeface="Arial"/>
                <a:cs typeface="Arial"/>
              </a:rPr>
              <a:t>K.</a:t>
            </a:r>
            <a:r>
              <a:rPr sz="1500" spc="-114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al</a:t>
            </a:r>
            <a:r>
              <a:rPr sz="1500" spc="-4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320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Current</a:t>
            </a:r>
            <a:r>
              <a:rPr sz="1500" spc="10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Evidence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30" dirty="0">
                <a:solidFill>
                  <a:srgbClr val="161C1F"/>
                </a:solidFill>
                <a:latin typeface="Arial"/>
                <a:cs typeface="Arial"/>
              </a:rPr>
              <a:t>and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Lim</a:t>
            </a:r>
            <a:r>
              <a:rPr sz="1500" spc="-4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25" dirty="0">
                <a:solidFill>
                  <a:srgbClr val="161C1F"/>
                </a:solidFill>
                <a:latin typeface="Arial"/>
                <a:cs typeface="Arial"/>
              </a:rPr>
              <a:t>tat</a:t>
            </a:r>
            <a:r>
              <a:rPr sz="1500" spc="9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ons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of</a:t>
            </a:r>
            <a:r>
              <a:rPr sz="1500" spc="14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161C1F"/>
                </a:solidFill>
                <a:latin typeface="Arial"/>
                <a:cs typeface="Arial"/>
              </a:rPr>
              <a:t>B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omarkers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for</a:t>
            </a:r>
            <a:r>
              <a:rPr sz="1500" spc="15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Detecting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Sepsis.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161C1F"/>
                </a:solidFill>
                <a:latin typeface="Arial"/>
                <a:cs typeface="Arial"/>
              </a:rPr>
              <a:t>B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40" dirty="0">
                <a:solidFill>
                  <a:srgbClr val="161C1F"/>
                </a:solidFill>
                <a:latin typeface="Arial"/>
                <a:cs typeface="Arial"/>
              </a:rPr>
              <a:t>omed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50" dirty="0">
                <a:solidFill>
                  <a:srgbClr val="161C1F"/>
                </a:solidFill>
                <a:latin typeface="Arial"/>
                <a:cs typeface="Arial"/>
              </a:rPr>
              <a:t>c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nes,</a:t>
            </a:r>
            <a:r>
              <a:rPr sz="1500" spc="2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2020.</a:t>
            </a:r>
            <a:endParaRPr sz="1500">
              <a:latin typeface="Arial"/>
              <a:cs typeface="Arial"/>
            </a:endParaRPr>
          </a:p>
          <a:p>
            <a:pPr marL="231775" indent="-219075">
              <a:lnSpc>
                <a:spcPts val="1785"/>
              </a:lnSpc>
              <a:spcBef>
                <a:spcPts val="240"/>
              </a:spcBef>
              <a:buClr>
                <a:srgbClr val="161C1F"/>
              </a:buClr>
              <a:buFont typeface="Arial"/>
              <a:buAutoNum type="arabicPeriod" startAt="2"/>
              <a:tabLst>
                <a:tab pos="232410" algn="l"/>
              </a:tabLst>
            </a:pP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Hassan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161C1F"/>
                </a:solidFill>
                <a:latin typeface="Arial"/>
                <a:cs typeface="Arial"/>
              </a:rPr>
              <a:t>M.</a:t>
            </a:r>
            <a:r>
              <a:rPr sz="1500" spc="-10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al</a:t>
            </a:r>
            <a:r>
              <a:rPr sz="1500" spc="-4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320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Advances</a:t>
            </a:r>
            <a:r>
              <a:rPr sz="1500" spc="18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n</a:t>
            </a:r>
            <a:r>
              <a:rPr sz="1500" spc="-3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Bacteri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al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Detecti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on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Us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30" dirty="0">
                <a:solidFill>
                  <a:srgbClr val="161C1F"/>
                </a:solidFill>
                <a:latin typeface="Arial"/>
                <a:cs typeface="Arial"/>
              </a:rPr>
              <a:t>ng</a:t>
            </a:r>
            <a:r>
              <a:rPr sz="1500" spc="-5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250" dirty="0">
                <a:solidFill>
                  <a:srgbClr val="161C1F"/>
                </a:solidFill>
                <a:latin typeface="Arial"/>
                <a:cs typeface="Arial"/>
              </a:rPr>
              <a:t>SER</a:t>
            </a:r>
            <a:r>
              <a:rPr sz="1500" spc="-22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161C1F"/>
                </a:solidFill>
                <a:latin typeface="Arial"/>
                <a:cs typeface="Arial"/>
              </a:rPr>
              <a:t>S.</a:t>
            </a:r>
            <a:r>
              <a:rPr sz="1500" spc="-20" dirty="0">
                <a:solidFill>
                  <a:srgbClr val="161C1F"/>
                </a:solidFill>
                <a:latin typeface="Arial"/>
                <a:cs typeface="Arial"/>
              </a:rPr>
              <a:t> B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osensors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18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(2024)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  <a:p>
            <a:pPr marL="228600" indent="-210185">
              <a:lnSpc>
                <a:spcPts val="2085"/>
              </a:lnSpc>
              <a:buClr>
                <a:srgbClr val="161C1F"/>
              </a:buClr>
              <a:buFont typeface="Arial"/>
              <a:buAutoNum type="arabicPeriod" startAt="2"/>
              <a:tabLst>
                <a:tab pos="229235" algn="l"/>
              </a:tabLst>
            </a:pP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Raetz</a:t>
            </a:r>
            <a:r>
              <a:rPr sz="1500" spc="-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65" dirty="0">
                <a:solidFill>
                  <a:srgbClr val="161C1F"/>
                </a:solidFill>
                <a:latin typeface="Arial"/>
                <a:cs typeface="Arial"/>
              </a:rPr>
              <a:t>CR</a:t>
            </a:r>
            <a:r>
              <a:rPr sz="1500" spc="-75" dirty="0">
                <a:solidFill>
                  <a:srgbClr val="161C1F"/>
                </a:solidFill>
                <a:latin typeface="Arial"/>
                <a:cs typeface="Arial"/>
              </a:rPr>
              <a:t>H</a:t>
            </a:r>
            <a:r>
              <a:rPr sz="1500" spc="320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Whi</a:t>
            </a:r>
            <a:r>
              <a:rPr sz="1500" spc="90" dirty="0">
                <a:solidFill>
                  <a:srgbClr val="161C1F"/>
                </a:solidFill>
                <a:latin typeface="Arial"/>
                <a:cs typeface="Arial"/>
              </a:rPr>
              <a:t>tf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eld</a:t>
            </a:r>
            <a:r>
              <a:rPr sz="1500" spc="-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750" spc="140" dirty="0">
                <a:solidFill>
                  <a:srgbClr val="161C1F"/>
                </a:solidFill>
                <a:latin typeface="Arial"/>
                <a:cs typeface="Arial"/>
              </a:rPr>
              <a:t>c</a:t>
            </a:r>
            <a:r>
              <a:rPr sz="1750" spc="-7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750" spc="295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Lipopolysacchar</a:t>
            </a:r>
            <a:r>
              <a:rPr sz="1500" spc="114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de</a:t>
            </a:r>
            <a:r>
              <a:rPr sz="1500" spc="-1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endotox</a:t>
            </a:r>
            <a:r>
              <a:rPr sz="1500" spc="17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ns.</a:t>
            </a:r>
            <a:r>
              <a:rPr sz="1500" spc="-9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Annu</a:t>
            </a:r>
            <a:r>
              <a:rPr sz="1500" spc="13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225" dirty="0">
                <a:solidFill>
                  <a:srgbClr val="161C1F"/>
                </a:solidFill>
                <a:latin typeface="Arial"/>
                <a:cs typeface="Arial"/>
              </a:rPr>
              <a:t>R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ev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161C1F"/>
                </a:solidFill>
                <a:latin typeface="Arial"/>
                <a:cs typeface="Arial"/>
              </a:rPr>
              <a:t>B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05" dirty="0">
                <a:solidFill>
                  <a:srgbClr val="161C1F"/>
                </a:solidFill>
                <a:latin typeface="Arial"/>
                <a:cs typeface="Arial"/>
              </a:rPr>
              <a:t>oche</a:t>
            </a:r>
            <a:r>
              <a:rPr sz="1500" spc="250" dirty="0">
                <a:solidFill>
                  <a:srgbClr val="161C1F"/>
                </a:solidFill>
                <a:latin typeface="Arial"/>
                <a:cs typeface="Arial"/>
              </a:rPr>
              <a:t>m</a:t>
            </a:r>
            <a:r>
              <a:rPr sz="1500" spc="17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-26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2002.</a:t>
            </a:r>
            <a:endParaRPr sz="1500">
              <a:latin typeface="Arial"/>
              <a:cs typeface="Arial"/>
            </a:endParaRPr>
          </a:p>
          <a:p>
            <a:pPr marL="228600" indent="-210185">
              <a:lnSpc>
                <a:spcPct val="100000"/>
              </a:lnSpc>
              <a:spcBef>
                <a:spcPts val="140"/>
              </a:spcBef>
              <a:buClr>
                <a:srgbClr val="161C1F"/>
              </a:buClr>
              <a:buFont typeface="Arial"/>
              <a:buAutoNum type="arabicPeriod" startAt="2"/>
              <a:tabLst>
                <a:tab pos="229235" algn="l"/>
              </a:tabLst>
            </a:pPr>
            <a:r>
              <a:rPr sz="1500" spc="-90" dirty="0">
                <a:solidFill>
                  <a:srgbClr val="161C1F"/>
                </a:solidFill>
                <a:latin typeface="Arial"/>
                <a:cs typeface="Arial"/>
              </a:rPr>
              <a:t>NICE</a:t>
            </a:r>
            <a:r>
              <a:rPr sz="1500" spc="-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Gu</a:t>
            </a:r>
            <a:r>
              <a:rPr sz="1500" spc="1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del</a:t>
            </a:r>
            <a:r>
              <a:rPr sz="1500" spc="10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ne</a:t>
            </a:r>
            <a:r>
              <a:rPr sz="1500" spc="-2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61C1F"/>
                </a:solidFill>
                <a:latin typeface="Arial"/>
                <a:cs typeface="Arial"/>
              </a:rPr>
              <a:t>NG5</a:t>
            </a:r>
            <a:r>
              <a:rPr sz="1500" spc="-204" dirty="0">
                <a:solidFill>
                  <a:srgbClr val="161C1F"/>
                </a:solidFill>
                <a:latin typeface="Arial"/>
                <a:cs typeface="Arial"/>
              </a:rPr>
              <a:t>1</a:t>
            </a:r>
            <a:r>
              <a:rPr sz="1500" spc="370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Seps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-10" dirty="0">
                <a:solidFill>
                  <a:srgbClr val="161C1F"/>
                </a:solidFill>
                <a:latin typeface="Arial"/>
                <a:cs typeface="Arial"/>
              </a:rPr>
              <a:t>s:</a:t>
            </a:r>
            <a:r>
              <a:rPr sz="1500" spc="-2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90" dirty="0">
                <a:solidFill>
                  <a:srgbClr val="161C1F"/>
                </a:solidFill>
                <a:latin typeface="Arial"/>
                <a:cs typeface="Arial"/>
              </a:rPr>
              <a:t>recogn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14" dirty="0">
                <a:solidFill>
                  <a:srgbClr val="161C1F"/>
                </a:solidFill>
                <a:latin typeface="Arial"/>
                <a:cs typeface="Arial"/>
              </a:rPr>
              <a:t>t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o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n</a:t>
            </a:r>
            <a:r>
              <a:rPr sz="1500" spc="345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155" dirty="0">
                <a:solidFill>
                  <a:srgbClr val="161C1F"/>
                </a:solidFill>
                <a:latin typeface="Arial"/>
                <a:cs typeface="Arial"/>
              </a:rPr>
              <a:t>d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05" dirty="0">
                <a:solidFill>
                  <a:srgbClr val="161C1F"/>
                </a:solidFill>
                <a:latin typeface="Arial"/>
                <a:cs typeface="Arial"/>
              </a:rPr>
              <a:t>agnos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spc="-1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30" dirty="0">
                <a:solidFill>
                  <a:srgbClr val="161C1F"/>
                </a:solidFill>
                <a:latin typeface="Arial"/>
                <a:cs typeface="Arial"/>
              </a:rPr>
              <a:t>and</a:t>
            </a:r>
            <a:r>
              <a:rPr sz="1500" spc="-1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early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14" dirty="0">
                <a:solidFill>
                  <a:srgbClr val="161C1F"/>
                </a:solidFill>
                <a:latin typeface="Arial"/>
                <a:cs typeface="Arial"/>
              </a:rPr>
              <a:t>management.</a:t>
            </a:r>
            <a:r>
              <a:rPr sz="1500" spc="-2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61C1F"/>
                </a:solidFill>
                <a:latin typeface="Arial"/>
                <a:cs typeface="Arial"/>
              </a:rPr>
              <a:t>2017.</a:t>
            </a:r>
            <a:endParaRPr sz="1500">
              <a:latin typeface="Arial"/>
              <a:cs typeface="Arial"/>
            </a:endParaRPr>
          </a:p>
          <a:p>
            <a:pPr marL="15240" marR="1847850" indent="-2540">
              <a:lnSpc>
                <a:spcPct val="110700"/>
              </a:lnSpc>
              <a:spcBef>
                <a:spcPts val="20"/>
              </a:spcBef>
              <a:buClr>
                <a:srgbClr val="161C1F"/>
              </a:buClr>
              <a:buFont typeface="Arial"/>
              <a:buAutoNum type="arabicPeriod" startAt="2"/>
              <a:tabLst>
                <a:tab pos="213995" algn="l"/>
              </a:tabLst>
            </a:pPr>
            <a:r>
              <a:rPr sz="1500" spc="30" dirty="0">
                <a:solidFill>
                  <a:srgbClr val="161C1F"/>
                </a:solidFill>
                <a:latin typeface="Arial"/>
                <a:cs typeface="Arial"/>
              </a:rPr>
              <a:t>Recent</a:t>
            </a:r>
            <a:r>
              <a:rPr sz="1500" spc="9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reviews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on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seps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-15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80" dirty="0">
                <a:solidFill>
                  <a:srgbClr val="161C1F"/>
                </a:solidFill>
                <a:latin typeface="Arial"/>
                <a:cs typeface="Arial"/>
              </a:rPr>
              <a:t>b</a:t>
            </a:r>
            <a:r>
              <a:rPr sz="1500" spc="-3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omarkers </a:t>
            </a:r>
            <a:r>
              <a:rPr sz="1500" spc="140" dirty="0">
                <a:solidFill>
                  <a:srgbClr val="161C1F"/>
                </a:solidFill>
                <a:latin typeface="Arial"/>
                <a:cs typeface="Arial"/>
              </a:rPr>
              <a:t>and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250" dirty="0">
                <a:solidFill>
                  <a:srgbClr val="161C1F"/>
                </a:solidFill>
                <a:latin typeface="Arial"/>
                <a:cs typeface="Arial"/>
              </a:rPr>
              <a:t>SER</a:t>
            </a:r>
            <a:r>
              <a:rPr sz="1500" spc="-22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105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spc="135" dirty="0">
                <a:solidFill>
                  <a:srgbClr val="161C1F"/>
                </a:solidFill>
                <a:latin typeface="Arial"/>
                <a:cs typeface="Arial"/>
              </a:rPr>
              <a:t>-based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55" dirty="0">
                <a:solidFill>
                  <a:srgbClr val="161C1F"/>
                </a:solidFill>
                <a:latin typeface="Arial"/>
                <a:cs typeface="Arial"/>
              </a:rPr>
              <a:t>d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agnosti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cs</a:t>
            </a:r>
            <a:r>
              <a:rPr sz="1500" spc="13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(2023-2025)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. </a:t>
            </a:r>
            <a:r>
              <a:rPr sz="1500" spc="30" dirty="0">
                <a:solidFill>
                  <a:srgbClr val="161C1F"/>
                </a:solidFill>
                <a:latin typeface="Arial"/>
                <a:cs typeface="Arial"/>
              </a:rPr>
              <a:t>8</a:t>
            </a:r>
            <a:r>
              <a:rPr sz="1500" spc="-5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Evans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125" dirty="0">
                <a:solidFill>
                  <a:srgbClr val="161C1F"/>
                </a:solidFill>
                <a:latin typeface="Arial"/>
                <a:cs typeface="Arial"/>
              </a:rPr>
              <a:t>L,</a:t>
            </a:r>
            <a:r>
              <a:rPr sz="1500" spc="-11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al.</a:t>
            </a:r>
            <a:r>
              <a:rPr sz="1500" spc="-9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Crit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Care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Me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d</a:t>
            </a:r>
            <a:r>
              <a:rPr sz="1500" spc="17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-26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20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2</a:t>
            </a:r>
            <a:r>
              <a:rPr sz="1500" spc="-335" dirty="0">
                <a:solidFill>
                  <a:srgbClr val="161C1F"/>
                </a:solidFill>
                <a:latin typeface="Arial"/>
                <a:cs typeface="Arial"/>
              </a:rPr>
              <a:t>1</a:t>
            </a:r>
            <a:r>
              <a:rPr sz="1500" spc="30" dirty="0">
                <a:solidFill>
                  <a:srgbClr val="161C1F"/>
                </a:solidFill>
                <a:latin typeface="Arial"/>
                <a:cs typeface="Arial"/>
              </a:rPr>
              <a:t>;</a:t>
            </a:r>
            <a:r>
              <a:rPr sz="1500" spc="150" dirty="0">
                <a:solidFill>
                  <a:srgbClr val="161C1F"/>
                </a:solidFill>
                <a:latin typeface="Arial"/>
                <a:cs typeface="Arial"/>
              </a:rPr>
              <a:t>49(l</a:t>
            </a:r>
            <a:r>
              <a:rPr sz="1500" spc="165" dirty="0">
                <a:solidFill>
                  <a:srgbClr val="161C1F"/>
                </a:solidFill>
                <a:latin typeface="Arial"/>
                <a:cs typeface="Arial"/>
              </a:rPr>
              <a:t>l</a:t>
            </a:r>
            <a:r>
              <a:rPr sz="1500" spc="160" dirty="0">
                <a:solidFill>
                  <a:srgbClr val="161C1F"/>
                </a:solidFill>
                <a:latin typeface="Arial"/>
                <a:cs typeface="Arial"/>
              </a:rPr>
              <a:t>)</a:t>
            </a:r>
            <a:r>
              <a:rPr sz="1500" spc="-10" dirty="0">
                <a:solidFill>
                  <a:srgbClr val="161C1F"/>
                </a:solidFill>
                <a:latin typeface="Arial"/>
                <a:cs typeface="Arial"/>
              </a:rPr>
              <a:t>:</a:t>
            </a:r>
            <a:r>
              <a:rPr sz="1500" spc="140" dirty="0">
                <a:solidFill>
                  <a:srgbClr val="161C1F"/>
                </a:solidFill>
                <a:latin typeface="Arial"/>
                <a:cs typeface="Arial"/>
              </a:rPr>
              <a:t>e</a:t>
            </a:r>
            <a:r>
              <a:rPr sz="1500" spc="125" dirty="0">
                <a:solidFill>
                  <a:srgbClr val="161C1F"/>
                </a:solidFill>
                <a:latin typeface="Arial"/>
                <a:cs typeface="Arial"/>
              </a:rPr>
              <a:t>l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063-ell43.</a:t>
            </a:r>
            <a:endParaRPr sz="1500">
              <a:latin typeface="Arial"/>
              <a:cs typeface="Arial"/>
            </a:endParaRPr>
          </a:p>
          <a:p>
            <a:pPr marL="18415" marR="2732405" indent="-5715">
              <a:lnSpc>
                <a:spcPct val="110700"/>
              </a:lnSpc>
              <a:spcBef>
                <a:spcPts val="45"/>
              </a:spcBef>
              <a:buClr>
                <a:srgbClr val="161C1F"/>
              </a:buClr>
              <a:buFont typeface="Arial"/>
              <a:buAutoNum type="arabicPeriod" startAt="10"/>
              <a:tabLst>
                <a:tab pos="251460" algn="l"/>
              </a:tabLst>
            </a:pPr>
            <a:r>
              <a:rPr sz="1500" spc="-10" dirty="0">
                <a:solidFill>
                  <a:srgbClr val="161C1F"/>
                </a:solidFill>
                <a:latin typeface="Arial"/>
                <a:cs typeface="Arial"/>
              </a:rPr>
              <a:t>He</a:t>
            </a:r>
            <a:r>
              <a:rPr sz="1500" spc="-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225" dirty="0">
                <a:solidFill>
                  <a:srgbClr val="161C1F"/>
                </a:solidFill>
                <a:latin typeface="Arial"/>
                <a:cs typeface="Arial"/>
              </a:rPr>
              <a:t>R</a:t>
            </a:r>
            <a:r>
              <a:rPr sz="1500" spc="-90" dirty="0">
                <a:solidFill>
                  <a:srgbClr val="161C1F"/>
                </a:solidFill>
                <a:latin typeface="Arial"/>
                <a:cs typeface="Arial"/>
              </a:rPr>
              <a:t>-R,</a:t>
            </a:r>
            <a:r>
              <a:rPr sz="1500" spc="-6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al.</a:t>
            </a:r>
            <a:r>
              <a:rPr sz="1500" spc="-7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Sepsis</a:t>
            </a:r>
            <a:r>
              <a:rPr sz="1500" spc="12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65" dirty="0">
                <a:solidFill>
                  <a:srgbClr val="161C1F"/>
                </a:solidFill>
                <a:latin typeface="Arial"/>
                <a:cs typeface="Arial"/>
              </a:rPr>
              <a:t>b</a:t>
            </a:r>
            <a:r>
              <a:rPr sz="1500" spc="-2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omarkers: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advances </a:t>
            </a:r>
            <a:r>
              <a:rPr sz="1500" spc="130" dirty="0">
                <a:solidFill>
                  <a:srgbClr val="161C1F"/>
                </a:solidFill>
                <a:latin typeface="Arial"/>
                <a:cs typeface="Arial"/>
              </a:rPr>
              <a:t>and</a:t>
            </a:r>
            <a:r>
              <a:rPr sz="1500" spc="-1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25" dirty="0">
                <a:solidFill>
                  <a:srgbClr val="161C1F"/>
                </a:solidFill>
                <a:latin typeface="Arial"/>
                <a:cs typeface="Arial"/>
              </a:rPr>
              <a:t>appl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cations.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30" dirty="0">
                <a:solidFill>
                  <a:srgbClr val="161C1F"/>
                </a:solidFill>
                <a:latin typeface="Arial"/>
                <a:cs typeface="Arial"/>
              </a:rPr>
              <a:t>IJMS</a:t>
            </a:r>
            <a:r>
              <a:rPr sz="1500" spc="-4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2024</a:t>
            </a:r>
            <a:r>
              <a:rPr sz="1500" spc="2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9</a:t>
            </a:r>
            <a:r>
              <a:rPr sz="1500" spc="-75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Wang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A,</a:t>
            </a:r>
            <a:r>
              <a:rPr sz="1500" spc="-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al.</a:t>
            </a:r>
            <a:r>
              <a:rPr sz="1500" spc="-9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20" dirty="0">
                <a:solidFill>
                  <a:srgbClr val="161C1F"/>
                </a:solidFill>
                <a:latin typeface="Arial"/>
                <a:cs typeface="Arial"/>
              </a:rPr>
              <a:t>Chem</a:t>
            </a:r>
            <a:r>
              <a:rPr sz="1500" spc="2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161C1F"/>
                </a:solidFill>
                <a:latin typeface="Arial"/>
                <a:cs typeface="Arial"/>
              </a:rPr>
              <a:t>Soc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161C1F"/>
                </a:solidFill>
                <a:latin typeface="Arial"/>
                <a:cs typeface="Arial"/>
              </a:rPr>
              <a:t>Rev.</a:t>
            </a:r>
            <a:r>
              <a:rPr sz="1500" spc="-8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202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4;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53</a:t>
            </a:r>
            <a:r>
              <a:rPr sz="1500" spc="-15" dirty="0">
                <a:solidFill>
                  <a:srgbClr val="161C1F"/>
                </a:solidFill>
                <a:latin typeface="Arial"/>
                <a:cs typeface="Arial"/>
              </a:rPr>
              <a:t>:</a:t>
            </a:r>
            <a:r>
              <a:rPr sz="1500" spc="-310" dirty="0">
                <a:solidFill>
                  <a:srgbClr val="161C1F"/>
                </a:solidFill>
                <a:latin typeface="Arial"/>
                <a:cs typeface="Arial"/>
              </a:rPr>
              <a:t>1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108-1132.</a:t>
            </a:r>
            <a:endParaRPr sz="1500">
              <a:latin typeface="Arial"/>
              <a:cs typeface="Arial"/>
            </a:endParaRPr>
          </a:p>
          <a:p>
            <a:pPr marL="192405" indent="-179705">
              <a:lnSpc>
                <a:spcPct val="100000"/>
              </a:lnSpc>
              <a:spcBef>
                <a:spcPts val="215"/>
              </a:spcBef>
              <a:buClr>
                <a:srgbClr val="161C1F"/>
              </a:buClr>
              <a:buFont typeface="Arial"/>
              <a:buAutoNum type="arabicPeriod" startAt="10"/>
              <a:tabLst>
                <a:tab pos="193040" algn="l"/>
              </a:tabLst>
            </a:pP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Langer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J,</a:t>
            </a:r>
            <a:r>
              <a:rPr sz="1500" spc="-9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al.</a:t>
            </a:r>
            <a:r>
              <a:rPr sz="1500" spc="-9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161C1F"/>
                </a:solidFill>
                <a:latin typeface="Arial"/>
                <a:cs typeface="Arial"/>
              </a:rPr>
              <a:t>ACS</a:t>
            </a:r>
            <a:r>
              <a:rPr sz="1500" spc="14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Nano.</a:t>
            </a:r>
            <a:r>
              <a:rPr sz="1500" spc="-7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161C1F"/>
                </a:solidFill>
                <a:latin typeface="Arial"/>
                <a:cs typeface="Arial"/>
              </a:rPr>
              <a:t>2019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;</a:t>
            </a:r>
            <a:r>
              <a:rPr sz="1500" spc="30" dirty="0">
                <a:solidFill>
                  <a:srgbClr val="161C1F"/>
                </a:solidFill>
                <a:latin typeface="Arial"/>
                <a:cs typeface="Arial"/>
              </a:rPr>
              <a:t>14</a:t>
            </a:r>
            <a:r>
              <a:rPr sz="1500" spc="-55" dirty="0">
                <a:solidFill>
                  <a:srgbClr val="161C1F"/>
                </a:solidFill>
                <a:latin typeface="Arial"/>
                <a:cs typeface="Arial"/>
              </a:rPr>
              <a:t>(</a:t>
            </a:r>
            <a:r>
              <a:rPr sz="1500" spc="-20" dirty="0">
                <a:solidFill>
                  <a:srgbClr val="161C1F"/>
                </a:solidFill>
                <a:latin typeface="Arial"/>
                <a:cs typeface="Arial"/>
              </a:rPr>
              <a:t>1)</a:t>
            </a:r>
            <a:r>
              <a:rPr sz="1500" spc="-135" dirty="0">
                <a:solidFill>
                  <a:srgbClr val="161C1F"/>
                </a:solidFill>
                <a:latin typeface="Arial"/>
                <a:cs typeface="Arial"/>
              </a:rPr>
              <a:t>: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28-117.</a:t>
            </a:r>
            <a:endParaRPr sz="1500">
              <a:latin typeface="Arial"/>
              <a:cs typeface="Arial"/>
            </a:endParaRPr>
          </a:p>
          <a:p>
            <a:pPr marL="18415" marR="464184" indent="-6350">
              <a:lnSpc>
                <a:spcPct val="110700"/>
              </a:lnSpc>
              <a:spcBef>
                <a:spcPts val="20"/>
              </a:spcBef>
            </a:pPr>
            <a:r>
              <a:rPr sz="1500" spc="-135" dirty="0">
                <a:solidFill>
                  <a:srgbClr val="161C1F"/>
                </a:solidFill>
                <a:latin typeface="Arial"/>
                <a:cs typeface="Arial"/>
              </a:rPr>
              <a:t>1</a:t>
            </a:r>
            <a:r>
              <a:rPr sz="1500" spc="-245" dirty="0">
                <a:solidFill>
                  <a:srgbClr val="161C1F"/>
                </a:solidFill>
                <a:latin typeface="Arial"/>
                <a:cs typeface="Arial"/>
              </a:rPr>
              <a:t>2</a:t>
            </a:r>
            <a:r>
              <a:rPr sz="1500" spc="10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Karmacharya</a:t>
            </a:r>
            <a:r>
              <a:rPr sz="1500" spc="13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al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320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"Nanoplasmoni</a:t>
            </a:r>
            <a:r>
              <a:rPr sz="1500" spc="-254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c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235" dirty="0">
                <a:solidFill>
                  <a:srgbClr val="161C1F"/>
                </a:solidFill>
                <a:latin typeface="Arial"/>
                <a:cs typeface="Arial"/>
              </a:rPr>
              <a:t>SE</a:t>
            </a:r>
            <a:r>
              <a:rPr sz="1500" spc="-90" dirty="0">
                <a:solidFill>
                  <a:srgbClr val="161C1F"/>
                </a:solidFill>
                <a:latin typeface="Arial"/>
                <a:cs typeface="Arial"/>
              </a:rPr>
              <a:t>R</a:t>
            </a:r>
            <a:r>
              <a:rPr sz="1500" spc="-190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spc="1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on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85" dirty="0">
                <a:solidFill>
                  <a:srgbClr val="161C1F"/>
                </a:solidFill>
                <a:latin typeface="Arial"/>
                <a:cs typeface="Arial"/>
              </a:rPr>
              <a:t>F</a:t>
            </a:r>
            <a:r>
              <a:rPr sz="1500" spc="-10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05" dirty="0">
                <a:solidFill>
                  <a:srgbClr val="161C1F"/>
                </a:solidFill>
                <a:latin typeface="Arial"/>
                <a:cs typeface="Arial"/>
              </a:rPr>
              <a:t>dget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Spinner</a:t>
            </a:r>
            <a:r>
              <a:rPr sz="1500" spc="10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for</a:t>
            </a:r>
            <a:r>
              <a:rPr sz="1500" spc="15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D</a:t>
            </a:r>
            <a:r>
              <a:rPr sz="1500" spc="-5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50" dirty="0">
                <a:solidFill>
                  <a:srgbClr val="161C1F"/>
                </a:solidFill>
                <a:latin typeface="Arial"/>
                <a:cs typeface="Arial"/>
              </a:rPr>
              <a:t>g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tal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Bacteri</a:t>
            </a:r>
            <a:r>
              <a:rPr sz="1500" spc="95" dirty="0">
                <a:solidFill>
                  <a:srgbClr val="161C1F"/>
                </a:solidFill>
                <a:latin typeface="Arial"/>
                <a:cs typeface="Arial"/>
              </a:rPr>
              <a:t>al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Ident</a:t>
            </a:r>
            <a:r>
              <a:rPr sz="1500" spc="-4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85" dirty="0">
                <a:solidFill>
                  <a:srgbClr val="161C1F"/>
                </a:solidFill>
                <a:latin typeface="Arial"/>
                <a:cs typeface="Arial"/>
              </a:rPr>
              <a:t>ficat</a:t>
            </a:r>
            <a:r>
              <a:rPr sz="1500" spc="114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o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n</a:t>
            </a:r>
            <a:r>
              <a:rPr sz="1500" spc="-65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165" dirty="0">
                <a:solidFill>
                  <a:srgbClr val="161C1F"/>
                </a:solidFill>
                <a:latin typeface="Arial"/>
                <a:cs typeface="Arial"/>
              </a:rPr>
              <a:t>"</a:t>
            </a:r>
            <a:r>
              <a:rPr sz="1500" spc="12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Microsyst.</a:t>
            </a:r>
            <a:r>
              <a:rPr sz="1500" spc="2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Nanoeng</a:t>
            </a:r>
            <a:r>
              <a:rPr sz="1500" spc="-3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345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25" dirty="0">
                <a:solidFill>
                  <a:srgbClr val="161C1F"/>
                </a:solidFill>
                <a:latin typeface="Arial"/>
                <a:cs typeface="Arial"/>
              </a:rPr>
              <a:t>2025</a:t>
            </a:r>
            <a:endParaRPr sz="1500">
              <a:latin typeface="Arial"/>
              <a:cs typeface="Arial"/>
            </a:endParaRPr>
          </a:p>
          <a:p>
            <a:pPr marL="15240" marR="78740" indent="-3175">
              <a:lnSpc>
                <a:spcPct val="112000"/>
              </a:lnSpc>
            </a:pPr>
            <a:r>
              <a:rPr sz="1500" spc="-130" dirty="0">
                <a:solidFill>
                  <a:srgbClr val="161C1F"/>
                </a:solidFill>
                <a:latin typeface="Arial"/>
                <a:cs typeface="Arial"/>
              </a:rPr>
              <a:t>13</a:t>
            </a:r>
            <a:r>
              <a:rPr sz="1500" spc="-85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Kundu</a:t>
            </a:r>
            <a:r>
              <a:rPr sz="1500" spc="-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161C1F"/>
                </a:solidFill>
                <a:latin typeface="Arial"/>
                <a:cs typeface="Arial"/>
              </a:rPr>
              <a:t>A.</a:t>
            </a:r>
            <a:r>
              <a:rPr sz="1500" spc="-1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et</a:t>
            </a:r>
            <a:r>
              <a:rPr sz="1500" spc="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al</a:t>
            </a:r>
            <a:r>
              <a:rPr sz="1500" spc="-60" dirty="0">
                <a:solidFill>
                  <a:srgbClr val="161C1F"/>
                </a:solidFill>
                <a:latin typeface="Arial"/>
                <a:cs typeface="Arial"/>
              </a:rPr>
              <a:t>.</a:t>
            </a:r>
            <a:r>
              <a:rPr sz="1500" spc="320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"Ultrasens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14" dirty="0">
                <a:solidFill>
                  <a:srgbClr val="161C1F"/>
                </a:solidFill>
                <a:latin typeface="Arial"/>
                <a:cs typeface="Arial"/>
              </a:rPr>
              <a:t>t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75" dirty="0">
                <a:solidFill>
                  <a:srgbClr val="161C1F"/>
                </a:solidFill>
                <a:latin typeface="Arial"/>
                <a:cs typeface="Arial"/>
              </a:rPr>
              <a:t>ve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30" dirty="0">
                <a:solidFill>
                  <a:srgbClr val="161C1F"/>
                </a:solidFill>
                <a:latin typeface="Arial"/>
                <a:cs typeface="Arial"/>
              </a:rPr>
              <a:t>and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 Label-Free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Detect</a:t>
            </a:r>
            <a:r>
              <a:rPr sz="1500" spc="1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on</a:t>
            </a:r>
            <a:r>
              <a:rPr sz="1500" spc="-3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161C1F"/>
                </a:solidFill>
                <a:latin typeface="Arial"/>
                <a:cs typeface="Arial"/>
              </a:rPr>
              <a:t>of</a:t>
            </a:r>
            <a:r>
              <a:rPr sz="1500" spc="14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Prognost</a:t>
            </a:r>
            <a:r>
              <a:rPr sz="1500" spc="1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90" dirty="0">
                <a:solidFill>
                  <a:srgbClr val="161C1F"/>
                </a:solidFill>
                <a:latin typeface="Arial"/>
                <a:cs typeface="Arial"/>
              </a:rPr>
              <a:t>c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30" dirty="0">
                <a:solidFill>
                  <a:srgbClr val="161C1F"/>
                </a:solidFill>
                <a:latin typeface="Arial"/>
                <a:cs typeface="Arial"/>
              </a:rPr>
              <a:t>and</a:t>
            </a:r>
            <a:r>
              <a:rPr sz="1500" spc="4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D</a:t>
            </a:r>
            <a:r>
              <a:rPr sz="1500" spc="-5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agnostic</a:t>
            </a:r>
            <a:r>
              <a:rPr sz="1500" spc="16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Biomarkers</a:t>
            </a:r>
            <a:r>
              <a:rPr sz="1500" spc="8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161C1F"/>
                </a:solidFill>
                <a:latin typeface="Arial"/>
                <a:cs typeface="Arial"/>
              </a:rPr>
              <a:t>of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Seps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-15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00" dirty="0">
                <a:solidFill>
                  <a:srgbClr val="161C1F"/>
                </a:solidFill>
                <a:latin typeface="Arial"/>
                <a:cs typeface="Arial"/>
              </a:rPr>
              <a:t>on</a:t>
            </a:r>
            <a:r>
              <a:rPr sz="1500" spc="-3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25" dirty="0">
                <a:solidFill>
                  <a:srgbClr val="161C1F"/>
                </a:solidFill>
                <a:latin typeface="Arial"/>
                <a:cs typeface="Arial"/>
              </a:rPr>
              <a:t>a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AgNP-laden</a:t>
            </a:r>
            <a:r>
              <a:rPr sz="1500" spc="20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Black</a:t>
            </a:r>
            <a:r>
              <a:rPr sz="1500" spc="6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161C1F"/>
                </a:solidFill>
                <a:latin typeface="Arial"/>
                <a:cs typeface="Arial"/>
              </a:rPr>
              <a:t>Phosphoru</a:t>
            </a:r>
            <a:r>
              <a:rPr sz="1500" spc="185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spc="110" dirty="0">
                <a:solidFill>
                  <a:srgbClr val="161C1F"/>
                </a:solidFill>
                <a:latin typeface="Arial"/>
                <a:cs typeface="Arial"/>
              </a:rPr>
              <a:t>-Based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240" dirty="0">
                <a:solidFill>
                  <a:srgbClr val="161C1F"/>
                </a:solidFill>
                <a:latin typeface="Arial"/>
                <a:cs typeface="Arial"/>
              </a:rPr>
              <a:t>SER</a:t>
            </a:r>
            <a:r>
              <a:rPr sz="1500" spc="-229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-190" dirty="0">
                <a:solidFill>
                  <a:srgbClr val="161C1F"/>
                </a:solidFill>
                <a:latin typeface="Arial"/>
                <a:cs typeface="Arial"/>
              </a:rPr>
              <a:t>S</a:t>
            </a:r>
            <a:r>
              <a:rPr sz="1500" spc="5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Platfor</a:t>
            </a:r>
            <a:r>
              <a:rPr sz="1500" spc="120" dirty="0">
                <a:solidFill>
                  <a:srgbClr val="161C1F"/>
                </a:solidFill>
                <a:latin typeface="Arial"/>
                <a:cs typeface="Arial"/>
              </a:rPr>
              <a:t>m</a:t>
            </a:r>
            <a:r>
              <a:rPr sz="1500" spc="-65" dirty="0">
                <a:solidFill>
                  <a:srgbClr val="161C1F"/>
                </a:solidFill>
                <a:latin typeface="Arial"/>
                <a:cs typeface="Arial"/>
              </a:rPr>
              <a:t>,</a:t>
            </a:r>
            <a:r>
              <a:rPr sz="1500" spc="165" dirty="0">
                <a:solidFill>
                  <a:srgbClr val="161C1F"/>
                </a:solidFill>
                <a:latin typeface="Arial"/>
                <a:cs typeface="Arial"/>
              </a:rPr>
              <a:t>"</a:t>
            </a:r>
            <a:r>
              <a:rPr sz="1500" spc="-9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15" dirty="0">
                <a:solidFill>
                  <a:srgbClr val="161C1F"/>
                </a:solidFill>
                <a:latin typeface="Arial"/>
                <a:cs typeface="Arial"/>
              </a:rPr>
              <a:t>Sensors</a:t>
            </a:r>
            <a:r>
              <a:rPr sz="1500" spc="60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350" spc="215" dirty="0">
                <a:solidFill>
                  <a:srgbClr val="161C1F"/>
                </a:solidFill>
                <a:latin typeface="Arial"/>
                <a:cs typeface="Arial"/>
              </a:rPr>
              <a:t>&amp;</a:t>
            </a:r>
            <a:r>
              <a:rPr sz="1350" spc="3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spc="70" dirty="0">
                <a:solidFill>
                  <a:srgbClr val="161C1F"/>
                </a:solidFill>
                <a:latin typeface="Arial"/>
                <a:cs typeface="Arial"/>
              </a:rPr>
              <a:t>Diagnost</a:t>
            </a:r>
            <a:r>
              <a:rPr sz="1500" spc="50" dirty="0">
                <a:solidFill>
                  <a:srgbClr val="161C1F"/>
                </a:solidFill>
                <a:latin typeface="Arial"/>
                <a:cs typeface="Arial"/>
              </a:rPr>
              <a:t>i</a:t>
            </a:r>
            <a:r>
              <a:rPr sz="1500" spc="35" dirty="0">
                <a:solidFill>
                  <a:srgbClr val="161C1F"/>
                </a:solidFill>
                <a:latin typeface="Arial"/>
                <a:cs typeface="Arial"/>
              </a:rPr>
              <a:t>cs,</a:t>
            </a:r>
            <a:r>
              <a:rPr sz="1500" spc="-95" dirty="0">
                <a:solidFill>
                  <a:srgbClr val="161C1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161C1F"/>
                </a:solidFill>
                <a:latin typeface="Arial"/>
                <a:cs typeface="Arial"/>
              </a:rPr>
              <a:t>2022.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8095" y="2865120"/>
            <a:ext cx="1353312" cy="865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681984"/>
            <a:ext cx="219456" cy="4267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8095" y="4023359"/>
            <a:ext cx="743711" cy="8168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42944" y="2865120"/>
            <a:ext cx="633984" cy="8656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76544" y="1036320"/>
            <a:ext cx="4169663" cy="56936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17396" y="2977100"/>
            <a:ext cx="2322830" cy="203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0560">
              <a:lnSpc>
                <a:spcPct val="100000"/>
              </a:lnSpc>
            </a:pPr>
            <a:r>
              <a:rPr sz="7200" spc="2325" dirty="0">
                <a:solidFill>
                  <a:srgbClr val="7279A7"/>
                </a:solidFill>
                <a:latin typeface="Arial"/>
                <a:cs typeface="Arial"/>
              </a:rPr>
              <a:t>a</a:t>
            </a:r>
            <a:r>
              <a:rPr sz="7200" spc="2560" dirty="0">
                <a:solidFill>
                  <a:srgbClr val="7279A7"/>
                </a:solidFill>
                <a:latin typeface="Arial"/>
                <a:cs typeface="Arial"/>
              </a:rPr>
              <a:t>n</a:t>
            </a:r>
            <a:endParaRPr sz="7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6900" spc="440" dirty="0">
                <a:solidFill>
                  <a:srgbClr val="7279A7"/>
                </a:solidFill>
                <a:latin typeface="Arial"/>
                <a:cs typeface="Arial"/>
              </a:rPr>
              <a:t>O</a:t>
            </a:r>
            <a:r>
              <a:rPr sz="6900" spc="1440" dirty="0">
                <a:solidFill>
                  <a:srgbClr val="7279A7"/>
                </a:solidFill>
                <a:latin typeface="Arial"/>
                <a:cs typeface="Arial"/>
              </a:rPr>
              <a:t>U</a:t>
            </a:r>
            <a:endParaRPr sz="6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1460</Words>
  <Application>Microsoft Office PowerPoint</Application>
  <PresentationFormat>Benutzerdefiniert</PresentationFormat>
  <Paragraphs>245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Times New Roman</vt:lpstr>
      <vt:lpstr>Office Theme</vt:lpstr>
      <vt:lpstr>PowerPoint-Präsentation</vt:lpstr>
      <vt:lpstr>Clinical Urgency of Sepsis</vt:lpstr>
      <vt:lpstr>Why Bacterial- Specific Biomarkers?</vt:lpstr>
      <vt:lpstr>PowerPoint-Präsentation</vt:lpstr>
      <vt:lpstr>PowerPoint-Präsentation</vt:lpstr>
      <vt:lpstr>SERS Nanobiosensor: Overview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Clinical Utility &amp; Impact</vt:lpstr>
      <vt:lpstr>References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2025-10-16T06:28:55Z</dcterms:created>
  <dcterms:modified xsi:type="dcterms:W3CDTF">2025-10-16T04:28:58Z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2025-10-16T00:00:00Z</vt:filetime>
  </property>
  <property fmtid="{D5CDD505-2E9C-101B-9397-08002B2CF9AE}" pid="3" name="LastSaved">
    <vt:filetime>2025-10-16T00:00:00Z</vt:filetime>
  </property>
</Properties>
</file>