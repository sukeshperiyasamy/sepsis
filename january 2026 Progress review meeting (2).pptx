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488329-00BC-459F-8F0D-9D71877039B9}">
  <a:tblStyle styleId="{93488329-00BC-459F-8F0D-9D71877039B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2089B6F-A3AA-493F-AC65-AD5D4E27F7A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572e22394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572e2239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5c8a7ea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5c8a7ea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5c8a7ea8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5c8a7ea8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531f5c6a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531f5c6a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2cbf4202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2cbf4202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5c8a7ea88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5c8a7ea88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5c8a7ea8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5c8a7ea8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5c8a7ea8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5c8a7ea8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5cc2334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5cc2334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5c8a7ea8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5c8a7ea8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sigmaaldrich.com/IN/en/product/sigma/l5293?srsltid=AfmBOorYJpVa0gVxS5WNOjxahytW76fNyiwc10s1sbs2fp07uPhn5fqA&amp;utm_source=chatgpt.com" TargetMode="External"/><Relationship Id="rId10" Type="http://schemas.openxmlformats.org/officeDocument/2006/relationships/hyperlink" Target="https://www.sigmaaldrich.com/IN/en/product/sigma/l5293?srsltid=AfmBOorYJpVa0gVxS5WNOjxahytW76fNyiwc10s1sbs2fp07uPhn5fqA&amp;utm_source=chatgpt.com" TargetMode="External"/><Relationship Id="rId13" Type="http://schemas.openxmlformats.org/officeDocument/2006/relationships/hyperlink" Target="https://www.sigmaaldrich.com/IN/en/product/sigma/l5293?srsltid=AfmBOorYJpVa0gVxS5WNOjxahytW76fNyiwc10s1sbs2fp07uPhn5fqA&amp;utm_source=chatgpt.com" TargetMode="External"/><Relationship Id="rId12" Type="http://schemas.openxmlformats.org/officeDocument/2006/relationships/hyperlink" Target="https://www.sigmaaldrich.com/IN/en/product/sigma/l5293?srsltid=AfmBOorYJpVa0gVxS5WNOjxahytW76fNyiwc10s1sbs2fp07uPhn5fqA&amp;utm_source=chatgpt.com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sigmaaldrich.com/deepweb/assets/sigmaaldrich/product/documents/175/351/l2515pis.pdf?srsltid=AfmBOoog6BjwQ_sawG9x9_D6BtzHm8XEzXiRszrJ4YlVlF7y2gg0NSR8&amp;utm_source=chatgpt.com" TargetMode="External"/><Relationship Id="rId4" Type="http://schemas.openxmlformats.org/officeDocument/2006/relationships/hyperlink" Target="https://www.sigmaaldrich.com/IN/en/product/sigma/l2515?srsltid=AfmBOoqBCDsq_nJyrMmDJXfmLPZda8L29Zg07Q9-3w9a6kBJrdw0hvb-&amp;utm_source=chatgpt.com" TargetMode="External"/><Relationship Id="rId9" Type="http://schemas.openxmlformats.org/officeDocument/2006/relationships/hyperlink" Target="https://cdn.caymanchem.com/cdn/msds/31330m.pdf?utm_source=chatgpt.com" TargetMode="External"/><Relationship Id="rId5" Type="http://schemas.openxmlformats.org/officeDocument/2006/relationships/hyperlink" Target="https://www.sigmaaldrich.com/IN/en/product/sigma/l2515?srsltid=AfmBOoqBCDsq_nJyrMmDJXfmLPZda8L29Zg07Q9-3w9a6kBJrdw0hvb-&amp;utm_source=chatgpt.com" TargetMode="External"/><Relationship Id="rId6" Type="http://schemas.openxmlformats.org/officeDocument/2006/relationships/hyperlink" Target="https://www.chemicalbook.com/ChemicalProductProperty_EN_CB6313265.htm?utm_source=chatgpt.com" TargetMode="External"/><Relationship Id="rId7" Type="http://schemas.openxmlformats.org/officeDocument/2006/relationships/hyperlink" Target="https://cdn.caymanchem.com/cdn/msds/31330m.pdf?utm_source=chatgpt.com" TargetMode="External"/><Relationship Id="rId8" Type="http://schemas.openxmlformats.org/officeDocument/2006/relationships/hyperlink" Target="https://cdn.caymanchem.com/cdn/msds/31330m.pdf?utm_source=chatgpt.com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3425" y="-66675"/>
            <a:ext cx="9317424" cy="524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127850" y="133675"/>
            <a:ext cx="8787600" cy="48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Confirmation of Biomarker panel </a:t>
            </a:r>
            <a:endParaRPr b="1" sz="19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 Bacterial Detection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:N-acetylmuramic acid (NAM)</a:t>
            </a:r>
            <a:endParaRPr b="1" sz="1800" u="sng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Gram-Positive–Specific Marker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Lipoteichoic Acid (LTA)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Gram Negative specific marker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:Lipopolysaccharides (LPS)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following panel is selected on the basis biomarker exclusivity to bacteria, surface accessibility for SERS detection, and Gram classification capability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197600" y="220850"/>
            <a:ext cx="8700300" cy="47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Computational Approach Overview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team conducted simulations using few basic molecules to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about the software  settings and configuration.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Gained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proficiency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apply it to our selected biomarker panel and help in the project goals.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Interpretation and analysis of raman spectrum using </a:t>
            </a:r>
            <a:r>
              <a:rPr lang="en" sz="1800">
                <a:solidFill>
                  <a:srgbClr val="22222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KnowItAll® Raman Identification Pro  software suite will be carried out</a:t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222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10425" y="151100"/>
            <a:ext cx="8857200" cy="48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Pure Biomarker standards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Procurement procedures following institute administrative process is completed and first consignment of biomarkers are 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procurement milestones and technical preparation, the research team is looking forward to transition  from planning and preparation to active experimental work with confidence and efficiency.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oogle Shape;74;p17"/>
          <p:cNvGraphicFramePr/>
          <p:nvPr/>
        </p:nvGraphicFramePr>
        <p:xfrm>
          <a:off x="348450" y="82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{93488329-00BC-459F-8F0D-9D71877039B9}</a:tableStyleId>
              </a:tblPr>
              <a:tblGrid>
                <a:gridCol w="949275"/>
                <a:gridCol w="1285925"/>
                <a:gridCol w="2134950"/>
                <a:gridCol w="1020150"/>
                <a:gridCol w="1067825"/>
                <a:gridCol w="1624525"/>
              </a:tblGrid>
              <a:tr h="65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Biomarker / Solvent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Water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PBS (pH 7.2–7.4)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DMSO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DMF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Ethanol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LTA (Staph. aureus)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mg/mL (hazy) (</a:t>
                      </a:r>
                      <a:r>
                        <a:rPr b="1"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MilliporeSigma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(hazy; comparable to water), </a:t>
                      </a:r>
                      <a:r>
                        <a:rPr b="1" i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qualitative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b="1"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MilliporeSigma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(</a:t>
                      </a:r>
                      <a:r>
                        <a:rPr b="1"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MilliporeSigma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MurNAc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 mg/mL (clear) (</a:t>
                      </a:r>
                      <a:r>
                        <a:rPr b="1"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ChemicalBook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~10 mg/mL (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Cayman Chemical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~30 mg/mL (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Cayman Chemical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~2.5 mg/mL (</a:t>
                      </a:r>
                      <a:r>
                        <a:rPr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Cayman Chemical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LPS (E. coli O111:B4)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 mg/mL (hazy; up to ~20 mg/mL with heat) (</a:t>
                      </a:r>
                      <a:r>
                        <a:rPr b="1"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MilliporeSigma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Moderate (hazy solutions in PBS; similar to water) (</a:t>
                      </a:r>
                      <a:r>
                        <a:rPr b="1"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MilliporeSigma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/ Not reported (organic solvents do not yield clearer solutions) (</a:t>
                      </a:r>
                      <a:r>
                        <a:rPr b="1"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MilliporeSigma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(methanol/ethanol produce turbid suspensions with precipitates) (</a:t>
                      </a:r>
                      <a:r>
                        <a:rPr b="1" lang="en" sz="11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MilliporeSigma</a:t>
                      </a: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5" name="Google Shape;75;p17"/>
          <p:cNvSpPr txBox="1"/>
          <p:nvPr/>
        </p:nvSpPr>
        <p:spPr>
          <a:xfrm>
            <a:off x="341175" y="192125"/>
            <a:ext cx="81450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table for Which Solvent Has the </a:t>
            </a:r>
            <a:r>
              <a:rPr b="1" i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Highest Overall Solubility?</a:t>
            </a:r>
            <a:endParaRPr b="1" i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235600" y="244925"/>
            <a:ext cx="36501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Solvent for Each Biomarker</a:t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1" name="Google Shape;81;p18"/>
          <p:cNvGraphicFramePr/>
          <p:nvPr/>
        </p:nvGraphicFramePr>
        <p:xfrm>
          <a:off x="786575" y="73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{12089B6F-A3AA-493F-AC65-AD5D4E27F7A1}</a:tableStyleId>
              </a:tblPr>
              <a:tblGrid>
                <a:gridCol w="829050"/>
                <a:gridCol w="2163950"/>
              </a:tblGrid>
              <a:tr h="370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Biomarker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Solvent /Highest Solubility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Water (5 mg/mL)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MurNAc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Water (~50 mg/mL)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LPS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Water (~5 mg/mL) 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" name="Google Shape;82;p18"/>
          <p:cNvSpPr txBox="1"/>
          <p:nvPr/>
        </p:nvSpPr>
        <p:spPr>
          <a:xfrm>
            <a:off x="703200" y="2748800"/>
            <a:ext cx="5196300" cy="14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Water is the first choice: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Water has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weak Raman background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phosphate → </a:t>
            </a: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overlap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biomarker peaks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19"/>
          <p:cNvGraphicFramePr/>
          <p:nvPr/>
        </p:nvGraphicFramePr>
        <p:xfrm>
          <a:off x="349125" y="71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{12089B6F-A3AA-493F-AC65-AD5D4E27F7A1}</a:tableStyleId>
              </a:tblPr>
              <a:tblGrid>
                <a:gridCol w="1450075"/>
                <a:gridCol w="1859700"/>
              </a:tblGrid>
              <a:tr h="338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Dilution</a:t>
                      </a:r>
                      <a:endParaRPr/>
                    </a:p>
                  </a:txBody>
                  <a:tcPr marT="91425" marB="91425" marR="91425" marL="91425"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Concentration (mg/mL)</a:t>
                      </a:r>
                      <a:endParaRPr/>
                    </a:p>
                  </a:txBody>
                  <a:tcPr marT="91425" marB="91425" marR="91425" marL="91425"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Stock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10⁻¹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10⁻²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10⁻³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10⁻⁴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0.0001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525" marR="9525" marL="9525">
                    <a:lnL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19"/>
          <p:cNvSpPr txBox="1"/>
          <p:nvPr/>
        </p:nvSpPr>
        <p:spPr>
          <a:xfrm>
            <a:off x="258200" y="290200"/>
            <a:ext cx="37170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Minimum Limit of Detection (LOD)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9"/>
          <p:cNvSpPr txBox="1"/>
          <p:nvPr/>
        </p:nvSpPr>
        <p:spPr>
          <a:xfrm>
            <a:off x="4330825" y="1248025"/>
            <a:ext cx="4525200" cy="3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</a:t>
            </a:r>
            <a:r>
              <a:rPr lang="en"/>
              <a:t>: Collect reliable spectra.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biomarker: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Measure spectra at each concentration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Maintain same acquisition settings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 spectra per condition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Whether expected characteristic peaks appear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Whether peak positions remain stable across concentrations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Across concentrations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Across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/>
        </p:nvSpPr>
        <p:spPr>
          <a:xfrm>
            <a:off x="629225" y="479125"/>
            <a:ext cx="7671900" cy="41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chemeClr val="dk2"/>
                </a:solidFill>
              </a:rPr>
              <a:t>Thank You</a:t>
            </a:r>
            <a:endParaRPr b="1" sz="3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2" title="D-Glucose_raman_ac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575" y="116725"/>
            <a:ext cx="3476999" cy="139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2" title="KnowItAll_Raman_Identification_Pro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8275" y="2798000"/>
            <a:ext cx="3989851" cy="224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2" title="simple-black-arrow-pointing-left-and-down-creating-an-l-shape-against-a-clean-white-background-symbolizing-direction-return-or-previous-options-in-navigation-and-design-vector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650423" y="481077"/>
            <a:ext cx="2152625" cy="213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2"/>
          <p:cNvSpPr txBox="1"/>
          <p:nvPr/>
        </p:nvSpPr>
        <p:spPr>
          <a:xfrm>
            <a:off x="771075" y="2515250"/>
            <a:ext cx="3137700" cy="23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Functional Group Assignment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Peaks correspond to </a:t>
            </a:r>
            <a:r>
              <a:rPr b="1" lang="en" sz="1100">
                <a:solidFill>
                  <a:schemeClr val="dk1"/>
                </a:solidFill>
              </a:rPr>
              <a:t>specific chemical bonds</a:t>
            </a:r>
            <a:r>
              <a:rPr lang="en" sz="1100">
                <a:solidFill>
                  <a:schemeClr val="dk1"/>
                </a:solidFill>
              </a:rPr>
              <a:t>, not random signals.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KnowItAll® compares: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Peak positions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Relative intensities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Functional group patterns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" name="Google Shape;107;p22"/>
          <p:cNvSpPr txBox="1"/>
          <p:nvPr/>
        </p:nvSpPr>
        <p:spPr>
          <a:xfrm>
            <a:off x="5756200" y="71475"/>
            <a:ext cx="3288300" cy="23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Load Glucose Raman Spectrum into KnowItAll®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Import a </a:t>
            </a:r>
            <a:r>
              <a:rPr b="1" lang="en" sz="1100">
                <a:solidFill>
                  <a:schemeClr val="dk1"/>
                </a:solidFill>
              </a:rPr>
              <a:t>reference glucose Raman spectrum</a:t>
            </a:r>
            <a:r>
              <a:rPr lang="en" sz="1100">
                <a:solidFill>
                  <a:schemeClr val="dk1"/>
                </a:solidFill>
              </a:rPr>
              <a:t> (library / demo / public database)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This spectrum acts as a </a:t>
            </a:r>
            <a:r>
              <a:rPr b="1" lang="en" sz="1100">
                <a:solidFill>
                  <a:schemeClr val="dk1"/>
                </a:solidFill>
              </a:rPr>
              <a:t>training and validation sample</a:t>
            </a:r>
            <a:r>
              <a:rPr lang="en" sz="1100">
                <a:solidFill>
                  <a:schemeClr val="dk1"/>
                </a:solidFill>
              </a:rPr>
              <a:t>, not a biomarker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To demonstrate correct peak interpretation and software usage before biomarker analysis.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1212200" y="1508888"/>
            <a:ext cx="126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Glucose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