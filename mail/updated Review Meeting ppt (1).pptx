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1"/>
  </p:notesMasterIdLst>
  <p:sldIdLst>
    <p:sldId id="256" r:id="rId2"/>
    <p:sldId id="259" r:id="rId3"/>
    <p:sldId id="257" r:id="rId4"/>
    <p:sldId id="258" r:id="rId5"/>
    <p:sldId id="288" r:id="rId6"/>
    <p:sldId id="260" r:id="rId7"/>
    <p:sldId id="261" r:id="rId8"/>
    <p:sldId id="262" r:id="rId9"/>
    <p:sldId id="263" r:id="rId10"/>
    <p:sldId id="264" r:id="rId11"/>
    <p:sldId id="265" r:id="rId12"/>
    <p:sldId id="266" r:id="rId13"/>
    <p:sldId id="267" r:id="rId14"/>
    <p:sldId id="268" r:id="rId15"/>
    <p:sldId id="270" r:id="rId16"/>
    <p:sldId id="269" r:id="rId17"/>
    <p:sldId id="271" r:id="rId18"/>
    <p:sldId id="272" r:id="rId19"/>
    <p:sldId id="273" r:id="rId20"/>
    <p:sldId id="274" r:id="rId21"/>
    <p:sldId id="275" r:id="rId22"/>
    <p:sldId id="276" r:id="rId23"/>
    <p:sldId id="277" r:id="rId24"/>
    <p:sldId id="280" r:id="rId25"/>
    <p:sldId id="278" r:id="rId26"/>
    <p:sldId id="279" r:id="rId27"/>
    <p:sldId id="281" r:id="rId28"/>
    <p:sldId id="282" r:id="rId29"/>
    <p:sldId id="283" r:id="rId30"/>
    <p:sldId id="285" r:id="rId31"/>
    <p:sldId id="284" r:id="rId32"/>
    <p:sldId id="295" r:id="rId33"/>
    <p:sldId id="298" r:id="rId34"/>
    <p:sldId id="293" r:id="rId35"/>
    <p:sldId id="296" r:id="rId36"/>
    <p:sldId id="297" r:id="rId37"/>
    <p:sldId id="292" r:id="rId38"/>
    <p:sldId id="294" r:id="rId39"/>
    <p:sldId id="299" r:id="rId40"/>
    <p:sldId id="300" r:id="rId41"/>
    <p:sldId id="301" r:id="rId42"/>
    <p:sldId id="305" r:id="rId43"/>
    <p:sldId id="302" r:id="rId44"/>
    <p:sldId id="304" r:id="rId45"/>
    <p:sldId id="287" r:id="rId46"/>
    <p:sldId id="289" r:id="rId47"/>
    <p:sldId id="290" r:id="rId48"/>
    <p:sldId id="291" r:id="rId49"/>
    <p:sldId id="286" r:id="rId50"/>
  </p:sldIdLst>
  <p:sldSz cx="12192000" cy="6858000"/>
  <p:notesSz cx="6858000" cy="9144000"/>
  <p:embeddedFontLst>
    <p:embeddedFont>
      <p:font typeface="Inter" panose="020B0604020202020204" charset="0"/>
      <p:regular r:id="rId52"/>
      <p:bold r:id="rId53"/>
      <p:italic r:id="rId54"/>
      <p:boldItalic r:id="rId55"/>
    </p:embeddedFont>
    <p:embeddedFont>
      <p:font typeface="Outfit SemiBold" panose="020B0604020202020204" charset="0"/>
      <p:regular r:id="rId56"/>
      <p:bold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7"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BDF8E39-C772-4976-A565-66580A3E178B}">
  <a:tblStyle styleId="{6BDF8E39-C772-4976-A565-66580A3E178B}"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398" y="58"/>
      </p:cViewPr>
      <p:guideLst>
        <p:guide orient="horz" pos="2160"/>
        <p:guide pos="288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AADE3937-3FE4-25B6-059A-C6B1F71F4032}"/>
            </a:ext>
          </a:extLst>
        </p:cNvPr>
        <p:cNvGrpSpPr/>
        <p:nvPr/>
      </p:nvGrpSpPr>
      <p:grpSpPr>
        <a:xfrm>
          <a:off x="0" y="0"/>
          <a:ext cx="0" cy="0"/>
          <a:chOff x="0" y="0"/>
          <a:chExt cx="0" cy="0"/>
        </a:xfrm>
      </p:grpSpPr>
      <p:sp>
        <p:nvSpPr>
          <p:cNvPr id="127" name="Google Shape;127;g3d076bbb718_0_80:notes">
            <a:extLst>
              <a:ext uri="{FF2B5EF4-FFF2-40B4-BE49-F238E27FC236}">
                <a16:creationId xmlns:a16="http://schemas.microsoft.com/office/drawing/2014/main" id="{7E64AAA8-00AB-F39C-DD4B-5A9782B3BE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g3d076bbb718_0_80:notes">
            <a:extLst>
              <a:ext uri="{FF2B5EF4-FFF2-40B4-BE49-F238E27FC236}">
                <a16:creationId xmlns:a16="http://schemas.microsoft.com/office/drawing/2014/main" id="{2622E641-95E0-A91A-1E5C-5EED24B3FD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7789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d076bbb718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g3d076bbb718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d076bbb718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g3d076bbb718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d076bbb71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g3d076bbb71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d076bbb718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g3d076bbb718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d076bbb718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g3d076bbb718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d076bbb71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g3d076bbb71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d076bbb718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3d076bbb718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d076bbb718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g3d076bbb718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d076bbb718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g3d076bbb718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d076bbb718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g3d076bbb718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d076bbb718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g3d076bbb718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d076bbb718_0_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g3d076bbb718_0_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d076bbb718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g3d076bbb718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d076bbb718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g3d076bbb718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d076bbb718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g3d076bbb718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d076bbb718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g3d076bbb718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d076bbb718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g3d076bbb718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d076bbb718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g3d076bbb718_0_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d076bbb718_0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g3d076bbb718_0_2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d076bbb718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3d076bbb718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a:extLst>
            <a:ext uri="{FF2B5EF4-FFF2-40B4-BE49-F238E27FC236}">
              <a16:creationId xmlns:a16="http://schemas.microsoft.com/office/drawing/2014/main" id="{5C89CD35-C989-EA85-7C23-7DCB9994C5F8}"/>
            </a:ext>
          </a:extLst>
        </p:cNvPr>
        <p:cNvGrpSpPr/>
        <p:nvPr/>
      </p:nvGrpSpPr>
      <p:grpSpPr>
        <a:xfrm>
          <a:off x="0" y="0"/>
          <a:ext cx="0" cy="0"/>
          <a:chOff x="0" y="0"/>
          <a:chExt cx="0" cy="0"/>
        </a:xfrm>
      </p:grpSpPr>
      <p:sp>
        <p:nvSpPr>
          <p:cNvPr id="327" name="Google Shape;327;g3d076bbb718_0_312:notes">
            <a:extLst>
              <a:ext uri="{FF2B5EF4-FFF2-40B4-BE49-F238E27FC236}">
                <a16:creationId xmlns:a16="http://schemas.microsoft.com/office/drawing/2014/main" id="{AB9BFF6B-BEC8-412C-6E23-138E69E757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3d076bbb718_0_312:notes">
            <a:extLst>
              <a:ext uri="{FF2B5EF4-FFF2-40B4-BE49-F238E27FC236}">
                <a16:creationId xmlns:a16="http://schemas.microsoft.com/office/drawing/2014/main" id="{C8BAE59C-3013-7173-2593-5DC6BF1FCE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44053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a:extLst>
            <a:ext uri="{FF2B5EF4-FFF2-40B4-BE49-F238E27FC236}">
              <a16:creationId xmlns:a16="http://schemas.microsoft.com/office/drawing/2014/main" id="{3FC1C5EB-0764-248E-7F84-0CA5B1EB6381}"/>
            </a:ext>
          </a:extLst>
        </p:cNvPr>
        <p:cNvGrpSpPr/>
        <p:nvPr/>
      </p:nvGrpSpPr>
      <p:grpSpPr>
        <a:xfrm>
          <a:off x="0" y="0"/>
          <a:ext cx="0" cy="0"/>
          <a:chOff x="0" y="0"/>
          <a:chExt cx="0" cy="0"/>
        </a:xfrm>
      </p:grpSpPr>
      <p:sp>
        <p:nvSpPr>
          <p:cNvPr id="327" name="Google Shape;327;g3d076bbb718_0_312:notes">
            <a:extLst>
              <a:ext uri="{FF2B5EF4-FFF2-40B4-BE49-F238E27FC236}">
                <a16:creationId xmlns:a16="http://schemas.microsoft.com/office/drawing/2014/main" id="{BB589829-2B79-9979-DC69-2D20D2BDBE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3d076bbb718_0_312:notes">
            <a:extLst>
              <a:ext uri="{FF2B5EF4-FFF2-40B4-BE49-F238E27FC236}">
                <a16:creationId xmlns:a16="http://schemas.microsoft.com/office/drawing/2014/main" id="{11BACDA1-DDFF-C1CD-6D1B-AC8D975078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37161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6320652B-D828-D8AA-4390-0EB90C6354CE}"/>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ABEAE30E-C6A9-257A-2D00-91FAFA8F12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2544CA30-4A53-A142-D2C3-2E40401791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5127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a:extLst>
            <a:ext uri="{FF2B5EF4-FFF2-40B4-BE49-F238E27FC236}">
              <a16:creationId xmlns:a16="http://schemas.microsoft.com/office/drawing/2014/main" id="{9F6BDCAB-377E-9733-16F4-24E3A9BF3E24}"/>
            </a:ext>
          </a:extLst>
        </p:cNvPr>
        <p:cNvGrpSpPr/>
        <p:nvPr/>
      </p:nvGrpSpPr>
      <p:grpSpPr>
        <a:xfrm>
          <a:off x="0" y="0"/>
          <a:ext cx="0" cy="0"/>
          <a:chOff x="0" y="0"/>
          <a:chExt cx="0" cy="0"/>
        </a:xfrm>
      </p:grpSpPr>
      <p:sp>
        <p:nvSpPr>
          <p:cNvPr id="327" name="Google Shape;327;g3d076bbb718_0_312:notes">
            <a:extLst>
              <a:ext uri="{FF2B5EF4-FFF2-40B4-BE49-F238E27FC236}">
                <a16:creationId xmlns:a16="http://schemas.microsoft.com/office/drawing/2014/main" id="{22B956BC-1DCD-1032-16AB-F41205206F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3d076bbb718_0_312:notes">
            <a:extLst>
              <a:ext uri="{FF2B5EF4-FFF2-40B4-BE49-F238E27FC236}">
                <a16:creationId xmlns:a16="http://schemas.microsoft.com/office/drawing/2014/main" id="{F06EACBD-F426-D727-3DD8-83DEF524B6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62605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a:extLst>
            <a:ext uri="{FF2B5EF4-FFF2-40B4-BE49-F238E27FC236}">
              <a16:creationId xmlns:a16="http://schemas.microsoft.com/office/drawing/2014/main" id="{A063376B-2416-468F-749F-390CF49661B2}"/>
            </a:ext>
          </a:extLst>
        </p:cNvPr>
        <p:cNvGrpSpPr/>
        <p:nvPr/>
      </p:nvGrpSpPr>
      <p:grpSpPr>
        <a:xfrm>
          <a:off x="0" y="0"/>
          <a:ext cx="0" cy="0"/>
          <a:chOff x="0" y="0"/>
          <a:chExt cx="0" cy="0"/>
        </a:xfrm>
      </p:grpSpPr>
      <p:sp>
        <p:nvSpPr>
          <p:cNvPr id="327" name="Google Shape;327;g3d076bbb718_0_312:notes">
            <a:extLst>
              <a:ext uri="{FF2B5EF4-FFF2-40B4-BE49-F238E27FC236}">
                <a16:creationId xmlns:a16="http://schemas.microsoft.com/office/drawing/2014/main" id="{DDBA6522-9647-30AD-1B00-D9D73C832C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3d076bbb718_0_312:notes">
            <a:extLst>
              <a:ext uri="{FF2B5EF4-FFF2-40B4-BE49-F238E27FC236}">
                <a16:creationId xmlns:a16="http://schemas.microsoft.com/office/drawing/2014/main" id="{F2B7A764-A793-F6B0-B7E1-58E5B0958D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68469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ED0B0C8F-30AF-6F51-E3AF-AF2682204459}"/>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32BAFEE7-FC2A-EB17-2C0B-B342B21574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7604AD2F-4CE7-54D1-3E73-E04C8D2680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64752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D1CF0058-EC59-D6F9-9CD9-D93E4D202999}"/>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E50BDF45-C756-3853-C04C-99309FAD02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50EB71F7-E5C5-4510-292C-C8B1707547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02648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E619FC7B-D20D-DA7B-FF3E-E8E0EFEC888A}"/>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30BB8511-C609-4019-4C13-207C2D225C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F09B506A-0A47-E6D8-AC80-011A4D322A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62758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A214A044-8E4D-3207-5F73-DEBB77FFA77E}"/>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98120B38-36CB-F686-31DC-157517021B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1A8D20FB-405A-C713-E94D-FEA55632C9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53606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740E2D00-4972-0404-ABD5-ACED9B6D5E8C}"/>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CBA55BCF-3DB5-67B9-CF3B-316B480EB6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195CE456-3922-3C45-1D13-F9997E66A0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39337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AAF7C24E-3BDA-FF36-CF44-D56140F9AA27}"/>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B547F745-6BF0-17F2-8779-272B890A75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58732FF0-AB72-A1B0-8920-CDAC62FD91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7821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E48D588E-40DB-3A58-B0B9-CF86298AE429}"/>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B2C6847A-41DA-78C6-894F-9104476EE5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35" name="Google Shape;335;p12:notes">
            <a:extLst>
              <a:ext uri="{FF2B5EF4-FFF2-40B4-BE49-F238E27FC236}">
                <a16:creationId xmlns:a16="http://schemas.microsoft.com/office/drawing/2014/main" id="{38410A96-941E-3FD0-2612-1C4DD2E40B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85798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D0938E35-BFF4-103D-4AB5-253B9B9305E7}"/>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EC9D5AFC-F6B2-A546-7F23-D6F382F131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1331C31F-2181-C007-99EE-1A16A6284B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86752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84469C7D-4173-395E-820A-956A9151BCD5}"/>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DF95D47E-596F-4DA4-0E1C-22F22D9A2C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9BD37635-882B-E3A7-AA1D-51330C86DE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73273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ED91BBF4-473D-C266-9BF8-D355CEED8F74}"/>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F407B8A2-38EA-78D0-5017-39BF2FD09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E46DCA40-0D98-13B8-1C42-DCF5E88129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2365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8F0A2596-F26C-CEB2-F713-359AD41367EC}"/>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AEC8A8BA-9CB3-D0D6-3B85-FE40BAC788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A6EF2170-C1E2-37AD-F9F4-AE0B477C53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02605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76A57BA9-26D3-6A98-3E9C-987DF138A327}"/>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06731C44-0BDD-0F0D-7BBA-70D8C0A827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1758CBC2-BF45-996D-FEBF-11A8D00DB1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33571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d076bbb718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g3d076bbb718_0_3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gif"/></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5.gif"/><Relationship Id="rId4" Type="http://schemas.openxmlformats.org/officeDocument/2006/relationships/image" Target="../media/image14.gif"/></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32.png"/></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3"/>
        <p:cNvGrpSpPr/>
        <p:nvPr/>
      </p:nvGrpSpPr>
      <p:grpSpPr>
        <a:xfrm>
          <a:off x="0" y="0"/>
          <a:ext cx="0" cy="0"/>
          <a:chOff x="0" y="0"/>
          <a:chExt cx="0" cy="0"/>
        </a:xfrm>
      </p:grpSpPr>
      <p:sp useBgFill="1">
        <p:nvSpPr>
          <p:cNvPr id="129" name="Rectangle 128">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ight Triangle 130">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3" name="Rectangle 132">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Google Shape;85;p13"/>
          <p:cNvSpPr txBox="1"/>
          <p:nvPr/>
        </p:nvSpPr>
        <p:spPr>
          <a:xfrm>
            <a:off x="1285241" y="1008993"/>
            <a:ext cx="9231410" cy="3542045"/>
          </a:xfrm>
          <a:prstGeom prst="rect">
            <a:avLst/>
          </a:prstGeom>
        </p:spPr>
        <p:txBody>
          <a:bodyPr spcFirstLastPara="1" vert="horz" lIns="91440" tIns="45720" rIns="91440" bIns="45720" rtlCol="0" anchor="b" anchorCtr="0">
            <a:normAutofit/>
          </a:bodyPr>
          <a:lstStyle/>
          <a:p>
            <a:pPr marL="0" marR="0" lvl="0" indent="0">
              <a:lnSpc>
                <a:spcPct val="90000"/>
              </a:lnSpc>
              <a:spcBef>
                <a:spcPct val="0"/>
              </a:spcBef>
              <a:spcAft>
                <a:spcPts val="600"/>
              </a:spcAft>
            </a:pPr>
            <a:r>
              <a:rPr lang="en-US" sz="5500" kern="1200">
                <a:solidFill>
                  <a:schemeClr val="tx1"/>
                </a:solidFill>
                <a:latin typeface="+mj-lt"/>
                <a:ea typeface="+mj-ea"/>
                <a:cs typeface="+mj-cs"/>
                <a:sym typeface="Outfit SemiBold"/>
              </a:rPr>
              <a:t>SERS-based Detection of Bacterial Biomarkers using Raman Spectroscopy</a:t>
            </a:r>
            <a:endParaRPr lang="en-US" sz="5500" kern="1200">
              <a:solidFill>
                <a:schemeClr val="tx1"/>
              </a:solidFill>
              <a:latin typeface="+mj-lt"/>
              <a:ea typeface="+mj-ea"/>
              <a:cs typeface="+mj-cs"/>
            </a:endParaRPr>
          </a:p>
        </p:txBody>
      </p:sp>
      <p:sp>
        <p:nvSpPr>
          <p:cNvPr id="86" name="Google Shape;86;p13"/>
          <p:cNvSpPr txBox="1"/>
          <p:nvPr/>
        </p:nvSpPr>
        <p:spPr>
          <a:xfrm>
            <a:off x="1546498" y="4587288"/>
            <a:ext cx="7132335" cy="1312657"/>
          </a:xfrm>
          <a:prstGeom prst="rect">
            <a:avLst/>
          </a:prstGeom>
        </p:spPr>
        <p:txBody>
          <a:bodyPr spcFirstLastPara="1" vert="horz" lIns="91440" tIns="45720" rIns="91440" bIns="45720" rtlCol="0" anchor="t" anchorCtr="0">
            <a:normAutofit/>
          </a:bodyPr>
          <a:lstStyle/>
          <a:p>
            <a:pPr marR="0" lvl="0">
              <a:lnSpc>
                <a:spcPct val="90000"/>
              </a:lnSpc>
              <a:spcBef>
                <a:spcPts val="1000"/>
              </a:spcBef>
              <a:spcAft>
                <a:spcPts val="0"/>
              </a:spcAft>
            </a:pPr>
            <a:r>
              <a:rPr lang="en-US" sz="2400" b="0" i="0" u="none" strike="noStrike" kern="1200" cap="none" dirty="0">
                <a:solidFill>
                  <a:schemeClr val="tx1"/>
                </a:solidFill>
                <a:latin typeface="+mn-lt"/>
                <a:ea typeface="+mn-ea"/>
                <a:cs typeface="+mn-cs"/>
                <a:sym typeface="Inter"/>
              </a:rPr>
              <a:t>Review Meeting: 0</a:t>
            </a:r>
            <a:r>
              <a:rPr lang="en-US" sz="2400" kern="1200" dirty="0">
                <a:solidFill>
                  <a:schemeClr val="tx1"/>
                </a:solidFill>
                <a:latin typeface="+mn-lt"/>
                <a:ea typeface="+mn-ea"/>
                <a:cs typeface="+mn-cs"/>
                <a:sym typeface="Inter"/>
              </a:rPr>
              <a:t>8</a:t>
            </a:r>
            <a:r>
              <a:rPr lang="en-US" sz="2400" b="0" i="0" u="none" strike="noStrike" kern="1200" cap="none" baseline="30000" dirty="0">
                <a:solidFill>
                  <a:schemeClr val="tx1"/>
                </a:solidFill>
                <a:latin typeface="+mn-lt"/>
                <a:ea typeface="+mn-ea"/>
                <a:cs typeface="+mn-cs"/>
                <a:sym typeface="Inter"/>
              </a:rPr>
              <a:t>th</a:t>
            </a:r>
            <a:r>
              <a:rPr lang="en-US" sz="2400" b="0" i="0" u="none" strike="noStrike" kern="1200" cap="none" dirty="0">
                <a:solidFill>
                  <a:schemeClr val="tx1"/>
                </a:solidFill>
                <a:latin typeface="+mn-lt"/>
                <a:ea typeface="+mn-ea"/>
                <a:cs typeface="+mn-cs"/>
                <a:sym typeface="Inter"/>
              </a:rPr>
              <a:t> April 2026</a:t>
            </a:r>
            <a:endParaRPr lang="en-US" sz="2400" kern="1200" dirty="0">
              <a:solidFill>
                <a:schemeClr val="tx1"/>
              </a:solidFill>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6"/>
        <p:cNvGrpSpPr/>
        <p:nvPr/>
      </p:nvGrpSpPr>
      <p:grpSpPr>
        <a:xfrm>
          <a:off x="0" y="0"/>
          <a:ext cx="0" cy="0"/>
          <a:chOff x="0" y="0"/>
          <a:chExt cx="0" cy="0"/>
        </a:xfrm>
      </p:grpSpPr>
      <p:sp>
        <p:nvSpPr>
          <p:cNvPr id="117" name="Google Shape;117;p16"/>
          <p:cNvSpPr txBox="1"/>
          <p:nvPr/>
        </p:nvSpPr>
        <p:spPr>
          <a:xfrm>
            <a:off x="484176" y="277125"/>
            <a:ext cx="11201400" cy="492443"/>
          </a:xfrm>
          <a:prstGeom prst="rect">
            <a:avLst/>
          </a:prstGeom>
          <a:noFill/>
          <a:ln>
            <a:noFill/>
          </a:ln>
        </p:spPr>
        <p:txBody>
          <a:bodyPr spcFirstLastPara="1" wrap="square" lIns="0" tIns="0" rIns="0" bIns="0" anchor="t" anchorCtr="0">
            <a:spAutoFit/>
          </a:bodyPr>
          <a:lstStyle/>
          <a:p>
            <a:pPr lvl="0"/>
            <a:r>
              <a:rPr lang="en-IN" sz="3200" b="1" dirty="0">
                <a:solidFill>
                  <a:srgbClr val="00B0F0"/>
                </a:solidFill>
              </a:rPr>
              <a:t>Work Completed</a:t>
            </a:r>
            <a:endParaRPr sz="1600" b="1" dirty="0">
              <a:solidFill>
                <a:srgbClr val="00B0F0"/>
              </a:solidFill>
            </a:endParaRPr>
          </a:p>
        </p:txBody>
      </p:sp>
      <p:sp>
        <p:nvSpPr>
          <p:cNvPr id="3" name="TextBox 2">
            <a:extLst>
              <a:ext uri="{FF2B5EF4-FFF2-40B4-BE49-F238E27FC236}">
                <a16:creationId xmlns:a16="http://schemas.microsoft.com/office/drawing/2014/main" id="{A67F4147-8A89-A91F-C53F-AD29F0EC4E35}"/>
              </a:ext>
            </a:extLst>
          </p:cNvPr>
          <p:cNvSpPr txBox="1"/>
          <p:nvPr/>
        </p:nvSpPr>
        <p:spPr>
          <a:xfrm>
            <a:off x="385966" y="1267958"/>
            <a:ext cx="10401538" cy="3785652"/>
          </a:xfrm>
          <a:prstGeom prst="rect">
            <a:avLst/>
          </a:prstGeom>
          <a:noFill/>
        </p:spPr>
        <p:txBody>
          <a:bodyPr wrap="square">
            <a:spAutoFit/>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1. Biomarker Identification</a:t>
            </a:r>
          </a:p>
          <a:p>
            <a:pPr rtl="0">
              <a:buNone/>
            </a:pPr>
            <a:r>
              <a:rPr lang="en-IN" sz="2000" dirty="0">
                <a:solidFill>
                  <a:schemeClr val="tx1"/>
                </a:solidFill>
                <a:latin typeface="Times New Roman" panose="02020603050405020304" pitchFamily="18" charset="0"/>
                <a:cs typeface="Times New Roman" panose="02020603050405020304" pitchFamily="18" charset="0"/>
              </a:rPr>
              <a:t>• Identified key bacterial biomarkers:</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N-acetylmuramic acid (NAM), LTA, LPS</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Literature survey on Raman signatures</a:t>
            </a:r>
          </a:p>
          <a:p>
            <a:pPr>
              <a:buNone/>
            </a:pPr>
            <a:endParaRPr lang="en-IN" sz="2000" dirty="0">
              <a:solidFill>
                <a:schemeClr val="tx1"/>
              </a:solidFill>
              <a:latin typeface="Times New Roman" panose="02020603050405020304" pitchFamily="18" charset="0"/>
              <a:cs typeface="Times New Roman" panose="02020603050405020304" pitchFamily="18" charset="0"/>
            </a:endParaRPr>
          </a:p>
          <a:p>
            <a:pPr>
              <a:buNone/>
            </a:pPr>
            <a:r>
              <a:rPr lang="en-IN" sz="2000" b="1" dirty="0">
                <a:solidFill>
                  <a:schemeClr val="tx1"/>
                </a:solidFill>
                <a:latin typeface="Times New Roman" panose="02020603050405020304" pitchFamily="18" charset="0"/>
                <a:cs typeface="Times New Roman" panose="02020603050405020304" pitchFamily="18" charset="0"/>
              </a:rPr>
              <a:t>2. Sample Procurement</a:t>
            </a:r>
          </a:p>
          <a:p>
            <a:pPr rtl="0">
              <a:buNone/>
            </a:pPr>
            <a:r>
              <a:rPr lang="en-IN" sz="2000" dirty="0">
                <a:solidFill>
                  <a:schemeClr val="tx1"/>
                </a:solidFill>
                <a:latin typeface="Times New Roman" panose="02020603050405020304" pitchFamily="18" charset="0"/>
                <a:cs typeface="Times New Roman" panose="02020603050405020304" pitchFamily="18" charset="0"/>
              </a:rPr>
              <a:t>• NAM biomarker procured</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Powder-based Raman experiments initiated</a:t>
            </a:r>
          </a:p>
          <a:p>
            <a:pPr>
              <a:buNone/>
            </a:pPr>
            <a:endParaRPr lang="en-IN" sz="2000" dirty="0">
              <a:solidFill>
                <a:schemeClr val="tx1"/>
              </a:solidFill>
              <a:latin typeface="Times New Roman" panose="02020603050405020304" pitchFamily="18" charset="0"/>
              <a:cs typeface="Times New Roman" panose="02020603050405020304" pitchFamily="18" charset="0"/>
            </a:endParaRPr>
          </a:p>
          <a:p>
            <a:pPr>
              <a:buNone/>
            </a:pPr>
            <a:r>
              <a:rPr lang="en-IN" sz="2000" b="1" dirty="0">
                <a:solidFill>
                  <a:schemeClr val="tx1"/>
                </a:solidFill>
                <a:latin typeface="Times New Roman" panose="02020603050405020304" pitchFamily="18" charset="0"/>
                <a:cs typeface="Times New Roman" panose="02020603050405020304" pitchFamily="18" charset="0"/>
              </a:rPr>
              <a:t> 3. Software &amp; Computational Setup</a:t>
            </a:r>
          </a:p>
          <a:p>
            <a:pPr rtl="0">
              <a:buNone/>
            </a:pPr>
            <a:r>
              <a:rPr lang="en-IN" sz="2000" dirty="0">
                <a:solidFill>
                  <a:schemeClr val="tx1"/>
                </a:solidFill>
                <a:latin typeface="Times New Roman" panose="02020603050405020304" pitchFamily="18" charset="0"/>
                <a:cs typeface="Times New Roman" panose="02020603050405020304" pitchFamily="18" charset="0"/>
              </a:rPr>
              <a:t>• Gaussian 16 software procured and installed</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Computational environment configured</a:t>
            </a:r>
          </a:p>
        </p:txBody>
      </p:sp>
      <p:sp>
        <p:nvSpPr>
          <p:cNvPr id="5" name="TextBox 4">
            <a:extLst>
              <a:ext uri="{FF2B5EF4-FFF2-40B4-BE49-F238E27FC236}">
                <a16:creationId xmlns:a16="http://schemas.microsoft.com/office/drawing/2014/main" id="{FD960F01-8DA7-8E87-62C4-70A76FDA8A27}"/>
              </a:ext>
            </a:extLst>
          </p:cNvPr>
          <p:cNvSpPr txBox="1"/>
          <p:nvPr/>
        </p:nvSpPr>
        <p:spPr>
          <a:xfrm>
            <a:off x="5586735" y="1273551"/>
            <a:ext cx="6096000" cy="3477875"/>
          </a:xfrm>
          <a:prstGeom prst="rect">
            <a:avLst/>
          </a:prstGeom>
          <a:noFill/>
        </p:spPr>
        <p:txBody>
          <a:bodyPr wrap="square">
            <a:spAutoFit/>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4. Training &amp; Skill Development</a:t>
            </a:r>
          </a:p>
          <a:p>
            <a:pPr rtl="0">
              <a:buNone/>
            </a:pPr>
            <a:r>
              <a:rPr lang="en-IN" sz="2000" dirty="0">
                <a:solidFill>
                  <a:schemeClr val="tx1"/>
                </a:solidFill>
                <a:latin typeface="Times New Roman" panose="02020603050405020304" pitchFamily="18" charset="0"/>
                <a:cs typeface="Times New Roman" panose="02020603050405020304" pitchFamily="18" charset="0"/>
              </a:rPr>
              <a:t>• Attended training on Gaussian and DFT simulations</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Learned molecular </a:t>
            </a:r>
            <a:r>
              <a:rPr lang="en-IN" sz="2000" dirty="0" err="1">
                <a:solidFill>
                  <a:schemeClr val="tx1"/>
                </a:solidFill>
                <a:latin typeface="Times New Roman" panose="02020603050405020304" pitchFamily="18" charset="0"/>
                <a:cs typeface="Times New Roman" panose="02020603050405020304" pitchFamily="18" charset="0"/>
              </a:rPr>
              <a:t>modeling</a:t>
            </a:r>
            <a:r>
              <a:rPr lang="en-IN" sz="2000" dirty="0">
                <a:solidFill>
                  <a:schemeClr val="tx1"/>
                </a:solidFill>
                <a:latin typeface="Times New Roman" panose="02020603050405020304" pitchFamily="18" charset="0"/>
                <a:cs typeface="Times New Roman" panose="02020603050405020304" pitchFamily="18" charset="0"/>
              </a:rPr>
              <a:t> and vibrational analysis</a:t>
            </a:r>
          </a:p>
          <a:p>
            <a:pPr>
              <a:buNone/>
            </a:pPr>
            <a:endParaRPr lang="en-IN" sz="2000" dirty="0">
              <a:solidFill>
                <a:schemeClr val="tx1"/>
              </a:solidFill>
              <a:latin typeface="Times New Roman" panose="02020603050405020304" pitchFamily="18" charset="0"/>
              <a:cs typeface="Times New Roman" panose="02020603050405020304" pitchFamily="18" charset="0"/>
            </a:endParaRPr>
          </a:p>
          <a:p>
            <a:pPr>
              <a:buNone/>
            </a:pPr>
            <a:r>
              <a:rPr lang="en-IN" sz="2000" b="1" dirty="0">
                <a:solidFill>
                  <a:schemeClr val="tx1"/>
                </a:solidFill>
                <a:latin typeface="Times New Roman" panose="02020603050405020304" pitchFamily="18" charset="0"/>
                <a:cs typeface="Times New Roman" panose="02020603050405020304" pitchFamily="18" charset="0"/>
              </a:rPr>
              <a:t> 5. Initial Simulation Work</a:t>
            </a:r>
          </a:p>
          <a:p>
            <a:pPr rtl="0">
              <a:buNone/>
            </a:pPr>
            <a:r>
              <a:rPr lang="en-IN" sz="2000" dirty="0">
                <a:solidFill>
                  <a:schemeClr val="tx1"/>
                </a:solidFill>
                <a:latin typeface="Times New Roman" panose="02020603050405020304" pitchFamily="18" charset="0"/>
                <a:cs typeface="Times New Roman" panose="02020603050405020304" pitchFamily="18" charset="0"/>
              </a:rPr>
              <a:t>• DFT simulation workflow established</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Rhodamine B used for method validation</a:t>
            </a:r>
          </a:p>
          <a:p>
            <a:pPr>
              <a:buNone/>
            </a:pPr>
            <a:endParaRPr lang="en-IN" sz="2000" dirty="0">
              <a:solidFill>
                <a:schemeClr val="tx1"/>
              </a:solidFill>
              <a:latin typeface="Times New Roman" panose="02020603050405020304" pitchFamily="18" charset="0"/>
              <a:cs typeface="Times New Roman" panose="02020603050405020304" pitchFamily="18" charset="0"/>
            </a:endParaRPr>
          </a:p>
          <a:p>
            <a:pPr>
              <a:buNone/>
            </a:pPr>
            <a:r>
              <a:rPr lang="en-IN" sz="2000" b="1" dirty="0">
                <a:solidFill>
                  <a:schemeClr val="tx1"/>
                </a:solidFill>
                <a:latin typeface="Times New Roman" panose="02020603050405020304" pitchFamily="18" charset="0"/>
                <a:cs typeface="Times New Roman" panose="02020603050405020304" pitchFamily="18" charset="0"/>
              </a:rPr>
              <a:t> 6. Experimental Work (NAM)</a:t>
            </a:r>
          </a:p>
          <a:p>
            <a:pPr rtl="0">
              <a:buNone/>
            </a:pPr>
            <a:r>
              <a:rPr lang="en-IN" sz="2000" dirty="0">
                <a:solidFill>
                  <a:schemeClr val="tx1"/>
                </a:solidFill>
                <a:latin typeface="Times New Roman" panose="02020603050405020304" pitchFamily="18" charset="0"/>
                <a:cs typeface="Times New Roman" panose="02020603050405020304" pitchFamily="18" charset="0"/>
              </a:rPr>
              <a:t>• Raman spectra collected under multiple conditions</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Data preprocessing and quality optimization performed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0"/>
        <p:cNvGrpSpPr/>
        <p:nvPr/>
      </p:nvGrpSpPr>
      <p:grpSpPr>
        <a:xfrm>
          <a:off x="0" y="0"/>
          <a:ext cx="0" cy="0"/>
          <a:chOff x="0" y="0"/>
          <a:chExt cx="0" cy="0"/>
        </a:xfrm>
      </p:grpSpPr>
      <p:sp>
        <p:nvSpPr>
          <p:cNvPr id="95" name="Google Shape;95;p14"/>
          <p:cNvSpPr txBox="1"/>
          <p:nvPr/>
        </p:nvSpPr>
        <p:spPr>
          <a:xfrm>
            <a:off x="1171447" y="2276702"/>
            <a:ext cx="2468880"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dirty="0">
                <a:solidFill>
                  <a:srgbClr val="38BDF8"/>
                </a:solidFill>
                <a:latin typeface="Outfit SemiBold"/>
                <a:ea typeface="Outfit SemiBold"/>
                <a:cs typeface="Outfit SemiBold"/>
                <a:sym typeface="Outfit SemiBold"/>
              </a:rPr>
              <a:t>Rhodamine B</a:t>
            </a:r>
            <a:endParaRPr sz="1800" b="1" dirty="0"/>
          </a:p>
        </p:txBody>
      </p:sp>
      <p:sp>
        <p:nvSpPr>
          <p:cNvPr id="96" name="Google Shape;96;p14"/>
          <p:cNvSpPr txBox="1"/>
          <p:nvPr/>
        </p:nvSpPr>
        <p:spPr>
          <a:xfrm>
            <a:off x="1152525" y="2796494"/>
            <a:ext cx="2520999" cy="323165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b="1" i="0" u="none" strike="noStrike" cap="none" dirty="0">
                <a:solidFill>
                  <a:schemeClr val="tx1"/>
                </a:solidFill>
                <a:latin typeface="Inter"/>
                <a:ea typeface="Inter"/>
                <a:cs typeface="Inter"/>
                <a:sym typeface="Inter"/>
              </a:rPr>
              <a:t>Comparative analysis assessing the accuracy of literature vs. present DFT methodologies against experimental values.</a:t>
            </a:r>
            <a:endParaRPr sz="2000" b="1" dirty="0">
              <a:solidFill>
                <a:schemeClr val="tx1"/>
              </a:solidFill>
            </a:endParaRPr>
          </a:p>
        </p:txBody>
      </p:sp>
      <p:sp>
        <p:nvSpPr>
          <p:cNvPr id="97" name="Google Shape;97;p14"/>
          <p:cNvSpPr txBox="1"/>
          <p:nvPr/>
        </p:nvSpPr>
        <p:spPr>
          <a:xfrm>
            <a:off x="4728991" y="2262188"/>
            <a:ext cx="2743200"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dirty="0">
                <a:solidFill>
                  <a:srgbClr val="38BDF8"/>
                </a:solidFill>
                <a:latin typeface="Outfit SemiBold"/>
                <a:ea typeface="Outfit SemiBold"/>
                <a:cs typeface="Outfit SemiBold"/>
                <a:sym typeface="Outfit SemiBold"/>
              </a:rPr>
              <a:t>NAM Detection</a:t>
            </a:r>
            <a:endParaRPr sz="1800" b="1" dirty="0"/>
          </a:p>
        </p:txBody>
      </p:sp>
      <p:sp>
        <p:nvSpPr>
          <p:cNvPr id="98" name="Google Shape;98;p14"/>
          <p:cNvSpPr txBox="1"/>
          <p:nvPr/>
        </p:nvSpPr>
        <p:spPr>
          <a:xfrm>
            <a:off x="4835574" y="2796494"/>
            <a:ext cx="2520999" cy="2769989"/>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b="1" i="0" u="none" strike="noStrike" cap="none" dirty="0">
                <a:solidFill>
                  <a:schemeClr val="tx1"/>
                </a:solidFill>
                <a:latin typeface="Inter"/>
                <a:ea typeface="Inter"/>
                <a:cs typeface="Inter"/>
                <a:sym typeface="Inter"/>
              </a:rPr>
              <a:t>Experimental optimization and theoretical verification of the N-Acetylmuramic Acid bacterial biomarker.</a:t>
            </a:r>
            <a:endParaRPr sz="2000" b="1" dirty="0">
              <a:solidFill>
                <a:schemeClr val="tx1"/>
              </a:solidFill>
            </a:endParaRPr>
          </a:p>
        </p:txBody>
      </p:sp>
      <p:sp>
        <p:nvSpPr>
          <p:cNvPr id="99" name="Google Shape;99;p14"/>
          <p:cNvSpPr txBox="1"/>
          <p:nvPr/>
        </p:nvSpPr>
        <p:spPr>
          <a:xfrm>
            <a:off x="8535595" y="2233160"/>
            <a:ext cx="2743200"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dirty="0">
                <a:solidFill>
                  <a:srgbClr val="38BDF8"/>
                </a:solidFill>
                <a:latin typeface="Outfit SemiBold"/>
                <a:ea typeface="Outfit SemiBold"/>
                <a:cs typeface="Outfit SemiBold"/>
                <a:sym typeface="Outfit SemiBold"/>
              </a:rPr>
              <a:t>LTA</a:t>
            </a:r>
            <a:endParaRPr sz="1800" b="1" dirty="0"/>
          </a:p>
        </p:txBody>
      </p:sp>
      <p:sp>
        <p:nvSpPr>
          <p:cNvPr id="100" name="Google Shape;100;p14"/>
          <p:cNvSpPr txBox="1"/>
          <p:nvPr/>
        </p:nvSpPr>
        <p:spPr>
          <a:xfrm>
            <a:off x="8518624" y="2796494"/>
            <a:ext cx="2520999" cy="230832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b="1" i="0" u="none" strike="noStrike" cap="none" dirty="0">
                <a:solidFill>
                  <a:schemeClr val="tx1"/>
                </a:solidFill>
                <a:latin typeface="Inter"/>
                <a:ea typeface="Inter"/>
                <a:cs typeface="Inter"/>
                <a:sym typeface="Inter"/>
              </a:rPr>
              <a:t>Quantum chemical simulation and peak assignment also  comparing with experiment data</a:t>
            </a:r>
            <a:endParaRPr sz="2000" b="1" dirty="0">
              <a:solidFill>
                <a:schemeClr val="tx1"/>
              </a:solidFill>
            </a:endParaRPr>
          </a:p>
        </p:txBody>
      </p:sp>
      <p:pic>
        <p:nvPicPr>
          <p:cNvPr id="101" name="Google Shape;101;p14" descr="image.png"/>
          <p:cNvPicPr preferRelativeResize="0"/>
          <p:nvPr/>
        </p:nvPicPr>
        <p:blipFill rotWithShape="1">
          <a:blip r:embed="rId3">
            <a:alphaModFix/>
          </a:blip>
          <a:srcRect/>
          <a:stretch/>
        </p:blipFill>
        <p:spPr>
          <a:xfrm>
            <a:off x="2184350" y="1615394"/>
            <a:ext cx="457200" cy="457200"/>
          </a:xfrm>
          <a:prstGeom prst="rect">
            <a:avLst/>
          </a:prstGeom>
          <a:noFill/>
          <a:ln>
            <a:noFill/>
          </a:ln>
        </p:spPr>
      </p:pic>
      <p:pic>
        <p:nvPicPr>
          <p:cNvPr id="102" name="Google Shape;102;p14" descr="image.png"/>
          <p:cNvPicPr preferRelativeResize="0"/>
          <p:nvPr/>
        </p:nvPicPr>
        <p:blipFill rotWithShape="1">
          <a:blip r:embed="rId4">
            <a:alphaModFix/>
          </a:blip>
          <a:srcRect/>
          <a:stretch/>
        </p:blipFill>
        <p:spPr>
          <a:xfrm>
            <a:off x="5810250" y="1615394"/>
            <a:ext cx="571500" cy="457200"/>
          </a:xfrm>
          <a:prstGeom prst="rect">
            <a:avLst/>
          </a:prstGeom>
          <a:noFill/>
          <a:ln>
            <a:noFill/>
          </a:ln>
        </p:spPr>
      </p:pic>
      <p:pic>
        <p:nvPicPr>
          <p:cNvPr id="103" name="Google Shape;103;p14" descr="image.png"/>
          <p:cNvPicPr preferRelativeResize="0"/>
          <p:nvPr/>
        </p:nvPicPr>
        <p:blipFill rotWithShape="1">
          <a:blip r:embed="rId5">
            <a:alphaModFix/>
          </a:blip>
          <a:srcRect/>
          <a:stretch/>
        </p:blipFill>
        <p:spPr>
          <a:xfrm>
            <a:off x="9579024" y="1615394"/>
            <a:ext cx="400050" cy="457200"/>
          </a:xfrm>
          <a:prstGeom prst="rect">
            <a:avLst/>
          </a:prstGeom>
          <a:noFill/>
          <a:ln>
            <a:noFill/>
          </a:ln>
        </p:spPr>
      </p:pic>
      <p:sp>
        <p:nvSpPr>
          <p:cNvPr id="104" name="Google Shape;104;p14"/>
          <p:cNvSpPr txBox="1"/>
          <p:nvPr/>
        </p:nvSpPr>
        <p:spPr>
          <a:xfrm>
            <a:off x="762000" y="571500"/>
            <a:ext cx="1120140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dirty="0">
                <a:solidFill>
                  <a:schemeClr val="bg2"/>
                </a:solidFill>
                <a:latin typeface="Outfit SemiBold"/>
                <a:ea typeface="Outfit SemiBold"/>
                <a:cs typeface="Outfit SemiBold"/>
                <a:sym typeface="Outfit SemiBold"/>
              </a:rPr>
              <a:t>Meeting Agenda</a:t>
            </a:r>
            <a:endParaRPr sz="1600" b="1" dirty="0">
              <a:solidFill>
                <a:schemeClr val="bg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08"/>
        <p:cNvGrpSpPr/>
        <p:nvPr/>
      </p:nvGrpSpPr>
      <p:grpSpPr>
        <a:xfrm>
          <a:off x="0" y="0"/>
          <a:ext cx="0" cy="0"/>
          <a:chOff x="0" y="0"/>
          <a:chExt cx="0" cy="0"/>
        </a:xfrm>
      </p:grpSpPr>
      <p:sp>
        <p:nvSpPr>
          <p:cNvPr id="110" name="Google Shape;110;p15"/>
          <p:cNvSpPr/>
          <p:nvPr/>
        </p:nvSpPr>
        <p:spPr>
          <a:xfrm>
            <a:off x="5524500" y="2444055"/>
            <a:ext cx="1143000" cy="5715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1" name="Google Shape;111;p15"/>
          <p:cNvSpPr txBox="1"/>
          <p:nvPr/>
        </p:nvSpPr>
        <p:spPr>
          <a:xfrm>
            <a:off x="529950" y="727250"/>
            <a:ext cx="11132100" cy="1662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0" i="0" u="none" strike="noStrike" cap="none">
                <a:solidFill>
                  <a:srgbClr val="22D3EE"/>
                </a:solidFill>
                <a:latin typeface="Outfit SemiBold"/>
                <a:ea typeface="Outfit SemiBold"/>
                <a:cs typeface="Outfit SemiBold"/>
                <a:sym typeface="Outfit SemiBold"/>
              </a:rPr>
              <a:t>Part I: </a:t>
            </a:r>
            <a:r>
              <a:rPr lang="en-US" sz="5400">
                <a:solidFill>
                  <a:srgbClr val="22D3EE"/>
                </a:solidFill>
                <a:latin typeface="Outfit SemiBold"/>
                <a:ea typeface="Outfit SemiBold"/>
                <a:cs typeface="Outfit SemiBold"/>
                <a:sym typeface="Outfit SemiBold"/>
              </a:rPr>
              <a:t>Method Validation (Rhodamine B)</a:t>
            </a:r>
            <a:endParaRPr/>
          </a:p>
        </p:txBody>
      </p:sp>
      <p:sp>
        <p:nvSpPr>
          <p:cNvPr id="112" name="Google Shape;112;p15"/>
          <p:cNvSpPr txBox="1"/>
          <p:nvPr/>
        </p:nvSpPr>
        <p:spPr>
          <a:xfrm>
            <a:off x="1284799" y="2773780"/>
            <a:ext cx="10123429" cy="2939266"/>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dirty="0">
                <a:solidFill>
                  <a:schemeClr val="lt1"/>
                </a:solidFill>
              </a:rPr>
              <a:t>Comparative Analysis of Raman Frequencies of Rhodamine B</a:t>
            </a:r>
            <a:br>
              <a:rPr lang="en-US" sz="2000" b="1" dirty="0">
                <a:solidFill>
                  <a:schemeClr val="lt1"/>
                </a:solidFill>
              </a:rPr>
            </a:br>
            <a:r>
              <a:rPr lang="en-US" sz="2000" dirty="0">
                <a:solidFill>
                  <a:schemeClr val="lt1"/>
                </a:solidFill>
              </a:rPr>
              <a:t> Experimental vs Literature DFT vs Present DFT</a:t>
            </a:r>
            <a:endParaRPr sz="2000" dirty="0">
              <a:solidFill>
                <a:schemeClr val="lt1"/>
              </a:solidFill>
            </a:endParaRPr>
          </a:p>
          <a:p>
            <a:pPr marL="0" lvl="0" indent="0" algn="ctr" rtl="0">
              <a:lnSpc>
                <a:spcPct val="115000"/>
              </a:lnSpc>
              <a:spcBef>
                <a:spcPts val="1200"/>
              </a:spcBef>
              <a:spcAft>
                <a:spcPts val="0"/>
              </a:spcAft>
              <a:buClr>
                <a:schemeClr val="dk1"/>
              </a:buClr>
              <a:buSzPts val="1100"/>
              <a:buFont typeface="Arial"/>
              <a:buNone/>
            </a:pPr>
            <a:r>
              <a:rPr lang="en-US" sz="2000" b="1" dirty="0">
                <a:solidFill>
                  <a:schemeClr val="lt1"/>
                </a:solidFill>
              </a:rPr>
              <a:t>Reference:</a:t>
            </a:r>
            <a:br>
              <a:rPr lang="en-US" sz="2000" b="1" dirty="0">
                <a:solidFill>
                  <a:schemeClr val="lt1"/>
                </a:solidFill>
              </a:rPr>
            </a:br>
            <a:r>
              <a:rPr lang="en-US" sz="2000" dirty="0">
                <a:solidFill>
                  <a:schemeClr val="lt1"/>
                </a:solidFill>
              </a:rPr>
              <a:t> Shuang Lin et al., </a:t>
            </a:r>
            <a:r>
              <a:rPr lang="en-US" sz="2000" i="1" dirty="0">
                <a:solidFill>
                  <a:schemeClr val="lt1"/>
                </a:solidFill>
              </a:rPr>
              <a:t>Rapid and sensitive SERS method for determination of Rhodamine B in chili powder with paper-based substrates</a:t>
            </a:r>
            <a:r>
              <a:rPr lang="en-US" sz="2000" dirty="0">
                <a:solidFill>
                  <a:schemeClr val="lt1"/>
                </a:solidFill>
              </a:rPr>
              <a:t>, </a:t>
            </a:r>
            <a:r>
              <a:rPr lang="en-US" sz="2000" b="1" dirty="0">
                <a:solidFill>
                  <a:schemeClr val="lt1"/>
                </a:solidFill>
              </a:rPr>
              <a:t>RSC Advances</a:t>
            </a:r>
            <a:endParaRPr sz="2000" b="1" dirty="0">
              <a:solidFill>
                <a:schemeClr val="lt1"/>
              </a:solidFill>
            </a:endParaRPr>
          </a:p>
          <a:p>
            <a:pPr marL="0" lvl="0" indent="0" algn="ctr" rtl="0">
              <a:lnSpc>
                <a:spcPct val="115000"/>
              </a:lnSpc>
              <a:spcBef>
                <a:spcPts val="1200"/>
              </a:spcBef>
              <a:spcAft>
                <a:spcPts val="0"/>
              </a:spcAft>
              <a:buClr>
                <a:schemeClr val="dk1"/>
              </a:buClr>
              <a:buSzPts val="1100"/>
              <a:buFont typeface="Arial"/>
              <a:buNone/>
            </a:pPr>
            <a:r>
              <a:rPr lang="en-US" sz="2000" dirty="0">
                <a:solidFill>
                  <a:schemeClr val="lt1"/>
                </a:solidFill>
              </a:rPr>
              <a:t>Your Method:</a:t>
            </a:r>
            <a:br>
              <a:rPr lang="en-US" sz="2000" dirty="0">
                <a:solidFill>
                  <a:schemeClr val="lt1"/>
                </a:solidFill>
              </a:rPr>
            </a:br>
            <a:r>
              <a:rPr lang="en-US" sz="2000" dirty="0">
                <a:solidFill>
                  <a:schemeClr val="lt1"/>
                </a:solidFill>
              </a:rPr>
              <a:t> Gaussian 16 – B3LYP / 6-31G(d)</a:t>
            </a:r>
            <a:endParaRPr sz="2000" dirty="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9">
          <a:extLst>
            <a:ext uri="{FF2B5EF4-FFF2-40B4-BE49-F238E27FC236}">
              <a16:creationId xmlns:a16="http://schemas.microsoft.com/office/drawing/2014/main" id="{62F3CAF7-6873-BD1B-F9C4-3E6CAA00C077}"/>
            </a:ext>
          </a:extLst>
        </p:cNvPr>
        <p:cNvGrpSpPr/>
        <p:nvPr/>
      </p:nvGrpSpPr>
      <p:grpSpPr>
        <a:xfrm>
          <a:off x="0" y="0"/>
          <a:ext cx="0" cy="0"/>
          <a:chOff x="0" y="0"/>
          <a:chExt cx="0" cy="0"/>
        </a:xfrm>
      </p:grpSpPr>
      <p:sp>
        <p:nvSpPr>
          <p:cNvPr id="130" name="Google Shape;130;p18">
            <a:extLst>
              <a:ext uri="{FF2B5EF4-FFF2-40B4-BE49-F238E27FC236}">
                <a16:creationId xmlns:a16="http://schemas.microsoft.com/office/drawing/2014/main" id="{F28AD47E-CF01-74C9-AA1E-93B4F6318DC3}"/>
              </a:ext>
            </a:extLst>
          </p:cNvPr>
          <p:cNvSpPr txBox="1"/>
          <p:nvPr/>
        </p:nvSpPr>
        <p:spPr>
          <a:xfrm>
            <a:off x="353550" y="277125"/>
            <a:ext cx="11201400" cy="430887"/>
          </a:xfrm>
          <a:prstGeom prst="rect">
            <a:avLst/>
          </a:prstGeom>
          <a:noFill/>
          <a:ln>
            <a:noFill/>
          </a:ln>
        </p:spPr>
        <p:txBody>
          <a:bodyPr spcFirstLastPara="1" wrap="square" lIns="0" tIns="0" rIns="0" bIns="0" anchor="t" anchorCtr="0">
            <a:spAutoFit/>
          </a:bodyPr>
          <a:lstStyle/>
          <a:p>
            <a:pPr lvl="0"/>
            <a:r>
              <a:rPr lang="en-US" sz="2800" b="1" dirty="0">
                <a:solidFill>
                  <a:srgbClr val="22D3EE"/>
                </a:solidFill>
                <a:latin typeface="Outfit SemiBold"/>
                <a:ea typeface="Outfit SemiBold"/>
                <a:cs typeface="Outfit SemiBold"/>
                <a:sym typeface="Outfit SemiBold"/>
              </a:rPr>
              <a:t>Study Objective</a:t>
            </a:r>
            <a:endParaRPr lang="en-US" b="1" dirty="0"/>
          </a:p>
        </p:txBody>
      </p:sp>
      <p:sp>
        <p:nvSpPr>
          <p:cNvPr id="131" name="Google Shape;131;p18">
            <a:extLst>
              <a:ext uri="{FF2B5EF4-FFF2-40B4-BE49-F238E27FC236}">
                <a16:creationId xmlns:a16="http://schemas.microsoft.com/office/drawing/2014/main" id="{D5FEF567-9379-5A33-02EF-6DB99DD59689}"/>
              </a:ext>
            </a:extLst>
          </p:cNvPr>
          <p:cNvSpPr txBox="1"/>
          <p:nvPr/>
        </p:nvSpPr>
        <p:spPr>
          <a:xfrm>
            <a:off x="570597" y="908821"/>
            <a:ext cx="10044900" cy="4007221"/>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GB" sz="2400" b="1" dirty="0">
                <a:solidFill>
                  <a:schemeClr val="lt1"/>
                </a:solidFill>
              </a:rPr>
              <a:t>Objective</a:t>
            </a:r>
          </a:p>
          <a:p>
            <a:pPr lvl="0">
              <a:lnSpc>
                <a:spcPct val="115000"/>
              </a:lnSpc>
              <a:buClr>
                <a:schemeClr val="dk1"/>
              </a:buClr>
              <a:buSzPts val="1100"/>
            </a:pPr>
            <a:r>
              <a:rPr lang="en-GB" sz="2400" dirty="0">
                <a:solidFill>
                  <a:schemeClr val="lt1"/>
                </a:solidFill>
              </a:rPr>
              <a:t>To compare Raman vibrational frequencies of </a:t>
            </a:r>
            <a:r>
              <a:rPr lang="en-GB" sz="2400" b="1" dirty="0">
                <a:solidFill>
                  <a:schemeClr val="lt1"/>
                </a:solidFill>
              </a:rPr>
              <a:t>Rhodamine B</a:t>
            </a:r>
            <a:r>
              <a:rPr lang="en-GB" sz="2400" dirty="0">
                <a:solidFill>
                  <a:schemeClr val="lt1"/>
                </a:solidFill>
              </a:rPr>
              <a:t> obtained from:</a:t>
            </a:r>
          </a:p>
          <a:p>
            <a:pPr marL="457200" lvl="0" indent="-374650">
              <a:lnSpc>
                <a:spcPct val="115000"/>
              </a:lnSpc>
              <a:buClr>
                <a:schemeClr val="lt1"/>
              </a:buClr>
              <a:buSzPts val="2300"/>
              <a:buChar char="●"/>
            </a:pPr>
            <a:r>
              <a:rPr lang="en-GB" sz="2400" dirty="0">
                <a:solidFill>
                  <a:schemeClr val="lt1"/>
                </a:solidFill>
              </a:rPr>
              <a:t>Experimental Raman spectra (literature)</a:t>
            </a:r>
          </a:p>
          <a:p>
            <a:pPr marL="457200" lvl="0" indent="-374650">
              <a:lnSpc>
                <a:spcPct val="115000"/>
              </a:lnSpc>
              <a:buClr>
                <a:schemeClr val="lt1"/>
              </a:buClr>
              <a:buSzPts val="2300"/>
              <a:buChar char="●"/>
            </a:pPr>
            <a:r>
              <a:rPr lang="en-GB" sz="2400" dirty="0">
                <a:solidFill>
                  <a:schemeClr val="lt1"/>
                </a:solidFill>
              </a:rPr>
              <a:t>Literature DFT calculations</a:t>
            </a:r>
          </a:p>
          <a:p>
            <a:pPr marL="457200" lvl="0" indent="-374650">
              <a:lnSpc>
                <a:spcPct val="115000"/>
              </a:lnSpc>
              <a:buClr>
                <a:schemeClr val="lt1"/>
              </a:buClr>
              <a:buSzPts val="2300"/>
              <a:buChar char="●"/>
            </a:pPr>
            <a:r>
              <a:rPr lang="en-GB" sz="2400" dirty="0">
                <a:solidFill>
                  <a:schemeClr val="lt1"/>
                </a:solidFill>
              </a:rPr>
              <a:t>Present DFT calculations</a:t>
            </a:r>
            <a:br>
              <a:rPr lang="en-GB" sz="2400" dirty="0">
                <a:solidFill>
                  <a:schemeClr val="lt1"/>
                </a:solidFill>
              </a:rPr>
            </a:br>
            <a:endParaRPr lang="en-GB" sz="2400" dirty="0">
              <a:solidFill>
                <a:schemeClr val="lt1"/>
              </a:solidFill>
            </a:endParaRPr>
          </a:p>
          <a:p>
            <a:pPr lvl="0">
              <a:lnSpc>
                <a:spcPct val="115000"/>
              </a:lnSpc>
              <a:buClr>
                <a:schemeClr val="dk1"/>
              </a:buClr>
              <a:buSzPts val="1100"/>
            </a:pPr>
            <a:r>
              <a:rPr lang="en-GB" sz="2400" b="1" dirty="0">
                <a:solidFill>
                  <a:schemeClr val="lt1"/>
                </a:solidFill>
              </a:rPr>
              <a:t>Goal</a:t>
            </a:r>
          </a:p>
          <a:p>
            <a:pPr lvl="0">
              <a:lnSpc>
                <a:spcPct val="115000"/>
              </a:lnSpc>
            </a:pPr>
            <a:r>
              <a:rPr lang="en-GB" sz="2400" dirty="0">
                <a:solidFill>
                  <a:schemeClr val="lt1"/>
                </a:solidFill>
              </a:rPr>
              <a:t>Evaluate the </a:t>
            </a:r>
            <a:r>
              <a:rPr lang="en-GB" sz="2400" b="1" dirty="0">
                <a:solidFill>
                  <a:schemeClr val="lt1"/>
                </a:solidFill>
              </a:rPr>
              <a:t>accuracy and reliability</a:t>
            </a:r>
            <a:r>
              <a:rPr lang="en-GB" sz="2400" dirty="0">
                <a:solidFill>
                  <a:schemeClr val="lt1"/>
                </a:solidFill>
              </a:rPr>
              <a:t> of our computational method.</a:t>
            </a:r>
            <a:endParaRPr lang="en-GB" sz="3600" dirty="0">
              <a:solidFill>
                <a:schemeClr val="lt1"/>
              </a:solidFill>
              <a:latin typeface="Inter" panose="02000503000000020004"/>
              <a:ea typeface="Inter" panose="02000503000000020004"/>
              <a:cs typeface="Inter" panose="02000503000000020004"/>
              <a:sym typeface="Inter" panose="02000503000000020004"/>
            </a:endParaRPr>
          </a:p>
        </p:txBody>
      </p:sp>
    </p:spTree>
    <p:extLst>
      <p:ext uri="{BB962C8B-B14F-4D97-AF65-F5344CB8AC3E}">
        <p14:creationId xmlns:p14="http://schemas.microsoft.com/office/powerpoint/2010/main" val="1631473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2"/>
        <p:cNvGrpSpPr/>
        <p:nvPr/>
      </p:nvGrpSpPr>
      <p:grpSpPr>
        <a:xfrm>
          <a:off x="0" y="0"/>
          <a:ext cx="0" cy="0"/>
          <a:chOff x="0" y="0"/>
          <a:chExt cx="0" cy="0"/>
        </a:xfrm>
      </p:grpSpPr>
      <p:sp>
        <p:nvSpPr>
          <p:cNvPr id="123" name="Google Shape;123;p17"/>
          <p:cNvSpPr txBox="1"/>
          <p:nvPr/>
        </p:nvSpPr>
        <p:spPr>
          <a:xfrm>
            <a:off x="353550" y="27712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Computational Method Comparison</a:t>
            </a:r>
            <a:endParaRPr/>
          </a:p>
        </p:txBody>
      </p:sp>
      <p:sp>
        <p:nvSpPr>
          <p:cNvPr id="124" name="Google Shape;124;p17"/>
          <p:cNvSpPr txBox="1"/>
          <p:nvPr/>
        </p:nvSpPr>
        <p:spPr>
          <a:xfrm>
            <a:off x="795261" y="3500975"/>
            <a:ext cx="10453310" cy="3077735"/>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2400" b="1" dirty="0">
                <a:solidFill>
                  <a:schemeClr val="lt1"/>
                </a:solidFill>
              </a:rPr>
              <a:t>Key Difference</a:t>
            </a:r>
            <a:endParaRPr sz="2400" b="1" dirty="0">
              <a:solidFill>
                <a:schemeClr val="lt1"/>
              </a:solidFill>
            </a:endParaRPr>
          </a:p>
          <a:p>
            <a:pPr marL="0" lvl="0" indent="0" algn="l" rtl="0">
              <a:lnSpc>
                <a:spcPct val="115000"/>
              </a:lnSpc>
              <a:spcBef>
                <a:spcPts val="1200"/>
              </a:spcBef>
              <a:spcAft>
                <a:spcPts val="0"/>
              </a:spcAft>
              <a:buNone/>
            </a:pPr>
            <a:r>
              <a:rPr lang="en-US" sz="2400" dirty="0">
                <a:solidFill>
                  <a:schemeClr val="lt1"/>
                </a:solidFill>
              </a:rPr>
              <a:t>Our work includes </a:t>
            </a:r>
            <a:r>
              <a:rPr lang="en-US" sz="2400" b="1" dirty="0">
                <a:solidFill>
                  <a:schemeClr val="lt1"/>
                </a:solidFill>
              </a:rPr>
              <a:t>polarization functions (d)</a:t>
            </a:r>
            <a:r>
              <a:rPr lang="en-US" sz="2400" dirty="0">
                <a:solidFill>
                  <a:schemeClr val="lt1"/>
                </a:solidFill>
              </a:rPr>
              <a:t> in the basis set.</a:t>
            </a:r>
            <a:endParaRPr sz="2400" dirty="0">
              <a:solidFill>
                <a:schemeClr val="lt1"/>
              </a:solidFill>
            </a:endParaRPr>
          </a:p>
          <a:p>
            <a:pPr marL="0" lvl="0" indent="0" algn="l" rtl="0">
              <a:lnSpc>
                <a:spcPct val="115000"/>
              </a:lnSpc>
              <a:spcBef>
                <a:spcPts val="1200"/>
              </a:spcBef>
              <a:spcAft>
                <a:spcPts val="0"/>
              </a:spcAft>
              <a:buNone/>
            </a:pPr>
            <a:r>
              <a:rPr lang="en-US" sz="2400" b="1" dirty="0">
                <a:solidFill>
                  <a:schemeClr val="lt1"/>
                </a:solidFill>
              </a:rPr>
              <a:t>Importance</a:t>
            </a:r>
            <a:endParaRPr sz="2400" b="1" dirty="0">
              <a:solidFill>
                <a:schemeClr val="lt1"/>
              </a:solidFill>
            </a:endParaRPr>
          </a:p>
          <a:p>
            <a:pPr marL="0" lvl="0" indent="0" algn="l" rtl="0">
              <a:lnSpc>
                <a:spcPct val="115000"/>
              </a:lnSpc>
              <a:spcBef>
                <a:spcPts val="1200"/>
              </a:spcBef>
              <a:spcAft>
                <a:spcPts val="1200"/>
              </a:spcAft>
              <a:buNone/>
            </a:pPr>
            <a:r>
              <a:rPr lang="en-US" sz="2400" dirty="0">
                <a:solidFill>
                  <a:schemeClr val="lt1"/>
                </a:solidFill>
              </a:rPr>
              <a:t>Polarization functions improve the description of </a:t>
            </a:r>
            <a:r>
              <a:rPr lang="en-US" sz="2400" b="1" dirty="0">
                <a:solidFill>
                  <a:schemeClr val="lt1"/>
                </a:solidFill>
              </a:rPr>
              <a:t>electron distribution and vibrational modes</a:t>
            </a:r>
            <a:r>
              <a:rPr lang="en-US" sz="2400" dirty="0">
                <a:solidFill>
                  <a:schemeClr val="lt1"/>
                </a:solidFill>
              </a:rPr>
              <a:t>.</a:t>
            </a:r>
            <a:endParaRPr sz="4000" b="1" dirty="0">
              <a:solidFill>
                <a:schemeClr val="lt1"/>
              </a:solidFill>
            </a:endParaRPr>
          </a:p>
        </p:txBody>
      </p:sp>
      <p:graphicFrame>
        <p:nvGraphicFramePr>
          <p:cNvPr id="125" name="Google Shape;125;p17"/>
          <p:cNvGraphicFramePr/>
          <p:nvPr>
            <p:extLst>
              <p:ext uri="{D42A27DB-BD31-4B8C-83A1-F6EECF244321}">
                <p14:modId xmlns:p14="http://schemas.microsoft.com/office/powerpoint/2010/main" val="1986670046"/>
              </p:ext>
            </p:extLst>
          </p:nvPr>
        </p:nvGraphicFramePr>
        <p:xfrm>
          <a:off x="1297424" y="1141127"/>
          <a:ext cx="9020225" cy="2062100"/>
        </p:xfrm>
        <a:graphic>
          <a:graphicData uri="http://schemas.openxmlformats.org/drawingml/2006/table">
            <a:tbl>
              <a:tblPr>
                <a:noFill/>
                <a:tableStyleId>{6BDF8E39-C772-4976-A565-66580A3E178B}</a:tableStyleId>
              </a:tblPr>
              <a:tblGrid>
                <a:gridCol w="2799369">
                  <a:extLst>
                    <a:ext uri="{9D8B030D-6E8A-4147-A177-3AD203B41FA5}">
                      <a16:colId xmlns:a16="http://schemas.microsoft.com/office/drawing/2014/main" val="20000"/>
                    </a:ext>
                  </a:extLst>
                </a:gridCol>
                <a:gridCol w="2290414">
                  <a:extLst>
                    <a:ext uri="{9D8B030D-6E8A-4147-A177-3AD203B41FA5}">
                      <a16:colId xmlns:a16="http://schemas.microsoft.com/office/drawing/2014/main" val="20001"/>
                    </a:ext>
                  </a:extLst>
                </a:gridCol>
                <a:gridCol w="2149012">
                  <a:extLst>
                    <a:ext uri="{9D8B030D-6E8A-4147-A177-3AD203B41FA5}">
                      <a16:colId xmlns:a16="http://schemas.microsoft.com/office/drawing/2014/main" val="20002"/>
                    </a:ext>
                  </a:extLst>
                </a:gridCol>
                <a:gridCol w="1781430">
                  <a:extLst>
                    <a:ext uri="{9D8B030D-6E8A-4147-A177-3AD203B41FA5}">
                      <a16:colId xmlns:a16="http://schemas.microsoft.com/office/drawing/2014/main" val="20003"/>
                    </a:ext>
                  </a:extLst>
                </a:gridCol>
              </a:tblGrid>
              <a:tr h="657750">
                <a:tc>
                  <a:txBody>
                    <a:bodyPr/>
                    <a:lstStyle/>
                    <a:p>
                      <a:pPr marL="0" lvl="0" indent="0" algn="ctr" rtl="0">
                        <a:lnSpc>
                          <a:spcPct val="115000"/>
                        </a:lnSpc>
                        <a:spcBef>
                          <a:spcPts val="0"/>
                        </a:spcBef>
                        <a:spcAft>
                          <a:spcPts val="0"/>
                        </a:spcAft>
                        <a:buNone/>
                      </a:pPr>
                      <a:r>
                        <a:rPr lang="en-US" sz="2400" b="1">
                          <a:solidFill>
                            <a:schemeClr val="lt1"/>
                          </a:solidFill>
                        </a:rPr>
                        <a:t>Study</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2400" b="1">
                          <a:solidFill>
                            <a:schemeClr val="lt1"/>
                          </a:solidFill>
                        </a:rPr>
                        <a:t>Software</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2400" b="1">
                          <a:solidFill>
                            <a:schemeClr val="lt1"/>
                          </a:solidFill>
                        </a:rPr>
                        <a:t>Functional</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2400" b="1">
                          <a:solidFill>
                            <a:schemeClr val="lt1"/>
                          </a:solidFill>
                        </a:rPr>
                        <a:t>Basis Set</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702175">
                <a:tc>
                  <a:txBody>
                    <a:bodyPr/>
                    <a:lstStyle/>
                    <a:p>
                      <a:pPr marL="0" lvl="0" indent="0" algn="ctr" rtl="0">
                        <a:spcBef>
                          <a:spcPts val="0"/>
                        </a:spcBef>
                        <a:spcAft>
                          <a:spcPts val="0"/>
                        </a:spcAft>
                        <a:buNone/>
                      </a:pPr>
                      <a:r>
                        <a:rPr lang="en-US" sz="1800">
                          <a:solidFill>
                            <a:schemeClr val="lt1"/>
                          </a:solidFill>
                        </a:rPr>
                        <a:t>Literature DFT</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a:solidFill>
                            <a:schemeClr val="lt1"/>
                          </a:solidFill>
                        </a:rPr>
                        <a:t>Gaussian 09</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a:solidFill>
                            <a:schemeClr val="lt1"/>
                          </a:solidFill>
                        </a:rPr>
                        <a:t>B3LYP</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dirty="0">
                          <a:solidFill>
                            <a:schemeClr val="lt1"/>
                          </a:solidFill>
                        </a:rPr>
                        <a:t>6-31G</a:t>
                      </a:r>
                      <a:endParaRPr sz="18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702175">
                <a:tc>
                  <a:txBody>
                    <a:bodyPr/>
                    <a:lstStyle/>
                    <a:p>
                      <a:pPr marL="0" lvl="0" indent="0" algn="ctr" rtl="0">
                        <a:spcBef>
                          <a:spcPts val="0"/>
                        </a:spcBef>
                        <a:spcAft>
                          <a:spcPts val="0"/>
                        </a:spcAft>
                        <a:buNone/>
                      </a:pPr>
                      <a:r>
                        <a:rPr lang="en-US" sz="1800">
                          <a:solidFill>
                            <a:schemeClr val="lt1"/>
                          </a:solidFill>
                        </a:rPr>
                        <a:t>Present Work</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a:solidFill>
                            <a:schemeClr val="lt1"/>
                          </a:solidFill>
                        </a:rPr>
                        <a:t>Gaussian 16</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a:solidFill>
                            <a:schemeClr val="lt1"/>
                          </a:solidFill>
                        </a:rPr>
                        <a:t>B3LYP</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dirty="0">
                          <a:solidFill>
                            <a:schemeClr val="lt1"/>
                          </a:solidFill>
                        </a:rPr>
                        <a:t>6-31G(d)</a:t>
                      </a:r>
                      <a:endParaRPr sz="18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9"/>
        <p:cNvGrpSpPr/>
        <p:nvPr/>
      </p:nvGrpSpPr>
      <p:grpSpPr>
        <a:xfrm>
          <a:off x="0" y="0"/>
          <a:ext cx="0" cy="0"/>
          <a:chOff x="0" y="0"/>
          <a:chExt cx="0" cy="0"/>
        </a:xfrm>
      </p:grpSpPr>
      <p:sp>
        <p:nvSpPr>
          <p:cNvPr id="130" name="Google Shape;130;p18"/>
          <p:cNvSpPr txBox="1"/>
          <p:nvPr/>
        </p:nvSpPr>
        <p:spPr>
          <a:xfrm>
            <a:off x="353550" y="27712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 Peak Comparison Overview</a:t>
            </a:r>
            <a:endParaRPr/>
          </a:p>
        </p:txBody>
      </p:sp>
      <p:sp>
        <p:nvSpPr>
          <p:cNvPr id="131" name="Google Shape;131;p18"/>
          <p:cNvSpPr txBox="1"/>
          <p:nvPr/>
        </p:nvSpPr>
        <p:spPr>
          <a:xfrm>
            <a:off x="570597" y="908821"/>
            <a:ext cx="10044900" cy="5472237"/>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2400" dirty="0">
                <a:solidFill>
                  <a:schemeClr val="lt1"/>
                </a:solidFill>
              </a:rPr>
              <a:t>Three datasets were compared:</a:t>
            </a:r>
            <a:endParaRPr sz="2400" dirty="0">
              <a:solidFill>
                <a:schemeClr val="lt1"/>
              </a:solidFill>
            </a:endParaRPr>
          </a:p>
          <a:p>
            <a:pPr marL="457200" lvl="0" indent="-317500" algn="l" rtl="0">
              <a:lnSpc>
                <a:spcPct val="115000"/>
              </a:lnSpc>
              <a:spcBef>
                <a:spcPts val="1200"/>
              </a:spcBef>
              <a:spcAft>
                <a:spcPts val="0"/>
              </a:spcAft>
              <a:buClr>
                <a:schemeClr val="lt1"/>
              </a:buClr>
              <a:buSzPts val="1400"/>
              <a:buAutoNum type="arabicPeriod"/>
            </a:pPr>
            <a:r>
              <a:rPr lang="en-US" sz="2400" b="1" dirty="0">
                <a:solidFill>
                  <a:schemeClr val="lt1"/>
                </a:solidFill>
              </a:rPr>
              <a:t>Experimental Raman Peaks</a:t>
            </a:r>
            <a:endParaRPr sz="2400" b="1" dirty="0">
              <a:solidFill>
                <a:schemeClr val="lt1"/>
              </a:solidFill>
            </a:endParaRPr>
          </a:p>
          <a:p>
            <a:pPr marL="457200" lvl="0" indent="-317500" algn="l" rtl="0">
              <a:lnSpc>
                <a:spcPct val="115000"/>
              </a:lnSpc>
              <a:spcBef>
                <a:spcPts val="0"/>
              </a:spcBef>
              <a:spcAft>
                <a:spcPts val="0"/>
              </a:spcAft>
              <a:buClr>
                <a:schemeClr val="lt1"/>
              </a:buClr>
              <a:buSzPts val="1400"/>
              <a:buAutoNum type="arabicPeriod"/>
            </a:pPr>
            <a:r>
              <a:rPr lang="en-US" sz="2400" b="1" dirty="0">
                <a:solidFill>
                  <a:schemeClr val="lt1"/>
                </a:solidFill>
              </a:rPr>
              <a:t>Literature DFT Values</a:t>
            </a:r>
            <a:endParaRPr sz="2400" b="1" dirty="0">
              <a:solidFill>
                <a:schemeClr val="lt1"/>
              </a:solidFill>
            </a:endParaRPr>
          </a:p>
          <a:p>
            <a:pPr marL="457200" lvl="0" indent="-317500" algn="l" rtl="0">
              <a:lnSpc>
                <a:spcPct val="115000"/>
              </a:lnSpc>
              <a:spcBef>
                <a:spcPts val="0"/>
              </a:spcBef>
              <a:spcAft>
                <a:spcPts val="0"/>
              </a:spcAft>
              <a:buClr>
                <a:schemeClr val="lt1"/>
              </a:buClr>
              <a:buSzPts val="1400"/>
              <a:buAutoNum type="arabicPeriod"/>
            </a:pPr>
            <a:r>
              <a:rPr lang="en-US" sz="2400" b="1" dirty="0">
                <a:solidFill>
                  <a:schemeClr val="lt1"/>
                </a:solidFill>
              </a:rPr>
              <a:t>Present DFT Values</a:t>
            </a:r>
            <a:br>
              <a:rPr lang="en-US" sz="2400" b="1" dirty="0">
                <a:solidFill>
                  <a:schemeClr val="lt1"/>
                </a:solidFill>
              </a:rPr>
            </a:br>
            <a:endParaRPr sz="2400" b="1" dirty="0">
              <a:solidFill>
                <a:schemeClr val="lt1"/>
              </a:solidFill>
            </a:endParaRPr>
          </a:p>
          <a:p>
            <a:pPr marL="0" lvl="0" indent="0" algn="l" rtl="0">
              <a:lnSpc>
                <a:spcPct val="115000"/>
              </a:lnSpc>
              <a:spcBef>
                <a:spcPts val="1200"/>
              </a:spcBef>
              <a:spcAft>
                <a:spcPts val="0"/>
              </a:spcAft>
              <a:buNone/>
            </a:pPr>
            <a:r>
              <a:rPr lang="en-US" sz="2400" dirty="0">
                <a:solidFill>
                  <a:schemeClr val="lt1"/>
                </a:solidFill>
              </a:rPr>
              <a:t>Key vibrational modes analyzed:</a:t>
            </a:r>
            <a:endParaRPr sz="2400" dirty="0">
              <a:solidFill>
                <a:schemeClr val="lt1"/>
              </a:solidFill>
            </a:endParaRPr>
          </a:p>
          <a:p>
            <a:pPr marL="457200" lvl="0" indent="-317500" algn="l" rtl="0">
              <a:lnSpc>
                <a:spcPct val="115000"/>
              </a:lnSpc>
              <a:spcBef>
                <a:spcPts val="1200"/>
              </a:spcBef>
              <a:spcAft>
                <a:spcPts val="0"/>
              </a:spcAft>
              <a:buClr>
                <a:schemeClr val="lt1"/>
              </a:buClr>
              <a:buSzPts val="1400"/>
              <a:buChar char="●"/>
            </a:pPr>
            <a:r>
              <a:rPr lang="en-US" sz="2400" dirty="0">
                <a:solidFill>
                  <a:schemeClr val="lt1"/>
                </a:solidFill>
              </a:rPr>
              <a:t>Xanthene ring puckering</a:t>
            </a:r>
            <a:endParaRPr sz="24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2400" dirty="0">
                <a:solidFill>
                  <a:schemeClr val="lt1"/>
                </a:solidFill>
              </a:rPr>
              <a:t>Aromatic C–C bridge stretching</a:t>
            </a:r>
            <a:endParaRPr sz="24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2400" dirty="0">
                <a:solidFill>
                  <a:schemeClr val="lt1"/>
                </a:solidFill>
              </a:rPr>
              <a:t>C–H bending</a:t>
            </a:r>
            <a:endParaRPr sz="24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2400" dirty="0">
                <a:solidFill>
                  <a:schemeClr val="lt1"/>
                </a:solidFill>
              </a:rPr>
              <a:t>Aromatic ring bending</a:t>
            </a:r>
            <a:endParaRPr sz="24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2400" dirty="0">
                <a:solidFill>
                  <a:schemeClr val="lt1"/>
                </a:solidFill>
              </a:rPr>
              <a:t>C=C stretching</a:t>
            </a:r>
            <a:endParaRPr sz="3200" b="1" dirty="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35"/>
        <p:cNvGrpSpPr/>
        <p:nvPr/>
      </p:nvGrpSpPr>
      <p:grpSpPr>
        <a:xfrm>
          <a:off x="0" y="0"/>
          <a:ext cx="0" cy="0"/>
          <a:chOff x="0" y="0"/>
          <a:chExt cx="0" cy="0"/>
        </a:xfrm>
      </p:grpSpPr>
      <p:sp>
        <p:nvSpPr>
          <p:cNvPr id="136" name="Google Shape;136;p19"/>
          <p:cNvSpPr txBox="1"/>
          <p:nvPr/>
        </p:nvSpPr>
        <p:spPr>
          <a:xfrm>
            <a:off x="353550" y="27712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Xanthene Ring Puckering</a:t>
            </a:r>
            <a:endParaRPr/>
          </a:p>
        </p:txBody>
      </p:sp>
      <p:graphicFrame>
        <p:nvGraphicFramePr>
          <p:cNvPr id="137" name="Google Shape;137;p19"/>
          <p:cNvGraphicFramePr/>
          <p:nvPr>
            <p:extLst>
              <p:ext uri="{D42A27DB-BD31-4B8C-83A1-F6EECF244321}">
                <p14:modId xmlns:p14="http://schemas.microsoft.com/office/powerpoint/2010/main" val="4241353563"/>
              </p:ext>
            </p:extLst>
          </p:nvPr>
        </p:nvGraphicFramePr>
        <p:xfrm>
          <a:off x="353550" y="937400"/>
          <a:ext cx="8253419" cy="1341759"/>
        </p:xfrm>
        <a:graphic>
          <a:graphicData uri="http://schemas.openxmlformats.org/drawingml/2006/table">
            <a:tbl>
              <a:tblPr>
                <a:noFill/>
                <a:tableStyleId>{6BDF8E39-C772-4976-A565-66580A3E178B}</a:tableStyleId>
              </a:tblPr>
              <a:tblGrid>
                <a:gridCol w="1912378">
                  <a:extLst>
                    <a:ext uri="{9D8B030D-6E8A-4147-A177-3AD203B41FA5}">
                      <a16:colId xmlns:a16="http://schemas.microsoft.com/office/drawing/2014/main" val="20000"/>
                    </a:ext>
                  </a:extLst>
                </a:gridCol>
                <a:gridCol w="2194216">
                  <a:extLst>
                    <a:ext uri="{9D8B030D-6E8A-4147-A177-3AD203B41FA5}">
                      <a16:colId xmlns:a16="http://schemas.microsoft.com/office/drawing/2014/main" val="20001"/>
                    </a:ext>
                  </a:extLst>
                </a:gridCol>
                <a:gridCol w="1328602">
                  <a:extLst>
                    <a:ext uri="{9D8B030D-6E8A-4147-A177-3AD203B41FA5}">
                      <a16:colId xmlns:a16="http://schemas.microsoft.com/office/drawing/2014/main" val="20002"/>
                    </a:ext>
                  </a:extLst>
                </a:gridCol>
                <a:gridCol w="1328602">
                  <a:extLst>
                    <a:ext uri="{9D8B030D-6E8A-4147-A177-3AD203B41FA5}">
                      <a16:colId xmlns:a16="http://schemas.microsoft.com/office/drawing/2014/main" val="20003"/>
                    </a:ext>
                  </a:extLst>
                </a:gridCol>
                <a:gridCol w="1489621">
                  <a:extLst>
                    <a:ext uri="{9D8B030D-6E8A-4147-A177-3AD203B41FA5}">
                      <a16:colId xmlns:a16="http://schemas.microsoft.com/office/drawing/2014/main" val="20004"/>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Experimental</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Literature </a:t>
                      </a:r>
                      <a:r>
                        <a:rPr lang="en-US" sz="2000" b="1" dirty="0" err="1">
                          <a:solidFill>
                            <a:schemeClr val="lt1"/>
                          </a:solidFill>
                        </a:rPr>
                        <a:t>DFT</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Lit Deviation</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Our Deviation</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619</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613</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608.64</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6</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10.36</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38" name="Google Shape;138;p19"/>
          <p:cNvSpPr txBox="1"/>
          <p:nvPr/>
        </p:nvSpPr>
        <p:spPr>
          <a:xfrm>
            <a:off x="353550" y="2331738"/>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Aromatic C–C Bridge Stretch</a:t>
            </a:r>
            <a:endParaRPr/>
          </a:p>
        </p:txBody>
      </p:sp>
      <p:graphicFrame>
        <p:nvGraphicFramePr>
          <p:cNvPr id="139" name="Google Shape;139;p19"/>
          <p:cNvGraphicFramePr/>
          <p:nvPr>
            <p:extLst>
              <p:ext uri="{D42A27DB-BD31-4B8C-83A1-F6EECF244321}">
                <p14:modId xmlns:p14="http://schemas.microsoft.com/office/powerpoint/2010/main" val="3647394913"/>
              </p:ext>
            </p:extLst>
          </p:nvPr>
        </p:nvGraphicFramePr>
        <p:xfrm>
          <a:off x="288150" y="2992013"/>
          <a:ext cx="8318820" cy="1341759"/>
        </p:xfrm>
        <a:graphic>
          <a:graphicData uri="http://schemas.openxmlformats.org/drawingml/2006/table">
            <a:tbl>
              <a:tblPr>
                <a:noFill/>
                <a:tableStyleId>{6BDF8E39-C772-4976-A565-66580A3E178B}</a:tableStyleId>
              </a:tblPr>
              <a:tblGrid>
                <a:gridCol w="1927532">
                  <a:extLst>
                    <a:ext uri="{9D8B030D-6E8A-4147-A177-3AD203B41FA5}">
                      <a16:colId xmlns:a16="http://schemas.microsoft.com/office/drawing/2014/main" val="20000"/>
                    </a:ext>
                  </a:extLst>
                </a:gridCol>
                <a:gridCol w="2211603">
                  <a:extLst>
                    <a:ext uri="{9D8B030D-6E8A-4147-A177-3AD203B41FA5}">
                      <a16:colId xmlns:a16="http://schemas.microsoft.com/office/drawing/2014/main" val="20001"/>
                    </a:ext>
                  </a:extLst>
                </a:gridCol>
                <a:gridCol w="1339130">
                  <a:extLst>
                    <a:ext uri="{9D8B030D-6E8A-4147-A177-3AD203B41FA5}">
                      <a16:colId xmlns:a16="http://schemas.microsoft.com/office/drawing/2014/main" val="20002"/>
                    </a:ext>
                  </a:extLst>
                </a:gridCol>
                <a:gridCol w="1339130">
                  <a:extLst>
                    <a:ext uri="{9D8B030D-6E8A-4147-A177-3AD203B41FA5}">
                      <a16:colId xmlns:a16="http://schemas.microsoft.com/office/drawing/2014/main" val="20003"/>
                    </a:ext>
                  </a:extLst>
                </a:gridCol>
                <a:gridCol w="1501425">
                  <a:extLst>
                    <a:ext uri="{9D8B030D-6E8A-4147-A177-3AD203B41FA5}">
                      <a16:colId xmlns:a16="http://schemas.microsoft.com/office/drawing/2014/main" val="20004"/>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Experimental</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Literature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Lit Deviation</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Our Deviation</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1193</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1195</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1196.16</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2</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3.16</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40" name="Google Shape;140;p19"/>
          <p:cNvSpPr txBox="1"/>
          <p:nvPr/>
        </p:nvSpPr>
        <p:spPr>
          <a:xfrm>
            <a:off x="353550" y="442968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dirty="0">
                <a:solidFill>
                  <a:srgbClr val="22D3EE"/>
                </a:solidFill>
                <a:latin typeface="Outfit SemiBold"/>
                <a:ea typeface="Outfit SemiBold"/>
                <a:cs typeface="Outfit SemiBold"/>
                <a:sym typeface="Outfit SemiBold"/>
              </a:rPr>
              <a:t>C–H Bending Mode</a:t>
            </a:r>
            <a:endParaRPr dirty="0"/>
          </a:p>
        </p:txBody>
      </p:sp>
      <p:graphicFrame>
        <p:nvGraphicFramePr>
          <p:cNvPr id="141" name="Google Shape;141;p19"/>
          <p:cNvGraphicFramePr/>
          <p:nvPr>
            <p:extLst>
              <p:ext uri="{D42A27DB-BD31-4B8C-83A1-F6EECF244321}">
                <p14:modId xmlns:p14="http://schemas.microsoft.com/office/powerpoint/2010/main" val="553278228"/>
              </p:ext>
            </p:extLst>
          </p:nvPr>
        </p:nvGraphicFramePr>
        <p:xfrm>
          <a:off x="288150" y="5010389"/>
          <a:ext cx="8318820" cy="1341759"/>
        </p:xfrm>
        <a:graphic>
          <a:graphicData uri="http://schemas.openxmlformats.org/drawingml/2006/table">
            <a:tbl>
              <a:tblPr>
                <a:noFill/>
                <a:tableStyleId>{6BDF8E39-C772-4976-A565-66580A3E178B}</a:tableStyleId>
              </a:tblPr>
              <a:tblGrid>
                <a:gridCol w="1927532">
                  <a:extLst>
                    <a:ext uri="{9D8B030D-6E8A-4147-A177-3AD203B41FA5}">
                      <a16:colId xmlns:a16="http://schemas.microsoft.com/office/drawing/2014/main" val="20000"/>
                    </a:ext>
                  </a:extLst>
                </a:gridCol>
                <a:gridCol w="2211603">
                  <a:extLst>
                    <a:ext uri="{9D8B030D-6E8A-4147-A177-3AD203B41FA5}">
                      <a16:colId xmlns:a16="http://schemas.microsoft.com/office/drawing/2014/main" val="20001"/>
                    </a:ext>
                  </a:extLst>
                </a:gridCol>
                <a:gridCol w="1339130">
                  <a:extLst>
                    <a:ext uri="{9D8B030D-6E8A-4147-A177-3AD203B41FA5}">
                      <a16:colId xmlns:a16="http://schemas.microsoft.com/office/drawing/2014/main" val="20002"/>
                    </a:ext>
                  </a:extLst>
                </a:gridCol>
                <a:gridCol w="1339130">
                  <a:extLst>
                    <a:ext uri="{9D8B030D-6E8A-4147-A177-3AD203B41FA5}">
                      <a16:colId xmlns:a16="http://schemas.microsoft.com/office/drawing/2014/main" val="20003"/>
                    </a:ext>
                  </a:extLst>
                </a:gridCol>
                <a:gridCol w="1501425">
                  <a:extLst>
                    <a:ext uri="{9D8B030D-6E8A-4147-A177-3AD203B41FA5}">
                      <a16:colId xmlns:a16="http://schemas.microsoft.com/office/drawing/2014/main" val="20004"/>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Experimental</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Literature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Lit Deviation</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Our Error</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1275</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1278</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1273.92</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3</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1.08</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45"/>
        <p:cNvGrpSpPr/>
        <p:nvPr/>
      </p:nvGrpSpPr>
      <p:grpSpPr>
        <a:xfrm>
          <a:off x="0" y="0"/>
          <a:ext cx="0" cy="0"/>
          <a:chOff x="0" y="0"/>
          <a:chExt cx="0" cy="0"/>
        </a:xfrm>
      </p:grpSpPr>
      <p:sp>
        <p:nvSpPr>
          <p:cNvPr id="146" name="Google Shape;146;p20"/>
          <p:cNvSpPr txBox="1"/>
          <p:nvPr/>
        </p:nvSpPr>
        <p:spPr>
          <a:xfrm>
            <a:off x="353550" y="27712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Aromatic C–C Bending (~1355 cm⁻¹)</a:t>
            </a:r>
            <a:endParaRPr/>
          </a:p>
        </p:txBody>
      </p:sp>
      <p:graphicFrame>
        <p:nvGraphicFramePr>
          <p:cNvPr id="147" name="Google Shape;147;p20"/>
          <p:cNvGraphicFramePr/>
          <p:nvPr>
            <p:extLst>
              <p:ext uri="{D42A27DB-BD31-4B8C-83A1-F6EECF244321}">
                <p14:modId xmlns:p14="http://schemas.microsoft.com/office/powerpoint/2010/main" val="2778430247"/>
              </p:ext>
            </p:extLst>
          </p:nvPr>
        </p:nvGraphicFramePr>
        <p:xfrm>
          <a:off x="353550" y="937400"/>
          <a:ext cx="7515600" cy="991239"/>
        </p:xfrm>
        <a:graphic>
          <a:graphicData uri="http://schemas.openxmlformats.org/drawingml/2006/table">
            <a:tbl>
              <a:tblPr>
                <a:noFill/>
                <a:tableStyleId>{6BDF8E39-C772-4976-A565-66580A3E178B}</a:tableStyleId>
              </a:tblPr>
              <a:tblGrid>
                <a:gridCol w="2407932">
                  <a:extLst>
                    <a:ext uri="{9D8B030D-6E8A-4147-A177-3AD203B41FA5}">
                      <a16:colId xmlns:a16="http://schemas.microsoft.com/office/drawing/2014/main" val="20000"/>
                    </a:ext>
                  </a:extLst>
                </a:gridCol>
                <a:gridCol w="2407932">
                  <a:extLst>
                    <a:ext uri="{9D8B030D-6E8A-4147-A177-3AD203B41FA5}">
                      <a16:colId xmlns:a16="http://schemas.microsoft.com/office/drawing/2014/main" val="20001"/>
                    </a:ext>
                  </a:extLst>
                </a:gridCol>
                <a:gridCol w="2699736">
                  <a:extLst>
                    <a:ext uri="{9D8B030D-6E8A-4147-A177-3AD203B41FA5}">
                      <a16:colId xmlns:a16="http://schemas.microsoft.com/office/drawing/2014/main" val="20002"/>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Experimental</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Literature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1334.40 / 1386.24</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1354–1355</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1355</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48" name="Google Shape;148;p20"/>
          <p:cNvSpPr txBox="1"/>
          <p:nvPr/>
        </p:nvSpPr>
        <p:spPr>
          <a:xfrm>
            <a:off x="353550" y="2288196"/>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Aromatic C–H Bending (~1500 region)</a:t>
            </a:r>
            <a:endParaRPr/>
          </a:p>
        </p:txBody>
      </p:sp>
      <p:graphicFrame>
        <p:nvGraphicFramePr>
          <p:cNvPr id="149" name="Google Shape;149;p20"/>
          <p:cNvGraphicFramePr/>
          <p:nvPr>
            <p:extLst>
              <p:ext uri="{D42A27DB-BD31-4B8C-83A1-F6EECF244321}">
                <p14:modId xmlns:p14="http://schemas.microsoft.com/office/powerpoint/2010/main" val="2146731869"/>
              </p:ext>
            </p:extLst>
          </p:nvPr>
        </p:nvGraphicFramePr>
        <p:xfrm>
          <a:off x="353550" y="2970271"/>
          <a:ext cx="7515599" cy="991239"/>
        </p:xfrm>
        <a:graphic>
          <a:graphicData uri="http://schemas.openxmlformats.org/drawingml/2006/table">
            <a:tbl>
              <a:tblPr>
                <a:noFill/>
                <a:tableStyleId>{6BDF8E39-C772-4976-A565-66580A3E178B}</a:tableStyleId>
              </a:tblPr>
              <a:tblGrid>
                <a:gridCol w="2407952">
                  <a:extLst>
                    <a:ext uri="{9D8B030D-6E8A-4147-A177-3AD203B41FA5}">
                      <a16:colId xmlns:a16="http://schemas.microsoft.com/office/drawing/2014/main" val="20000"/>
                    </a:ext>
                  </a:extLst>
                </a:gridCol>
                <a:gridCol w="2407952">
                  <a:extLst>
                    <a:ext uri="{9D8B030D-6E8A-4147-A177-3AD203B41FA5}">
                      <a16:colId xmlns:a16="http://schemas.microsoft.com/office/drawing/2014/main" val="20001"/>
                    </a:ext>
                  </a:extLst>
                </a:gridCol>
                <a:gridCol w="2699695">
                  <a:extLst>
                    <a:ext uri="{9D8B030D-6E8A-4147-A177-3AD203B41FA5}">
                      <a16:colId xmlns:a16="http://schemas.microsoft.com/office/drawing/2014/main" val="20002"/>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Experimental</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Literature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1489.92 / 1533.12</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1504 / 1523</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1504 / 1525</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50" name="Google Shape;150;p20"/>
          <p:cNvSpPr txBox="1"/>
          <p:nvPr/>
        </p:nvSpPr>
        <p:spPr>
          <a:xfrm>
            <a:off x="462237" y="4389934"/>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C=C Stretch (~1642 cm⁻¹)</a:t>
            </a:r>
            <a:endParaRPr/>
          </a:p>
        </p:txBody>
      </p:sp>
      <p:graphicFrame>
        <p:nvGraphicFramePr>
          <p:cNvPr id="151" name="Google Shape;151;p20"/>
          <p:cNvGraphicFramePr/>
          <p:nvPr>
            <p:extLst>
              <p:ext uri="{D42A27DB-BD31-4B8C-83A1-F6EECF244321}">
                <p14:modId xmlns:p14="http://schemas.microsoft.com/office/powerpoint/2010/main" val="254572780"/>
              </p:ext>
            </p:extLst>
          </p:nvPr>
        </p:nvGraphicFramePr>
        <p:xfrm>
          <a:off x="505861" y="5126509"/>
          <a:ext cx="6811364" cy="991239"/>
        </p:xfrm>
        <a:graphic>
          <a:graphicData uri="http://schemas.openxmlformats.org/drawingml/2006/table">
            <a:tbl>
              <a:tblPr>
                <a:noFill/>
                <a:tableStyleId>{6BDF8E39-C772-4976-A565-66580A3E178B}</a:tableStyleId>
              </a:tblPr>
              <a:tblGrid>
                <a:gridCol w="2182298">
                  <a:extLst>
                    <a:ext uri="{9D8B030D-6E8A-4147-A177-3AD203B41FA5}">
                      <a16:colId xmlns:a16="http://schemas.microsoft.com/office/drawing/2014/main" val="20000"/>
                    </a:ext>
                  </a:extLst>
                </a:gridCol>
                <a:gridCol w="2182298">
                  <a:extLst>
                    <a:ext uri="{9D8B030D-6E8A-4147-A177-3AD203B41FA5}">
                      <a16:colId xmlns:a16="http://schemas.microsoft.com/office/drawing/2014/main" val="20001"/>
                    </a:ext>
                  </a:extLst>
                </a:gridCol>
                <a:gridCol w="2446768">
                  <a:extLst>
                    <a:ext uri="{9D8B030D-6E8A-4147-A177-3AD203B41FA5}">
                      <a16:colId xmlns:a16="http://schemas.microsoft.com/office/drawing/2014/main" val="20002"/>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Experimental</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Literature DFT</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1636.80</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1642</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1644</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55"/>
        <p:cNvGrpSpPr/>
        <p:nvPr/>
      </p:nvGrpSpPr>
      <p:grpSpPr>
        <a:xfrm>
          <a:off x="0" y="0"/>
          <a:ext cx="0" cy="0"/>
          <a:chOff x="0" y="0"/>
          <a:chExt cx="0" cy="0"/>
        </a:xfrm>
      </p:grpSpPr>
      <p:sp>
        <p:nvSpPr>
          <p:cNvPr id="156" name="Google Shape;156;p21"/>
          <p:cNvSpPr txBox="1"/>
          <p:nvPr/>
        </p:nvSpPr>
        <p:spPr>
          <a:xfrm>
            <a:off x="353550" y="277125"/>
            <a:ext cx="4708500" cy="392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sz="2550">
              <a:solidFill>
                <a:srgbClr val="22D3EE"/>
              </a:solidFill>
              <a:latin typeface="Outfit SemiBold"/>
              <a:ea typeface="Outfit SemiBold"/>
              <a:cs typeface="Outfit SemiBold"/>
              <a:sym typeface="Outfit SemiBold"/>
            </a:endParaRPr>
          </a:p>
        </p:txBody>
      </p:sp>
      <p:pic>
        <p:nvPicPr>
          <p:cNvPr id="158" name="Google Shape;158;p21"/>
          <p:cNvPicPr preferRelativeResize="0"/>
          <p:nvPr/>
        </p:nvPicPr>
        <p:blipFill>
          <a:blip r:embed="rId3">
            <a:alphaModFix/>
          </a:blip>
          <a:stretch>
            <a:fillRect/>
          </a:stretch>
        </p:blipFill>
        <p:spPr>
          <a:xfrm>
            <a:off x="431747" y="3635726"/>
            <a:ext cx="5215640" cy="2749955"/>
          </a:xfrm>
          <a:prstGeom prst="rect">
            <a:avLst/>
          </a:prstGeom>
          <a:noFill/>
          <a:ln>
            <a:noFill/>
          </a:ln>
        </p:spPr>
      </p:pic>
      <p:sp>
        <p:nvSpPr>
          <p:cNvPr id="159" name="Google Shape;159;p21"/>
          <p:cNvSpPr txBox="1"/>
          <p:nvPr/>
        </p:nvSpPr>
        <p:spPr>
          <a:xfrm>
            <a:off x="708699" y="184725"/>
            <a:ext cx="10715175" cy="4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150" dirty="0">
                <a:solidFill>
                  <a:srgbClr val="22D3EE"/>
                </a:solidFill>
                <a:latin typeface="Outfit SemiBold"/>
                <a:ea typeface="Outfit SemiBold"/>
                <a:cs typeface="Outfit SemiBold"/>
                <a:sym typeface="Outfit SemiBold"/>
              </a:rPr>
              <a:t>Conclusion</a:t>
            </a:r>
            <a:endParaRPr sz="3150" dirty="0">
              <a:solidFill>
                <a:srgbClr val="22D3EE"/>
              </a:solidFill>
              <a:latin typeface="Outfit SemiBold"/>
              <a:ea typeface="Outfit SemiBold"/>
              <a:cs typeface="Outfit SemiBold"/>
              <a:sym typeface="Outfit SemiBold"/>
            </a:endParaRPr>
          </a:p>
        </p:txBody>
      </p:sp>
      <p:sp>
        <p:nvSpPr>
          <p:cNvPr id="160" name="Google Shape;160;p21"/>
          <p:cNvSpPr txBox="1"/>
          <p:nvPr/>
        </p:nvSpPr>
        <p:spPr>
          <a:xfrm>
            <a:off x="708700" y="857794"/>
            <a:ext cx="9990300" cy="203129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dirty="0">
                <a:solidFill>
                  <a:schemeClr val="lt1"/>
                </a:solidFill>
              </a:rPr>
              <a:t>Both DFT methods reproduce </a:t>
            </a:r>
            <a:r>
              <a:rPr lang="en-US" sz="2000" b="1" dirty="0">
                <a:solidFill>
                  <a:schemeClr val="lt1"/>
                </a:solidFill>
              </a:rPr>
              <a:t>major Raman bands of Rhodamine B</a:t>
            </a:r>
            <a:r>
              <a:rPr lang="en-US" sz="2000" dirty="0">
                <a:solidFill>
                  <a:schemeClr val="lt1"/>
                </a:solidFill>
              </a:rPr>
              <a:t>.</a:t>
            </a:r>
            <a:br>
              <a:rPr lang="en-US" sz="2000" dirty="0">
                <a:solidFill>
                  <a:schemeClr val="lt1"/>
                </a:solidFill>
              </a:rPr>
            </a:br>
            <a:endParaRPr sz="2000" dirty="0">
              <a:solidFill>
                <a:schemeClr val="lt1"/>
              </a:solidFill>
            </a:endParaRPr>
          </a:p>
          <a:p>
            <a:pPr marL="0" lvl="0" indent="0" algn="l" rtl="0">
              <a:spcBef>
                <a:spcPts val="0"/>
              </a:spcBef>
              <a:spcAft>
                <a:spcPts val="0"/>
              </a:spcAft>
              <a:buNone/>
            </a:pPr>
            <a:r>
              <a:rPr lang="en-US" sz="2000" dirty="0">
                <a:solidFill>
                  <a:schemeClr val="lt1"/>
                </a:solidFill>
              </a:rPr>
              <a:t>Inclusion of </a:t>
            </a:r>
            <a:r>
              <a:rPr lang="en-US" sz="2000" b="1" dirty="0">
                <a:solidFill>
                  <a:schemeClr val="lt1"/>
                </a:solidFill>
              </a:rPr>
              <a:t>polarization functions</a:t>
            </a:r>
            <a:r>
              <a:rPr lang="en-US" sz="2000" dirty="0">
                <a:solidFill>
                  <a:schemeClr val="lt1"/>
                </a:solidFill>
              </a:rPr>
              <a:t> improves theoretical description but may introduce </a:t>
            </a:r>
            <a:r>
              <a:rPr lang="en-US" sz="2000" b="1" dirty="0">
                <a:solidFill>
                  <a:schemeClr val="lt1"/>
                </a:solidFill>
              </a:rPr>
              <a:t>mode splitting</a:t>
            </a:r>
            <a:r>
              <a:rPr lang="en-US" sz="2000" dirty="0">
                <a:solidFill>
                  <a:schemeClr val="lt1"/>
                </a:solidFill>
              </a:rPr>
              <a:t>.</a:t>
            </a:r>
            <a:br>
              <a:rPr lang="en-US" sz="2000" dirty="0">
                <a:solidFill>
                  <a:schemeClr val="lt1"/>
                </a:solidFill>
              </a:rPr>
            </a:br>
            <a:endParaRPr sz="2000" dirty="0">
              <a:solidFill>
                <a:schemeClr val="lt1"/>
              </a:solidFill>
            </a:endParaRPr>
          </a:p>
          <a:p>
            <a:pPr marL="0" lvl="0" indent="0" algn="l" rtl="0">
              <a:spcBef>
                <a:spcPts val="0"/>
              </a:spcBef>
              <a:spcAft>
                <a:spcPts val="0"/>
              </a:spcAft>
              <a:buNone/>
            </a:pPr>
            <a:r>
              <a:rPr lang="en-US" sz="2000" dirty="0">
                <a:solidFill>
                  <a:schemeClr val="lt1"/>
                </a:solidFill>
              </a:rPr>
              <a:t>Overall agreement confirms the </a:t>
            </a:r>
            <a:r>
              <a:rPr lang="en-US" sz="2000" b="1" dirty="0">
                <a:solidFill>
                  <a:schemeClr val="lt1"/>
                </a:solidFill>
              </a:rPr>
              <a:t>reliability of our computational approach</a:t>
            </a:r>
            <a:r>
              <a:rPr lang="en-US" sz="2000" dirty="0">
                <a:solidFill>
                  <a:schemeClr val="lt1"/>
                </a:solidFill>
              </a:rPr>
              <a:t>.</a:t>
            </a:r>
            <a:endParaRPr sz="2000" dirty="0">
              <a:solidFill>
                <a:schemeClr val="lt1"/>
              </a:solidFill>
            </a:endParaRPr>
          </a:p>
        </p:txBody>
      </p:sp>
      <p:sp>
        <p:nvSpPr>
          <p:cNvPr id="161" name="Google Shape;161;p21"/>
          <p:cNvSpPr txBox="1"/>
          <p:nvPr/>
        </p:nvSpPr>
        <p:spPr>
          <a:xfrm>
            <a:off x="215700" y="6344825"/>
            <a:ext cx="5880300" cy="3284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dirty="0">
                <a:solidFill>
                  <a:schemeClr val="lt1"/>
                </a:solidFill>
                <a:latin typeface="Calibri"/>
                <a:ea typeface="Calibri"/>
                <a:cs typeface="Calibri"/>
                <a:sym typeface="Calibri"/>
              </a:rPr>
              <a:t>Raman Spectrum Obtained from Gaussian Simulation</a:t>
            </a:r>
            <a:endParaRPr sz="2000" dirty="0">
              <a:solidFill>
                <a:schemeClr val="lt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47832C99-E524-F912-D39C-92CEBAB9E085}"/>
              </a:ext>
            </a:extLst>
          </p:cNvPr>
          <p:cNvPicPr>
            <a:picLocks noChangeAspect="1"/>
          </p:cNvPicPr>
          <p:nvPr/>
        </p:nvPicPr>
        <p:blipFill>
          <a:blip r:embed="rId4"/>
          <a:stretch>
            <a:fillRect/>
          </a:stretch>
        </p:blipFill>
        <p:spPr>
          <a:xfrm>
            <a:off x="7615929" y="3804264"/>
            <a:ext cx="3347088" cy="2540560"/>
          </a:xfrm>
          <a:prstGeom prst="rect">
            <a:avLst/>
          </a:prstGeom>
        </p:spPr>
      </p:pic>
      <p:sp>
        <p:nvSpPr>
          <p:cNvPr id="4" name="Google Shape;161;p21">
            <a:extLst>
              <a:ext uri="{FF2B5EF4-FFF2-40B4-BE49-F238E27FC236}">
                <a16:creationId xmlns:a16="http://schemas.microsoft.com/office/drawing/2014/main" id="{95F80861-E05F-9A17-EAA0-408E1D90CCBD}"/>
              </a:ext>
            </a:extLst>
          </p:cNvPr>
          <p:cNvSpPr txBox="1"/>
          <p:nvPr/>
        </p:nvSpPr>
        <p:spPr>
          <a:xfrm>
            <a:off x="7379931" y="6344824"/>
            <a:ext cx="5880300" cy="328449"/>
          </a:xfrm>
          <a:prstGeom prst="rect">
            <a:avLst/>
          </a:prstGeom>
          <a:noFill/>
          <a:ln>
            <a:noFill/>
          </a:ln>
        </p:spPr>
        <p:txBody>
          <a:bodyPr spcFirstLastPara="1" wrap="square" lIns="91425" tIns="91425" rIns="91425" bIns="91425" anchor="t" anchorCtr="0">
            <a:noAutofit/>
          </a:bodyPr>
          <a:lstStyle/>
          <a:p>
            <a:pPr lvl="0"/>
            <a:r>
              <a:rPr lang="en-US" sz="2000" dirty="0">
                <a:solidFill>
                  <a:schemeClr val="lt1"/>
                </a:solidFill>
                <a:latin typeface="Calibri"/>
                <a:ea typeface="Calibri"/>
                <a:cs typeface="Calibri"/>
                <a:sym typeface="Calibri"/>
              </a:rPr>
              <a:t>Spectrum Taken from </a:t>
            </a:r>
            <a:r>
              <a:rPr lang="en-US" sz="2000" dirty="0">
                <a:solidFill>
                  <a:schemeClr val="lt1"/>
                </a:solidFill>
              </a:rPr>
              <a:t>Literature</a:t>
            </a:r>
            <a:r>
              <a:rPr lang="en-US" sz="2000" dirty="0">
                <a:solidFill>
                  <a:schemeClr val="lt1"/>
                </a:solidFill>
                <a:latin typeface="Calibri"/>
                <a:ea typeface="Calibri"/>
                <a:cs typeface="Calibri"/>
                <a:sym typeface="Calibri"/>
              </a:rPr>
              <a:t> </a:t>
            </a:r>
            <a:endParaRPr sz="2000" dirty="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65"/>
        <p:cNvGrpSpPr/>
        <p:nvPr/>
      </p:nvGrpSpPr>
      <p:grpSpPr>
        <a:xfrm>
          <a:off x="0" y="0"/>
          <a:ext cx="0" cy="0"/>
          <a:chOff x="0" y="0"/>
          <a:chExt cx="0" cy="0"/>
        </a:xfrm>
      </p:grpSpPr>
      <p:pic>
        <p:nvPicPr>
          <p:cNvPr id="166" name="Google Shape;166;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7" name="Google Shape;167;p22"/>
          <p:cNvSpPr/>
          <p:nvPr/>
        </p:nvSpPr>
        <p:spPr>
          <a:xfrm>
            <a:off x="5524500" y="2444055"/>
            <a:ext cx="1143000" cy="5715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8" name="Google Shape;168;p22"/>
          <p:cNvSpPr txBox="1"/>
          <p:nvPr/>
        </p:nvSpPr>
        <p:spPr>
          <a:xfrm>
            <a:off x="1300400" y="2786955"/>
            <a:ext cx="9591198" cy="8667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0" i="0" u="none" strike="noStrike" cap="none">
                <a:solidFill>
                  <a:srgbClr val="22D3EE"/>
                </a:solidFill>
                <a:latin typeface="Outfit SemiBold"/>
                <a:ea typeface="Outfit SemiBold"/>
                <a:cs typeface="Outfit SemiBold"/>
                <a:sym typeface="Outfit SemiBold"/>
              </a:rPr>
              <a:t>Part II: N-Acetylmuramic Acid</a:t>
            </a:r>
            <a:endParaRPr/>
          </a:p>
        </p:txBody>
      </p:sp>
      <p:sp>
        <p:nvSpPr>
          <p:cNvPr id="169" name="Google Shape;169;p22"/>
          <p:cNvSpPr txBox="1"/>
          <p:nvPr/>
        </p:nvSpPr>
        <p:spPr>
          <a:xfrm>
            <a:off x="1596571" y="3844230"/>
            <a:ext cx="9013372" cy="590931"/>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400" b="0" i="0" u="none" strike="noStrike" cap="none" dirty="0">
                <a:solidFill>
                  <a:srgbClr val="94A3B8"/>
                </a:solidFill>
                <a:latin typeface="Inter"/>
                <a:ea typeface="Inter"/>
                <a:cs typeface="Inter"/>
                <a:sym typeface="Inter"/>
              </a:rPr>
              <a:t>Experimental Optimization and Peak Assignment (NAM)</a:t>
            </a:r>
            <a:endParaRPr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73"/>
        <p:cNvGrpSpPr/>
        <p:nvPr/>
      </p:nvGrpSpPr>
      <p:grpSpPr>
        <a:xfrm>
          <a:off x="0" y="0"/>
          <a:ext cx="0" cy="0"/>
          <a:chOff x="0" y="0"/>
          <a:chExt cx="0" cy="0"/>
        </a:xfrm>
      </p:grpSpPr>
      <p:pic>
        <p:nvPicPr>
          <p:cNvPr id="174" name="Google Shape;174;p23" descr="image.png"/>
          <p:cNvPicPr preferRelativeResize="0"/>
          <p:nvPr/>
        </p:nvPicPr>
        <p:blipFill rotWithShape="1">
          <a:blip r:embed="rId3">
            <a:alphaModFix/>
          </a:blip>
          <a:srcRect/>
          <a:stretch/>
        </p:blipFill>
        <p:spPr>
          <a:xfrm>
            <a:off x="0" y="-110901"/>
            <a:ext cx="12192000" cy="6858000"/>
          </a:xfrm>
          <a:prstGeom prst="rect">
            <a:avLst/>
          </a:prstGeom>
          <a:noFill/>
          <a:ln>
            <a:noFill/>
          </a:ln>
        </p:spPr>
      </p:pic>
      <p:pic>
        <p:nvPicPr>
          <p:cNvPr id="175" name="Google Shape;175;p23" descr="image.png"/>
          <p:cNvPicPr preferRelativeResize="0"/>
          <p:nvPr/>
        </p:nvPicPr>
        <p:blipFill rotWithShape="1">
          <a:blip r:embed="rId4">
            <a:alphaModFix/>
          </a:blip>
          <a:srcRect/>
          <a:stretch/>
        </p:blipFill>
        <p:spPr>
          <a:xfrm>
            <a:off x="6715579" y="1966912"/>
            <a:ext cx="5048250" cy="3810000"/>
          </a:xfrm>
          <a:prstGeom prst="rect">
            <a:avLst/>
          </a:prstGeom>
          <a:noFill/>
          <a:ln>
            <a:noFill/>
          </a:ln>
        </p:spPr>
      </p:pic>
      <p:sp>
        <p:nvSpPr>
          <p:cNvPr id="176" name="Google Shape;176;p23"/>
          <p:cNvSpPr txBox="1"/>
          <p:nvPr/>
        </p:nvSpPr>
        <p:spPr>
          <a:xfrm>
            <a:off x="762000" y="1577295"/>
            <a:ext cx="5300662"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0" i="0" u="none" strike="noStrike" cap="none" dirty="0">
                <a:solidFill>
                  <a:srgbClr val="38BDF8"/>
                </a:solidFill>
                <a:latin typeface="Outfit SemiBold"/>
                <a:ea typeface="Outfit SemiBold"/>
                <a:cs typeface="Outfit SemiBold"/>
                <a:sym typeface="Outfit SemiBold"/>
              </a:rPr>
              <a:t>Structural Importance</a:t>
            </a:r>
            <a:endParaRPr sz="1800" dirty="0"/>
          </a:p>
        </p:txBody>
      </p:sp>
      <p:sp>
        <p:nvSpPr>
          <p:cNvPr id="177" name="Google Shape;177;p23"/>
          <p:cNvSpPr txBox="1"/>
          <p:nvPr/>
        </p:nvSpPr>
        <p:spPr>
          <a:xfrm>
            <a:off x="1047749" y="2053545"/>
            <a:ext cx="5314497" cy="101566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0" i="0" u="none" strike="noStrike" cap="none" dirty="0">
                <a:solidFill>
                  <a:srgbClr val="CBD5E1"/>
                </a:solidFill>
                <a:latin typeface="Inter"/>
                <a:ea typeface="Inter"/>
                <a:cs typeface="Inter"/>
                <a:sym typeface="Inter"/>
              </a:rPr>
              <a:t>N-Acetylmuramic Acid (NAM) is a critical component of the peptidoglycan layer found in bacterial cell walls.</a:t>
            </a:r>
            <a:endParaRPr sz="2200" dirty="0"/>
          </a:p>
        </p:txBody>
      </p:sp>
      <p:sp>
        <p:nvSpPr>
          <p:cNvPr id="178" name="Google Shape;178;p23"/>
          <p:cNvSpPr txBox="1"/>
          <p:nvPr/>
        </p:nvSpPr>
        <p:spPr>
          <a:xfrm>
            <a:off x="1047750" y="3332616"/>
            <a:ext cx="5297714" cy="101566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0" i="0" u="none" strike="noStrike" cap="none" dirty="0">
                <a:solidFill>
                  <a:srgbClr val="CBD5E1"/>
                </a:solidFill>
                <a:latin typeface="Inter"/>
                <a:ea typeface="Inter"/>
                <a:cs typeface="Inter"/>
                <a:sym typeface="Inter"/>
              </a:rPr>
              <a:t>It links with N-acetylglucosamine (NAG) to form the structural carbohydrate backbone of the cell.</a:t>
            </a:r>
            <a:endParaRPr sz="2200" dirty="0"/>
          </a:p>
        </p:txBody>
      </p:sp>
      <p:sp>
        <p:nvSpPr>
          <p:cNvPr id="179" name="Google Shape;179;p23"/>
          <p:cNvSpPr txBox="1"/>
          <p:nvPr/>
        </p:nvSpPr>
        <p:spPr>
          <a:xfrm>
            <a:off x="1047750" y="4611688"/>
            <a:ext cx="5314496" cy="135421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0" i="0" u="none" strike="noStrike" cap="none" dirty="0">
                <a:solidFill>
                  <a:srgbClr val="CBD5E1"/>
                </a:solidFill>
                <a:latin typeface="Inter"/>
                <a:ea typeface="Inter"/>
                <a:cs typeface="Inter"/>
                <a:sym typeface="Inter"/>
              </a:rPr>
              <a:t>Because NAM is unique to bacteria, reliable spectroscopic detection serves as a definitive identifier of bacterial presence.</a:t>
            </a:r>
            <a:endParaRPr sz="2200" dirty="0"/>
          </a:p>
        </p:txBody>
      </p:sp>
      <p:pic>
        <p:nvPicPr>
          <p:cNvPr id="180" name="Google Shape;180;p23" descr="image.png"/>
          <p:cNvPicPr preferRelativeResize="0"/>
          <p:nvPr/>
        </p:nvPicPr>
        <p:blipFill rotWithShape="1">
          <a:blip r:embed="rId5">
            <a:alphaModFix/>
          </a:blip>
          <a:srcRect/>
          <a:stretch/>
        </p:blipFill>
        <p:spPr>
          <a:xfrm>
            <a:off x="6754132" y="1976437"/>
            <a:ext cx="5029200" cy="3790950"/>
          </a:xfrm>
          <a:prstGeom prst="rect">
            <a:avLst/>
          </a:prstGeom>
          <a:noFill/>
          <a:ln>
            <a:noFill/>
          </a:ln>
        </p:spPr>
      </p:pic>
      <p:sp>
        <p:nvSpPr>
          <p:cNvPr id="181" name="Google Shape;181;p23"/>
          <p:cNvSpPr txBox="1"/>
          <p:nvPr/>
        </p:nvSpPr>
        <p:spPr>
          <a:xfrm>
            <a:off x="674916" y="1966461"/>
            <a:ext cx="190500" cy="49244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00" b="1" i="0" u="none" strike="noStrike" cap="none" dirty="0">
                <a:solidFill>
                  <a:srgbClr val="22D3EE"/>
                </a:solidFill>
                <a:latin typeface="Inter"/>
                <a:ea typeface="Inter"/>
                <a:cs typeface="Inter"/>
                <a:sym typeface="Inter"/>
              </a:rPr>
              <a:t>→</a:t>
            </a:r>
            <a:endParaRPr sz="2000" dirty="0"/>
          </a:p>
        </p:txBody>
      </p:sp>
      <p:sp>
        <p:nvSpPr>
          <p:cNvPr id="182" name="Google Shape;182;p23"/>
          <p:cNvSpPr txBox="1"/>
          <p:nvPr/>
        </p:nvSpPr>
        <p:spPr>
          <a:xfrm>
            <a:off x="674916" y="3231015"/>
            <a:ext cx="190500" cy="49244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00" b="1" i="0" u="none" strike="noStrike" cap="none" dirty="0">
                <a:solidFill>
                  <a:srgbClr val="22D3EE"/>
                </a:solidFill>
                <a:latin typeface="Inter"/>
                <a:ea typeface="Inter"/>
                <a:cs typeface="Inter"/>
                <a:sym typeface="Inter"/>
              </a:rPr>
              <a:t>→</a:t>
            </a:r>
            <a:endParaRPr sz="2000" dirty="0"/>
          </a:p>
        </p:txBody>
      </p:sp>
      <p:sp>
        <p:nvSpPr>
          <p:cNvPr id="183" name="Google Shape;183;p23"/>
          <p:cNvSpPr txBox="1"/>
          <p:nvPr/>
        </p:nvSpPr>
        <p:spPr>
          <a:xfrm>
            <a:off x="674916" y="4524603"/>
            <a:ext cx="190500" cy="49244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00" b="1" i="0" u="none" strike="noStrike" cap="none" dirty="0">
                <a:solidFill>
                  <a:srgbClr val="22D3EE"/>
                </a:solidFill>
                <a:latin typeface="Inter"/>
                <a:ea typeface="Inter"/>
                <a:cs typeface="Inter"/>
                <a:sym typeface="Inter"/>
              </a:rPr>
              <a:t>→</a:t>
            </a:r>
            <a:endParaRPr sz="2000" dirty="0"/>
          </a:p>
        </p:txBody>
      </p:sp>
      <p:sp>
        <p:nvSpPr>
          <p:cNvPr id="184" name="Google Shape;184;p23"/>
          <p:cNvSpPr txBox="1"/>
          <p:nvPr/>
        </p:nvSpPr>
        <p:spPr>
          <a:xfrm>
            <a:off x="762000" y="5715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Raman–DFT Analysis of N-Acetylmuramic Acid (NAM)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88"/>
        <p:cNvGrpSpPr/>
        <p:nvPr/>
      </p:nvGrpSpPr>
      <p:grpSpPr>
        <a:xfrm>
          <a:off x="0" y="0"/>
          <a:ext cx="0" cy="0"/>
          <a:chOff x="0" y="0"/>
          <a:chExt cx="0" cy="0"/>
        </a:xfrm>
      </p:grpSpPr>
      <p:pic>
        <p:nvPicPr>
          <p:cNvPr id="189" name="Google Shape;189;p24" descr="image.png"/>
          <p:cNvPicPr preferRelativeResize="0"/>
          <p:nvPr/>
        </p:nvPicPr>
        <p:blipFill rotWithShape="1">
          <a:blip r:embed="rId3">
            <a:alphaModFix/>
          </a:blip>
          <a:srcRect/>
          <a:stretch/>
        </p:blipFill>
        <p:spPr>
          <a:xfrm>
            <a:off x="0" y="39986"/>
            <a:ext cx="12192000" cy="6858000"/>
          </a:xfrm>
          <a:prstGeom prst="rect">
            <a:avLst/>
          </a:prstGeom>
          <a:noFill/>
          <a:ln>
            <a:noFill/>
          </a:ln>
        </p:spPr>
      </p:pic>
      <p:sp>
        <p:nvSpPr>
          <p:cNvPr id="190" name="Google Shape;190;p24"/>
          <p:cNvSpPr txBox="1"/>
          <p:nvPr/>
        </p:nvSpPr>
        <p:spPr>
          <a:xfrm>
            <a:off x="862375" y="842262"/>
            <a:ext cx="530070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dirty="0">
                <a:solidFill>
                  <a:srgbClr val="38BDF8"/>
                </a:solidFill>
                <a:latin typeface="Outfit SemiBold"/>
                <a:ea typeface="Outfit SemiBold"/>
                <a:cs typeface="Outfit SemiBold"/>
                <a:sym typeface="Outfit SemiBold"/>
              </a:rPr>
              <a:t>Why Combine Raman with DFT?</a:t>
            </a:r>
            <a:endParaRPr sz="1600" dirty="0"/>
          </a:p>
        </p:txBody>
      </p:sp>
      <p:sp>
        <p:nvSpPr>
          <p:cNvPr id="191" name="Google Shape;191;p24"/>
          <p:cNvSpPr txBox="1"/>
          <p:nvPr/>
        </p:nvSpPr>
        <p:spPr>
          <a:xfrm>
            <a:off x="762000" y="3709987"/>
            <a:ext cx="190500" cy="215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endParaRPr/>
          </a:p>
        </p:txBody>
      </p:sp>
      <p:sp>
        <p:nvSpPr>
          <p:cNvPr id="192" name="Google Shape;192;p24"/>
          <p:cNvSpPr txBox="1"/>
          <p:nvPr/>
        </p:nvSpPr>
        <p:spPr>
          <a:xfrm>
            <a:off x="652975" y="2662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 + DFT Approach</a:t>
            </a:r>
            <a:endParaRPr/>
          </a:p>
        </p:txBody>
      </p:sp>
      <p:sp>
        <p:nvSpPr>
          <p:cNvPr id="193" name="Google Shape;193;p24"/>
          <p:cNvSpPr txBox="1"/>
          <p:nvPr/>
        </p:nvSpPr>
        <p:spPr>
          <a:xfrm>
            <a:off x="862374" y="1256600"/>
            <a:ext cx="8180025" cy="443195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Aft>
                <a:spcPts val="0"/>
              </a:spcAft>
              <a:buNone/>
            </a:pPr>
            <a:r>
              <a:rPr lang="en-US" sz="2400" dirty="0">
                <a:solidFill>
                  <a:schemeClr val="lt1"/>
                </a:solidFill>
              </a:rPr>
              <a:t>Raman spectroscopy provides experimental peaks.</a:t>
            </a:r>
            <a:endParaRPr sz="2400" dirty="0">
              <a:solidFill>
                <a:schemeClr val="lt1"/>
              </a:solidFill>
            </a:endParaRPr>
          </a:p>
          <a:p>
            <a:pPr marL="0" lvl="0" indent="0" algn="l" rtl="0">
              <a:lnSpc>
                <a:spcPct val="115000"/>
              </a:lnSpc>
              <a:spcAft>
                <a:spcPts val="0"/>
              </a:spcAft>
              <a:buNone/>
            </a:pPr>
            <a:r>
              <a:rPr lang="en-US" sz="2400" dirty="0">
                <a:solidFill>
                  <a:schemeClr val="lt1"/>
                </a:solidFill>
              </a:rPr>
              <a:t>DFT simulations help to:</a:t>
            </a:r>
            <a:endParaRPr sz="2400"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Predict </a:t>
            </a:r>
            <a:r>
              <a:rPr lang="en-US" sz="2400" b="1" dirty="0">
                <a:solidFill>
                  <a:schemeClr val="lt1"/>
                </a:solidFill>
              </a:rPr>
              <a:t>vibrational frequencies</a:t>
            </a:r>
            <a:endParaRPr sz="2400" b="1"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Assign </a:t>
            </a:r>
            <a:r>
              <a:rPr lang="en-US" sz="2400" b="1" dirty="0">
                <a:solidFill>
                  <a:schemeClr val="lt1"/>
                </a:solidFill>
              </a:rPr>
              <a:t>functional groups</a:t>
            </a:r>
            <a:endParaRPr sz="2400" b="1"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Validate spectral interpretation</a:t>
            </a:r>
            <a:endParaRPr sz="2400" dirty="0">
              <a:solidFill>
                <a:schemeClr val="lt1"/>
              </a:solidFill>
            </a:endParaRPr>
          </a:p>
          <a:p>
            <a:pPr marL="0" lvl="0" indent="0" algn="l" rtl="0">
              <a:lnSpc>
                <a:spcPct val="115000"/>
              </a:lnSpc>
              <a:spcAft>
                <a:spcPts val="0"/>
              </a:spcAft>
              <a:buNone/>
            </a:pPr>
            <a:endParaRPr lang="en-US" sz="2400" b="1" dirty="0">
              <a:solidFill>
                <a:schemeClr val="lt1"/>
              </a:solidFill>
            </a:endParaRPr>
          </a:p>
          <a:p>
            <a:pPr marL="0" lvl="0" indent="0" algn="l" rtl="0">
              <a:lnSpc>
                <a:spcPct val="115000"/>
              </a:lnSpc>
              <a:spcAft>
                <a:spcPts val="0"/>
              </a:spcAft>
              <a:buNone/>
            </a:pPr>
            <a:r>
              <a:rPr lang="en-US" sz="2400" b="1" dirty="0">
                <a:solidFill>
                  <a:schemeClr val="lt1"/>
                </a:solidFill>
              </a:rPr>
              <a:t>Objective</a:t>
            </a:r>
            <a:endParaRPr sz="2400" b="1"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Measure Raman spectrum of NAM</a:t>
            </a:r>
            <a:endParaRPr sz="2400"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Simulate spectrum using DFT</a:t>
            </a:r>
            <a:endParaRPr sz="2400"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Compare experimental and theoretical peaks</a:t>
            </a:r>
            <a:endParaRPr sz="2400" dirty="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7"/>
        <p:cNvGrpSpPr/>
        <p:nvPr/>
      </p:nvGrpSpPr>
      <p:grpSpPr>
        <a:xfrm>
          <a:off x="0" y="0"/>
          <a:ext cx="0" cy="0"/>
          <a:chOff x="0" y="0"/>
          <a:chExt cx="0" cy="0"/>
        </a:xfrm>
      </p:grpSpPr>
      <p:sp>
        <p:nvSpPr>
          <p:cNvPr id="198" name="Google Shape;198;p25"/>
          <p:cNvSpPr txBox="1"/>
          <p:nvPr/>
        </p:nvSpPr>
        <p:spPr>
          <a:xfrm>
            <a:off x="577350" y="1463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Chemical Sample</a:t>
            </a:r>
            <a:endParaRPr/>
          </a:p>
        </p:txBody>
      </p:sp>
      <p:graphicFrame>
        <p:nvGraphicFramePr>
          <p:cNvPr id="199" name="Google Shape;199;p25"/>
          <p:cNvGraphicFramePr/>
          <p:nvPr>
            <p:extLst>
              <p:ext uri="{D42A27DB-BD31-4B8C-83A1-F6EECF244321}">
                <p14:modId xmlns:p14="http://schemas.microsoft.com/office/powerpoint/2010/main" val="331841213"/>
              </p:ext>
            </p:extLst>
          </p:nvPr>
        </p:nvGraphicFramePr>
        <p:xfrm>
          <a:off x="6143232" y="2222202"/>
          <a:ext cx="5522412" cy="3055030"/>
        </p:xfrm>
        <a:graphic>
          <a:graphicData uri="http://schemas.openxmlformats.org/drawingml/2006/table">
            <a:tbl>
              <a:tblPr>
                <a:noFill/>
                <a:tableStyleId>{6BDF8E39-C772-4976-A565-66580A3E178B}</a:tableStyleId>
              </a:tblPr>
              <a:tblGrid>
                <a:gridCol w="2884654">
                  <a:extLst>
                    <a:ext uri="{9D8B030D-6E8A-4147-A177-3AD203B41FA5}">
                      <a16:colId xmlns:a16="http://schemas.microsoft.com/office/drawing/2014/main" val="20000"/>
                    </a:ext>
                  </a:extLst>
                </a:gridCol>
                <a:gridCol w="2637758">
                  <a:extLst>
                    <a:ext uri="{9D8B030D-6E8A-4147-A177-3AD203B41FA5}">
                      <a16:colId xmlns:a16="http://schemas.microsoft.com/office/drawing/2014/main" val="20001"/>
                    </a:ext>
                  </a:extLst>
                </a:gridCol>
              </a:tblGrid>
              <a:tr h="487825">
                <a:tc>
                  <a:txBody>
                    <a:bodyPr/>
                    <a:lstStyle/>
                    <a:p>
                      <a:pPr marL="0" lvl="0" indent="0" algn="l" rtl="0">
                        <a:lnSpc>
                          <a:spcPct val="115000"/>
                        </a:lnSpc>
                        <a:spcBef>
                          <a:spcPts val="0"/>
                        </a:spcBef>
                        <a:spcAft>
                          <a:spcPts val="0"/>
                        </a:spcAft>
                        <a:buNone/>
                      </a:pPr>
                      <a:r>
                        <a:rPr lang="en-US" sz="2400" b="1">
                          <a:solidFill>
                            <a:schemeClr val="lt1"/>
                          </a:solidFill>
                        </a:rPr>
                        <a:t>Property</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400" b="1">
                          <a:solidFill>
                            <a:schemeClr val="lt1"/>
                          </a:solidFill>
                        </a:rPr>
                        <a:t>Value</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786500">
                <a:tc>
                  <a:txBody>
                    <a:bodyPr/>
                    <a:lstStyle/>
                    <a:p>
                      <a:pPr marL="0" lvl="0" indent="0" algn="l" rtl="0">
                        <a:spcBef>
                          <a:spcPts val="0"/>
                        </a:spcBef>
                        <a:spcAft>
                          <a:spcPts val="0"/>
                        </a:spcAft>
                        <a:buNone/>
                      </a:pPr>
                      <a:r>
                        <a:rPr lang="en-US" sz="2400">
                          <a:solidFill>
                            <a:schemeClr val="lt1"/>
                          </a:solidFill>
                        </a:rPr>
                        <a:t>Molecular Formula</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400">
                          <a:solidFill>
                            <a:schemeClr val="lt1"/>
                          </a:solidFill>
                        </a:rPr>
                        <a:t>C11H19NO8</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786500">
                <a:tc>
                  <a:txBody>
                    <a:bodyPr/>
                    <a:lstStyle/>
                    <a:p>
                      <a:pPr marL="0" lvl="0" indent="0" algn="l" rtl="0">
                        <a:spcBef>
                          <a:spcPts val="0"/>
                        </a:spcBef>
                        <a:spcAft>
                          <a:spcPts val="0"/>
                        </a:spcAft>
                        <a:buNone/>
                      </a:pPr>
                      <a:r>
                        <a:rPr lang="en-US" sz="2400" dirty="0">
                          <a:solidFill>
                            <a:schemeClr val="lt1"/>
                          </a:solidFill>
                        </a:rPr>
                        <a:t>Molecular Weight</a:t>
                      </a:r>
                      <a:endParaRPr sz="24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400">
                          <a:solidFill>
                            <a:schemeClr val="lt1"/>
                          </a:solidFill>
                        </a:rPr>
                        <a:t>~293 g/mol</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786500">
                <a:tc>
                  <a:txBody>
                    <a:bodyPr/>
                    <a:lstStyle/>
                    <a:p>
                      <a:pPr marL="0" lvl="0" indent="0" algn="l" rtl="0">
                        <a:spcBef>
                          <a:spcPts val="0"/>
                        </a:spcBef>
                        <a:spcAft>
                          <a:spcPts val="0"/>
                        </a:spcAft>
                        <a:buNone/>
                      </a:pPr>
                      <a:r>
                        <a:rPr lang="en-US" sz="2400">
                          <a:solidFill>
                            <a:schemeClr val="lt1"/>
                          </a:solidFill>
                        </a:rPr>
                        <a:t>Structure</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400" dirty="0">
                          <a:solidFill>
                            <a:schemeClr val="lt1"/>
                          </a:solidFill>
                        </a:rPr>
                        <a:t>Acetylated amino sugar</a:t>
                      </a:r>
                      <a:endParaRPr sz="24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0" name="Google Shape;200;p25"/>
          <p:cNvSpPr txBox="1"/>
          <p:nvPr/>
        </p:nvSpPr>
        <p:spPr>
          <a:xfrm>
            <a:off x="526356" y="911812"/>
            <a:ext cx="4702800" cy="3877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2400" dirty="0">
                <a:solidFill>
                  <a:schemeClr val="lt1"/>
                </a:solidFill>
              </a:rPr>
              <a:t>Compound:</a:t>
            </a:r>
            <a:br>
              <a:rPr lang="en-US" sz="2400" dirty="0">
                <a:solidFill>
                  <a:schemeClr val="lt1"/>
                </a:solidFill>
              </a:rPr>
            </a:br>
            <a:r>
              <a:rPr lang="en-US" sz="2400" dirty="0">
                <a:solidFill>
                  <a:schemeClr val="lt1"/>
                </a:solidFill>
              </a:rPr>
              <a:t> </a:t>
            </a:r>
            <a:r>
              <a:rPr lang="en-US" sz="2400" b="1" dirty="0">
                <a:solidFill>
                  <a:schemeClr val="lt1"/>
                </a:solidFill>
              </a:rPr>
              <a:t>N-Acetylmuramic Acid (NAM)</a:t>
            </a:r>
            <a:endParaRPr sz="2400" b="1" dirty="0">
              <a:solidFill>
                <a:schemeClr val="lt1"/>
              </a:solidFill>
            </a:endParaRPr>
          </a:p>
          <a:p>
            <a:pPr marL="0" lvl="0" indent="0" algn="l" rtl="0">
              <a:lnSpc>
                <a:spcPct val="115000"/>
              </a:lnSpc>
              <a:spcBef>
                <a:spcPts val="1200"/>
              </a:spcBef>
              <a:spcAft>
                <a:spcPts val="0"/>
              </a:spcAft>
              <a:buNone/>
            </a:pPr>
            <a:r>
              <a:rPr lang="en-US" sz="2400" dirty="0">
                <a:solidFill>
                  <a:schemeClr val="lt1"/>
                </a:solidFill>
              </a:rPr>
              <a:t>Functional groups present:</a:t>
            </a:r>
            <a:endParaRPr sz="2400" dirty="0">
              <a:solidFill>
                <a:schemeClr val="lt1"/>
              </a:solidFill>
            </a:endParaRPr>
          </a:p>
          <a:p>
            <a:pPr marL="457200" lvl="0" indent="-323850" algn="l" rtl="0">
              <a:lnSpc>
                <a:spcPct val="115000"/>
              </a:lnSpc>
              <a:spcBef>
                <a:spcPts val="1200"/>
              </a:spcBef>
              <a:spcAft>
                <a:spcPts val="0"/>
              </a:spcAft>
              <a:buClr>
                <a:schemeClr val="lt1"/>
              </a:buClr>
              <a:buSzPts val="1500"/>
              <a:buChar char="●"/>
            </a:pPr>
            <a:r>
              <a:rPr lang="en-US" sz="2400" dirty="0">
                <a:solidFill>
                  <a:schemeClr val="lt1"/>
                </a:solidFill>
              </a:rPr>
              <a:t>Hydroxyl (–OH)</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Ether (C–O–C)</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Amide</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Carboxylic acid</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Pyranose ring</a:t>
            </a:r>
            <a:endParaRPr sz="2400" dirty="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13"/>
        <p:cNvGrpSpPr/>
        <p:nvPr/>
      </p:nvGrpSpPr>
      <p:grpSpPr>
        <a:xfrm>
          <a:off x="0" y="0"/>
          <a:ext cx="0" cy="0"/>
          <a:chOff x="0" y="0"/>
          <a:chExt cx="0" cy="0"/>
        </a:xfrm>
      </p:grpSpPr>
      <p:sp>
        <p:nvSpPr>
          <p:cNvPr id="214" name="Google Shape;214;p27"/>
          <p:cNvSpPr txBox="1"/>
          <p:nvPr/>
        </p:nvSpPr>
        <p:spPr>
          <a:xfrm>
            <a:off x="577350" y="146300"/>
            <a:ext cx="45831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Experimental Method</a:t>
            </a:r>
            <a:endParaRPr/>
          </a:p>
        </p:txBody>
      </p:sp>
      <p:sp>
        <p:nvSpPr>
          <p:cNvPr id="215" name="Google Shape;215;p27"/>
          <p:cNvSpPr txBox="1"/>
          <p:nvPr/>
        </p:nvSpPr>
        <p:spPr>
          <a:xfrm>
            <a:off x="577350" y="730677"/>
            <a:ext cx="4277700" cy="3103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2000" b="1" dirty="0">
                <a:solidFill>
                  <a:schemeClr val="lt1"/>
                </a:solidFill>
              </a:rPr>
              <a:t>Sample Preparation</a:t>
            </a:r>
            <a:endParaRPr sz="2000" b="1" dirty="0">
              <a:solidFill>
                <a:schemeClr val="lt1"/>
              </a:solidFill>
            </a:endParaRPr>
          </a:p>
          <a:p>
            <a:pPr marL="457200" lvl="0" indent="-323850" algn="l" rtl="0">
              <a:lnSpc>
                <a:spcPct val="115000"/>
              </a:lnSpc>
              <a:spcBef>
                <a:spcPts val="1200"/>
              </a:spcBef>
              <a:spcAft>
                <a:spcPts val="0"/>
              </a:spcAft>
              <a:buClr>
                <a:schemeClr val="lt1"/>
              </a:buClr>
              <a:buSzPts val="1500"/>
              <a:buChar char="●"/>
            </a:pPr>
            <a:r>
              <a:rPr lang="en-US" sz="2000" dirty="0">
                <a:solidFill>
                  <a:schemeClr val="lt1"/>
                </a:solidFill>
              </a:rPr>
              <a:t>NAM powder used</a:t>
            </a:r>
            <a:endParaRPr sz="20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000" dirty="0">
                <a:solidFill>
                  <a:schemeClr val="lt1"/>
                </a:solidFill>
              </a:rPr>
              <a:t>Measured in </a:t>
            </a:r>
            <a:r>
              <a:rPr lang="en-US" sz="2000" b="1" dirty="0">
                <a:solidFill>
                  <a:schemeClr val="lt1"/>
                </a:solidFill>
              </a:rPr>
              <a:t>solid state</a:t>
            </a:r>
            <a:br>
              <a:rPr lang="en-US" sz="2000" b="1" dirty="0">
                <a:solidFill>
                  <a:schemeClr val="lt1"/>
                </a:solidFill>
              </a:rPr>
            </a:br>
            <a:endParaRPr sz="2000" b="1" dirty="0">
              <a:solidFill>
                <a:schemeClr val="lt1"/>
              </a:solidFill>
            </a:endParaRPr>
          </a:p>
          <a:p>
            <a:pPr marL="0" lvl="0" indent="0" algn="l" rtl="0">
              <a:lnSpc>
                <a:spcPct val="115000"/>
              </a:lnSpc>
              <a:spcBef>
                <a:spcPts val="1200"/>
              </a:spcBef>
              <a:spcAft>
                <a:spcPts val="0"/>
              </a:spcAft>
              <a:buNone/>
            </a:pPr>
            <a:r>
              <a:rPr lang="en-US" sz="2000" dirty="0">
                <a:solidFill>
                  <a:schemeClr val="lt1"/>
                </a:solidFill>
              </a:rPr>
              <a:t>Advantages of powder samples:</a:t>
            </a:r>
            <a:endParaRPr sz="2000" dirty="0">
              <a:solidFill>
                <a:schemeClr val="lt1"/>
              </a:solidFill>
            </a:endParaRPr>
          </a:p>
          <a:p>
            <a:pPr marL="457200" lvl="0" indent="-323850" algn="l" rtl="0">
              <a:lnSpc>
                <a:spcPct val="115000"/>
              </a:lnSpc>
              <a:spcBef>
                <a:spcPts val="1200"/>
              </a:spcBef>
              <a:spcAft>
                <a:spcPts val="0"/>
              </a:spcAft>
              <a:buClr>
                <a:schemeClr val="lt1"/>
              </a:buClr>
              <a:buSzPts val="1500"/>
              <a:buChar char="●"/>
            </a:pPr>
            <a:r>
              <a:rPr lang="en-US" sz="2000" dirty="0">
                <a:solidFill>
                  <a:schemeClr val="lt1"/>
                </a:solidFill>
              </a:rPr>
              <a:t>Stable measurement</a:t>
            </a:r>
            <a:endParaRPr sz="20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000" dirty="0">
                <a:solidFill>
                  <a:schemeClr val="lt1"/>
                </a:solidFill>
              </a:rPr>
              <a:t>Strong Raman scattering</a:t>
            </a:r>
            <a:endParaRPr sz="20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000" dirty="0">
                <a:solidFill>
                  <a:schemeClr val="lt1"/>
                </a:solidFill>
              </a:rPr>
              <a:t>No solvent interference</a:t>
            </a:r>
            <a:endParaRPr sz="2800" dirty="0">
              <a:solidFill>
                <a:schemeClr val="lt1"/>
              </a:solidFill>
            </a:endParaRPr>
          </a:p>
        </p:txBody>
      </p:sp>
      <p:graphicFrame>
        <p:nvGraphicFramePr>
          <p:cNvPr id="216" name="Google Shape;216;p27"/>
          <p:cNvGraphicFramePr/>
          <p:nvPr>
            <p:extLst>
              <p:ext uri="{D42A27DB-BD31-4B8C-83A1-F6EECF244321}">
                <p14:modId xmlns:p14="http://schemas.microsoft.com/office/powerpoint/2010/main" val="3671653362"/>
              </p:ext>
            </p:extLst>
          </p:nvPr>
        </p:nvGraphicFramePr>
        <p:xfrm>
          <a:off x="6034225" y="1361772"/>
          <a:ext cx="5580425" cy="2836950"/>
        </p:xfrm>
        <a:graphic>
          <a:graphicData uri="http://schemas.openxmlformats.org/drawingml/2006/table">
            <a:tbl>
              <a:tblPr>
                <a:noFill/>
                <a:tableStyleId>{6BDF8E39-C772-4976-A565-66580A3E178B}</a:tableStyleId>
              </a:tblPr>
              <a:tblGrid>
                <a:gridCol w="2984875">
                  <a:extLst>
                    <a:ext uri="{9D8B030D-6E8A-4147-A177-3AD203B41FA5}">
                      <a16:colId xmlns:a16="http://schemas.microsoft.com/office/drawing/2014/main" val="20000"/>
                    </a:ext>
                  </a:extLst>
                </a:gridCol>
                <a:gridCol w="2595550">
                  <a:extLst>
                    <a:ext uri="{9D8B030D-6E8A-4147-A177-3AD203B41FA5}">
                      <a16:colId xmlns:a16="http://schemas.microsoft.com/office/drawing/2014/main" val="20001"/>
                    </a:ext>
                  </a:extLst>
                </a:gridCol>
              </a:tblGrid>
              <a:tr h="545150">
                <a:tc>
                  <a:txBody>
                    <a:bodyPr/>
                    <a:lstStyle/>
                    <a:p>
                      <a:pPr marL="0" lvl="0" indent="0" algn="l" rtl="0">
                        <a:lnSpc>
                          <a:spcPct val="115000"/>
                        </a:lnSpc>
                        <a:spcBef>
                          <a:spcPts val="0"/>
                        </a:spcBef>
                        <a:spcAft>
                          <a:spcPts val="0"/>
                        </a:spcAft>
                        <a:buNone/>
                      </a:pPr>
                      <a:r>
                        <a:rPr lang="en-US" sz="2000" b="1">
                          <a:solidFill>
                            <a:schemeClr val="lt1"/>
                          </a:solidFill>
                        </a:rPr>
                        <a:t>Parameter</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Range</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572950">
                <a:tc>
                  <a:txBody>
                    <a:bodyPr/>
                    <a:lstStyle/>
                    <a:p>
                      <a:pPr marL="0" lvl="0" indent="0" algn="l" rtl="0">
                        <a:spcBef>
                          <a:spcPts val="0"/>
                        </a:spcBef>
                        <a:spcAft>
                          <a:spcPts val="0"/>
                        </a:spcAft>
                        <a:buNone/>
                      </a:pPr>
                      <a:r>
                        <a:rPr lang="en-US" sz="2000" dirty="0">
                          <a:solidFill>
                            <a:schemeClr val="lt1"/>
                          </a:solidFill>
                        </a:rPr>
                        <a:t>Laser wavelength</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785 nm</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572950">
                <a:tc>
                  <a:txBody>
                    <a:bodyPr/>
                    <a:lstStyle/>
                    <a:p>
                      <a:pPr marL="0" lvl="0" indent="0" algn="l" rtl="0">
                        <a:spcBef>
                          <a:spcPts val="0"/>
                        </a:spcBef>
                        <a:spcAft>
                          <a:spcPts val="0"/>
                        </a:spcAft>
                        <a:buNone/>
                      </a:pPr>
                      <a:r>
                        <a:rPr lang="en-US" sz="2000" dirty="0">
                          <a:solidFill>
                            <a:schemeClr val="lt1"/>
                          </a:solidFill>
                        </a:rPr>
                        <a:t>Laser power</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10–80 %</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572950">
                <a:tc>
                  <a:txBody>
                    <a:bodyPr/>
                    <a:lstStyle/>
                    <a:p>
                      <a:pPr marL="0" lvl="0" indent="0" algn="l" rtl="0">
                        <a:spcBef>
                          <a:spcPts val="0"/>
                        </a:spcBef>
                        <a:spcAft>
                          <a:spcPts val="0"/>
                        </a:spcAft>
                        <a:buNone/>
                      </a:pPr>
                      <a:r>
                        <a:rPr lang="en-US" sz="2000" dirty="0">
                          <a:solidFill>
                            <a:schemeClr val="lt1"/>
                          </a:solidFill>
                        </a:rPr>
                        <a:t>Integration time</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10–25 s</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572950">
                <a:tc>
                  <a:txBody>
                    <a:bodyPr/>
                    <a:lstStyle/>
                    <a:p>
                      <a:pPr marL="0" lvl="0" indent="0" algn="l" rtl="0">
                        <a:spcBef>
                          <a:spcPts val="0"/>
                        </a:spcBef>
                        <a:spcAft>
                          <a:spcPts val="0"/>
                        </a:spcAft>
                        <a:buNone/>
                      </a:pPr>
                      <a:r>
                        <a:rPr lang="en-US" sz="2000" dirty="0">
                          <a:solidFill>
                            <a:schemeClr val="lt1"/>
                          </a:solidFill>
                        </a:rPr>
                        <a:t>Spectral range</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200–3000 cm⁻¹</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17" name="Google Shape;217;p27"/>
          <p:cNvSpPr txBox="1"/>
          <p:nvPr/>
        </p:nvSpPr>
        <p:spPr>
          <a:xfrm>
            <a:off x="6528159" y="661170"/>
            <a:ext cx="45831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dirty="0">
                <a:solidFill>
                  <a:srgbClr val="22D3EE"/>
                </a:solidFill>
                <a:latin typeface="Outfit SemiBold"/>
                <a:ea typeface="Outfit SemiBold"/>
                <a:cs typeface="Outfit SemiBold"/>
                <a:sym typeface="Outfit SemiBold"/>
              </a:rPr>
              <a:t>Raman Measurement</a:t>
            </a:r>
            <a:endParaRPr dirty="0"/>
          </a:p>
        </p:txBody>
      </p:sp>
      <p:sp>
        <p:nvSpPr>
          <p:cNvPr id="3" name="TextBox 2">
            <a:extLst>
              <a:ext uri="{FF2B5EF4-FFF2-40B4-BE49-F238E27FC236}">
                <a16:creationId xmlns:a16="http://schemas.microsoft.com/office/drawing/2014/main" id="{2024F473-C38F-0B11-3CA3-0033E8730103}"/>
              </a:ext>
            </a:extLst>
          </p:cNvPr>
          <p:cNvSpPr txBox="1"/>
          <p:nvPr/>
        </p:nvSpPr>
        <p:spPr>
          <a:xfrm>
            <a:off x="433233" y="4370454"/>
            <a:ext cx="6094926" cy="2369880"/>
          </a:xfrm>
          <a:prstGeom prst="rect">
            <a:avLst/>
          </a:prstGeom>
          <a:noFill/>
        </p:spPr>
        <p:txBody>
          <a:bodyPr wrap="square">
            <a:spAutoFit/>
          </a:bodyPr>
          <a:lstStyle/>
          <a:p>
            <a:r>
              <a:rPr lang="en-IN" sz="2800" b="1" dirty="0">
                <a:solidFill>
                  <a:srgbClr val="00B0F0"/>
                </a:solidFill>
              </a:rPr>
              <a:t>DFT Simulation Parameters (NAM)</a:t>
            </a:r>
            <a:endParaRPr lang="en-IN" sz="2800" dirty="0">
              <a:solidFill>
                <a:schemeClr val="bg1"/>
              </a:solidFill>
            </a:endParaRPr>
          </a:p>
          <a:p>
            <a:r>
              <a:rPr lang="en-IN" sz="2400" dirty="0">
                <a:solidFill>
                  <a:schemeClr val="bg1"/>
                </a:solidFill>
              </a:rPr>
              <a:t>Software: Gaussian 16</a:t>
            </a:r>
          </a:p>
          <a:p>
            <a:r>
              <a:rPr lang="en-IN" sz="2400" dirty="0">
                <a:solidFill>
                  <a:schemeClr val="bg1"/>
                </a:solidFill>
              </a:rPr>
              <a:t>Method: B3LYP / 6-31+G(</a:t>
            </a:r>
            <a:r>
              <a:rPr lang="en-IN" sz="2400" dirty="0" err="1">
                <a:solidFill>
                  <a:schemeClr val="bg1"/>
                </a:solidFill>
              </a:rPr>
              <a:t>d,p</a:t>
            </a:r>
            <a:r>
              <a:rPr lang="en-IN" sz="2400" dirty="0">
                <a:solidFill>
                  <a:schemeClr val="bg1"/>
                </a:solidFill>
              </a:rPr>
              <a:t>)</a:t>
            </a:r>
          </a:p>
          <a:p>
            <a:r>
              <a:rPr lang="en-IN" sz="2400" dirty="0">
                <a:solidFill>
                  <a:schemeClr val="bg1"/>
                </a:solidFill>
              </a:rPr>
              <a:t>Calculation: </a:t>
            </a:r>
            <a:r>
              <a:rPr lang="en-IN" sz="2400" dirty="0" err="1">
                <a:solidFill>
                  <a:schemeClr val="bg1"/>
                </a:solidFill>
              </a:rPr>
              <a:t>Opt</a:t>
            </a:r>
            <a:r>
              <a:rPr lang="en-IN" sz="2400" dirty="0">
                <a:solidFill>
                  <a:schemeClr val="bg1"/>
                </a:solidFill>
              </a:rPr>
              <a:t> (Tight) + Freq (Raman)</a:t>
            </a:r>
          </a:p>
          <a:p>
            <a:r>
              <a:rPr lang="en-IN" sz="2400" dirty="0">
                <a:solidFill>
                  <a:schemeClr val="bg1"/>
                </a:solidFill>
              </a:rPr>
              <a:t>Geometry: Connectivity defined</a:t>
            </a:r>
          </a:p>
          <a:p>
            <a:r>
              <a:rPr lang="en-IN" sz="2400" dirty="0">
                <a:solidFill>
                  <a:schemeClr val="bg1"/>
                </a:solidFill>
              </a:rPr>
              <a:t>Resources: 16 cores, 56 GB RAM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04"/>
        <p:cNvGrpSpPr/>
        <p:nvPr/>
      </p:nvGrpSpPr>
      <p:grpSpPr>
        <a:xfrm>
          <a:off x="0" y="0"/>
          <a:ext cx="0" cy="0"/>
          <a:chOff x="0" y="0"/>
          <a:chExt cx="0" cy="0"/>
        </a:xfrm>
      </p:grpSpPr>
      <p:sp>
        <p:nvSpPr>
          <p:cNvPr id="205" name="Google Shape;205;p26"/>
          <p:cNvSpPr txBox="1"/>
          <p:nvPr/>
        </p:nvSpPr>
        <p:spPr>
          <a:xfrm>
            <a:off x="577350" y="1463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dirty="0">
                <a:solidFill>
                  <a:srgbClr val="22D3EE"/>
                </a:solidFill>
                <a:latin typeface="Outfit SemiBold"/>
                <a:ea typeface="Outfit SemiBold"/>
                <a:cs typeface="Outfit SemiBold"/>
                <a:sym typeface="Outfit SemiBold"/>
              </a:rPr>
              <a:t>Raman Data Processing</a:t>
            </a:r>
            <a:endParaRPr dirty="0"/>
          </a:p>
        </p:txBody>
      </p:sp>
      <p:sp>
        <p:nvSpPr>
          <p:cNvPr id="206" name="Google Shape;206;p26"/>
          <p:cNvSpPr txBox="1"/>
          <p:nvPr/>
        </p:nvSpPr>
        <p:spPr>
          <a:xfrm>
            <a:off x="740900" y="2095177"/>
            <a:ext cx="4754880" cy="2802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2400" dirty="0">
                <a:solidFill>
                  <a:schemeClr val="lt1"/>
                </a:solidFill>
              </a:rPr>
              <a:t>Spectra were preprocessed before analysis.</a:t>
            </a:r>
            <a:endParaRPr sz="2400" dirty="0">
              <a:solidFill>
                <a:schemeClr val="lt1"/>
              </a:solidFill>
            </a:endParaRPr>
          </a:p>
          <a:p>
            <a:pPr marL="0" lvl="0" indent="0" algn="l" rtl="0">
              <a:lnSpc>
                <a:spcPct val="115000"/>
              </a:lnSpc>
              <a:spcBef>
                <a:spcPts val="1200"/>
              </a:spcBef>
              <a:spcAft>
                <a:spcPts val="0"/>
              </a:spcAft>
              <a:buNone/>
            </a:pPr>
            <a:r>
              <a:rPr lang="en-US" sz="2400" dirty="0">
                <a:solidFill>
                  <a:schemeClr val="lt1"/>
                </a:solidFill>
              </a:rPr>
              <a:t>Processing pipeline:</a:t>
            </a:r>
            <a:endParaRPr sz="2400" dirty="0">
              <a:solidFill>
                <a:schemeClr val="lt1"/>
              </a:solidFill>
            </a:endParaRPr>
          </a:p>
          <a:p>
            <a:pPr marL="457200" lvl="0" indent="-323850" algn="l" rtl="0">
              <a:lnSpc>
                <a:spcPct val="115000"/>
              </a:lnSpc>
              <a:spcBef>
                <a:spcPts val="1200"/>
              </a:spcBef>
              <a:spcAft>
                <a:spcPts val="0"/>
              </a:spcAft>
              <a:buClr>
                <a:schemeClr val="lt1"/>
              </a:buClr>
              <a:buSzPts val="1500"/>
              <a:buChar char="●"/>
            </a:pPr>
            <a:r>
              <a:rPr lang="en-US" sz="2400" dirty="0">
                <a:solidFill>
                  <a:schemeClr val="lt1"/>
                </a:solidFill>
              </a:rPr>
              <a:t>Dark subtraction</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err="1">
                <a:solidFill>
                  <a:schemeClr val="lt1"/>
                </a:solidFill>
              </a:rPr>
              <a:t>Savitzky</a:t>
            </a:r>
            <a:r>
              <a:rPr lang="en-US" sz="2400" dirty="0">
                <a:solidFill>
                  <a:schemeClr val="lt1"/>
                </a:solidFill>
              </a:rPr>
              <a:t>–Golay smoothing</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Baseline correction (ALS)</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Normalization</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Peak detection</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SNR calculation</a:t>
            </a:r>
            <a:endParaRPr sz="2400" dirty="0">
              <a:solidFill>
                <a:schemeClr val="lt1"/>
              </a:solidFill>
            </a:endParaRPr>
          </a:p>
          <a:p>
            <a:pPr marL="457200" lvl="0" indent="0" algn="l" rtl="0">
              <a:lnSpc>
                <a:spcPct val="115000"/>
              </a:lnSpc>
              <a:spcBef>
                <a:spcPts val="1200"/>
              </a:spcBef>
              <a:spcAft>
                <a:spcPts val="1200"/>
              </a:spcAft>
              <a:buNone/>
            </a:pPr>
            <a:endParaRPr sz="2400" dirty="0">
              <a:solidFill>
                <a:schemeClr val="lt1"/>
              </a:solidFill>
            </a:endParaRPr>
          </a:p>
        </p:txBody>
      </p:sp>
      <p:graphicFrame>
        <p:nvGraphicFramePr>
          <p:cNvPr id="208" name="Google Shape;208;p26"/>
          <p:cNvGraphicFramePr/>
          <p:nvPr>
            <p:extLst>
              <p:ext uri="{D42A27DB-BD31-4B8C-83A1-F6EECF244321}">
                <p14:modId xmlns:p14="http://schemas.microsoft.com/office/powerpoint/2010/main" val="3780790863"/>
              </p:ext>
            </p:extLst>
          </p:nvPr>
        </p:nvGraphicFramePr>
        <p:xfrm>
          <a:off x="6096000" y="2708000"/>
          <a:ext cx="3667950" cy="2553625"/>
        </p:xfrm>
        <a:graphic>
          <a:graphicData uri="http://schemas.openxmlformats.org/drawingml/2006/table">
            <a:tbl>
              <a:tblPr>
                <a:noFill/>
                <a:tableStyleId>{6BDF8E39-C772-4976-A565-66580A3E178B}</a:tableStyleId>
              </a:tblPr>
              <a:tblGrid>
                <a:gridCol w="2637922">
                  <a:extLst>
                    <a:ext uri="{9D8B030D-6E8A-4147-A177-3AD203B41FA5}">
                      <a16:colId xmlns:a16="http://schemas.microsoft.com/office/drawing/2014/main" val="20000"/>
                    </a:ext>
                  </a:extLst>
                </a:gridCol>
                <a:gridCol w="1030028">
                  <a:extLst>
                    <a:ext uri="{9D8B030D-6E8A-4147-A177-3AD203B41FA5}">
                      <a16:colId xmlns:a16="http://schemas.microsoft.com/office/drawing/2014/main" val="20001"/>
                    </a:ext>
                  </a:extLst>
                </a:gridCol>
              </a:tblGrid>
              <a:tr h="614875">
                <a:tc>
                  <a:txBody>
                    <a:bodyPr/>
                    <a:lstStyle/>
                    <a:p>
                      <a:pPr marL="0" lvl="0" indent="0" algn="l" rtl="0">
                        <a:lnSpc>
                          <a:spcPct val="115000"/>
                        </a:lnSpc>
                        <a:spcBef>
                          <a:spcPts val="0"/>
                        </a:spcBef>
                        <a:spcAft>
                          <a:spcPts val="0"/>
                        </a:spcAft>
                        <a:buNone/>
                      </a:pPr>
                      <a:r>
                        <a:rPr lang="en-US" sz="1800" b="1">
                          <a:solidFill>
                            <a:schemeClr val="lt1"/>
                          </a:solidFill>
                        </a:rPr>
                        <a:t>Parameter</a:t>
                      </a:r>
                      <a:endParaRPr sz="18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800" b="1">
                          <a:solidFill>
                            <a:schemeClr val="lt1"/>
                          </a:solidFill>
                        </a:rPr>
                        <a:t>Value</a:t>
                      </a:r>
                      <a:endParaRPr sz="18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646250">
                <a:tc>
                  <a:txBody>
                    <a:bodyPr/>
                    <a:lstStyle/>
                    <a:p>
                      <a:pPr marL="0" lvl="0" indent="0" algn="l" rtl="0">
                        <a:spcBef>
                          <a:spcPts val="0"/>
                        </a:spcBef>
                        <a:spcAft>
                          <a:spcPts val="0"/>
                        </a:spcAft>
                        <a:buNone/>
                      </a:pPr>
                      <a:r>
                        <a:rPr lang="en-US" sz="2400">
                          <a:solidFill>
                            <a:schemeClr val="lt1"/>
                          </a:solidFill>
                        </a:rPr>
                        <a:t>Integration time</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400">
                          <a:solidFill>
                            <a:schemeClr val="lt1"/>
                          </a:solidFill>
                        </a:rPr>
                        <a:t>25 s</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646250">
                <a:tc>
                  <a:txBody>
                    <a:bodyPr/>
                    <a:lstStyle/>
                    <a:p>
                      <a:pPr marL="0" lvl="0" indent="0" algn="l" rtl="0">
                        <a:spcBef>
                          <a:spcPts val="0"/>
                        </a:spcBef>
                        <a:spcAft>
                          <a:spcPts val="0"/>
                        </a:spcAft>
                        <a:buNone/>
                      </a:pPr>
                      <a:r>
                        <a:rPr lang="en-US" sz="2400">
                          <a:solidFill>
                            <a:schemeClr val="lt1"/>
                          </a:solidFill>
                        </a:rPr>
                        <a:t>Laser power</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400" dirty="0">
                          <a:solidFill>
                            <a:schemeClr val="lt1"/>
                          </a:solidFill>
                        </a:rPr>
                        <a:t>80 %</a:t>
                      </a:r>
                      <a:endParaRPr sz="24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646250">
                <a:tc>
                  <a:txBody>
                    <a:bodyPr/>
                    <a:lstStyle/>
                    <a:p>
                      <a:pPr marL="0" lvl="0" indent="0" algn="l" rtl="0">
                        <a:spcBef>
                          <a:spcPts val="0"/>
                        </a:spcBef>
                        <a:spcAft>
                          <a:spcPts val="0"/>
                        </a:spcAft>
                        <a:buNone/>
                      </a:pPr>
                      <a:r>
                        <a:rPr lang="en-US" sz="2400">
                          <a:solidFill>
                            <a:schemeClr val="lt1"/>
                          </a:solidFill>
                        </a:rPr>
                        <a:t>Best SNR</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800" dirty="0">
                          <a:solidFill>
                            <a:schemeClr val="lt1"/>
                          </a:solidFill>
                        </a:rPr>
                        <a:t>95.9</a:t>
                      </a:r>
                      <a:endParaRPr sz="28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9" name="Google Shape;209;p26"/>
          <p:cNvSpPr txBox="1"/>
          <p:nvPr/>
        </p:nvSpPr>
        <p:spPr>
          <a:xfrm>
            <a:off x="5835512" y="5421553"/>
            <a:ext cx="5887500" cy="43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dirty="0">
                <a:solidFill>
                  <a:schemeClr val="lt1"/>
                </a:solidFill>
              </a:rPr>
              <a:t>These settings produced the </a:t>
            </a:r>
            <a:r>
              <a:rPr lang="en-US" sz="2000" b="1" dirty="0">
                <a:solidFill>
                  <a:schemeClr val="lt1"/>
                </a:solidFill>
              </a:rPr>
              <a:t>highest quality spectrum</a:t>
            </a:r>
            <a:r>
              <a:rPr lang="en-US" sz="2000" dirty="0">
                <a:solidFill>
                  <a:schemeClr val="lt1"/>
                </a:solidFill>
              </a:rPr>
              <a:t>.</a:t>
            </a:r>
            <a:endParaRPr sz="4800" dirty="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21"/>
        <p:cNvGrpSpPr/>
        <p:nvPr/>
      </p:nvGrpSpPr>
      <p:grpSpPr>
        <a:xfrm>
          <a:off x="0" y="0"/>
          <a:ext cx="0" cy="0"/>
          <a:chOff x="0" y="0"/>
          <a:chExt cx="0" cy="0"/>
        </a:xfrm>
      </p:grpSpPr>
      <p:sp>
        <p:nvSpPr>
          <p:cNvPr id="222" name="Google Shape;222;p28"/>
          <p:cNvSpPr txBox="1"/>
          <p:nvPr/>
        </p:nvSpPr>
        <p:spPr>
          <a:xfrm>
            <a:off x="577350" y="146300"/>
            <a:ext cx="6469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Optimal Raman Parameters</a:t>
            </a:r>
            <a:endParaRPr/>
          </a:p>
        </p:txBody>
      </p:sp>
      <p:sp>
        <p:nvSpPr>
          <p:cNvPr id="223" name="Google Shape;223;p28"/>
          <p:cNvSpPr txBox="1"/>
          <p:nvPr/>
        </p:nvSpPr>
        <p:spPr>
          <a:xfrm>
            <a:off x="429713" y="2476575"/>
            <a:ext cx="6616837" cy="10206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1200"/>
              </a:spcAft>
              <a:buNone/>
            </a:pPr>
            <a:r>
              <a:rPr lang="en-US" sz="2000" dirty="0">
                <a:solidFill>
                  <a:schemeClr val="lt1"/>
                </a:solidFill>
              </a:rPr>
              <a:t>These settings produced the </a:t>
            </a:r>
            <a:r>
              <a:rPr lang="en-US" sz="2000" b="1" dirty="0">
                <a:solidFill>
                  <a:schemeClr val="lt1"/>
                </a:solidFill>
              </a:rPr>
              <a:t>highest quality spectrum</a:t>
            </a:r>
            <a:r>
              <a:rPr lang="en-US" sz="2000" dirty="0">
                <a:solidFill>
                  <a:schemeClr val="lt1"/>
                </a:solidFill>
              </a:rPr>
              <a:t>.</a:t>
            </a:r>
            <a:endParaRPr sz="3200" dirty="0">
              <a:solidFill>
                <a:schemeClr val="lt1"/>
              </a:solidFill>
            </a:endParaRPr>
          </a:p>
        </p:txBody>
      </p:sp>
      <p:graphicFrame>
        <p:nvGraphicFramePr>
          <p:cNvPr id="224" name="Google Shape;224;p28"/>
          <p:cNvGraphicFramePr/>
          <p:nvPr>
            <p:extLst>
              <p:ext uri="{D42A27DB-BD31-4B8C-83A1-F6EECF244321}">
                <p14:modId xmlns:p14="http://schemas.microsoft.com/office/powerpoint/2010/main" val="949073344"/>
              </p:ext>
            </p:extLst>
          </p:nvPr>
        </p:nvGraphicFramePr>
        <p:xfrm>
          <a:off x="879703" y="732925"/>
          <a:ext cx="3832925" cy="1966539"/>
        </p:xfrm>
        <a:graphic>
          <a:graphicData uri="http://schemas.openxmlformats.org/drawingml/2006/table">
            <a:tbl>
              <a:tblPr>
                <a:noFill/>
                <a:tableStyleId>{6BDF8E39-C772-4976-A565-66580A3E178B}</a:tableStyleId>
              </a:tblPr>
              <a:tblGrid>
                <a:gridCol w="2756550">
                  <a:extLst>
                    <a:ext uri="{9D8B030D-6E8A-4147-A177-3AD203B41FA5}">
                      <a16:colId xmlns:a16="http://schemas.microsoft.com/office/drawing/2014/main" val="20000"/>
                    </a:ext>
                  </a:extLst>
                </a:gridCol>
                <a:gridCol w="1076375">
                  <a:extLst>
                    <a:ext uri="{9D8B030D-6E8A-4147-A177-3AD203B41FA5}">
                      <a16:colId xmlns:a16="http://schemas.microsoft.com/office/drawing/2014/main" val="20001"/>
                    </a:ext>
                  </a:extLst>
                </a:gridCol>
              </a:tblGrid>
              <a:tr h="0">
                <a:tc>
                  <a:txBody>
                    <a:bodyPr/>
                    <a:lstStyle/>
                    <a:p>
                      <a:pPr marL="0" lvl="0" indent="0" algn="ctr" rtl="0">
                        <a:lnSpc>
                          <a:spcPct val="115000"/>
                        </a:lnSpc>
                        <a:spcBef>
                          <a:spcPts val="0"/>
                        </a:spcBef>
                        <a:spcAft>
                          <a:spcPts val="0"/>
                        </a:spcAft>
                        <a:buNone/>
                      </a:pPr>
                      <a:r>
                        <a:rPr lang="en-US" sz="2000" b="1">
                          <a:solidFill>
                            <a:schemeClr val="lt1"/>
                          </a:solidFill>
                        </a:rPr>
                        <a:t>Parameter</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2000" b="1" dirty="0">
                          <a:solidFill>
                            <a:schemeClr val="lt1"/>
                          </a:solidFill>
                        </a:rPr>
                        <a:t>Value</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dirty="0">
                          <a:solidFill>
                            <a:schemeClr val="lt1"/>
                          </a:solidFill>
                        </a:rPr>
                        <a:t>Integration time</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25 s</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US" sz="2000" dirty="0">
                          <a:solidFill>
                            <a:schemeClr val="lt1"/>
                          </a:solidFill>
                        </a:rPr>
                        <a:t>Laser power</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80 %</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US" sz="2000">
                          <a:solidFill>
                            <a:schemeClr val="lt1"/>
                          </a:solidFill>
                        </a:rPr>
                        <a:t>Best SNR</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95.9</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225" name="Google Shape;225;p28"/>
          <p:cNvPicPr preferRelativeResize="0"/>
          <p:nvPr/>
        </p:nvPicPr>
        <p:blipFill rotWithShape="1">
          <a:blip r:embed="rId3">
            <a:alphaModFix/>
          </a:blip>
          <a:srcRect b="48100"/>
          <a:stretch/>
        </p:blipFill>
        <p:spPr>
          <a:xfrm>
            <a:off x="429713" y="3497175"/>
            <a:ext cx="8650424" cy="3183074"/>
          </a:xfrm>
          <a:prstGeom prst="rect">
            <a:avLst/>
          </a:prstGeom>
          <a:noFill/>
          <a:ln>
            <a:noFill/>
          </a:ln>
        </p:spPr>
      </p:pic>
      <p:pic>
        <p:nvPicPr>
          <p:cNvPr id="226" name="Google Shape;226;p28"/>
          <p:cNvPicPr preferRelativeResize="0"/>
          <p:nvPr/>
        </p:nvPicPr>
        <p:blipFill>
          <a:blip r:embed="rId4">
            <a:alphaModFix/>
          </a:blip>
          <a:stretch>
            <a:fillRect/>
          </a:stretch>
        </p:blipFill>
        <p:spPr>
          <a:xfrm>
            <a:off x="7134556" y="146300"/>
            <a:ext cx="4823250" cy="3124199"/>
          </a:xfrm>
          <a:prstGeom prst="rect">
            <a:avLst/>
          </a:prstGeom>
          <a:noFill/>
          <a:ln>
            <a:noFill/>
          </a:ln>
        </p:spPr>
      </p:pic>
      <p:sp>
        <p:nvSpPr>
          <p:cNvPr id="2" name="Flowchart: Connector 1">
            <a:extLst>
              <a:ext uri="{FF2B5EF4-FFF2-40B4-BE49-F238E27FC236}">
                <a16:creationId xmlns:a16="http://schemas.microsoft.com/office/drawing/2014/main" id="{612064A3-0280-9792-1A86-C4354D85E891}"/>
              </a:ext>
            </a:extLst>
          </p:cNvPr>
          <p:cNvSpPr/>
          <p:nvPr/>
        </p:nvSpPr>
        <p:spPr>
          <a:xfrm>
            <a:off x="10814269" y="225451"/>
            <a:ext cx="399959" cy="405649"/>
          </a:xfrm>
          <a:prstGeom prst="flowChartConnector">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C0AFAEE-2BB9-61B5-C379-1748B2CFE9F3}"/>
              </a:ext>
            </a:extLst>
          </p:cNvPr>
          <p:cNvSpPr txBox="1"/>
          <p:nvPr/>
        </p:nvSpPr>
        <p:spPr>
          <a:xfrm>
            <a:off x="2031043" y="2322686"/>
            <a:ext cx="1890573" cy="261610"/>
          </a:xfrm>
          <a:prstGeom prst="rect">
            <a:avLst/>
          </a:prstGeom>
          <a:noFill/>
        </p:spPr>
        <p:txBody>
          <a:bodyPr wrap="square">
            <a:spAutoFit/>
          </a:bodyPr>
          <a:lstStyle/>
          <a:p>
            <a:pPr>
              <a:buNone/>
            </a:pPr>
            <a:r>
              <a:rPr lang="en-IN" sz="1100" dirty="0">
                <a:solidFill>
                  <a:srgbClr val="FFFF00"/>
                </a:solidFill>
              </a:rPr>
              <a:t> &gt; 80 = </a:t>
            </a:r>
            <a:r>
              <a:rPr lang="en-IN" sz="1100" dirty="0">
                <a:solidFill>
                  <a:schemeClr val="bg1"/>
                </a:solidFill>
              </a:rPr>
              <a:t>Excellent</a:t>
            </a:r>
            <a:endParaRPr lang="en-IN" sz="1100" dirty="0">
              <a:solidFill>
                <a:srgbClr val="FFFF00"/>
              </a:solidFill>
            </a:endParaRPr>
          </a:p>
        </p:txBody>
      </p:sp>
      <p:sp>
        <p:nvSpPr>
          <p:cNvPr id="8" name="TextBox 7">
            <a:extLst>
              <a:ext uri="{FF2B5EF4-FFF2-40B4-BE49-F238E27FC236}">
                <a16:creationId xmlns:a16="http://schemas.microsoft.com/office/drawing/2014/main" id="{6F9B368D-9632-98B1-24D2-55A27FC68976}"/>
              </a:ext>
            </a:extLst>
          </p:cNvPr>
          <p:cNvSpPr txBox="1"/>
          <p:nvPr/>
        </p:nvSpPr>
        <p:spPr>
          <a:xfrm>
            <a:off x="10101943" y="3413718"/>
            <a:ext cx="6096000" cy="954107"/>
          </a:xfrm>
          <a:prstGeom prst="rect">
            <a:avLst/>
          </a:prstGeom>
          <a:noFill/>
        </p:spPr>
        <p:txBody>
          <a:bodyPr wrap="square">
            <a:spAutoFit/>
          </a:bodyPr>
          <a:lstStyle/>
          <a:p>
            <a:r>
              <a:rPr lang="en-IN" dirty="0">
                <a:solidFill>
                  <a:schemeClr val="bg1"/>
                </a:solidFill>
              </a:rPr>
              <a:t>SNR Interpretation:</a:t>
            </a:r>
          </a:p>
          <a:p>
            <a:r>
              <a:rPr lang="en-IN" dirty="0">
                <a:solidFill>
                  <a:schemeClr val="bg1"/>
                </a:solidFill>
              </a:rPr>
              <a:t>&gt;80 → Excellent  </a:t>
            </a:r>
          </a:p>
          <a:p>
            <a:r>
              <a:rPr lang="en-IN" dirty="0">
                <a:solidFill>
                  <a:schemeClr val="bg1"/>
                </a:solidFill>
              </a:rPr>
              <a:t>50–80 → Very Good  </a:t>
            </a:r>
          </a:p>
          <a:p>
            <a:r>
              <a:rPr lang="en-IN" dirty="0">
                <a:solidFill>
                  <a:schemeClr val="bg1"/>
                </a:solidFill>
              </a:rPr>
              <a:t>30–50 → Good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30"/>
        <p:cNvGrpSpPr/>
        <p:nvPr/>
      </p:nvGrpSpPr>
      <p:grpSpPr>
        <a:xfrm>
          <a:off x="0" y="0"/>
          <a:ext cx="0" cy="0"/>
          <a:chOff x="0" y="0"/>
          <a:chExt cx="0" cy="0"/>
        </a:xfrm>
      </p:grpSpPr>
      <p:sp>
        <p:nvSpPr>
          <p:cNvPr id="231" name="Google Shape;231;p29"/>
          <p:cNvSpPr txBox="1"/>
          <p:nvPr/>
        </p:nvSpPr>
        <p:spPr>
          <a:xfrm>
            <a:off x="577350" y="146300"/>
            <a:ext cx="6469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dirty="0">
                <a:solidFill>
                  <a:srgbClr val="22D3EE"/>
                </a:solidFill>
                <a:latin typeface="Outfit SemiBold"/>
                <a:ea typeface="Outfit SemiBold"/>
                <a:cs typeface="Outfit SemiBold"/>
                <a:sym typeface="Outfit SemiBold"/>
              </a:rPr>
              <a:t>Acquisition Parameter Analysis</a:t>
            </a:r>
            <a:endParaRPr dirty="0"/>
          </a:p>
        </p:txBody>
      </p:sp>
      <p:pic>
        <p:nvPicPr>
          <p:cNvPr id="232" name="Google Shape;232;p29"/>
          <p:cNvPicPr preferRelativeResize="0"/>
          <p:nvPr/>
        </p:nvPicPr>
        <p:blipFill>
          <a:blip r:embed="rId3">
            <a:alphaModFix/>
          </a:blip>
          <a:stretch>
            <a:fillRect/>
          </a:stretch>
        </p:blipFill>
        <p:spPr>
          <a:xfrm>
            <a:off x="493793" y="760275"/>
            <a:ext cx="9772749" cy="2719950"/>
          </a:xfrm>
          <a:prstGeom prst="rect">
            <a:avLst/>
          </a:prstGeom>
          <a:noFill/>
          <a:ln>
            <a:noFill/>
          </a:ln>
        </p:spPr>
      </p:pic>
      <p:pic>
        <p:nvPicPr>
          <p:cNvPr id="233" name="Google Shape;233;p29"/>
          <p:cNvPicPr preferRelativeResize="0"/>
          <p:nvPr/>
        </p:nvPicPr>
        <p:blipFill>
          <a:blip r:embed="rId4">
            <a:alphaModFix/>
          </a:blip>
          <a:stretch>
            <a:fillRect/>
          </a:stretch>
        </p:blipFill>
        <p:spPr>
          <a:xfrm>
            <a:off x="2861950" y="3609400"/>
            <a:ext cx="6468091" cy="3072975"/>
          </a:xfrm>
          <a:prstGeom prst="rect">
            <a:avLst/>
          </a:prstGeom>
          <a:noFill/>
          <a:ln>
            <a:noFill/>
          </a:ln>
        </p:spPr>
      </p:pic>
      <p:sp>
        <p:nvSpPr>
          <p:cNvPr id="2" name="Rectangle 1">
            <a:extLst>
              <a:ext uri="{FF2B5EF4-FFF2-40B4-BE49-F238E27FC236}">
                <a16:creationId xmlns:a16="http://schemas.microsoft.com/office/drawing/2014/main" id="{E6DFBDC1-B8B1-D8CE-5661-69790334F2C6}"/>
              </a:ext>
            </a:extLst>
          </p:cNvPr>
          <p:cNvSpPr/>
          <p:nvPr/>
        </p:nvSpPr>
        <p:spPr>
          <a:xfrm>
            <a:off x="2927797" y="1267646"/>
            <a:ext cx="173865" cy="1661375"/>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Oval 2">
            <a:extLst>
              <a:ext uri="{FF2B5EF4-FFF2-40B4-BE49-F238E27FC236}">
                <a16:creationId xmlns:a16="http://schemas.microsoft.com/office/drawing/2014/main" id="{1E468C3B-BC68-4DCE-206E-CEFE696AACFA}"/>
              </a:ext>
            </a:extLst>
          </p:cNvPr>
          <p:cNvSpPr/>
          <p:nvPr/>
        </p:nvSpPr>
        <p:spPr>
          <a:xfrm>
            <a:off x="9461679" y="2758164"/>
            <a:ext cx="354872" cy="46363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438817A2-39B6-11A4-F056-6DDA277069F2}"/>
              </a:ext>
            </a:extLst>
          </p:cNvPr>
          <p:cNvSpPr/>
          <p:nvPr/>
        </p:nvSpPr>
        <p:spPr>
          <a:xfrm>
            <a:off x="6194738" y="1281448"/>
            <a:ext cx="173865" cy="18030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37"/>
        <p:cNvGrpSpPr/>
        <p:nvPr/>
      </p:nvGrpSpPr>
      <p:grpSpPr>
        <a:xfrm>
          <a:off x="0" y="0"/>
          <a:ext cx="0" cy="0"/>
          <a:chOff x="0" y="0"/>
          <a:chExt cx="0" cy="0"/>
        </a:xfrm>
      </p:grpSpPr>
      <p:sp>
        <p:nvSpPr>
          <p:cNvPr id="238" name="Google Shape;238;p30"/>
          <p:cNvSpPr txBox="1"/>
          <p:nvPr/>
        </p:nvSpPr>
        <p:spPr>
          <a:xfrm>
            <a:off x="577350" y="146300"/>
            <a:ext cx="6469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 Peak Assignments</a:t>
            </a:r>
            <a:endParaRPr/>
          </a:p>
        </p:txBody>
      </p:sp>
      <p:graphicFrame>
        <p:nvGraphicFramePr>
          <p:cNvPr id="239" name="Google Shape;239;p30"/>
          <p:cNvGraphicFramePr/>
          <p:nvPr>
            <p:extLst>
              <p:ext uri="{D42A27DB-BD31-4B8C-83A1-F6EECF244321}">
                <p14:modId xmlns:p14="http://schemas.microsoft.com/office/powerpoint/2010/main" val="2726493012"/>
              </p:ext>
            </p:extLst>
          </p:nvPr>
        </p:nvGraphicFramePr>
        <p:xfrm>
          <a:off x="590673" y="647062"/>
          <a:ext cx="7029328" cy="2986830"/>
        </p:xfrm>
        <a:graphic>
          <a:graphicData uri="http://schemas.openxmlformats.org/drawingml/2006/table">
            <a:tbl>
              <a:tblPr>
                <a:noFill/>
                <a:tableStyleId>{6BDF8E39-C772-4976-A565-66580A3E178B}</a:tableStyleId>
              </a:tblPr>
              <a:tblGrid>
                <a:gridCol w="2563964">
                  <a:extLst>
                    <a:ext uri="{9D8B030D-6E8A-4147-A177-3AD203B41FA5}">
                      <a16:colId xmlns:a16="http://schemas.microsoft.com/office/drawing/2014/main" val="20000"/>
                    </a:ext>
                  </a:extLst>
                </a:gridCol>
                <a:gridCol w="4465364">
                  <a:extLst>
                    <a:ext uri="{9D8B030D-6E8A-4147-A177-3AD203B41FA5}">
                      <a16:colId xmlns:a16="http://schemas.microsoft.com/office/drawing/2014/main" val="20001"/>
                    </a:ext>
                  </a:extLst>
                </a:gridCol>
              </a:tblGrid>
              <a:tr h="0">
                <a:tc>
                  <a:txBody>
                    <a:bodyPr/>
                    <a:lstStyle/>
                    <a:p>
                      <a:pPr marL="0" lvl="0" indent="0" algn="ctr" rtl="0">
                        <a:lnSpc>
                          <a:spcPct val="100000"/>
                        </a:lnSpc>
                        <a:spcBef>
                          <a:spcPts val="0"/>
                        </a:spcBef>
                        <a:spcAft>
                          <a:spcPts val="0"/>
                        </a:spcAft>
                        <a:buNone/>
                      </a:pPr>
                      <a:r>
                        <a:rPr lang="en-US" sz="1600" b="1">
                          <a:solidFill>
                            <a:schemeClr val="lt1"/>
                          </a:solidFill>
                        </a:rPr>
                        <a:t>Raman Shift</a:t>
                      </a:r>
                      <a:endParaRPr sz="16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b="1">
                          <a:solidFill>
                            <a:schemeClr val="lt1"/>
                          </a:solidFill>
                        </a:rPr>
                        <a:t>Assignment</a:t>
                      </a:r>
                      <a:endParaRPr sz="16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ctr" rtl="0">
                        <a:lnSpc>
                          <a:spcPct val="100000"/>
                        </a:lnSpc>
                        <a:spcBef>
                          <a:spcPts val="0"/>
                        </a:spcBef>
                        <a:spcAft>
                          <a:spcPts val="0"/>
                        </a:spcAft>
                        <a:buNone/>
                      </a:pPr>
                      <a:r>
                        <a:rPr lang="en-US" sz="1600" dirty="0">
                          <a:solidFill>
                            <a:srgbClr val="FF0000"/>
                          </a:solidFill>
                        </a:rPr>
                        <a:t>1701</a:t>
                      </a:r>
                      <a:endParaRPr sz="1600" dirty="0">
                        <a:solidFill>
                          <a:srgbClr val="FF0000"/>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dirty="0">
                          <a:solidFill>
                            <a:srgbClr val="FF0000"/>
                          </a:solidFill>
                        </a:rPr>
                        <a:t>C=O stretch</a:t>
                      </a:r>
                      <a:endParaRPr sz="1600" dirty="0">
                        <a:solidFill>
                          <a:srgbClr val="FF0000"/>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ctr" rtl="0">
                        <a:lnSpc>
                          <a:spcPct val="100000"/>
                        </a:lnSpc>
                        <a:spcBef>
                          <a:spcPts val="0"/>
                        </a:spcBef>
                        <a:spcAft>
                          <a:spcPts val="0"/>
                        </a:spcAft>
                        <a:buNone/>
                      </a:pPr>
                      <a:r>
                        <a:rPr lang="en-US" sz="1600">
                          <a:solidFill>
                            <a:schemeClr val="lt1"/>
                          </a:solidFill>
                        </a:rPr>
                        <a:t>1546</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Amide II</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ctr" rtl="0">
                        <a:lnSpc>
                          <a:spcPct val="100000"/>
                        </a:lnSpc>
                        <a:spcBef>
                          <a:spcPts val="0"/>
                        </a:spcBef>
                        <a:spcAft>
                          <a:spcPts val="0"/>
                        </a:spcAft>
                        <a:buNone/>
                      </a:pPr>
                      <a:r>
                        <a:rPr lang="en-US" sz="1600">
                          <a:solidFill>
                            <a:schemeClr val="lt1"/>
                          </a:solidFill>
                        </a:rPr>
                        <a:t>1452</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dirty="0">
                          <a:solidFill>
                            <a:schemeClr val="lt1"/>
                          </a:solidFill>
                        </a:rPr>
                        <a:t>CH₂ bending</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ctr" rtl="0">
                        <a:lnSpc>
                          <a:spcPct val="100000"/>
                        </a:lnSpc>
                        <a:spcBef>
                          <a:spcPts val="0"/>
                        </a:spcBef>
                        <a:spcAft>
                          <a:spcPts val="0"/>
                        </a:spcAft>
                        <a:buNone/>
                      </a:pPr>
                      <a:r>
                        <a:rPr lang="en-US" sz="1600" dirty="0">
                          <a:solidFill>
                            <a:srgbClr val="FF0000"/>
                          </a:solidFill>
                        </a:rPr>
                        <a:t>1086</a:t>
                      </a:r>
                      <a:endParaRPr sz="1600" dirty="0">
                        <a:solidFill>
                          <a:srgbClr val="FF0000"/>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dirty="0">
                          <a:solidFill>
                            <a:srgbClr val="FF0000"/>
                          </a:solidFill>
                        </a:rPr>
                        <a:t>C–O stretch</a:t>
                      </a:r>
                      <a:endParaRPr sz="1600" dirty="0">
                        <a:solidFill>
                          <a:srgbClr val="FF0000"/>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ctr" rtl="0">
                        <a:lnSpc>
                          <a:spcPct val="100000"/>
                        </a:lnSpc>
                        <a:spcBef>
                          <a:spcPts val="0"/>
                        </a:spcBef>
                        <a:spcAft>
                          <a:spcPts val="0"/>
                        </a:spcAft>
                        <a:buNone/>
                      </a:pPr>
                      <a:r>
                        <a:rPr lang="en-US" sz="1600">
                          <a:solidFill>
                            <a:schemeClr val="lt1"/>
                          </a:solidFill>
                        </a:rPr>
                        <a:t>872</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C–O–C stretch</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ctr" rtl="0">
                        <a:lnSpc>
                          <a:spcPct val="100000"/>
                        </a:lnSpc>
                        <a:spcBef>
                          <a:spcPts val="0"/>
                        </a:spcBef>
                        <a:spcAft>
                          <a:spcPts val="0"/>
                        </a:spcAft>
                        <a:buNone/>
                      </a:pPr>
                      <a:r>
                        <a:rPr lang="en-US" sz="1600">
                          <a:solidFill>
                            <a:schemeClr val="lt1"/>
                          </a:solidFill>
                        </a:rPr>
                        <a:t>956</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dirty="0">
                          <a:solidFill>
                            <a:schemeClr val="lt1"/>
                          </a:solidFill>
                        </a:rPr>
                        <a:t>Pyranose ring breathing</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240" name="Google Shape;240;p30"/>
          <p:cNvPicPr preferRelativeResize="0"/>
          <p:nvPr/>
        </p:nvPicPr>
        <p:blipFill>
          <a:blip r:embed="rId3">
            <a:alphaModFix/>
          </a:blip>
          <a:stretch>
            <a:fillRect/>
          </a:stretch>
        </p:blipFill>
        <p:spPr>
          <a:xfrm>
            <a:off x="548896" y="3903876"/>
            <a:ext cx="6497654" cy="2807824"/>
          </a:xfrm>
          <a:prstGeom prst="rect">
            <a:avLst/>
          </a:prstGeom>
          <a:noFill/>
          <a:ln>
            <a:noFill/>
          </a:ln>
        </p:spPr>
      </p:pic>
      <p:pic>
        <p:nvPicPr>
          <p:cNvPr id="3" name="Picture 2">
            <a:extLst>
              <a:ext uri="{FF2B5EF4-FFF2-40B4-BE49-F238E27FC236}">
                <a16:creationId xmlns:a16="http://schemas.microsoft.com/office/drawing/2014/main" id="{169D4B53-CB42-8BE6-2B06-246EE71CFB00}"/>
              </a:ext>
            </a:extLst>
          </p:cNvPr>
          <p:cNvPicPr>
            <a:picLocks noChangeAspect="1"/>
          </p:cNvPicPr>
          <p:nvPr/>
        </p:nvPicPr>
        <p:blipFill>
          <a:blip r:embed="rId4"/>
          <a:srcRect l="22897" t="12324" r="23131" b="9691"/>
          <a:stretch>
            <a:fillRect/>
          </a:stretch>
        </p:blipFill>
        <p:spPr>
          <a:xfrm>
            <a:off x="7834592" y="508066"/>
            <a:ext cx="4074127" cy="3174642"/>
          </a:xfrm>
          <a:prstGeom prst="rect">
            <a:avLst/>
          </a:prstGeom>
        </p:spPr>
      </p:pic>
      <p:pic>
        <p:nvPicPr>
          <p:cNvPr id="5" name="Picture 4">
            <a:extLst>
              <a:ext uri="{FF2B5EF4-FFF2-40B4-BE49-F238E27FC236}">
                <a16:creationId xmlns:a16="http://schemas.microsoft.com/office/drawing/2014/main" id="{E84E0928-0131-A447-4CF0-165408B7844E}"/>
              </a:ext>
            </a:extLst>
          </p:cNvPr>
          <p:cNvPicPr>
            <a:picLocks noChangeAspect="1"/>
          </p:cNvPicPr>
          <p:nvPr/>
        </p:nvPicPr>
        <p:blipFill>
          <a:blip r:embed="rId5"/>
          <a:srcRect l="20277" t="15720" r="26713" b="8580"/>
          <a:stretch>
            <a:fillRect/>
          </a:stretch>
        </p:blipFill>
        <p:spPr>
          <a:xfrm>
            <a:off x="8041247" y="4010873"/>
            <a:ext cx="3369435" cy="2700827"/>
          </a:xfrm>
          <a:prstGeom prst="rect">
            <a:avLst/>
          </a:prstGeom>
        </p:spPr>
      </p:pic>
      <p:sp>
        <p:nvSpPr>
          <p:cNvPr id="7" name="TextBox 6">
            <a:extLst>
              <a:ext uri="{FF2B5EF4-FFF2-40B4-BE49-F238E27FC236}">
                <a16:creationId xmlns:a16="http://schemas.microsoft.com/office/drawing/2014/main" id="{792143BC-CAF5-1F82-9642-98AD12A1ED50}"/>
              </a:ext>
            </a:extLst>
          </p:cNvPr>
          <p:cNvSpPr txBox="1"/>
          <p:nvPr/>
        </p:nvSpPr>
        <p:spPr>
          <a:xfrm>
            <a:off x="5712463" y="3191098"/>
            <a:ext cx="6094926" cy="307777"/>
          </a:xfrm>
          <a:prstGeom prst="rect">
            <a:avLst/>
          </a:prstGeom>
          <a:noFill/>
        </p:spPr>
        <p:txBody>
          <a:bodyPr wrap="square">
            <a:spAutoFit/>
          </a:bodyPr>
          <a:lstStyle/>
          <a:p>
            <a:pPr marL="0" lvl="0" indent="0" algn="ctr" rtl="0">
              <a:lnSpc>
                <a:spcPct val="100000"/>
              </a:lnSpc>
              <a:spcBef>
                <a:spcPts val="0"/>
              </a:spcBef>
              <a:spcAft>
                <a:spcPts val="0"/>
              </a:spcAft>
              <a:buNone/>
            </a:pPr>
            <a:r>
              <a:rPr lang="en-US" sz="1400" b="1" dirty="0">
                <a:solidFill>
                  <a:srgbClr val="FF0000"/>
                </a:solidFill>
              </a:rPr>
              <a:t>C=O stretch</a:t>
            </a:r>
          </a:p>
        </p:txBody>
      </p:sp>
      <p:sp>
        <p:nvSpPr>
          <p:cNvPr id="9" name="TextBox 8">
            <a:extLst>
              <a:ext uri="{FF2B5EF4-FFF2-40B4-BE49-F238E27FC236}">
                <a16:creationId xmlns:a16="http://schemas.microsoft.com/office/drawing/2014/main" id="{1F41F422-0139-921E-5DD5-9B84224B68A3}"/>
              </a:ext>
            </a:extLst>
          </p:cNvPr>
          <p:cNvSpPr txBox="1"/>
          <p:nvPr/>
        </p:nvSpPr>
        <p:spPr>
          <a:xfrm>
            <a:off x="5548178" y="5523499"/>
            <a:ext cx="6094926" cy="307777"/>
          </a:xfrm>
          <a:prstGeom prst="rect">
            <a:avLst/>
          </a:prstGeom>
          <a:noFill/>
        </p:spPr>
        <p:txBody>
          <a:bodyPr wrap="square">
            <a:spAutoFit/>
          </a:bodyPr>
          <a:lstStyle/>
          <a:p>
            <a:pPr marL="0" lvl="0" indent="0" algn="ctr" rtl="0">
              <a:lnSpc>
                <a:spcPct val="100000"/>
              </a:lnSpc>
              <a:spcBef>
                <a:spcPts val="0"/>
              </a:spcBef>
              <a:spcAft>
                <a:spcPts val="0"/>
              </a:spcAft>
              <a:buNone/>
            </a:pPr>
            <a:r>
              <a:rPr lang="en-US" sz="1400" b="1" dirty="0">
                <a:solidFill>
                  <a:srgbClr val="FF0000"/>
                </a:solidFill>
              </a:rPr>
              <a:t>C–O stretch</a:t>
            </a:r>
          </a:p>
        </p:txBody>
      </p:sp>
      <p:sp>
        <p:nvSpPr>
          <p:cNvPr id="10" name="Flowchart: Connector 9">
            <a:extLst>
              <a:ext uri="{FF2B5EF4-FFF2-40B4-BE49-F238E27FC236}">
                <a16:creationId xmlns:a16="http://schemas.microsoft.com/office/drawing/2014/main" id="{B4E32B74-3198-3BA5-3E21-EEA3727A65E3}"/>
              </a:ext>
            </a:extLst>
          </p:cNvPr>
          <p:cNvSpPr/>
          <p:nvPr/>
        </p:nvSpPr>
        <p:spPr>
          <a:xfrm rot="19942640">
            <a:off x="9311425" y="2653503"/>
            <a:ext cx="1532586" cy="888642"/>
          </a:xfrm>
          <a:prstGeom prst="flowChartConnector">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Flowchart: Connector 10">
            <a:extLst>
              <a:ext uri="{FF2B5EF4-FFF2-40B4-BE49-F238E27FC236}">
                <a16:creationId xmlns:a16="http://schemas.microsoft.com/office/drawing/2014/main" id="{0B9D7E84-4A67-FD8B-3645-1B0C3AF751B3}"/>
              </a:ext>
            </a:extLst>
          </p:cNvPr>
          <p:cNvSpPr/>
          <p:nvPr/>
        </p:nvSpPr>
        <p:spPr>
          <a:xfrm rot="19942640">
            <a:off x="8069168" y="4530057"/>
            <a:ext cx="1532586" cy="888642"/>
          </a:xfrm>
          <a:prstGeom prst="flowChartConnector">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44"/>
        <p:cNvGrpSpPr/>
        <p:nvPr/>
      </p:nvGrpSpPr>
      <p:grpSpPr>
        <a:xfrm>
          <a:off x="0" y="0"/>
          <a:ext cx="0" cy="0"/>
          <a:chOff x="0" y="0"/>
          <a:chExt cx="0" cy="0"/>
        </a:xfrm>
      </p:grpSpPr>
      <p:sp>
        <p:nvSpPr>
          <p:cNvPr id="245" name="Google Shape;245;p31"/>
          <p:cNvSpPr txBox="1"/>
          <p:nvPr/>
        </p:nvSpPr>
        <p:spPr>
          <a:xfrm>
            <a:off x="577350" y="146300"/>
            <a:ext cx="6469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Structural Interpretation</a:t>
            </a:r>
            <a:endParaRPr/>
          </a:p>
        </p:txBody>
      </p:sp>
      <p:sp>
        <p:nvSpPr>
          <p:cNvPr id="246" name="Google Shape;246;p31"/>
          <p:cNvSpPr txBox="1"/>
          <p:nvPr/>
        </p:nvSpPr>
        <p:spPr>
          <a:xfrm>
            <a:off x="577349" y="1269546"/>
            <a:ext cx="4241393" cy="4387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dirty="0">
                <a:solidFill>
                  <a:schemeClr val="lt1"/>
                </a:solidFill>
              </a:rPr>
              <a:t>Raman spectrum confirms presence of:</a:t>
            </a:r>
            <a:endParaRPr sz="1800" dirty="0">
              <a:solidFill>
                <a:schemeClr val="lt1"/>
              </a:solidFill>
            </a:endParaRPr>
          </a:p>
          <a:p>
            <a:pPr marL="0" lvl="0" indent="0" algn="l" rtl="0">
              <a:lnSpc>
                <a:spcPct val="115000"/>
              </a:lnSpc>
              <a:spcBef>
                <a:spcPts val="1400"/>
              </a:spcBef>
              <a:spcAft>
                <a:spcPts val="0"/>
              </a:spcAft>
              <a:buNone/>
            </a:pPr>
            <a:r>
              <a:rPr lang="en-US" sz="1800" b="1" dirty="0">
                <a:solidFill>
                  <a:schemeClr val="lt1"/>
                </a:solidFill>
              </a:rPr>
              <a:t>Amide Group</a:t>
            </a:r>
            <a:endParaRPr sz="1800" b="1" dirty="0">
              <a:solidFill>
                <a:schemeClr val="lt1"/>
              </a:solidFill>
            </a:endParaRPr>
          </a:p>
          <a:p>
            <a:pPr marL="0" lvl="0" indent="0" algn="l" rtl="0">
              <a:lnSpc>
                <a:spcPct val="115000"/>
              </a:lnSpc>
              <a:spcBef>
                <a:spcPts val="1200"/>
              </a:spcBef>
              <a:spcAft>
                <a:spcPts val="0"/>
              </a:spcAft>
              <a:buNone/>
            </a:pPr>
            <a:r>
              <a:rPr lang="en-US" sz="1600" dirty="0">
                <a:solidFill>
                  <a:schemeClr val="lt1"/>
                </a:solidFill>
              </a:rPr>
              <a:t>1546 cm⁻¹</a:t>
            </a:r>
            <a:br>
              <a:rPr lang="en-US" sz="1600" dirty="0">
                <a:solidFill>
                  <a:schemeClr val="lt1"/>
                </a:solidFill>
              </a:rPr>
            </a:br>
            <a:r>
              <a:rPr lang="en-US" sz="1600" dirty="0">
                <a:solidFill>
                  <a:schemeClr val="lt1"/>
                </a:solidFill>
              </a:rPr>
              <a:t> 1319 cm⁻¹</a:t>
            </a:r>
            <a:endParaRPr sz="1600" dirty="0">
              <a:solidFill>
                <a:schemeClr val="lt1"/>
              </a:solidFill>
            </a:endParaRPr>
          </a:p>
          <a:p>
            <a:pPr marL="0" lvl="0" indent="0" algn="l" rtl="0">
              <a:lnSpc>
                <a:spcPct val="115000"/>
              </a:lnSpc>
              <a:spcBef>
                <a:spcPts val="1400"/>
              </a:spcBef>
              <a:spcAft>
                <a:spcPts val="0"/>
              </a:spcAft>
              <a:buNone/>
            </a:pPr>
            <a:r>
              <a:rPr lang="en-US" sz="1800" b="1" dirty="0">
                <a:solidFill>
                  <a:schemeClr val="lt1"/>
                </a:solidFill>
              </a:rPr>
              <a:t>Carbohydrate Backbone</a:t>
            </a:r>
            <a:endParaRPr sz="1800" b="1" dirty="0">
              <a:solidFill>
                <a:schemeClr val="lt1"/>
              </a:solidFill>
            </a:endParaRPr>
          </a:p>
          <a:p>
            <a:pPr marL="0" lvl="0" indent="0" algn="l" rtl="0">
              <a:lnSpc>
                <a:spcPct val="115000"/>
              </a:lnSpc>
              <a:spcBef>
                <a:spcPts val="1200"/>
              </a:spcBef>
              <a:spcAft>
                <a:spcPts val="0"/>
              </a:spcAft>
              <a:buNone/>
            </a:pPr>
            <a:r>
              <a:rPr lang="en-US" sz="1600" dirty="0">
                <a:solidFill>
                  <a:schemeClr val="lt1"/>
                </a:solidFill>
              </a:rPr>
              <a:t>1157–1024 cm⁻¹</a:t>
            </a:r>
            <a:endParaRPr sz="1600" dirty="0">
              <a:solidFill>
                <a:schemeClr val="lt1"/>
              </a:solidFill>
            </a:endParaRPr>
          </a:p>
          <a:p>
            <a:pPr marL="0" lvl="0" indent="0" algn="l" rtl="0">
              <a:lnSpc>
                <a:spcPct val="115000"/>
              </a:lnSpc>
              <a:spcBef>
                <a:spcPts val="1400"/>
              </a:spcBef>
              <a:spcAft>
                <a:spcPts val="0"/>
              </a:spcAft>
              <a:buNone/>
            </a:pPr>
            <a:r>
              <a:rPr lang="en-US" sz="1800" b="1" dirty="0">
                <a:solidFill>
                  <a:schemeClr val="lt1"/>
                </a:solidFill>
              </a:rPr>
              <a:t>Glycosidic Linkage</a:t>
            </a:r>
            <a:endParaRPr sz="1800" b="1" dirty="0">
              <a:solidFill>
                <a:schemeClr val="lt1"/>
              </a:solidFill>
            </a:endParaRPr>
          </a:p>
          <a:p>
            <a:pPr marL="0" lvl="0" indent="0" algn="l" rtl="0">
              <a:lnSpc>
                <a:spcPct val="115000"/>
              </a:lnSpc>
              <a:spcBef>
                <a:spcPts val="1200"/>
              </a:spcBef>
              <a:spcAft>
                <a:spcPts val="0"/>
              </a:spcAft>
              <a:buNone/>
            </a:pPr>
            <a:r>
              <a:rPr lang="en-US" sz="1600" dirty="0">
                <a:solidFill>
                  <a:schemeClr val="lt1"/>
                </a:solidFill>
              </a:rPr>
              <a:t>872 cm⁻¹</a:t>
            </a:r>
            <a:br>
              <a:rPr lang="en-US" sz="1600" dirty="0">
                <a:solidFill>
                  <a:schemeClr val="lt1"/>
                </a:solidFill>
              </a:rPr>
            </a:br>
            <a:r>
              <a:rPr lang="en-US" sz="1600" dirty="0">
                <a:solidFill>
                  <a:schemeClr val="lt1"/>
                </a:solidFill>
              </a:rPr>
              <a:t> 830 cm⁻¹</a:t>
            </a:r>
            <a:endParaRPr sz="1600" dirty="0">
              <a:solidFill>
                <a:schemeClr val="lt1"/>
              </a:solidFill>
            </a:endParaRPr>
          </a:p>
          <a:p>
            <a:pPr marL="0" lvl="0" indent="0" algn="l" rtl="0">
              <a:lnSpc>
                <a:spcPct val="115000"/>
              </a:lnSpc>
              <a:spcBef>
                <a:spcPts val="1400"/>
              </a:spcBef>
              <a:spcAft>
                <a:spcPts val="0"/>
              </a:spcAft>
              <a:buNone/>
            </a:pPr>
            <a:r>
              <a:rPr lang="en-US" sz="1800" b="1" dirty="0">
                <a:solidFill>
                  <a:schemeClr val="lt1"/>
                </a:solidFill>
              </a:rPr>
              <a:t>Pyranose Ring</a:t>
            </a:r>
            <a:endParaRPr sz="1800" b="1" dirty="0">
              <a:solidFill>
                <a:schemeClr val="lt1"/>
              </a:solidFill>
            </a:endParaRPr>
          </a:p>
          <a:p>
            <a:pPr marL="0" lvl="0" indent="0" algn="l" rtl="0">
              <a:lnSpc>
                <a:spcPct val="115000"/>
              </a:lnSpc>
              <a:spcBef>
                <a:spcPts val="1200"/>
              </a:spcBef>
              <a:spcAft>
                <a:spcPts val="0"/>
              </a:spcAft>
              <a:buNone/>
            </a:pPr>
            <a:r>
              <a:rPr lang="en-US" sz="1600" dirty="0">
                <a:solidFill>
                  <a:schemeClr val="lt1"/>
                </a:solidFill>
              </a:rPr>
              <a:t>541 cm⁻¹</a:t>
            </a:r>
            <a:br>
              <a:rPr lang="en-US" sz="1600" dirty="0">
                <a:solidFill>
                  <a:schemeClr val="lt1"/>
                </a:solidFill>
              </a:rPr>
            </a:br>
            <a:r>
              <a:rPr lang="en-US" sz="1600" dirty="0">
                <a:solidFill>
                  <a:schemeClr val="lt1"/>
                </a:solidFill>
              </a:rPr>
              <a:t> 489 cm⁻¹</a:t>
            </a:r>
            <a:br>
              <a:rPr lang="en-US" sz="1600" dirty="0">
                <a:solidFill>
                  <a:schemeClr val="lt1"/>
                </a:solidFill>
              </a:rPr>
            </a:br>
            <a:r>
              <a:rPr lang="en-US" sz="1600" dirty="0">
                <a:solidFill>
                  <a:schemeClr val="lt1"/>
                </a:solidFill>
              </a:rPr>
              <a:t> 458 cm⁻¹</a:t>
            </a:r>
            <a:endParaRPr sz="1600" dirty="0">
              <a:solidFill>
                <a:schemeClr val="lt1"/>
              </a:solidFill>
            </a:endParaRPr>
          </a:p>
          <a:p>
            <a:pPr marL="0" lvl="0" indent="0" algn="l" rtl="0">
              <a:lnSpc>
                <a:spcPct val="115000"/>
              </a:lnSpc>
              <a:spcBef>
                <a:spcPts val="1200"/>
              </a:spcBef>
              <a:spcAft>
                <a:spcPts val="1200"/>
              </a:spcAft>
              <a:buNone/>
            </a:pPr>
            <a:endParaRPr sz="1800" dirty="0">
              <a:solidFill>
                <a:schemeClr val="lt1"/>
              </a:solidFill>
            </a:endParaRPr>
          </a:p>
        </p:txBody>
      </p:sp>
      <p:sp>
        <p:nvSpPr>
          <p:cNvPr id="247" name="Google Shape;247;p31"/>
          <p:cNvSpPr txBox="1"/>
          <p:nvPr/>
        </p:nvSpPr>
        <p:spPr>
          <a:xfrm>
            <a:off x="4982675" y="752300"/>
            <a:ext cx="6338468" cy="2085156"/>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800" dirty="0">
                <a:solidFill>
                  <a:schemeClr val="lt1"/>
                </a:solidFill>
              </a:rPr>
              <a:t>Key findings:</a:t>
            </a:r>
            <a:endParaRPr sz="1800" dirty="0">
              <a:solidFill>
                <a:schemeClr val="lt1"/>
              </a:solidFill>
            </a:endParaRPr>
          </a:p>
          <a:p>
            <a:pPr marL="457200" lvl="0" indent="-317500" algn="l" rtl="0">
              <a:lnSpc>
                <a:spcPct val="115000"/>
              </a:lnSpc>
              <a:spcBef>
                <a:spcPts val="1200"/>
              </a:spcBef>
              <a:spcAft>
                <a:spcPts val="0"/>
              </a:spcAft>
              <a:buClr>
                <a:schemeClr val="lt1"/>
              </a:buClr>
              <a:buSzPts val="1400"/>
              <a:buChar char="●"/>
            </a:pPr>
            <a:r>
              <a:rPr lang="en-US" sz="1800" dirty="0">
                <a:solidFill>
                  <a:schemeClr val="lt1"/>
                </a:solidFill>
              </a:rPr>
              <a:t>Strong agreement between </a:t>
            </a:r>
            <a:r>
              <a:rPr lang="en-US" sz="1800" b="1" dirty="0">
                <a:solidFill>
                  <a:schemeClr val="lt1"/>
                </a:solidFill>
              </a:rPr>
              <a:t>experimental and DFT spectra</a:t>
            </a:r>
            <a:endParaRPr sz="1800" b="1"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1800" dirty="0">
                <a:solidFill>
                  <a:schemeClr val="lt1"/>
                </a:solidFill>
              </a:rPr>
              <a:t>Raman peaks clearly identify </a:t>
            </a:r>
            <a:r>
              <a:rPr lang="en-US" sz="1800" b="1" dirty="0">
                <a:solidFill>
                  <a:schemeClr val="lt1"/>
                </a:solidFill>
              </a:rPr>
              <a:t>functional groups</a:t>
            </a:r>
            <a:endParaRPr sz="1800" b="1"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1800" dirty="0">
                <a:solidFill>
                  <a:schemeClr val="lt1"/>
                </a:solidFill>
              </a:rPr>
              <a:t>DFT accurately predicts </a:t>
            </a:r>
            <a:r>
              <a:rPr lang="en-US" sz="1800" b="1" dirty="0">
                <a:solidFill>
                  <a:schemeClr val="lt1"/>
                </a:solidFill>
              </a:rPr>
              <a:t>vibrational frequencies</a:t>
            </a:r>
            <a:endParaRPr sz="1800" b="1" dirty="0">
              <a:solidFill>
                <a:schemeClr val="lt1"/>
              </a:solidFill>
            </a:endParaRPr>
          </a:p>
        </p:txBody>
      </p:sp>
      <p:pic>
        <p:nvPicPr>
          <p:cNvPr id="248" name="Google Shape;248;p31"/>
          <p:cNvPicPr preferRelativeResize="0"/>
          <p:nvPr/>
        </p:nvPicPr>
        <p:blipFill>
          <a:blip r:embed="rId3">
            <a:alphaModFix/>
          </a:blip>
          <a:stretch>
            <a:fillRect/>
          </a:stretch>
        </p:blipFill>
        <p:spPr>
          <a:xfrm>
            <a:off x="3892067" y="4093324"/>
            <a:ext cx="7517251" cy="24849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52"/>
        <p:cNvGrpSpPr/>
        <p:nvPr/>
      </p:nvGrpSpPr>
      <p:grpSpPr>
        <a:xfrm>
          <a:off x="0" y="0"/>
          <a:ext cx="0" cy="0"/>
          <a:chOff x="0" y="0"/>
          <a:chExt cx="0" cy="0"/>
        </a:xfrm>
      </p:grpSpPr>
      <p:sp>
        <p:nvSpPr>
          <p:cNvPr id="253" name="Google Shape;253;p32"/>
          <p:cNvSpPr txBox="1"/>
          <p:nvPr/>
        </p:nvSpPr>
        <p:spPr>
          <a:xfrm>
            <a:off x="577350" y="146300"/>
            <a:ext cx="8497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Experimental vs DFT Raman Spectrum (NAM)</a:t>
            </a:r>
            <a:endParaRPr/>
          </a:p>
        </p:txBody>
      </p:sp>
      <p:pic>
        <p:nvPicPr>
          <p:cNvPr id="254" name="Google Shape;254;p32"/>
          <p:cNvPicPr preferRelativeResize="0"/>
          <p:nvPr/>
        </p:nvPicPr>
        <p:blipFill>
          <a:blip r:embed="rId3">
            <a:alphaModFix/>
          </a:blip>
          <a:stretch>
            <a:fillRect/>
          </a:stretch>
        </p:blipFill>
        <p:spPr>
          <a:xfrm>
            <a:off x="1573711" y="902300"/>
            <a:ext cx="9297489" cy="4973301"/>
          </a:xfrm>
          <a:prstGeom prst="rect">
            <a:avLst/>
          </a:prstGeom>
          <a:noFill/>
          <a:ln>
            <a:noFill/>
          </a:ln>
        </p:spPr>
      </p:pic>
      <p:sp>
        <p:nvSpPr>
          <p:cNvPr id="3" name="TextBox 2">
            <a:extLst>
              <a:ext uri="{FF2B5EF4-FFF2-40B4-BE49-F238E27FC236}">
                <a16:creationId xmlns:a16="http://schemas.microsoft.com/office/drawing/2014/main" id="{0579DE7A-7211-7D97-7D67-21573C1D17A9}"/>
              </a:ext>
            </a:extLst>
          </p:cNvPr>
          <p:cNvSpPr txBox="1"/>
          <p:nvPr/>
        </p:nvSpPr>
        <p:spPr>
          <a:xfrm>
            <a:off x="3853543" y="6074230"/>
            <a:ext cx="6096000" cy="523220"/>
          </a:xfrm>
          <a:prstGeom prst="rect">
            <a:avLst/>
          </a:prstGeom>
          <a:noFill/>
        </p:spPr>
        <p:txBody>
          <a:bodyPr wrap="square">
            <a:spAutoFit/>
          </a:bodyPr>
          <a:lstStyle/>
          <a:p>
            <a:r>
              <a:rPr lang="en-IN" dirty="0">
                <a:solidFill>
                  <a:schemeClr val="bg1"/>
                </a:solidFill>
              </a:rPr>
              <a:t>Excellent agreement between experiment and simulation</a:t>
            </a:r>
            <a:br>
              <a:rPr lang="en-IN" dirty="0">
                <a:solidFill>
                  <a:schemeClr val="bg1"/>
                </a:solidFill>
              </a:rPr>
            </a:br>
            <a:r>
              <a:rPr lang="en-GB" dirty="0">
                <a:solidFill>
                  <a:schemeClr val="bg1"/>
                </a:solidFill>
              </a:rPr>
              <a:t>(</a:t>
            </a:r>
            <a:r>
              <a:rPr lang="en-GB" dirty="0" err="1">
                <a:solidFill>
                  <a:schemeClr val="bg1"/>
                </a:solidFill>
              </a:rPr>
              <a:t>RMSE</a:t>
            </a:r>
            <a:r>
              <a:rPr lang="en-GB" dirty="0">
                <a:solidFill>
                  <a:schemeClr val="bg1"/>
                </a:solidFill>
              </a:rPr>
              <a:t> ~2 cm⁻¹) validates DFT for biomarker detection</a:t>
            </a:r>
            <a:endParaRPr lang="en-IN"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58"/>
        <p:cNvGrpSpPr/>
        <p:nvPr/>
      </p:nvGrpSpPr>
      <p:grpSpPr>
        <a:xfrm>
          <a:off x="0" y="0"/>
          <a:ext cx="0" cy="0"/>
          <a:chOff x="0" y="0"/>
          <a:chExt cx="0" cy="0"/>
        </a:xfrm>
      </p:grpSpPr>
      <p:sp>
        <p:nvSpPr>
          <p:cNvPr id="261" name="Google Shape;261;p33"/>
          <p:cNvSpPr txBox="1"/>
          <p:nvPr/>
        </p:nvSpPr>
        <p:spPr>
          <a:xfrm>
            <a:off x="2040284" y="0"/>
            <a:ext cx="7990998" cy="8667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0" i="0" u="none" strike="noStrike" cap="none" dirty="0">
                <a:solidFill>
                  <a:srgbClr val="22D3EE"/>
                </a:solidFill>
                <a:latin typeface="Outfit SemiBold"/>
                <a:ea typeface="Outfit SemiBold"/>
                <a:cs typeface="Outfit SemiBold"/>
                <a:sym typeface="Outfit SemiBold"/>
              </a:rPr>
              <a:t>Part III: Lipoteichoic Acid</a:t>
            </a:r>
            <a:endParaRPr dirty="0"/>
          </a:p>
        </p:txBody>
      </p:sp>
      <p:sp>
        <p:nvSpPr>
          <p:cNvPr id="262" name="Google Shape;262;p33"/>
          <p:cNvSpPr txBox="1"/>
          <p:nvPr/>
        </p:nvSpPr>
        <p:spPr>
          <a:xfrm>
            <a:off x="316013" y="996280"/>
            <a:ext cx="11033700" cy="590931"/>
          </a:xfrm>
          <a:prstGeom prst="rect">
            <a:avLst/>
          </a:prstGeom>
          <a:noFill/>
          <a:ln>
            <a:noFill/>
          </a:ln>
        </p:spPr>
        <p:txBody>
          <a:bodyPr spcFirstLastPara="1" wrap="square" lIns="0" tIns="0" rIns="0" bIns="0" anchor="t" anchorCtr="0">
            <a:spAutoFit/>
          </a:bodyPr>
          <a:lstStyle/>
          <a:p>
            <a:pPr lvl="0">
              <a:lnSpc>
                <a:spcPct val="159952"/>
              </a:lnSpc>
            </a:pPr>
            <a:r>
              <a:rPr lang="en-IN" sz="2400" b="1" dirty="0">
                <a:solidFill>
                  <a:schemeClr val="bg1"/>
                </a:solidFill>
              </a:rPr>
              <a:t>Challenge in LTA Simulation</a:t>
            </a:r>
            <a:endParaRPr sz="1600" b="1" dirty="0">
              <a:solidFill>
                <a:schemeClr val="bg1"/>
              </a:solidFill>
            </a:endParaRPr>
          </a:p>
        </p:txBody>
      </p:sp>
      <p:sp>
        <p:nvSpPr>
          <p:cNvPr id="6" name="Rectangle 4">
            <a:extLst>
              <a:ext uri="{FF2B5EF4-FFF2-40B4-BE49-F238E27FC236}">
                <a16:creationId xmlns:a16="http://schemas.microsoft.com/office/drawing/2014/main" id="{5E322035-9AE5-BF0C-2FD7-FC8CCF1C75B0}"/>
              </a:ext>
            </a:extLst>
          </p:cNvPr>
          <p:cNvSpPr>
            <a:spLocks noChangeArrowheads="1"/>
          </p:cNvSpPr>
          <p:nvPr/>
        </p:nvSpPr>
        <p:spPr bwMode="auto">
          <a:xfrm>
            <a:off x="1618343" y="1421081"/>
            <a:ext cx="654057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LTA is a </a:t>
            </a:r>
            <a:r>
              <a:rPr kumimoji="0" lang="en-US" altLang="en-US" sz="2000" b="1" i="0" u="none" strike="noStrike" cap="none" normalizeH="0" baseline="0" dirty="0">
                <a:ln>
                  <a:noFill/>
                </a:ln>
                <a:solidFill>
                  <a:schemeClr val="bg1"/>
                </a:solidFill>
                <a:effectLst/>
                <a:latin typeface="Arial" panose="020B0604020202020204" pitchFamily="34" charset="0"/>
              </a:rPr>
              <a:t>large polymeric biomolecule</a:t>
            </a:r>
            <a:r>
              <a:rPr kumimoji="0" lang="en-US" altLang="en-US" sz="2000" b="0" i="0" u="none" strike="noStrike" cap="none" normalizeH="0" baseline="0" dirty="0">
                <a:ln>
                  <a:noFill/>
                </a:ln>
                <a:solidFill>
                  <a:schemeClr val="bg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Full </a:t>
            </a:r>
            <a:r>
              <a:rPr kumimoji="0" lang="en-US" altLang="en-US" sz="2000" b="0" i="0" u="none" strike="noStrike" cap="none" normalizeH="0" baseline="0" dirty="0" err="1">
                <a:ln>
                  <a:noFill/>
                </a:ln>
                <a:solidFill>
                  <a:schemeClr val="bg1"/>
                </a:solidFill>
                <a:effectLst/>
                <a:latin typeface="Arial" panose="020B0604020202020204" pitchFamily="34" charset="0"/>
              </a:rPr>
              <a:t>DFT</a:t>
            </a:r>
            <a:r>
              <a:rPr kumimoji="0" lang="en-US" altLang="en-US" sz="2000" b="0" i="0" u="none" strike="noStrike" cap="none" normalizeH="0" baseline="0" dirty="0">
                <a:ln>
                  <a:noFill/>
                </a:ln>
                <a:solidFill>
                  <a:schemeClr val="bg1"/>
                </a:solidFill>
                <a:effectLst/>
                <a:latin typeface="Arial" panose="020B0604020202020204" pitchFamily="34" charset="0"/>
              </a:rPr>
              <a:t> simulation → </a:t>
            </a:r>
            <a:r>
              <a:rPr kumimoji="0" lang="en-US" altLang="en-US" sz="2000" b="1" i="0" u="none" strike="noStrike" cap="none" normalizeH="0" baseline="0" dirty="0">
                <a:ln>
                  <a:noFill/>
                </a:ln>
                <a:solidFill>
                  <a:schemeClr val="bg1"/>
                </a:solidFill>
                <a:effectLst/>
                <a:latin typeface="Arial" panose="020B0604020202020204" pitchFamily="34" charset="0"/>
              </a:rPr>
              <a:t>computationally impractical</a:t>
            </a:r>
            <a:r>
              <a:rPr kumimoji="0" lang="en-US" altLang="en-US" sz="2000" b="0" i="0" u="none" strike="noStrike" cap="none" normalizeH="0" baseline="0" dirty="0">
                <a:ln>
                  <a:noFill/>
                </a:ln>
                <a:solidFill>
                  <a:schemeClr val="bg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Need a </a:t>
            </a:r>
            <a:r>
              <a:rPr kumimoji="0" lang="en-US" altLang="en-US" sz="2000" b="1" i="0" u="none" strike="noStrike" cap="none" normalizeH="0" baseline="0" dirty="0">
                <a:ln>
                  <a:noFill/>
                </a:ln>
                <a:solidFill>
                  <a:schemeClr val="bg1"/>
                </a:solidFill>
                <a:effectLst/>
                <a:latin typeface="Arial" panose="020B0604020202020204" pitchFamily="34" charset="0"/>
              </a:rPr>
              <a:t>scientifically valid alternative approach</a:t>
            </a:r>
            <a:r>
              <a:rPr kumimoji="0" lang="en-US" altLang="en-US" sz="2000" b="0" i="0" u="none" strike="noStrike" cap="none" normalizeH="0" baseline="0" dirty="0">
                <a:ln>
                  <a:noFill/>
                </a:ln>
                <a:solidFill>
                  <a:schemeClr val="bg1"/>
                </a:solidFill>
                <a:effectLst/>
                <a:latin typeface="Arial" panose="020B0604020202020204" pitchFamily="34" charset="0"/>
              </a:rPr>
              <a:t> </a:t>
            </a:r>
          </a:p>
        </p:txBody>
      </p:sp>
      <p:sp>
        <p:nvSpPr>
          <p:cNvPr id="7" name="Google Shape;262;p33">
            <a:extLst>
              <a:ext uri="{FF2B5EF4-FFF2-40B4-BE49-F238E27FC236}">
                <a16:creationId xmlns:a16="http://schemas.microsoft.com/office/drawing/2014/main" id="{77F65C59-E37F-C9AC-5FD7-EF3F0A6CF609}"/>
              </a:ext>
            </a:extLst>
          </p:cNvPr>
          <p:cNvSpPr txBox="1"/>
          <p:nvPr/>
        </p:nvSpPr>
        <p:spPr>
          <a:xfrm>
            <a:off x="316013" y="2682965"/>
            <a:ext cx="11033700" cy="590931"/>
          </a:xfrm>
          <a:prstGeom prst="rect">
            <a:avLst/>
          </a:prstGeom>
          <a:noFill/>
          <a:ln>
            <a:noFill/>
          </a:ln>
        </p:spPr>
        <p:txBody>
          <a:bodyPr spcFirstLastPara="1" wrap="square" lIns="0" tIns="0" rIns="0" bIns="0" anchor="t" anchorCtr="0">
            <a:spAutoFit/>
          </a:bodyPr>
          <a:lstStyle/>
          <a:p>
            <a:pPr lvl="0">
              <a:lnSpc>
                <a:spcPct val="159952"/>
              </a:lnSpc>
            </a:pPr>
            <a:r>
              <a:rPr lang="en-IN" sz="2400" b="1" dirty="0">
                <a:solidFill>
                  <a:schemeClr val="bg1"/>
                </a:solidFill>
              </a:rPr>
              <a:t>Component-Based </a:t>
            </a:r>
            <a:r>
              <a:rPr lang="en-IN" sz="2400" b="1" dirty="0" err="1">
                <a:solidFill>
                  <a:schemeClr val="bg1"/>
                </a:solidFill>
              </a:rPr>
              <a:t>Modeling</a:t>
            </a:r>
            <a:r>
              <a:rPr lang="en-IN" sz="2400" b="1" dirty="0">
                <a:solidFill>
                  <a:schemeClr val="bg1"/>
                </a:solidFill>
              </a:rPr>
              <a:t> Strategy</a:t>
            </a:r>
            <a:endParaRPr sz="1600" b="1" dirty="0">
              <a:solidFill>
                <a:schemeClr val="bg1"/>
              </a:solidFill>
            </a:endParaRPr>
          </a:p>
        </p:txBody>
      </p:sp>
      <p:sp>
        <p:nvSpPr>
          <p:cNvPr id="10" name="Rectangle 4">
            <a:extLst>
              <a:ext uri="{FF2B5EF4-FFF2-40B4-BE49-F238E27FC236}">
                <a16:creationId xmlns:a16="http://schemas.microsoft.com/office/drawing/2014/main" id="{C8FC3311-E8A1-3ECC-D4C5-5EF50C28187A}"/>
              </a:ext>
            </a:extLst>
          </p:cNvPr>
          <p:cNvSpPr>
            <a:spLocks noChangeArrowheads="1"/>
          </p:cNvSpPr>
          <p:nvPr/>
        </p:nvSpPr>
        <p:spPr bwMode="auto">
          <a:xfrm>
            <a:off x="882770" y="5735543"/>
            <a:ext cx="103060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GB" sz="2400" dirty="0">
                <a:solidFill>
                  <a:schemeClr val="bg1"/>
                </a:solidFill>
              </a:rPr>
              <a:t>“Fragment-based </a:t>
            </a:r>
            <a:r>
              <a:rPr lang="en-GB" sz="2400" dirty="0" err="1">
                <a:solidFill>
                  <a:schemeClr val="bg1"/>
                </a:solidFill>
              </a:rPr>
              <a:t>modeling</a:t>
            </a:r>
            <a:r>
              <a:rPr lang="en-GB" sz="2400" dirty="0">
                <a:solidFill>
                  <a:schemeClr val="bg1"/>
                </a:solidFill>
              </a:rPr>
              <a:t> is a standard approach for large biomolecules”</a:t>
            </a:r>
            <a:endParaRPr kumimoji="0" lang="en-US" altLang="en-US" sz="2400" b="0" i="0" u="none" strike="noStrike" cap="none" normalizeH="0" baseline="0" dirty="0">
              <a:ln>
                <a:noFill/>
              </a:ln>
              <a:solidFill>
                <a:schemeClr val="bg1"/>
              </a:solidFill>
              <a:effectLst/>
              <a:latin typeface="Arial" panose="020B0604020202020204" pitchFamily="34" charset="0"/>
            </a:endParaRPr>
          </a:p>
        </p:txBody>
      </p:sp>
      <p:sp>
        <p:nvSpPr>
          <p:cNvPr id="11" name="Rectangle 5">
            <a:extLst>
              <a:ext uri="{FF2B5EF4-FFF2-40B4-BE49-F238E27FC236}">
                <a16:creationId xmlns:a16="http://schemas.microsoft.com/office/drawing/2014/main" id="{2AFCB08B-9E01-E1EB-284C-D62E86C2B5C2}"/>
              </a:ext>
            </a:extLst>
          </p:cNvPr>
          <p:cNvSpPr>
            <a:spLocks noChangeArrowheads="1"/>
          </p:cNvSpPr>
          <p:nvPr/>
        </p:nvSpPr>
        <p:spPr bwMode="auto">
          <a:xfrm>
            <a:off x="1494971" y="3623342"/>
            <a:ext cx="743665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Decompose LTA into </a:t>
            </a:r>
            <a:r>
              <a:rPr kumimoji="0" lang="en-US" altLang="en-US" sz="2000" b="1" i="0" u="none" strike="noStrike" cap="none" normalizeH="0" baseline="0" dirty="0">
                <a:ln>
                  <a:noFill/>
                </a:ln>
                <a:solidFill>
                  <a:schemeClr val="bg1"/>
                </a:solidFill>
                <a:effectLst/>
                <a:latin typeface="Arial" panose="020B0604020202020204" pitchFamily="34" charset="0"/>
              </a:rPr>
              <a:t>representative molecular units</a:t>
            </a:r>
            <a:r>
              <a:rPr kumimoji="0" lang="en-US" altLang="en-US" sz="2000" b="0" i="0" u="none" strike="noStrike" cap="none" normalizeH="0" baseline="0" dirty="0">
                <a:ln>
                  <a:noFill/>
                </a:ln>
                <a:solidFill>
                  <a:schemeClr val="bg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Simulate each component using </a:t>
            </a:r>
            <a:r>
              <a:rPr kumimoji="0" lang="en-US" altLang="en-US" sz="2000" b="0" i="0" u="none" strike="noStrike" cap="none" normalizeH="0" baseline="0" dirty="0" err="1">
                <a:ln>
                  <a:noFill/>
                </a:ln>
                <a:solidFill>
                  <a:schemeClr val="bg1"/>
                </a:solidFill>
                <a:effectLst/>
                <a:latin typeface="Arial" panose="020B0604020202020204" pitchFamily="34" charset="0"/>
              </a:rPr>
              <a:t>DFT</a:t>
            </a:r>
            <a:r>
              <a:rPr kumimoji="0" lang="en-US" altLang="en-US" sz="2000" b="0" i="0" u="none" strike="noStrike" cap="none" normalizeH="0" baseline="0" dirty="0">
                <a:ln>
                  <a:noFill/>
                </a:ln>
                <a:solidFill>
                  <a:schemeClr val="bg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Combine spectral contributions to reconstruct LTA fingerprint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66"/>
        <p:cNvGrpSpPr/>
        <p:nvPr/>
      </p:nvGrpSpPr>
      <p:grpSpPr>
        <a:xfrm>
          <a:off x="0" y="0"/>
          <a:ext cx="0" cy="0"/>
          <a:chOff x="0" y="0"/>
          <a:chExt cx="0" cy="0"/>
        </a:xfrm>
      </p:grpSpPr>
      <p:pic>
        <p:nvPicPr>
          <p:cNvPr id="267" name="Google Shape;267;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68" name="Google Shape;268;p34" descr="image.png"/>
          <p:cNvPicPr preferRelativeResize="0"/>
          <p:nvPr/>
        </p:nvPicPr>
        <p:blipFill rotWithShape="1">
          <a:blip r:embed="rId4">
            <a:alphaModFix/>
          </a:blip>
          <a:srcRect/>
          <a:stretch/>
        </p:blipFill>
        <p:spPr>
          <a:xfrm>
            <a:off x="6327250" y="1451287"/>
            <a:ext cx="5048250" cy="3810000"/>
          </a:xfrm>
          <a:prstGeom prst="rect">
            <a:avLst/>
          </a:prstGeom>
          <a:noFill/>
          <a:ln>
            <a:noFill/>
          </a:ln>
        </p:spPr>
      </p:pic>
      <p:sp>
        <p:nvSpPr>
          <p:cNvPr id="269" name="Google Shape;269;p34"/>
          <p:cNvSpPr txBox="1"/>
          <p:nvPr/>
        </p:nvSpPr>
        <p:spPr>
          <a:xfrm>
            <a:off x="685675" y="1376537"/>
            <a:ext cx="530070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0" i="0" u="none" strike="noStrike" cap="none">
                <a:solidFill>
                  <a:srgbClr val="38BDF8"/>
                </a:solidFill>
                <a:latin typeface="Outfit SemiBold"/>
                <a:ea typeface="Outfit SemiBold"/>
                <a:cs typeface="Outfit SemiBold"/>
                <a:sym typeface="Outfit SemiBold"/>
              </a:rPr>
              <a:t>Simplifying the Polymer</a:t>
            </a:r>
            <a:endParaRPr sz="2000"/>
          </a:p>
        </p:txBody>
      </p:sp>
      <p:sp>
        <p:nvSpPr>
          <p:cNvPr id="271" name="Google Shape;271;p34"/>
          <p:cNvSpPr txBox="1"/>
          <p:nvPr/>
        </p:nvSpPr>
        <p:spPr>
          <a:xfrm>
            <a:off x="644349" y="2210648"/>
            <a:ext cx="5451649" cy="101566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0" i="0" u="none" strike="noStrike" cap="none" dirty="0">
                <a:solidFill>
                  <a:srgbClr val="CBD5E1"/>
                </a:solidFill>
                <a:latin typeface="Inter"/>
                <a:ea typeface="Inter"/>
                <a:cs typeface="Inter"/>
                <a:sym typeface="Inter"/>
              </a:rPr>
              <a:t>We isolated a representative glycerol-phosphate fragment containing two repeating units.</a:t>
            </a:r>
            <a:endParaRPr sz="2200" dirty="0"/>
          </a:p>
        </p:txBody>
      </p:sp>
      <p:sp>
        <p:nvSpPr>
          <p:cNvPr id="272" name="Google Shape;272;p34"/>
          <p:cNvSpPr txBox="1"/>
          <p:nvPr/>
        </p:nvSpPr>
        <p:spPr>
          <a:xfrm>
            <a:off x="644349" y="3576805"/>
            <a:ext cx="5342025" cy="135421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0" i="0" u="none" strike="noStrike" cap="none" dirty="0">
                <a:solidFill>
                  <a:srgbClr val="CBD5E1"/>
                </a:solidFill>
                <a:latin typeface="Inter"/>
                <a:ea typeface="Inter"/>
                <a:cs typeface="Inter"/>
                <a:sym typeface="Inter"/>
              </a:rPr>
              <a:t>This fragment successfully preserves the local chemical environment responsible for key Raman-active backbone vibrations.</a:t>
            </a:r>
            <a:endParaRPr sz="2200" dirty="0"/>
          </a:p>
        </p:txBody>
      </p:sp>
      <p:pic>
        <p:nvPicPr>
          <p:cNvPr id="273" name="Google Shape;273;p34" descr="image.png"/>
          <p:cNvPicPr preferRelativeResize="0"/>
          <p:nvPr/>
        </p:nvPicPr>
        <p:blipFill rotWithShape="1">
          <a:blip r:embed="rId5">
            <a:alphaModFix/>
          </a:blip>
          <a:srcRect/>
          <a:stretch/>
        </p:blipFill>
        <p:spPr>
          <a:xfrm>
            <a:off x="6478500" y="1615787"/>
            <a:ext cx="5029200" cy="3790950"/>
          </a:xfrm>
          <a:prstGeom prst="rect">
            <a:avLst/>
          </a:prstGeom>
          <a:noFill/>
          <a:ln>
            <a:noFill/>
          </a:ln>
        </p:spPr>
      </p:pic>
      <p:sp>
        <p:nvSpPr>
          <p:cNvPr id="275" name="Google Shape;275;p34"/>
          <p:cNvSpPr txBox="1"/>
          <p:nvPr/>
        </p:nvSpPr>
        <p:spPr>
          <a:xfrm>
            <a:off x="358600" y="2210648"/>
            <a:ext cx="1905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22D3EE"/>
                </a:solidFill>
                <a:latin typeface="Inter"/>
                <a:ea typeface="Inter"/>
                <a:cs typeface="Inter"/>
                <a:sym typeface="Inter"/>
              </a:rPr>
              <a:t>→</a:t>
            </a:r>
            <a:endParaRPr sz="2000"/>
          </a:p>
        </p:txBody>
      </p:sp>
      <p:sp>
        <p:nvSpPr>
          <p:cNvPr id="276" name="Google Shape;276;p34"/>
          <p:cNvSpPr txBox="1"/>
          <p:nvPr/>
        </p:nvSpPr>
        <p:spPr>
          <a:xfrm>
            <a:off x="358600" y="3576805"/>
            <a:ext cx="1905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22D3EE"/>
                </a:solidFill>
                <a:latin typeface="Inter"/>
                <a:ea typeface="Inter"/>
                <a:cs typeface="Inter"/>
                <a:sym typeface="Inter"/>
              </a:rPr>
              <a:t>→</a:t>
            </a:r>
            <a:endParaRPr sz="2000"/>
          </a:p>
        </p:txBody>
      </p:sp>
      <p:sp>
        <p:nvSpPr>
          <p:cNvPr id="277" name="Google Shape;277;p34"/>
          <p:cNvSpPr txBox="1"/>
          <p:nvPr/>
        </p:nvSpPr>
        <p:spPr>
          <a:xfrm>
            <a:off x="762000" y="571500"/>
            <a:ext cx="1120140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22D3EE"/>
                </a:solidFill>
                <a:latin typeface="Outfit SemiBold"/>
                <a:ea typeface="Outfit SemiBold"/>
                <a:cs typeface="Outfit SemiBold"/>
                <a:sym typeface="Outfit SemiBold"/>
              </a:rPr>
              <a:t>Modeling the LTA Fragment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95"/>
        <p:cNvGrpSpPr/>
        <p:nvPr/>
      </p:nvGrpSpPr>
      <p:grpSpPr>
        <a:xfrm>
          <a:off x="0" y="0"/>
          <a:ext cx="0" cy="0"/>
          <a:chOff x="0" y="0"/>
          <a:chExt cx="0" cy="0"/>
        </a:xfrm>
      </p:grpSpPr>
      <p:pic>
        <p:nvPicPr>
          <p:cNvPr id="296" name="Google Shape;296;p37"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297" name="Google Shape;297;p37"/>
          <p:cNvSpPr txBox="1"/>
          <p:nvPr/>
        </p:nvSpPr>
        <p:spPr>
          <a:xfrm>
            <a:off x="733425" y="15717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Structure of Lipoteichoic Acid</a:t>
            </a:r>
            <a:endParaRPr/>
          </a:p>
        </p:txBody>
      </p:sp>
      <p:sp>
        <p:nvSpPr>
          <p:cNvPr id="298" name="Google Shape;298;p37"/>
          <p:cNvSpPr txBox="1"/>
          <p:nvPr/>
        </p:nvSpPr>
        <p:spPr>
          <a:xfrm>
            <a:off x="548325" y="736950"/>
            <a:ext cx="11099400" cy="5192700"/>
          </a:xfrm>
          <a:prstGeom prst="rect">
            <a:avLst/>
          </a:prstGeom>
          <a:noFill/>
          <a:ln>
            <a:noFill/>
          </a:ln>
        </p:spPr>
        <p:txBody>
          <a:bodyPr spcFirstLastPara="1" wrap="square" lIns="91425" tIns="91425" rIns="91425" bIns="91425" anchor="t" anchorCtr="0">
            <a:spAutoFit/>
          </a:bodyPr>
          <a:lstStyle/>
          <a:p>
            <a:pPr marL="457200" lvl="0" indent="-387350" algn="l" rtl="0">
              <a:lnSpc>
                <a:spcPct val="115000"/>
              </a:lnSpc>
              <a:spcBef>
                <a:spcPts val="1200"/>
              </a:spcBef>
              <a:spcAft>
                <a:spcPts val="0"/>
              </a:spcAft>
              <a:buClr>
                <a:schemeClr val="lt1"/>
              </a:buClr>
              <a:buSzPts val="2500"/>
              <a:buChar char="●"/>
            </a:pPr>
            <a:r>
              <a:rPr lang="en-US" sz="2200" dirty="0">
                <a:solidFill>
                  <a:schemeClr val="lt1"/>
                </a:solidFill>
              </a:rPr>
              <a:t>Lipoteichoic acid consists of three structural components:</a:t>
            </a:r>
            <a:endParaRPr sz="2200" dirty="0">
              <a:solidFill>
                <a:schemeClr val="lt1"/>
              </a:solidFill>
            </a:endParaRPr>
          </a:p>
          <a:p>
            <a:pPr marL="457200" lvl="0" indent="0" algn="l" rtl="0">
              <a:lnSpc>
                <a:spcPct val="115000"/>
              </a:lnSpc>
              <a:spcBef>
                <a:spcPts val="1200"/>
              </a:spcBef>
              <a:spcAft>
                <a:spcPts val="0"/>
              </a:spcAft>
              <a:buNone/>
            </a:pPr>
            <a:r>
              <a:rPr lang="en-US" sz="2200" dirty="0">
                <a:solidFill>
                  <a:schemeClr val="lt1"/>
                </a:solidFill>
              </a:rPr>
              <a:t> • </a:t>
            </a:r>
            <a:r>
              <a:rPr lang="en-US" sz="2200" b="1" dirty="0">
                <a:solidFill>
                  <a:schemeClr val="lt1"/>
                </a:solidFill>
              </a:rPr>
              <a:t>Glycolipid membrane anchor</a:t>
            </a:r>
            <a:br>
              <a:rPr lang="en-US" sz="2200" b="1" dirty="0">
                <a:solidFill>
                  <a:schemeClr val="lt1"/>
                </a:solidFill>
              </a:rPr>
            </a:br>
            <a:r>
              <a:rPr lang="en-US" sz="2200" dirty="0">
                <a:solidFill>
                  <a:schemeClr val="lt1"/>
                </a:solidFill>
              </a:rPr>
              <a:t> • </a:t>
            </a:r>
            <a:r>
              <a:rPr lang="en-US" sz="2200" b="1" dirty="0">
                <a:solidFill>
                  <a:schemeClr val="lt1"/>
                </a:solidFill>
              </a:rPr>
              <a:t>Poly(glycerol–phosphate) backbone</a:t>
            </a:r>
            <a:br>
              <a:rPr lang="en-US" sz="2200" b="1" dirty="0">
                <a:solidFill>
                  <a:schemeClr val="lt1"/>
                </a:solidFill>
              </a:rPr>
            </a:br>
            <a:r>
              <a:rPr lang="en-US" sz="2200" dirty="0">
                <a:solidFill>
                  <a:schemeClr val="lt1"/>
                </a:solidFill>
              </a:rPr>
              <a:t> • </a:t>
            </a:r>
            <a:r>
              <a:rPr lang="en-US" sz="2200" b="1" dirty="0">
                <a:solidFill>
                  <a:schemeClr val="lt1"/>
                </a:solidFill>
              </a:rPr>
              <a:t>Substituent groups</a:t>
            </a:r>
            <a:r>
              <a:rPr lang="en-US" sz="2200" dirty="0">
                <a:solidFill>
                  <a:schemeClr val="lt1"/>
                </a:solidFill>
              </a:rPr>
              <a:t> such as D-alanine residues or sugars</a:t>
            </a:r>
            <a:endParaRPr sz="2200" dirty="0">
              <a:solidFill>
                <a:schemeClr val="lt1"/>
              </a:solidFill>
            </a:endParaRPr>
          </a:p>
          <a:p>
            <a:pPr marL="457200" lvl="0" indent="0" algn="l" rtl="0">
              <a:lnSpc>
                <a:spcPct val="115000"/>
              </a:lnSpc>
              <a:spcBef>
                <a:spcPts val="1200"/>
              </a:spcBef>
              <a:spcAft>
                <a:spcPts val="0"/>
              </a:spcAft>
              <a:buNone/>
            </a:pPr>
            <a:r>
              <a:rPr lang="en-US" sz="2200" dirty="0">
                <a:solidFill>
                  <a:schemeClr val="lt1"/>
                </a:solidFill>
              </a:rPr>
              <a:t>The backbone is composed of repeating units:</a:t>
            </a:r>
            <a:endParaRPr sz="2200" dirty="0">
              <a:solidFill>
                <a:schemeClr val="lt1"/>
              </a:solidFill>
            </a:endParaRPr>
          </a:p>
          <a:p>
            <a:pPr marL="457200" lvl="0" indent="0" algn="l" rtl="0">
              <a:lnSpc>
                <a:spcPct val="115000"/>
              </a:lnSpc>
              <a:spcBef>
                <a:spcPts val="1200"/>
              </a:spcBef>
              <a:spcAft>
                <a:spcPts val="0"/>
              </a:spcAft>
              <a:buNone/>
            </a:pPr>
            <a:r>
              <a:rPr lang="en-US" sz="2200" dirty="0">
                <a:solidFill>
                  <a:schemeClr val="lt1"/>
                </a:solidFill>
                <a:highlight>
                  <a:srgbClr val="808080"/>
                </a:highlight>
              </a:rPr>
              <a:t>glycerol – phosphate – glycerol – phosphate</a:t>
            </a:r>
            <a:endParaRPr sz="2200" dirty="0">
              <a:solidFill>
                <a:schemeClr val="lt1"/>
              </a:solidFill>
              <a:highlight>
                <a:srgbClr val="808080"/>
              </a:highlight>
            </a:endParaRPr>
          </a:p>
          <a:p>
            <a:pPr marL="457200" lvl="0" indent="-387350" algn="l" rtl="0">
              <a:lnSpc>
                <a:spcPct val="115000"/>
              </a:lnSpc>
              <a:spcBef>
                <a:spcPts val="1200"/>
              </a:spcBef>
              <a:spcAft>
                <a:spcPts val="0"/>
              </a:spcAft>
              <a:buClr>
                <a:schemeClr val="lt1"/>
              </a:buClr>
              <a:buSzPts val="2500"/>
              <a:buChar char="●"/>
            </a:pPr>
            <a:r>
              <a:rPr lang="en-US" sz="2200" dirty="0">
                <a:solidFill>
                  <a:schemeClr val="lt1"/>
                </a:solidFill>
              </a:rPr>
              <a:t>Typical LTA molecules contain </a:t>
            </a:r>
            <a:r>
              <a:rPr lang="en-US" sz="2200" b="1" dirty="0">
                <a:solidFill>
                  <a:schemeClr val="lt1"/>
                </a:solidFill>
              </a:rPr>
              <a:t>10–20 repeating glycerol–phosphate units</a:t>
            </a:r>
            <a:r>
              <a:rPr lang="en-US" sz="2200" dirty="0">
                <a:solidFill>
                  <a:schemeClr val="lt1"/>
                </a:solidFill>
              </a:rPr>
              <a:t>, producing large polymers with hundreds of atoms.</a:t>
            </a:r>
            <a:endParaRPr sz="2200" dirty="0">
              <a:solidFill>
                <a:schemeClr val="lt1"/>
              </a:solidFill>
            </a:endParaRPr>
          </a:p>
          <a:p>
            <a:pPr marL="457200" lvl="0" indent="-387350" algn="l" rtl="0">
              <a:lnSpc>
                <a:spcPct val="115000"/>
              </a:lnSpc>
              <a:spcBef>
                <a:spcPts val="0"/>
              </a:spcBef>
              <a:spcAft>
                <a:spcPts val="0"/>
              </a:spcAft>
              <a:buClr>
                <a:schemeClr val="lt1"/>
              </a:buClr>
              <a:buSzPts val="2500"/>
              <a:buChar char="●"/>
            </a:pPr>
            <a:r>
              <a:rPr lang="en-US" sz="2200" dirty="0">
                <a:solidFill>
                  <a:schemeClr val="lt1"/>
                </a:solidFill>
              </a:rPr>
              <a:t>Because the full polymer is </a:t>
            </a:r>
            <a:r>
              <a:rPr lang="en-US" sz="2200" b="1" dirty="0">
                <a:solidFill>
                  <a:schemeClr val="lt1"/>
                </a:solidFill>
              </a:rPr>
              <a:t>computationally expensive for quantum simulations</a:t>
            </a:r>
            <a:r>
              <a:rPr lang="en-US" sz="2200" dirty="0">
                <a:solidFill>
                  <a:schemeClr val="lt1"/>
                </a:solidFill>
              </a:rPr>
              <a:t>, smaller molecular fragments are often used to represent the </a:t>
            </a:r>
            <a:r>
              <a:rPr lang="en-US" sz="2200" b="1" dirty="0">
                <a:solidFill>
                  <a:schemeClr val="lt1"/>
                </a:solidFill>
              </a:rPr>
              <a:t>local chemical environment responsible for Raman-active vibrations</a:t>
            </a:r>
            <a:r>
              <a:rPr lang="en-US" sz="2200" dirty="0">
                <a:solidFill>
                  <a:schemeClr val="lt1"/>
                </a:solidFill>
              </a:rPr>
              <a:t>.</a:t>
            </a:r>
            <a:endParaRPr sz="2500" b="1" dirty="0">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81"/>
        <p:cNvGrpSpPr/>
        <p:nvPr/>
      </p:nvGrpSpPr>
      <p:grpSpPr>
        <a:xfrm>
          <a:off x="0" y="0"/>
          <a:ext cx="0" cy="0"/>
          <a:chOff x="0" y="0"/>
          <a:chExt cx="0" cy="0"/>
        </a:xfrm>
      </p:grpSpPr>
      <p:pic>
        <p:nvPicPr>
          <p:cNvPr id="282" name="Google Shape;282;p35"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283" name="Google Shape;283;p35"/>
          <p:cNvSpPr txBox="1"/>
          <p:nvPr/>
        </p:nvSpPr>
        <p:spPr>
          <a:xfrm>
            <a:off x="366450" y="409850"/>
            <a:ext cx="11459100" cy="550917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2000" dirty="0">
                <a:solidFill>
                  <a:schemeClr val="lt1"/>
                </a:solidFill>
              </a:rPr>
              <a:t>Lipoteichoic acid (LTA) is a key structural component of </a:t>
            </a:r>
            <a:r>
              <a:rPr lang="en-US" sz="2000" b="1" dirty="0">
                <a:solidFill>
                  <a:schemeClr val="lt1"/>
                </a:solidFill>
              </a:rPr>
              <a:t>Gram-positive bacterial cell walls</a:t>
            </a:r>
            <a:r>
              <a:rPr lang="en-US" sz="2000" dirty="0">
                <a:solidFill>
                  <a:schemeClr val="lt1"/>
                </a:solidFill>
              </a:rPr>
              <a:t>.</a:t>
            </a:r>
            <a:br>
              <a:rPr lang="en-US" sz="2000" dirty="0">
                <a:solidFill>
                  <a:schemeClr val="lt1"/>
                </a:solidFill>
              </a:rPr>
            </a:br>
            <a:r>
              <a:rPr lang="en-US" sz="2000" dirty="0">
                <a:solidFill>
                  <a:schemeClr val="lt1"/>
                </a:solidFill>
              </a:rPr>
              <a:t> It is anchored to the membrane through a glycolipid and extends outward as a polymer of </a:t>
            </a:r>
            <a:r>
              <a:rPr lang="en-US" sz="2000" b="1" dirty="0">
                <a:solidFill>
                  <a:schemeClr val="lt1"/>
                </a:solidFill>
              </a:rPr>
              <a:t>repeating glycerol–phosphate units</a:t>
            </a:r>
            <a:r>
              <a:rPr lang="en-US" sz="2000" dirty="0">
                <a:solidFill>
                  <a:schemeClr val="lt1"/>
                </a:solidFill>
              </a:rPr>
              <a:t>.</a:t>
            </a:r>
            <a:endParaRPr sz="2000" dirty="0">
              <a:solidFill>
                <a:schemeClr val="lt1"/>
              </a:solidFill>
            </a:endParaRPr>
          </a:p>
          <a:p>
            <a:pPr marL="0" lvl="0" indent="0" algn="l" rtl="0">
              <a:lnSpc>
                <a:spcPct val="115000"/>
              </a:lnSpc>
              <a:spcBef>
                <a:spcPts val="1200"/>
              </a:spcBef>
              <a:spcAft>
                <a:spcPts val="0"/>
              </a:spcAft>
              <a:buNone/>
            </a:pPr>
            <a:r>
              <a:rPr lang="en-US" sz="2000" dirty="0">
                <a:solidFill>
                  <a:schemeClr val="lt1"/>
                </a:solidFill>
              </a:rPr>
              <a:t>General structure:</a:t>
            </a:r>
            <a:endParaRPr sz="2000" dirty="0">
              <a:solidFill>
                <a:schemeClr val="lt1"/>
              </a:solidFill>
            </a:endParaRPr>
          </a:p>
          <a:p>
            <a:pPr marL="0" lvl="0" indent="0" algn="l" rtl="0">
              <a:lnSpc>
                <a:spcPct val="115000"/>
              </a:lnSpc>
              <a:spcBef>
                <a:spcPts val="1200"/>
              </a:spcBef>
              <a:spcAft>
                <a:spcPts val="0"/>
              </a:spcAft>
              <a:buNone/>
            </a:pPr>
            <a:r>
              <a:rPr lang="en-US" sz="2000" b="1" dirty="0">
                <a:solidFill>
                  <a:schemeClr val="lt1"/>
                </a:solidFill>
              </a:rPr>
              <a:t>Lipid anchor – (Gro–P)ₙ</a:t>
            </a:r>
            <a:endParaRPr sz="2000" b="1" dirty="0">
              <a:solidFill>
                <a:schemeClr val="lt1"/>
              </a:solidFill>
            </a:endParaRPr>
          </a:p>
          <a:p>
            <a:pPr marL="0" lvl="0" indent="0" algn="l" rtl="0">
              <a:lnSpc>
                <a:spcPct val="115000"/>
              </a:lnSpc>
              <a:spcBef>
                <a:spcPts val="1200"/>
              </a:spcBef>
              <a:spcAft>
                <a:spcPts val="0"/>
              </a:spcAft>
              <a:buNone/>
            </a:pPr>
            <a:r>
              <a:rPr lang="en-US" sz="2000" dirty="0">
                <a:solidFill>
                  <a:schemeClr val="lt1"/>
                </a:solidFill>
              </a:rPr>
              <a:t>where:</a:t>
            </a:r>
            <a:endParaRPr sz="2000" dirty="0">
              <a:solidFill>
                <a:schemeClr val="lt1"/>
              </a:solidFill>
            </a:endParaRPr>
          </a:p>
          <a:p>
            <a:pPr marL="0" lvl="0" indent="0" algn="l" rtl="0">
              <a:lnSpc>
                <a:spcPct val="115000"/>
              </a:lnSpc>
              <a:spcBef>
                <a:spcPts val="1200"/>
              </a:spcBef>
              <a:spcAft>
                <a:spcPts val="0"/>
              </a:spcAft>
              <a:buNone/>
            </a:pPr>
            <a:r>
              <a:rPr lang="en-US" sz="2000" dirty="0">
                <a:solidFill>
                  <a:schemeClr val="lt1"/>
                </a:solidFill>
              </a:rPr>
              <a:t>Gro = glycerol</a:t>
            </a:r>
            <a:br>
              <a:rPr lang="en-US" sz="2000" dirty="0">
                <a:solidFill>
                  <a:schemeClr val="lt1"/>
                </a:solidFill>
              </a:rPr>
            </a:br>
            <a:r>
              <a:rPr lang="en-US" sz="2000" dirty="0">
                <a:solidFill>
                  <a:schemeClr val="lt1"/>
                </a:solidFill>
              </a:rPr>
              <a:t> P = phosphate</a:t>
            </a:r>
            <a:endParaRPr sz="2000" dirty="0">
              <a:solidFill>
                <a:schemeClr val="lt1"/>
              </a:solidFill>
            </a:endParaRPr>
          </a:p>
          <a:p>
            <a:pPr marL="0" lvl="0" indent="0" algn="l" rtl="0">
              <a:lnSpc>
                <a:spcPct val="115000"/>
              </a:lnSpc>
              <a:spcBef>
                <a:spcPts val="1200"/>
              </a:spcBef>
              <a:spcAft>
                <a:spcPts val="0"/>
              </a:spcAft>
              <a:buNone/>
            </a:pPr>
            <a:r>
              <a:rPr lang="en-US" sz="2000" dirty="0">
                <a:solidFill>
                  <a:schemeClr val="lt1"/>
                </a:solidFill>
              </a:rPr>
              <a:t>LTA contributes to:</a:t>
            </a:r>
            <a:endParaRPr sz="2000" dirty="0">
              <a:solidFill>
                <a:schemeClr val="lt1"/>
              </a:solidFill>
            </a:endParaRPr>
          </a:p>
          <a:p>
            <a:pPr marL="457200" lvl="0" indent="-342900" algn="l" rtl="0">
              <a:lnSpc>
                <a:spcPct val="115000"/>
              </a:lnSpc>
              <a:spcBef>
                <a:spcPts val="1200"/>
              </a:spcBef>
              <a:spcAft>
                <a:spcPts val="0"/>
              </a:spcAft>
              <a:buClr>
                <a:schemeClr val="lt1"/>
              </a:buClr>
              <a:buSzPts val="1800"/>
              <a:buChar char="●"/>
            </a:pPr>
            <a:r>
              <a:rPr lang="en-US" sz="2000" dirty="0">
                <a:solidFill>
                  <a:schemeClr val="lt1"/>
                </a:solidFill>
              </a:rPr>
              <a:t>bacterial adhesion</a:t>
            </a:r>
            <a:endParaRPr sz="2000" dirty="0">
              <a:solidFill>
                <a:schemeClr val="lt1"/>
              </a:solidFill>
            </a:endParaRPr>
          </a:p>
          <a:p>
            <a:pPr marL="457200" lvl="0" indent="-342900" algn="l" rtl="0">
              <a:lnSpc>
                <a:spcPct val="115000"/>
              </a:lnSpc>
              <a:spcBef>
                <a:spcPts val="0"/>
              </a:spcBef>
              <a:spcAft>
                <a:spcPts val="0"/>
              </a:spcAft>
              <a:buClr>
                <a:schemeClr val="lt1"/>
              </a:buClr>
              <a:buSzPts val="1800"/>
              <a:buChar char="●"/>
            </a:pPr>
            <a:r>
              <a:rPr lang="en-US" sz="2000" dirty="0">
                <a:solidFill>
                  <a:schemeClr val="lt1"/>
                </a:solidFill>
              </a:rPr>
              <a:t>cell wall maintenance</a:t>
            </a:r>
            <a:endParaRPr sz="2000" dirty="0">
              <a:solidFill>
                <a:schemeClr val="lt1"/>
              </a:solidFill>
            </a:endParaRPr>
          </a:p>
          <a:p>
            <a:pPr marL="457200" lvl="0" indent="-342900" algn="l" rtl="0">
              <a:lnSpc>
                <a:spcPct val="115000"/>
              </a:lnSpc>
              <a:spcBef>
                <a:spcPts val="0"/>
              </a:spcBef>
              <a:spcAft>
                <a:spcPts val="0"/>
              </a:spcAft>
              <a:buClr>
                <a:schemeClr val="lt1"/>
              </a:buClr>
              <a:buSzPts val="1800"/>
              <a:buChar char="●"/>
            </a:pPr>
            <a:r>
              <a:rPr lang="en-US" sz="2000" dirty="0">
                <a:solidFill>
                  <a:schemeClr val="lt1"/>
                </a:solidFill>
              </a:rPr>
              <a:t>activation of host immune responses through receptors such as </a:t>
            </a:r>
            <a:r>
              <a:rPr lang="en-US" sz="2000" b="1" dirty="0">
                <a:solidFill>
                  <a:schemeClr val="lt1"/>
                </a:solidFill>
              </a:rPr>
              <a:t>Toll-like receptor 2</a:t>
            </a:r>
            <a:endParaRPr sz="2000" b="1" dirty="0">
              <a:solidFill>
                <a:schemeClr val="lt1"/>
              </a:solidFill>
            </a:endParaRPr>
          </a:p>
        </p:txBody>
      </p:sp>
      <p:pic>
        <p:nvPicPr>
          <p:cNvPr id="284" name="Google Shape;284;p35"/>
          <p:cNvPicPr preferRelativeResize="0"/>
          <p:nvPr/>
        </p:nvPicPr>
        <p:blipFill>
          <a:blip r:embed="rId4">
            <a:alphaModFix/>
          </a:blip>
          <a:stretch>
            <a:fillRect/>
          </a:stretch>
        </p:blipFill>
        <p:spPr>
          <a:xfrm>
            <a:off x="5237100" y="1787775"/>
            <a:ext cx="6125188" cy="26716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88"/>
        <p:cNvGrpSpPr/>
        <p:nvPr/>
      </p:nvGrpSpPr>
      <p:grpSpPr>
        <a:xfrm>
          <a:off x="0" y="0"/>
          <a:ext cx="0" cy="0"/>
          <a:chOff x="0" y="0"/>
          <a:chExt cx="0" cy="0"/>
        </a:xfrm>
      </p:grpSpPr>
      <p:pic>
        <p:nvPicPr>
          <p:cNvPr id="289" name="Google Shape;289;p36"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290" name="Google Shape;290;p36"/>
          <p:cNvSpPr txBox="1"/>
          <p:nvPr/>
        </p:nvSpPr>
        <p:spPr>
          <a:xfrm>
            <a:off x="733425" y="15717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 Spectroscopy and DFT</a:t>
            </a:r>
            <a:endParaRPr/>
          </a:p>
        </p:txBody>
      </p:sp>
      <p:sp>
        <p:nvSpPr>
          <p:cNvPr id="291" name="Google Shape;291;p36"/>
          <p:cNvSpPr txBox="1"/>
          <p:nvPr/>
        </p:nvSpPr>
        <p:spPr>
          <a:xfrm>
            <a:off x="548325" y="736950"/>
            <a:ext cx="11459100" cy="584772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Aft>
                <a:spcPts val="0"/>
              </a:spcAft>
              <a:buNone/>
            </a:pPr>
            <a:r>
              <a:rPr lang="en-US" sz="2000" b="1" dirty="0">
                <a:solidFill>
                  <a:schemeClr val="lt1"/>
                </a:solidFill>
              </a:rPr>
              <a:t>Raman spectroscopy</a:t>
            </a:r>
            <a:r>
              <a:rPr lang="en-US" sz="2000" dirty="0">
                <a:solidFill>
                  <a:schemeClr val="lt1"/>
                </a:solidFill>
              </a:rPr>
              <a:t> is a vibrational technique that provides </a:t>
            </a:r>
            <a:r>
              <a:rPr lang="en-US" sz="2000" b="1" dirty="0">
                <a:solidFill>
                  <a:schemeClr val="lt1"/>
                </a:solidFill>
              </a:rPr>
              <a:t>molecular fingerprints</a:t>
            </a:r>
            <a:r>
              <a:rPr lang="en-US" sz="2000" dirty="0">
                <a:solidFill>
                  <a:schemeClr val="lt1"/>
                </a:solidFill>
              </a:rPr>
              <a:t> based on characteristic vibrational modes.</a:t>
            </a:r>
            <a:endParaRPr sz="2000" dirty="0">
              <a:solidFill>
                <a:schemeClr val="lt1"/>
              </a:solidFill>
            </a:endParaRPr>
          </a:p>
          <a:p>
            <a:pPr marL="0" lvl="0" indent="0" algn="l" rtl="0">
              <a:lnSpc>
                <a:spcPct val="115000"/>
              </a:lnSpc>
              <a:spcAft>
                <a:spcPts val="0"/>
              </a:spcAft>
              <a:buNone/>
            </a:pPr>
            <a:r>
              <a:rPr lang="en-US" sz="2000" dirty="0">
                <a:solidFill>
                  <a:schemeClr val="lt1"/>
                </a:solidFill>
              </a:rPr>
              <a:t>Advantages:</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label-free detection</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minimal sample preparation</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useful for identifying bacterial components</a:t>
            </a:r>
            <a:endParaRPr sz="2000" dirty="0">
              <a:solidFill>
                <a:schemeClr val="lt1"/>
              </a:solidFill>
            </a:endParaRPr>
          </a:p>
          <a:p>
            <a:pPr marL="0" lvl="0" indent="0" algn="l" rtl="0">
              <a:lnSpc>
                <a:spcPct val="115000"/>
              </a:lnSpc>
              <a:spcAft>
                <a:spcPts val="0"/>
              </a:spcAft>
              <a:buNone/>
            </a:pPr>
            <a:r>
              <a:rPr lang="en-US" sz="2000" dirty="0">
                <a:solidFill>
                  <a:schemeClr val="lt1"/>
                </a:solidFill>
              </a:rPr>
              <a:t>However, experimental Raman spectra often contain </a:t>
            </a:r>
            <a:r>
              <a:rPr lang="en-US" sz="2000" b="1" dirty="0">
                <a:solidFill>
                  <a:schemeClr val="lt1"/>
                </a:solidFill>
              </a:rPr>
              <a:t>overlapping bands and complex vibrational couplings</a:t>
            </a:r>
            <a:r>
              <a:rPr lang="en-US" sz="2000" dirty="0">
                <a:solidFill>
                  <a:schemeClr val="lt1"/>
                </a:solidFill>
              </a:rPr>
              <a:t>.</a:t>
            </a:r>
            <a:endParaRPr sz="2000" dirty="0">
              <a:solidFill>
                <a:schemeClr val="lt1"/>
              </a:solidFill>
            </a:endParaRPr>
          </a:p>
          <a:p>
            <a:pPr marL="0" lvl="0" indent="0" algn="l" rtl="0">
              <a:lnSpc>
                <a:spcPct val="115000"/>
              </a:lnSpc>
              <a:spcAft>
                <a:spcPts val="0"/>
              </a:spcAft>
              <a:buNone/>
            </a:pPr>
            <a:r>
              <a:rPr lang="en-US" sz="2000" dirty="0">
                <a:solidFill>
                  <a:schemeClr val="lt1"/>
                </a:solidFill>
              </a:rPr>
              <a:t>To improve interpretation, </a:t>
            </a:r>
            <a:r>
              <a:rPr lang="en-US" sz="2000" b="1" dirty="0">
                <a:solidFill>
                  <a:schemeClr val="lt1"/>
                </a:solidFill>
              </a:rPr>
              <a:t>Density Functional Theory (DFT)</a:t>
            </a:r>
            <a:r>
              <a:rPr lang="en-US" sz="2000" dirty="0">
                <a:solidFill>
                  <a:schemeClr val="lt1"/>
                </a:solidFill>
              </a:rPr>
              <a:t> simulations are used to:</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calculate </a:t>
            </a:r>
            <a:r>
              <a:rPr lang="en-US" sz="2000" b="1" dirty="0">
                <a:solidFill>
                  <a:schemeClr val="lt1"/>
                </a:solidFill>
              </a:rPr>
              <a:t>vibrational frequencies</a:t>
            </a:r>
            <a:endParaRPr sz="2000" b="1"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determine </a:t>
            </a:r>
            <a:r>
              <a:rPr lang="en-US" sz="2000" b="1" dirty="0">
                <a:solidFill>
                  <a:schemeClr val="lt1"/>
                </a:solidFill>
              </a:rPr>
              <a:t>Raman activities</a:t>
            </a:r>
            <a:endParaRPr sz="2000" b="1"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assign experimental bands to </a:t>
            </a:r>
            <a:r>
              <a:rPr lang="en-US" sz="2000" b="1" dirty="0">
                <a:solidFill>
                  <a:schemeClr val="lt1"/>
                </a:solidFill>
              </a:rPr>
              <a:t>specific molecular vibrations</a:t>
            </a:r>
            <a:endParaRPr sz="2000" b="1" dirty="0">
              <a:solidFill>
                <a:schemeClr val="lt1"/>
              </a:solidFill>
            </a:endParaRPr>
          </a:p>
          <a:p>
            <a:pPr marL="0" lvl="0" indent="0" algn="l" rtl="0">
              <a:lnSpc>
                <a:spcPct val="115000"/>
              </a:lnSpc>
              <a:spcAft>
                <a:spcPts val="0"/>
              </a:spcAft>
              <a:buNone/>
            </a:pPr>
            <a:r>
              <a:rPr lang="en-US" sz="2000" b="1" dirty="0">
                <a:solidFill>
                  <a:schemeClr val="lt1"/>
                </a:solidFill>
              </a:rPr>
              <a:t>Objective of this work</a:t>
            </a:r>
            <a:endParaRPr sz="2000" b="1"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Model a glycerol–phosphate fragment representing the LTA backbone</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Calculate its Raman spectrum using DFT</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Identify characteristic vibrational modes of phosphate and glycerol groups</a:t>
            </a:r>
            <a:endParaRPr sz="3200" dirty="0">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02"/>
        <p:cNvGrpSpPr/>
        <p:nvPr/>
      </p:nvGrpSpPr>
      <p:grpSpPr>
        <a:xfrm>
          <a:off x="0" y="0"/>
          <a:ext cx="0" cy="0"/>
          <a:chOff x="0" y="0"/>
          <a:chExt cx="0" cy="0"/>
        </a:xfrm>
      </p:grpSpPr>
      <p:pic>
        <p:nvPicPr>
          <p:cNvPr id="303" name="Google Shape;303;p38"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304" name="Google Shape;304;p38"/>
          <p:cNvSpPr txBox="1"/>
          <p:nvPr/>
        </p:nvSpPr>
        <p:spPr>
          <a:xfrm>
            <a:off x="733425" y="15717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 Molecular Fragment and Structure Construction</a:t>
            </a:r>
            <a:endParaRPr/>
          </a:p>
        </p:txBody>
      </p:sp>
      <p:graphicFrame>
        <p:nvGraphicFramePr>
          <p:cNvPr id="305" name="Google Shape;305;p38"/>
          <p:cNvGraphicFramePr/>
          <p:nvPr/>
        </p:nvGraphicFramePr>
        <p:xfrm>
          <a:off x="1937413" y="2442175"/>
          <a:ext cx="4940875" cy="2171633"/>
        </p:xfrm>
        <a:graphic>
          <a:graphicData uri="http://schemas.openxmlformats.org/drawingml/2006/table">
            <a:tbl>
              <a:tblPr>
                <a:noFill/>
                <a:tableStyleId>{6BDF8E39-C772-4976-A565-66580A3E178B}</a:tableStyleId>
              </a:tblPr>
              <a:tblGrid>
                <a:gridCol w="1865900">
                  <a:extLst>
                    <a:ext uri="{9D8B030D-6E8A-4147-A177-3AD203B41FA5}">
                      <a16:colId xmlns:a16="http://schemas.microsoft.com/office/drawing/2014/main" val="20000"/>
                    </a:ext>
                  </a:extLst>
                </a:gridCol>
                <a:gridCol w="3074975">
                  <a:extLst>
                    <a:ext uri="{9D8B030D-6E8A-4147-A177-3AD203B41FA5}">
                      <a16:colId xmlns:a16="http://schemas.microsoft.com/office/drawing/2014/main" val="20001"/>
                    </a:ext>
                  </a:extLst>
                </a:gridCol>
              </a:tblGrid>
              <a:tr h="0">
                <a:tc>
                  <a:txBody>
                    <a:bodyPr/>
                    <a:lstStyle/>
                    <a:p>
                      <a:pPr marL="0" lvl="0" indent="0" algn="ctr" rtl="0">
                        <a:lnSpc>
                          <a:spcPct val="115000"/>
                        </a:lnSpc>
                        <a:spcBef>
                          <a:spcPts val="0"/>
                        </a:spcBef>
                        <a:spcAft>
                          <a:spcPts val="0"/>
                        </a:spcAft>
                        <a:buNone/>
                      </a:pPr>
                      <a:r>
                        <a:rPr lang="en-US" sz="1100" b="1">
                          <a:solidFill>
                            <a:schemeClr val="lt1"/>
                          </a:solidFill>
                        </a:rPr>
                        <a:t>Functional Group</a:t>
                      </a:r>
                      <a:endParaRPr sz="11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100" b="1">
                          <a:solidFill>
                            <a:schemeClr val="lt1"/>
                          </a:solidFill>
                        </a:rPr>
                        <a:t>Role in Raman Spectrum</a:t>
                      </a:r>
                      <a:endParaRPr sz="11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623750">
                <a:tc>
                  <a:txBody>
                    <a:bodyPr/>
                    <a:lstStyle/>
                    <a:p>
                      <a:pPr marL="0" lvl="0" indent="0" algn="l" rtl="0">
                        <a:spcBef>
                          <a:spcPts val="0"/>
                        </a:spcBef>
                        <a:spcAft>
                          <a:spcPts val="0"/>
                        </a:spcAft>
                        <a:buNone/>
                      </a:pPr>
                      <a:r>
                        <a:rPr lang="en-US">
                          <a:solidFill>
                            <a:schemeClr val="lt1"/>
                          </a:solidFill>
                        </a:rPr>
                        <a:t>Phosphate (PO₄)</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lt1"/>
                          </a:solidFill>
                        </a:rPr>
                        <a:t>Strong Raman-active vibrations</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US">
                          <a:solidFill>
                            <a:schemeClr val="lt1"/>
                          </a:solidFill>
                        </a:rPr>
                        <a:t>C–O–P linkage</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lt1"/>
                          </a:solidFill>
                        </a:rPr>
                        <a:t>Backbone vibrational modes</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US">
                          <a:solidFill>
                            <a:schemeClr val="lt1"/>
                          </a:solidFill>
                        </a:rPr>
                        <a:t>Hydroxyl groups</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lt1"/>
                          </a:solidFill>
                        </a:rPr>
                        <a:t>Hydrogen bonding interactions</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US">
                          <a:solidFill>
                            <a:schemeClr val="lt1"/>
                          </a:solidFill>
                        </a:rPr>
                        <a:t>Glycerol backbone</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lt1"/>
                          </a:solidFill>
                        </a:rPr>
                        <a:t>Carbon–oxygen vibrations</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06" name="Google Shape;306;p38"/>
          <p:cNvSpPr txBox="1"/>
          <p:nvPr/>
        </p:nvSpPr>
        <p:spPr>
          <a:xfrm>
            <a:off x="831525" y="698925"/>
            <a:ext cx="9976500" cy="5900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700" dirty="0">
                <a:solidFill>
                  <a:schemeClr val="lt1"/>
                </a:solidFill>
              </a:rPr>
              <a:t>To model the LTA backbone, a representative </a:t>
            </a:r>
            <a:r>
              <a:rPr lang="en-US" sz="1700" b="1" dirty="0">
                <a:solidFill>
                  <a:schemeClr val="lt1"/>
                </a:solidFill>
              </a:rPr>
              <a:t>glycerol–phosphate fragment</a:t>
            </a:r>
            <a:r>
              <a:rPr lang="en-US" sz="1700" dirty="0">
                <a:solidFill>
                  <a:schemeClr val="lt1"/>
                </a:solidFill>
              </a:rPr>
              <a:t> containing two repeating units was used:</a:t>
            </a:r>
            <a:endParaRPr sz="2100" dirty="0">
              <a:solidFill>
                <a:schemeClr val="lt1"/>
              </a:solidFill>
            </a:endParaRPr>
          </a:p>
          <a:p>
            <a:pPr marL="0" lvl="0" indent="0" algn="l" rtl="0">
              <a:lnSpc>
                <a:spcPct val="115000"/>
              </a:lnSpc>
              <a:spcBef>
                <a:spcPts val="1200"/>
              </a:spcBef>
              <a:spcAft>
                <a:spcPts val="0"/>
              </a:spcAft>
              <a:buNone/>
            </a:pPr>
            <a:r>
              <a:rPr lang="en-US" sz="1700" dirty="0">
                <a:solidFill>
                  <a:schemeClr val="lt1"/>
                </a:solidFill>
              </a:rPr>
              <a:t>HO–CH₂–CH(OH)–CH₂–O–PO₃–O–CH₂–CH(OH)–CH₂–OH</a:t>
            </a:r>
            <a:endParaRPr sz="1700" dirty="0">
              <a:solidFill>
                <a:schemeClr val="lt1"/>
              </a:solidFill>
            </a:endParaRPr>
          </a:p>
          <a:p>
            <a:pPr marL="0" lvl="0" indent="0" algn="l" rtl="0">
              <a:lnSpc>
                <a:spcPct val="115000"/>
              </a:lnSpc>
              <a:spcBef>
                <a:spcPts val="1200"/>
              </a:spcBef>
              <a:spcAft>
                <a:spcPts val="0"/>
              </a:spcAft>
              <a:buNone/>
            </a:pPr>
            <a:r>
              <a:rPr lang="en-US" sz="1700" dirty="0">
                <a:solidFill>
                  <a:schemeClr val="lt1"/>
                </a:solidFill>
              </a:rPr>
              <a:t>Key functional groups included:</a:t>
            </a: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r>
              <a:rPr lang="en-US" sz="1700" dirty="0">
                <a:solidFill>
                  <a:schemeClr val="lt1"/>
                </a:solidFill>
              </a:rPr>
              <a:t>The structure was generated using </a:t>
            </a:r>
            <a:r>
              <a:rPr lang="en-US" sz="1700" b="1" dirty="0">
                <a:solidFill>
                  <a:schemeClr val="lt1"/>
                </a:solidFill>
              </a:rPr>
              <a:t>Avogadro</a:t>
            </a:r>
            <a:r>
              <a:rPr lang="en-US" sz="1700" dirty="0">
                <a:solidFill>
                  <a:schemeClr val="lt1"/>
                </a:solidFill>
              </a:rPr>
              <a:t> from the SMILES string:</a:t>
            </a:r>
            <a:endParaRPr sz="1700" dirty="0">
              <a:solidFill>
                <a:schemeClr val="lt1"/>
              </a:solidFill>
            </a:endParaRPr>
          </a:p>
          <a:p>
            <a:pPr marL="0" lvl="0" indent="0" algn="l" rtl="0">
              <a:lnSpc>
                <a:spcPct val="115000"/>
              </a:lnSpc>
              <a:spcBef>
                <a:spcPts val="1200"/>
              </a:spcBef>
              <a:spcAft>
                <a:spcPts val="0"/>
              </a:spcAft>
              <a:buNone/>
            </a:pPr>
            <a:r>
              <a:rPr lang="en-US" sz="1700" dirty="0">
                <a:solidFill>
                  <a:schemeClr val="lt1"/>
                </a:solidFill>
              </a:rPr>
              <a:t>OP(=O)(O)OCC(O)COP(=O)(O)OCC(O)CO</a:t>
            </a:r>
            <a:endParaRPr sz="1700" dirty="0">
              <a:solidFill>
                <a:schemeClr val="lt1"/>
              </a:solidFill>
            </a:endParaRPr>
          </a:p>
          <a:p>
            <a:pPr marL="0" lvl="0" indent="0" algn="l" rtl="0">
              <a:lnSpc>
                <a:spcPct val="115000"/>
              </a:lnSpc>
              <a:spcBef>
                <a:spcPts val="1200"/>
              </a:spcBef>
              <a:spcAft>
                <a:spcPts val="1200"/>
              </a:spcAft>
              <a:buNone/>
            </a:pPr>
            <a:r>
              <a:rPr lang="en-US" sz="1700" dirty="0">
                <a:solidFill>
                  <a:schemeClr val="lt1"/>
                </a:solidFill>
              </a:rPr>
              <a:t>The molecule was then </a:t>
            </a:r>
            <a:r>
              <a:rPr lang="en-US" sz="1700" b="1" dirty="0">
                <a:solidFill>
                  <a:schemeClr val="lt1"/>
                </a:solidFill>
              </a:rPr>
              <a:t>geometry optimized using the Universal Force Field (UFF)</a:t>
            </a:r>
            <a:r>
              <a:rPr lang="en-US" sz="1700" dirty="0">
                <a:solidFill>
                  <a:schemeClr val="lt1"/>
                </a:solidFill>
              </a:rPr>
              <a:t> to obtain a reasonable starting structure before quantum calculations.</a:t>
            </a:r>
            <a:endParaRPr sz="1700" dirty="0">
              <a:solidFill>
                <a:schemeClr val="lt1"/>
              </a:solidFill>
            </a:endParaRPr>
          </a:p>
        </p:txBody>
      </p:sp>
      <p:pic>
        <p:nvPicPr>
          <p:cNvPr id="307" name="Google Shape;307;p38"/>
          <p:cNvPicPr preferRelativeResize="0"/>
          <p:nvPr/>
        </p:nvPicPr>
        <p:blipFill rotWithShape="1">
          <a:blip r:embed="rId4">
            <a:alphaModFix/>
          </a:blip>
          <a:srcRect l="24261" t="31359" r="27303" b="33516"/>
          <a:stretch/>
        </p:blipFill>
        <p:spPr>
          <a:xfrm>
            <a:off x="7716222" y="2888487"/>
            <a:ext cx="3844351" cy="15215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11"/>
        <p:cNvGrpSpPr/>
        <p:nvPr/>
      </p:nvGrpSpPr>
      <p:grpSpPr>
        <a:xfrm>
          <a:off x="0" y="0"/>
          <a:ext cx="0" cy="0"/>
          <a:chOff x="0" y="0"/>
          <a:chExt cx="0" cy="0"/>
        </a:xfrm>
      </p:grpSpPr>
      <p:pic>
        <p:nvPicPr>
          <p:cNvPr id="312" name="Google Shape;312;p39"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313" name="Google Shape;313;p39"/>
          <p:cNvSpPr txBox="1"/>
          <p:nvPr/>
        </p:nvSpPr>
        <p:spPr>
          <a:xfrm>
            <a:off x="733425" y="15717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 DFT Simulation Method</a:t>
            </a:r>
            <a:endParaRPr/>
          </a:p>
        </p:txBody>
      </p:sp>
      <p:sp>
        <p:nvSpPr>
          <p:cNvPr id="314" name="Google Shape;314;p39"/>
          <p:cNvSpPr txBox="1"/>
          <p:nvPr/>
        </p:nvSpPr>
        <p:spPr>
          <a:xfrm>
            <a:off x="694522" y="554891"/>
            <a:ext cx="8649300" cy="239293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800" dirty="0">
                <a:solidFill>
                  <a:schemeClr val="lt1"/>
                </a:solidFill>
              </a:rPr>
              <a:t>Quantum-chemical calculations were performed using </a:t>
            </a:r>
            <a:r>
              <a:rPr lang="en-US" sz="1800" b="1" dirty="0">
                <a:solidFill>
                  <a:schemeClr val="lt1"/>
                </a:solidFill>
              </a:rPr>
              <a:t>Gaussian 16</a:t>
            </a:r>
            <a:r>
              <a:rPr lang="en-US" sz="1800" dirty="0">
                <a:solidFill>
                  <a:schemeClr val="lt1"/>
                </a:solidFill>
              </a:rPr>
              <a:t>.</a:t>
            </a:r>
            <a:endParaRPr sz="1800" dirty="0">
              <a:solidFill>
                <a:schemeClr val="lt1"/>
              </a:solidFill>
            </a:endParaRPr>
          </a:p>
          <a:p>
            <a:pPr marL="0" lvl="0" indent="0" algn="l" rtl="0">
              <a:lnSpc>
                <a:spcPct val="115000"/>
              </a:lnSpc>
              <a:spcBef>
                <a:spcPts val="1200"/>
              </a:spcBef>
              <a:spcAft>
                <a:spcPts val="0"/>
              </a:spcAft>
              <a:buNone/>
            </a:pPr>
            <a:r>
              <a:rPr lang="en-US" sz="1800" dirty="0">
                <a:solidFill>
                  <a:schemeClr val="lt1"/>
                </a:solidFill>
              </a:rPr>
              <a:t>The simulation included:</a:t>
            </a:r>
            <a:endParaRPr sz="1800" dirty="0">
              <a:solidFill>
                <a:schemeClr val="lt1"/>
              </a:solidFill>
            </a:endParaRPr>
          </a:p>
          <a:p>
            <a:pPr marL="0" lvl="0" indent="0" algn="l" rtl="0">
              <a:lnSpc>
                <a:spcPct val="115000"/>
              </a:lnSpc>
              <a:spcBef>
                <a:spcPts val="1200"/>
              </a:spcBef>
              <a:spcAft>
                <a:spcPts val="1200"/>
              </a:spcAft>
              <a:buNone/>
            </a:pPr>
            <a:r>
              <a:rPr lang="en-US" sz="1800" dirty="0">
                <a:solidFill>
                  <a:schemeClr val="lt1"/>
                </a:solidFill>
              </a:rPr>
              <a:t>• geometry optimization</a:t>
            </a:r>
            <a:br>
              <a:rPr lang="en-US" sz="1800" dirty="0">
                <a:solidFill>
                  <a:schemeClr val="lt1"/>
                </a:solidFill>
              </a:rPr>
            </a:br>
            <a:r>
              <a:rPr lang="en-US" sz="1800" dirty="0">
                <a:solidFill>
                  <a:schemeClr val="lt1"/>
                </a:solidFill>
              </a:rPr>
              <a:t> • vibrational frequency calculation</a:t>
            </a:r>
            <a:br>
              <a:rPr lang="en-US" sz="1800" dirty="0">
                <a:solidFill>
                  <a:schemeClr val="lt1"/>
                </a:solidFill>
              </a:rPr>
            </a:br>
            <a:r>
              <a:rPr lang="en-US" sz="1800" dirty="0">
                <a:solidFill>
                  <a:schemeClr val="lt1"/>
                </a:solidFill>
              </a:rPr>
              <a:t> • Raman activity calculation</a:t>
            </a:r>
            <a:endParaRPr sz="1800" dirty="0">
              <a:solidFill>
                <a:schemeClr val="lt1"/>
              </a:solidFill>
            </a:endParaRPr>
          </a:p>
        </p:txBody>
      </p:sp>
      <p:graphicFrame>
        <p:nvGraphicFramePr>
          <p:cNvPr id="315" name="Google Shape;315;p39"/>
          <p:cNvGraphicFramePr/>
          <p:nvPr>
            <p:extLst>
              <p:ext uri="{D42A27DB-BD31-4B8C-83A1-F6EECF244321}">
                <p14:modId xmlns:p14="http://schemas.microsoft.com/office/powerpoint/2010/main" val="2529422757"/>
              </p:ext>
            </p:extLst>
          </p:nvPr>
        </p:nvGraphicFramePr>
        <p:xfrm>
          <a:off x="5268683" y="1290825"/>
          <a:ext cx="5124400" cy="1751591"/>
        </p:xfrm>
        <a:graphic>
          <a:graphicData uri="http://schemas.openxmlformats.org/drawingml/2006/table">
            <a:tbl>
              <a:tblPr>
                <a:noFill/>
                <a:tableStyleId>{6BDF8E39-C772-4976-A565-66580A3E178B}</a:tableStyleId>
              </a:tblPr>
              <a:tblGrid>
                <a:gridCol w="2674825">
                  <a:extLst>
                    <a:ext uri="{9D8B030D-6E8A-4147-A177-3AD203B41FA5}">
                      <a16:colId xmlns:a16="http://schemas.microsoft.com/office/drawing/2014/main" val="20000"/>
                    </a:ext>
                  </a:extLst>
                </a:gridCol>
                <a:gridCol w="2449575">
                  <a:extLst>
                    <a:ext uri="{9D8B030D-6E8A-4147-A177-3AD203B41FA5}">
                      <a16:colId xmlns:a16="http://schemas.microsoft.com/office/drawing/2014/main" val="20001"/>
                    </a:ext>
                  </a:extLst>
                </a:gridCol>
              </a:tblGrid>
              <a:tr h="0">
                <a:tc>
                  <a:txBody>
                    <a:bodyPr/>
                    <a:lstStyle/>
                    <a:p>
                      <a:pPr marL="0" lvl="0" indent="0" algn="ctr" rtl="0">
                        <a:lnSpc>
                          <a:spcPct val="115000"/>
                        </a:lnSpc>
                        <a:spcBef>
                          <a:spcPts val="0"/>
                        </a:spcBef>
                        <a:spcAft>
                          <a:spcPts val="0"/>
                        </a:spcAft>
                        <a:buNone/>
                      </a:pPr>
                      <a:r>
                        <a:rPr lang="en-US" sz="1800" b="1">
                          <a:solidFill>
                            <a:schemeClr val="lt1"/>
                          </a:solidFill>
                        </a:rPr>
                        <a:t>Parameter</a:t>
                      </a:r>
                      <a:endParaRPr sz="18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800" b="1">
                          <a:solidFill>
                            <a:schemeClr val="lt1"/>
                          </a:solidFill>
                        </a:rPr>
                        <a:t>Value</a:t>
                      </a:r>
                      <a:endParaRPr sz="18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1600">
                          <a:solidFill>
                            <a:schemeClr val="lt1"/>
                          </a:solidFill>
                        </a:rPr>
                        <a:t>Functional</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1600">
                          <a:solidFill>
                            <a:schemeClr val="lt1"/>
                          </a:solidFill>
                        </a:rPr>
                        <a:t>B3LYP</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US" sz="1600">
                          <a:solidFill>
                            <a:schemeClr val="lt1"/>
                          </a:solidFill>
                        </a:rPr>
                        <a:t>Basis set</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1600" dirty="0">
                          <a:solidFill>
                            <a:schemeClr val="lt1"/>
                          </a:solidFill>
                        </a:rPr>
                        <a:t>6-31G(d)</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US" sz="1600">
                          <a:solidFill>
                            <a:schemeClr val="lt1"/>
                          </a:solidFill>
                        </a:rPr>
                        <a:t>Solvent model</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1600" dirty="0">
                          <a:solidFill>
                            <a:schemeClr val="lt1"/>
                          </a:solidFill>
                        </a:rPr>
                        <a:t>SMD (water)</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16" name="Google Shape;316;p39"/>
          <p:cNvSpPr txBox="1"/>
          <p:nvPr/>
        </p:nvSpPr>
        <p:spPr>
          <a:xfrm>
            <a:off x="370699" y="3074650"/>
            <a:ext cx="10558557" cy="352708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600" dirty="0">
                <a:solidFill>
                  <a:schemeClr val="lt1"/>
                </a:solidFill>
              </a:rPr>
              <a:t>Gaussian keywords used:</a:t>
            </a:r>
            <a:endParaRPr sz="1600" dirty="0">
              <a:solidFill>
                <a:schemeClr val="lt1"/>
              </a:solidFill>
            </a:endParaRPr>
          </a:p>
          <a:p>
            <a:pPr marL="0" lvl="0" indent="0" algn="l" rtl="0">
              <a:lnSpc>
                <a:spcPct val="115000"/>
              </a:lnSpc>
              <a:spcBef>
                <a:spcPts val="1200"/>
              </a:spcBef>
              <a:spcAft>
                <a:spcPts val="0"/>
              </a:spcAft>
              <a:buNone/>
            </a:pPr>
            <a:r>
              <a:rPr lang="en-US" sz="1600" dirty="0">
                <a:solidFill>
                  <a:schemeClr val="dk1"/>
                </a:solidFill>
                <a:highlight>
                  <a:schemeClr val="lt1"/>
                </a:highlight>
              </a:rPr>
              <a:t># B3LYP/6-31G(d) </a:t>
            </a:r>
            <a:r>
              <a:rPr lang="en-US" sz="1600" dirty="0" err="1">
                <a:solidFill>
                  <a:schemeClr val="dk1"/>
                </a:solidFill>
                <a:highlight>
                  <a:schemeClr val="lt1"/>
                </a:highlight>
              </a:rPr>
              <a:t>Opt</a:t>
            </a:r>
            <a:r>
              <a:rPr lang="en-US" sz="1600" dirty="0">
                <a:solidFill>
                  <a:schemeClr val="dk1"/>
                </a:solidFill>
                <a:highlight>
                  <a:schemeClr val="lt1"/>
                </a:highlight>
              </a:rPr>
              <a:t> Freq Raman SCF=Tight Int=</a:t>
            </a:r>
            <a:r>
              <a:rPr lang="en-US" sz="1600" dirty="0" err="1">
                <a:solidFill>
                  <a:schemeClr val="dk1"/>
                </a:solidFill>
                <a:highlight>
                  <a:schemeClr val="lt1"/>
                </a:highlight>
              </a:rPr>
              <a:t>UltraFine</a:t>
            </a:r>
            <a:r>
              <a:rPr lang="en-US" sz="1600" dirty="0">
                <a:solidFill>
                  <a:schemeClr val="dk1"/>
                </a:solidFill>
                <a:highlight>
                  <a:schemeClr val="lt1"/>
                </a:highlight>
              </a:rPr>
              <a:t> SCRF=(</a:t>
            </a:r>
            <a:r>
              <a:rPr lang="en-US" sz="1600" dirty="0" err="1">
                <a:solidFill>
                  <a:schemeClr val="dk1"/>
                </a:solidFill>
                <a:highlight>
                  <a:schemeClr val="lt1"/>
                </a:highlight>
              </a:rPr>
              <a:t>SMD,Solvent</a:t>
            </a:r>
            <a:r>
              <a:rPr lang="en-US" sz="1600" dirty="0">
                <a:solidFill>
                  <a:schemeClr val="dk1"/>
                </a:solidFill>
                <a:highlight>
                  <a:schemeClr val="lt1"/>
                </a:highlight>
              </a:rPr>
              <a:t>=Water)</a:t>
            </a:r>
            <a:endParaRPr sz="1600" dirty="0">
              <a:solidFill>
                <a:schemeClr val="dk1"/>
              </a:solidFill>
              <a:highlight>
                <a:schemeClr val="lt1"/>
              </a:highlight>
            </a:endParaRPr>
          </a:p>
          <a:p>
            <a:pPr marL="0" lvl="0" indent="0" algn="l" rtl="0">
              <a:lnSpc>
                <a:spcPct val="115000"/>
              </a:lnSpc>
              <a:spcBef>
                <a:spcPts val="1200"/>
              </a:spcBef>
              <a:spcAft>
                <a:spcPts val="0"/>
              </a:spcAft>
              <a:buNone/>
            </a:pPr>
            <a:r>
              <a:rPr lang="en-US" sz="1600" dirty="0">
                <a:solidFill>
                  <a:schemeClr val="lt1"/>
                </a:solidFill>
              </a:rPr>
              <a:t>Explanation:</a:t>
            </a:r>
            <a:endParaRPr sz="1600" dirty="0">
              <a:solidFill>
                <a:schemeClr val="lt1"/>
              </a:solidFill>
            </a:endParaRPr>
          </a:p>
          <a:p>
            <a:pPr marL="457200" lvl="0" indent="-317500" algn="l" rtl="0">
              <a:lnSpc>
                <a:spcPct val="115000"/>
              </a:lnSpc>
              <a:spcBef>
                <a:spcPts val="1200"/>
              </a:spcBef>
              <a:spcAft>
                <a:spcPts val="0"/>
              </a:spcAft>
              <a:buClr>
                <a:schemeClr val="lt1"/>
              </a:buClr>
              <a:buSzPts val="1400"/>
              <a:buChar char="●"/>
            </a:pPr>
            <a:r>
              <a:rPr lang="en-US" sz="1600" b="1" dirty="0">
                <a:solidFill>
                  <a:schemeClr val="lt1"/>
                </a:solidFill>
              </a:rPr>
              <a:t>SCF=Tight</a:t>
            </a:r>
            <a:r>
              <a:rPr lang="en-US" sz="1600" dirty="0">
                <a:solidFill>
                  <a:schemeClr val="lt1"/>
                </a:solidFill>
              </a:rPr>
              <a:t> ensures strict electronic convergence</a:t>
            </a:r>
            <a:endParaRPr sz="16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1600" b="1" dirty="0">
                <a:solidFill>
                  <a:schemeClr val="lt1"/>
                </a:solidFill>
              </a:rPr>
              <a:t>Int=</a:t>
            </a:r>
            <a:r>
              <a:rPr lang="en-US" sz="1600" b="1" dirty="0" err="1">
                <a:solidFill>
                  <a:schemeClr val="lt1"/>
                </a:solidFill>
              </a:rPr>
              <a:t>UltraFine</a:t>
            </a:r>
            <a:r>
              <a:rPr lang="en-US" sz="1600" dirty="0">
                <a:solidFill>
                  <a:schemeClr val="lt1"/>
                </a:solidFill>
              </a:rPr>
              <a:t> improves numerical accuracy</a:t>
            </a:r>
            <a:endParaRPr sz="16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1600" b="1" dirty="0">
                <a:solidFill>
                  <a:schemeClr val="lt1"/>
                </a:solidFill>
              </a:rPr>
              <a:t>SCRF=SMD</a:t>
            </a:r>
            <a:r>
              <a:rPr lang="en-US" sz="1600" dirty="0">
                <a:solidFill>
                  <a:schemeClr val="lt1"/>
                </a:solidFill>
              </a:rPr>
              <a:t> models the aqueous environment in which LTA normally exists</a:t>
            </a:r>
            <a:endParaRPr sz="1600" dirty="0">
              <a:solidFill>
                <a:schemeClr val="lt1"/>
              </a:solidFill>
            </a:endParaRPr>
          </a:p>
          <a:p>
            <a:pPr marL="0" lvl="0" indent="0" algn="l" rtl="0">
              <a:lnSpc>
                <a:spcPct val="115000"/>
              </a:lnSpc>
              <a:spcBef>
                <a:spcPts val="1200"/>
              </a:spcBef>
              <a:spcAft>
                <a:spcPts val="0"/>
              </a:spcAft>
              <a:buNone/>
            </a:pPr>
            <a:r>
              <a:rPr lang="en-US" sz="1600" dirty="0">
                <a:solidFill>
                  <a:schemeClr val="lt1"/>
                </a:solidFill>
              </a:rPr>
              <a:t>DFT frequencies typically </a:t>
            </a:r>
            <a:r>
              <a:rPr lang="en-US" sz="1600" b="1" dirty="0">
                <a:solidFill>
                  <a:schemeClr val="lt1"/>
                </a:solidFill>
              </a:rPr>
              <a:t>overestimate vibrational frequencies</a:t>
            </a:r>
            <a:r>
              <a:rPr lang="en-US" sz="1600" dirty="0">
                <a:solidFill>
                  <a:schemeClr val="lt1"/>
                </a:solidFill>
              </a:rPr>
              <a:t>, so a scaling factor is applied.</a:t>
            </a:r>
            <a:endParaRPr sz="1600" dirty="0">
              <a:solidFill>
                <a:schemeClr val="lt1"/>
              </a:solidFill>
            </a:endParaRPr>
          </a:p>
          <a:p>
            <a:pPr marL="0" lvl="0" indent="0" algn="l" rtl="0">
              <a:lnSpc>
                <a:spcPct val="115000"/>
              </a:lnSpc>
              <a:spcBef>
                <a:spcPts val="1200"/>
              </a:spcBef>
              <a:spcAft>
                <a:spcPts val="1200"/>
              </a:spcAft>
              <a:buNone/>
            </a:pPr>
            <a:r>
              <a:rPr lang="en-US" sz="1600" dirty="0">
                <a:solidFill>
                  <a:schemeClr val="lt1"/>
                </a:solidFill>
              </a:rPr>
              <a:t>Scaled frequency = frequency × 0.96</a:t>
            </a:r>
            <a:endParaRPr sz="1600" dirty="0">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0"/>
        <p:cNvGrpSpPr/>
        <p:nvPr/>
      </p:nvGrpSpPr>
      <p:grpSpPr>
        <a:xfrm>
          <a:off x="0" y="0"/>
          <a:ext cx="0" cy="0"/>
          <a:chOff x="0" y="0"/>
          <a:chExt cx="0" cy="0"/>
        </a:xfrm>
      </p:grpSpPr>
      <p:pic>
        <p:nvPicPr>
          <p:cNvPr id="321" name="Google Shape;321;p40" descr="image.png"/>
          <p:cNvPicPr preferRelativeResize="0"/>
          <p:nvPr/>
        </p:nvPicPr>
        <p:blipFill rotWithShape="1">
          <a:blip r:embed="rId3">
            <a:alphaModFix/>
          </a:blip>
          <a:srcRect/>
          <a:stretch/>
        </p:blipFill>
        <p:spPr>
          <a:xfrm>
            <a:off x="0" y="-76325"/>
            <a:ext cx="12192000" cy="6858000"/>
          </a:xfrm>
          <a:prstGeom prst="rect">
            <a:avLst/>
          </a:prstGeom>
          <a:noFill/>
          <a:ln>
            <a:noFill/>
          </a:ln>
        </p:spPr>
      </p:pic>
      <p:sp>
        <p:nvSpPr>
          <p:cNvPr id="322" name="Google Shape;322;p40"/>
          <p:cNvSpPr txBox="1"/>
          <p:nvPr/>
        </p:nvSpPr>
        <p:spPr>
          <a:xfrm>
            <a:off x="733425" y="15717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 Spectrum and Vibrational Assignments</a:t>
            </a:r>
            <a:endParaRPr/>
          </a:p>
        </p:txBody>
      </p:sp>
      <p:sp>
        <p:nvSpPr>
          <p:cNvPr id="323" name="Google Shape;323;p40"/>
          <p:cNvSpPr txBox="1"/>
          <p:nvPr/>
        </p:nvSpPr>
        <p:spPr>
          <a:xfrm>
            <a:off x="577353" y="562782"/>
            <a:ext cx="11099400" cy="112951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US" sz="1800" dirty="0">
                <a:solidFill>
                  <a:schemeClr val="lt1"/>
                </a:solidFill>
              </a:rPr>
              <a:t>The DFT calculation produced Raman-active vibrational modes corresponding to motions of the phosphate groups and glycerol backbone.</a:t>
            </a:r>
            <a:endParaRPr sz="1800" dirty="0">
              <a:solidFill>
                <a:schemeClr val="lt1"/>
              </a:solidFill>
            </a:endParaRPr>
          </a:p>
        </p:txBody>
      </p:sp>
      <p:graphicFrame>
        <p:nvGraphicFramePr>
          <p:cNvPr id="324" name="Google Shape;324;p40"/>
          <p:cNvGraphicFramePr/>
          <p:nvPr>
            <p:extLst>
              <p:ext uri="{D42A27DB-BD31-4B8C-83A1-F6EECF244321}">
                <p14:modId xmlns:p14="http://schemas.microsoft.com/office/powerpoint/2010/main" val="68388560"/>
              </p:ext>
            </p:extLst>
          </p:nvPr>
        </p:nvGraphicFramePr>
        <p:xfrm>
          <a:off x="664850" y="1522702"/>
          <a:ext cx="8390200" cy="2621100"/>
        </p:xfrm>
        <a:graphic>
          <a:graphicData uri="http://schemas.openxmlformats.org/drawingml/2006/table">
            <a:tbl>
              <a:tblPr>
                <a:noFill/>
                <a:tableStyleId>{6BDF8E39-C772-4976-A565-66580A3E178B}</a:tableStyleId>
              </a:tblPr>
              <a:tblGrid>
                <a:gridCol w="4481500">
                  <a:extLst>
                    <a:ext uri="{9D8B030D-6E8A-4147-A177-3AD203B41FA5}">
                      <a16:colId xmlns:a16="http://schemas.microsoft.com/office/drawing/2014/main" val="20000"/>
                    </a:ext>
                  </a:extLst>
                </a:gridCol>
                <a:gridCol w="3908700">
                  <a:extLst>
                    <a:ext uri="{9D8B030D-6E8A-4147-A177-3AD203B41FA5}">
                      <a16:colId xmlns:a16="http://schemas.microsoft.com/office/drawing/2014/main" val="20001"/>
                    </a:ext>
                  </a:extLst>
                </a:gridCol>
              </a:tblGrid>
              <a:tr h="0">
                <a:tc>
                  <a:txBody>
                    <a:bodyPr/>
                    <a:lstStyle/>
                    <a:p>
                      <a:pPr marL="0" lvl="0" indent="0" algn="ctr" rtl="0">
                        <a:lnSpc>
                          <a:spcPct val="100000"/>
                        </a:lnSpc>
                        <a:spcBef>
                          <a:spcPts val="0"/>
                        </a:spcBef>
                        <a:spcAft>
                          <a:spcPts val="0"/>
                        </a:spcAft>
                        <a:buNone/>
                      </a:pPr>
                      <a:r>
                        <a:rPr lang="en-US" sz="2000" b="1">
                          <a:solidFill>
                            <a:schemeClr val="lt1"/>
                          </a:solidFill>
                        </a:rPr>
                        <a:t>Raman Shift (cm⁻¹)</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2000" b="1">
                          <a:solidFill>
                            <a:schemeClr val="lt1"/>
                          </a:solidFill>
                        </a:rPr>
                        <a:t>Assignment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ctr" rtl="0">
                        <a:lnSpc>
                          <a:spcPct val="100000"/>
                        </a:lnSpc>
                        <a:spcBef>
                          <a:spcPts val="0"/>
                        </a:spcBef>
                        <a:spcAft>
                          <a:spcPts val="0"/>
                        </a:spcAft>
                        <a:buNone/>
                      </a:pPr>
                      <a:r>
                        <a:rPr lang="en-US" sz="1600">
                          <a:solidFill>
                            <a:schemeClr val="lt1"/>
                          </a:solidFill>
                        </a:rPr>
                        <a:t>481</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O–P–O bending</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ctr" rtl="0">
                        <a:lnSpc>
                          <a:spcPct val="100000"/>
                        </a:lnSpc>
                        <a:spcBef>
                          <a:spcPts val="0"/>
                        </a:spcBef>
                        <a:spcAft>
                          <a:spcPts val="0"/>
                        </a:spcAft>
                        <a:buNone/>
                      </a:pPr>
                      <a:r>
                        <a:rPr lang="en-US" sz="1600" dirty="0">
                          <a:solidFill>
                            <a:schemeClr val="lt1"/>
                          </a:solidFill>
                        </a:rPr>
                        <a:t>922</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P–O–C stretching</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ctr" rtl="0">
                        <a:lnSpc>
                          <a:spcPct val="100000"/>
                        </a:lnSpc>
                        <a:spcBef>
                          <a:spcPts val="0"/>
                        </a:spcBef>
                        <a:spcAft>
                          <a:spcPts val="0"/>
                        </a:spcAft>
                        <a:buNone/>
                      </a:pPr>
                      <a:r>
                        <a:rPr lang="en-US" sz="1600">
                          <a:solidFill>
                            <a:schemeClr val="lt1"/>
                          </a:solidFill>
                        </a:rPr>
                        <a:t>1291</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O–H deformation</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ctr" rtl="0">
                        <a:lnSpc>
                          <a:spcPct val="100000"/>
                        </a:lnSpc>
                        <a:spcBef>
                          <a:spcPts val="0"/>
                        </a:spcBef>
                        <a:spcAft>
                          <a:spcPts val="0"/>
                        </a:spcAft>
                        <a:buNone/>
                      </a:pPr>
                      <a:r>
                        <a:rPr lang="en-US" sz="1600">
                          <a:solidFill>
                            <a:schemeClr val="lt1"/>
                          </a:solidFill>
                        </a:rPr>
                        <a:t>3046–3091</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C–H stretching</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ctr" rtl="0">
                        <a:lnSpc>
                          <a:spcPct val="100000"/>
                        </a:lnSpc>
                        <a:spcBef>
                          <a:spcPts val="0"/>
                        </a:spcBef>
                        <a:spcAft>
                          <a:spcPts val="0"/>
                        </a:spcAft>
                        <a:buNone/>
                      </a:pPr>
                      <a:r>
                        <a:rPr lang="en-US" sz="1600">
                          <a:solidFill>
                            <a:schemeClr val="lt1"/>
                          </a:solidFill>
                        </a:rPr>
                        <a:t>3712</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dirty="0">
                          <a:solidFill>
                            <a:schemeClr val="lt1"/>
                          </a:solidFill>
                        </a:rPr>
                        <a:t>O–H stretching</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25" name="Google Shape;325;p40"/>
          <p:cNvSpPr txBox="1"/>
          <p:nvPr/>
        </p:nvSpPr>
        <p:spPr>
          <a:xfrm>
            <a:off x="548325" y="4172575"/>
            <a:ext cx="10815900" cy="244987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Aft>
                <a:spcPts val="0"/>
              </a:spcAft>
              <a:buNone/>
            </a:pPr>
            <a:r>
              <a:rPr lang="en-US" sz="1600" dirty="0">
                <a:solidFill>
                  <a:schemeClr val="lt1"/>
                </a:solidFill>
              </a:rPr>
              <a:t>Most characteristic information appears in the </a:t>
            </a:r>
            <a:r>
              <a:rPr lang="en-US" sz="1600" b="1" dirty="0">
                <a:solidFill>
                  <a:schemeClr val="lt1"/>
                </a:solidFill>
              </a:rPr>
              <a:t>fingerprint region (500–1500 cm⁻¹)</a:t>
            </a:r>
            <a:r>
              <a:rPr lang="en-US" sz="1600" dirty="0">
                <a:solidFill>
                  <a:schemeClr val="lt1"/>
                </a:solidFill>
              </a:rPr>
              <a:t> where phosphate-related vibrations dominate.</a:t>
            </a:r>
            <a:endParaRPr sz="1600" dirty="0">
              <a:solidFill>
                <a:schemeClr val="lt1"/>
              </a:solidFill>
            </a:endParaRPr>
          </a:p>
          <a:p>
            <a:pPr marL="0" lvl="0" indent="0" algn="l" rtl="0">
              <a:lnSpc>
                <a:spcPct val="115000"/>
              </a:lnSpc>
              <a:spcAft>
                <a:spcPts val="0"/>
              </a:spcAft>
              <a:buNone/>
            </a:pPr>
            <a:r>
              <a:rPr lang="en-US" sz="1600" dirty="0">
                <a:solidFill>
                  <a:schemeClr val="lt1"/>
                </a:solidFill>
              </a:rPr>
              <a:t>Interpretation:</a:t>
            </a:r>
            <a:endParaRPr sz="1600" dirty="0">
              <a:solidFill>
                <a:schemeClr val="lt1"/>
              </a:solidFill>
            </a:endParaRPr>
          </a:p>
          <a:p>
            <a:pPr marL="457200" lvl="0" indent="-298450" algn="l" rtl="0">
              <a:lnSpc>
                <a:spcPct val="115000"/>
              </a:lnSpc>
              <a:spcAft>
                <a:spcPts val="0"/>
              </a:spcAft>
              <a:buClr>
                <a:schemeClr val="lt1"/>
              </a:buClr>
              <a:buSzPts val="1100"/>
              <a:buChar char="●"/>
            </a:pPr>
            <a:r>
              <a:rPr lang="en-US" sz="1600" b="1" dirty="0">
                <a:solidFill>
                  <a:schemeClr val="lt1"/>
                </a:solidFill>
              </a:rPr>
              <a:t>481 cm⁻¹</a:t>
            </a:r>
            <a:r>
              <a:rPr lang="en-US" sz="1600" dirty="0">
                <a:solidFill>
                  <a:schemeClr val="lt1"/>
                </a:solidFill>
              </a:rPr>
              <a:t> → phosphate bending vibration</a:t>
            </a:r>
            <a:endParaRPr sz="1600" dirty="0">
              <a:solidFill>
                <a:schemeClr val="lt1"/>
              </a:solidFill>
            </a:endParaRPr>
          </a:p>
          <a:p>
            <a:pPr marL="457200" lvl="0" indent="-298450" algn="l" rtl="0">
              <a:lnSpc>
                <a:spcPct val="115000"/>
              </a:lnSpc>
              <a:spcAft>
                <a:spcPts val="0"/>
              </a:spcAft>
              <a:buClr>
                <a:schemeClr val="lt1"/>
              </a:buClr>
              <a:buSzPts val="1100"/>
              <a:buChar char="●"/>
            </a:pPr>
            <a:r>
              <a:rPr lang="en-US" sz="1600" b="1" dirty="0">
                <a:solidFill>
                  <a:schemeClr val="lt1"/>
                </a:solidFill>
              </a:rPr>
              <a:t>922 cm⁻¹</a:t>
            </a:r>
            <a:r>
              <a:rPr lang="en-US" sz="1600" dirty="0">
                <a:solidFill>
                  <a:schemeClr val="lt1"/>
                </a:solidFill>
              </a:rPr>
              <a:t> → phosphate ester stretching</a:t>
            </a:r>
            <a:endParaRPr sz="1600" dirty="0">
              <a:solidFill>
                <a:schemeClr val="lt1"/>
              </a:solidFill>
            </a:endParaRPr>
          </a:p>
          <a:p>
            <a:pPr marL="457200" lvl="0" indent="-298450" algn="l" rtl="0">
              <a:lnSpc>
                <a:spcPct val="115000"/>
              </a:lnSpc>
              <a:spcAft>
                <a:spcPts val="0"/>
              </a:spcAft>
              <a:buClr>
                <a:schemeClr val="lt1"/>
              </a:buClr>
              <a:buSzPts val="1100"/>
              <a:buChar char="●"/>
            </a:pPr>
            <a:r>
              <a:rPr lang="en-US" sz="1600" b="1" dirty="0">
                <a:solidFill>
                  <a:schemeClr val="lt1"/>
                </a:solidFill>
              </a:rPr>
              <a:t>1291 cm⁻¹</a:t>
            </a:r>
            <a:r>
              <a:rPr lang="en-US" sz="1600" dirty="0">
                <a:solidFill>
                  <a:schemeClr val="lt1"/>
                </a:solidFill>
              </a:rPr>
              <a:t> → hydroxyl deformation</a:t>
            </a:r>
            <a:endParaRPr sz="1600" dirty="0">
              <a:solidFill>
                <a:schemeClr val="lt1"/>
              </a:solidFill>
            </a:endParaRPr>
          </a:p>
          <a:p>
            <a:pPr marL="457200" lvl="0" indent="-298450" algn="l" rtl="0">
              <a:lnSpc>
                <a:spcPct val="115000"/>
              </a:lnSpc>
              <a:spcAft>
                <a:spcPts val="0"/>
              </a:spcAft>
              <a:buClr>
                <a:schemeClr val="lt1"/>
              </a:buClr>
              <a:buSzPts val="1100"/>
              <a:buChar char="●"/>
            </a:pPr>
            <a:r>
              <a:rPr lang="en-US" sz="1600" b="1" dirty="0">
                <a:solidFill>
                  <a:schemeClr val="lt1"/>
                </a:solidFill>
              </a:rPr>
              <a:t>3046–3091 cm⁻¹</a:t>
            </a:r>
            <a:r>
              <a:rPr lang="en-US" sz="1600" dirty="0">
                <a:solidFill>
                  <a:schemeClr val="lt1"/>
                </a:solidFill>
              </a:rPr>
              <a:t> → glycerol C–H stretching</a:t>
            </a:r>
            <a:endParaRPr sz="1600" dirty="0">
              <a:solidFill>
                <a:schemeClr val="lt1"/>
              </a:solidFill>
            </a:endParaRPr>
          </a:p>
          <a:p>
            <a:pPr marL="457200" lvl="0" indent="-298450" algn="l" rtl="0">
              <a:lnSpc>
                <a:spcPct val="115000"/>
              </a:lnSpc>
              <a:spcAft>
                <a:spcPts val="0"/>
              </a:spcAft>
              <a:buClr>
                <a:schemeClr val="lt1"/>
              </a:buClr>
              <a:buSzPts val="1100"/>
              <a:buChar char="●"/>
            </a:pPr>
            <a:r>
              <a:rPr lang="en-US" sz="1600" b="1" dirty="0">
                <a:solidFill>
                  <a:schemeClr val="lt1"/>
                </a:solidFill>
              </a:rPr>
              <a:t>3712 cm⁻¹</a:t>
            </a:r>
            <a:r>
              <a:rPr lang="en-US" sz="1600" dirty="0">
                <a:solidFill>
                  <a:schemeClr val="lt1"/>
                </a:solidFill>
              </a:rPr>
              <a:t> → weakly hydrogen-bonded O–H stretching</a:t>
            </a:r>
            <a:endParaRPr sz="1600" dirty="0">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p:cNvGrpSpPr/>
        <p:nvPr/>
      </p:nvGrpSpPr>
      <p:grpSpPr>
        <a:xfrm>
          <a:off x="0" y="0"/>
          <a:ext cx="0" cy="0"/>
          <a:chOff x="0" y="0"/>
          <a:chExt cx="0" cy="0"/>
        </a:xfrm>
      </p:grpSpPr>
      <p:pic>
        <p:nvPicPr>
          <p:cNvPr id="337" name="Google Shape;337;p42" descr="image.png"/>
          <p:cNvPicPr preferRelativeResize="0"/>
          <p:nvPr/>
        </p:nvPicPr>
        <p:blipFill rotWithShape="1">
          <a:blip r:embed="rId3">
            <a:alphaModFix/>
          </a:blip>
          <a:srcRect/>
          <a:stretch/>
        </p:blipFill>
        <p:spPr>
          <a:xfrm>
            <a:off x="76325" y="0"/>
            <a:ext cx="12192000" cy="6858000"/>
          </a:xfrm>
          <a:prstGeom prst="rect">
            <a:avLst/>
          </a:prstGeom>
          <a:noFill/>
          <a:ln>
            <a:noFill/>
          </a:ln>
        </p:spPr>
      </p:pic>
      <p:pic>
        <p:nvPicPr>
          <p:cNvPr id="338" name="Google Shape;338;p42"/>
          <p:cNvPicPr preferRelativeResize="0"/>
          <p:nvPr/>
        </p:nvPicPr>
        <p:blipFill>
          <a:blip r:embed="rId4">
            <a:alphaModFix/>
          </a:blip>
          <a:stretch>
            <a:fillRect/>
          </a:stretch>
        </p:blipFill>
        <p:spPr>
          <a:xfrm>
            <a:off x="1619250" y="1219200"/>
            <a:ext cx="8953500" cy="44196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9"/>
        <p:cNvGrpSpPr/>
        <p:nvPr/>
      </p:nvGrpSpPr>
      <p:grpSpPr>
        <a:xfrm>
          <a:off x="0" y="0"/>
          <a:ext cx="0" cy="0"/>
          <a:chOff x="0" y="0"/>
          <a:chExt cx="0" cy="0"/>
        </a:xfrm>
      </p:grpSpPr>
      <p:pic>
        <p:nvPicPr>
          <p:cNvPr id="330" name="Google Shape;330;p41"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332" name="Google Shape;332;p41"/>
          <p:cNvSpPr txBox="1"/>
          <p:nvPr/>
        </p:nvSpPr>
        <p:spPr>
          <a:xfrm>
            <a:off x="378875" y="292772"/>
            <a:ext cx="11099400" cy="6272456"/>
          </a:xfrm>
          <a:prstGeom prst="rect">
            <a:avLst/>
          </a:prstGeom>
          <a:noFill/>
          <a:ln>
            <a:noFill/>
          </a:ln>
        </p:spPr>
        <p:txBody>
          <a:bodyPr spcFirstLastPara="1" wrap="square" lIns="91425" tIns="91425" rIns="91425" bIns="91425" anchor="t" anchorCtr="0">
            <a:spAutoFit/>
          </a:bodyPr>
          <a:lstStyle/>
          <a:p>
            <a:pPr marL="0" lvl="0" indent="0" algn="l" rtl="0">
              <a:lnSpc>
                <a:spcPct val="115000"/>
              </a:lnSpc>
              <a:buNone/>
            </a:pPr>
            <a:r>
              <a:rPr lang="en-US" sz="3200" b="1" dirty="0">
                <a:solidFill>
                  <a:schemeClr val="lt1"/>
                </a:solidFill>
              </a:rPr>
              <a:t>Limitations</a:t>
            </a:r>
            <a:endParaRPr sz="3200" b="1" dirty="0">
              <a:solidFill>
                <a:schemeClr val="lt1"/>
              </a:solidFill>
            </a:endParaRPr>
          </a:p>
          <a:p>
            <a:pPr marL="0" lvl="0" indent="0" algn="l" rtl="0">
              <a:lnSpc>
                <a:spcPct val="115000"/>
              </a:lnSpc>
              <a:buNone/>
            </a:pPr>
            <a:r>
              <a:rPr lang="en-US" sz="2000" dirty="0">
                <a:solidFill>
                  <a:schemeClr val="lt1"/>
                </a:solidFill>
              </a:rPr>
              <a:t>The model represents only a </a:t>
            </a:r>
            <a:r>
              <a:rPr lang="en-US" sz="2000" b="1" dirty="0">
                <a:solidFill>
                  <a:schemeClr val="lt1"/>
                </a:solidFill>
              </a:rPr>
              <a:t>small fragment of lipoteichoic acid</a:t>
            </a:r>
            <a:r>
              <a:rPr lang="en-US" sz="2000" dirty="0">
                <a:solidFill>
                  <a:schemeClr val="lt1"/>
                </a:solidFill>
              </a:rPr>
              <a:t> and does not include:</a:t>
            </a:r>
            <a:endParaRPr sz="2000"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lipid anchors</a:t>
            </a:r>
            <a:endParaRPr sz="2000"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substituent groups</a:t>
            </a:r>
            <a:endParaRPr sz="2000"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full polymer chain</a:t>
            </a:r>
            <a:endParaRPr sz="2000" dirty="0">
              <a:solidFill>
                <a:schemeClr val="lt1"/>
              </a:solidFill>
            </a:endParaRPr>
          </a:p>
          <a:p>
            <a:pPr marL="0" lvl="0" indent="0" algn="l" rtl="0">
              <a:lnSpc>
                <a:spcPct val="115000"/>
              </a:lnSpc>
              <a:buNone/>
            </a:pPr>
            <a:r>
              <a:rPr lang="en-US" sz="2000" dirty="0">
                <a:solidFill>
                  <a:schemeClr val="lt1"/>
                </a:solidFill>
              </a:rPr>
              <a:t>Therefore, the simulated spectrum mainly reflects </a:t>
            </a:r>
            <a:r>
              <a:rPr lang="en-US" sz="2000" b="1" dirty="0">
                <a:solidFill>
                  <a:schemeClr val="lt1"/>
                </a:solidFill>
              </a:rPr>
              <a:t>backbone vibrations</a:t>
            </a:r>
            <a:r>
              <a:rPr lang="en-US" sz="2000" dirty="0">
                <a:solidFill>
                  <a:schemeClr val="lt1"/>
                </a:solidFill>
              </a:rPr>
              <a:t>.</a:t>
            </a:r>
            <a:endParaRPr sz="2000" dirty="0">
              <a:solidFill>
                <a:schemeClr val="lt1"/>
              </a:solidFill>
            </a:endParaRPr>
          </a:p>
          <a:p>
            <a:pPr marL="0" lvl="0" indent="0" algn="l" rtl="0">
              <a:lnSpc>
                <a:spcPct val="115000"/>
              </a:lnSpc>
              <a:buNone/>
            </a:pPr>
            <a:endParaRPr lang="en-US" sz="2000" b="1" dirty="0">
              <a:solidFill>
                <a:schemeClr val="lt1"/>
              </a:solidFill>
            </a:endParaRPr>
          </a:p>
          <a:p>
            <a:pPr marL="0" lvl="0" indent="0" algn="l" rtl="0">
              <a:lnSpc>
                <a:spcPct val="115000"/>
              </a:lnSpc>
              <a:buNone/>
            </a:pPr>
            <a:r>
              <a:rPr lang="en-US" sz="3200" b="1" dirty="0">
                <a:solidFill>
                  <a:schemeClr val="lt1"/>
                </a:solidFill>
              </a:rPr>
              <a:t>Conclusion</a:t>
            </a:r>
            <a:endParaRPr sz="3200" b="1" dirty="0">
              <a:solidFill>
                <a:schemeClr val="lt1"/>
              </a:solidFill>
            </a:endParaRPr>
          </a:p>
          <a:p>
            <a:pPr marL="0" lvl="0" indent="0" algn="l" rtl="0">
              <a:lnSpc>
                <a:spcPct val="115000"/>
              </a:lnSpc>
              <a:buNone/>
            </a:pPr>
            <a:r>
              <a:rPr lang="en-US" sz="2000" dirty="0">
                <a:solidFill>
                  <a:schemeClr val="lt1"/>
                </a:solidFill>
              </a:rPr>
              <a:t>DFT simulations successfully reproduced the </a:t>
            </a:r>
            <a:r>
              <a:rPr lang="en-US" sz="2000" b="1" dirty="0">
                <a:solidFill>
                  <a:schemeClr val="lt1"/>
                </a:solidFill>
              </a:rPr>
              <a:t>Raman vibrational modes of a glycerol–phosphate fragment representing the LTA backbone</a:t>
            </a:r>
            <a:r>
              <a:rPr lang="en-US" sz="2000" dirty="0">
                <a:solidFill>
                  <a:schemeClr val="lt1"/>
                </a:solidFill>
              </a:rPr>
              <a:t>.</a:t>
            </a:r>
            <a:endParaRPr sz="2000" dirty="0">
              <a:solidFill>
                <a:schemeClr val="lt1"/>
              </a:solidFill>
            </a:endParaRPr>
          </a:p>
          <a:p>
            <a:pPr marL="0" lvl="0" indent="0" algn="l" rtl="0">
              <a:lnSpc>
                <a:spcPct val="115000"/>
              </a:lnSpc>
              <a:buNone/>
            </a:pPr>
            <a:r>
              <a:rPr lang="en-US" sz="2000" dirty="0">
                <a:solidFill>
                  <a:schemeClr val="lt1"/>
                </a:solidFill>
              </a:rPr>
              <a:t>Key findings:</a:t>
            </a:r>
            <a:endParaRPr sz="2000"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strong Raman bands originate from </a:t>
            </a:r>
            <a:r>
              <a:rPr lang="en-US" sz="2000" b="1" dirty="0">
                <a:solidFill>
                  <a:schemeClr val="lt1"/>
                </a:solidFill>
              </a:rPr>
              <a:t>phosphate bending and stretching modes</a:t>
            </a:r>
            <a:endParaRPr sz="2000" b="1"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glycerol backbone contributes to </a:t>
            </a:r>
            <a:r>
              <a:rPr lang="en-US" sz="2000" b="1" dirty="0">
                <a:solidFill>
                  <a:schemeClr val="lt1"/>
                </a:solidFill>
              </a:rPr>
              <a:t>C–H and O–H vibrations</a:t>
            </a:r>
            <a:endParaRPr sz="2000" b="1"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DFT calculations provide a useful tool for </a:t>
            </a:r>
            <a:r>
              <a:rPr lang="en-US" sz="2000" b="1" dirty="0">
                <a:solidFill>
                  <a:schemeClr val="lt1"/>
                </a:solidFill>
              </a:rPr>
              <a:t>interpreting Raman spectra of bacterial cell wall components</a:t>
            </a:r>
            <a:endParaRPr sz="2000" b="1" dirty="0">
              <a:solidFill>
                <a:schemeClr val="lt1"/>
              </a:solidFill>
            </a:endParaRPr>
          </a:p>
          <a:p>
            <a:pPr marL="0" lvl="0" indent="0" algn="l" rtl="0">
              <a:lnSpc>
                <a:spcPct val="115000"/>
              </a:lnSpc>
              <a:buNone/>
            </a:pPr>
            <a:r>
              <a:rPr lang="en-US" sz="2000" dirty="0">
                <a:solidFill>
                  <a:schemeClr val="lt1"/>
                </a:solidFill>
              </a:rPr>
              <a:t>This approach helps improve </a:t>
            </a:r>
            <a:r>
              <a:rPr lang="en-US" sz="2000" b="1" dirty="0">
                <a:solidFill>
                  <a:schemeClr val="lt1"/>
                </a:solidFill>
              </a:rPr>
              <a:t>spectroscopic identification of bacterial biomarkers</a:t>
            </a:r>
            <a:r>
              <a:rPr lang="en-US" sz="2000" dirty="0">
                <a:solidFill>
                  <a:schemeClr val="lt1"/>
                </a:solidFill>
              </a:rPr>
              <a:t>.</a:t>
            </a:r>
            <a:endParaRPr sz="3600" dirty="0">
              <a:solidFill>
                <a:schemeClr val="lt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9">
          <a:extLst>
            <a:ext uri="{FF2B5EF4-FFF2-40B4-BE49-F238E27FC236}">
              <a16:creationId xmlns:a16="http://schemas.microsoft.com/office/drawing/2014/main" id="{C7F4985F-C968-0856-84B4-5073FD43146C}"/>
            </a:ext>
          </a:extLst>
        </p:cNvPr>
        <p:cNvGrpSpPr/>
        <p:nvPr/>
      </p:nvGrpSpPr>
      <p:grpSpPr>
        <a:xfrm>
          <a:off x="0" y="0"/>
          <a:ext cx="0" cy="0"/>
          <a:chOff x="0" y="0"/>
          <a:chExt cx="0" cy="0"/>
        </a:xfrm>
      </p:grpSpPr>
      <p:pic>
        <p:nvPicPr>
          <p:cNvPr id="330" name="Google Shape;330;p41" descr="image.png">
            <a:extLst>
              <a:ext uri="{FF2B5EF4-FFF2-40B4-BE49-F238E27FC236}">
                <a16:creationId xmlns:a16="http://schemas.microsoft.com/office/drawing/2014/main" id="{6EECCB5D-892A-B3B1-14EA-7E8F6230D97B}"/>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32" name="Google Shape;332;p41">
            <a:extLst>
              <a:ext uri="{FF2B5EF4-FFF2-40B4-BE49-F238E27FC236}">
                <a16:creationId xmlns:a16="http://schemas.microsoft.com/office/drawing/2014/main" id="{49741E96-C3AB-AD01-C9AD-1EF188D4F929}"/>
              </a:ext>
            </a:extLst>
          </p:cNvPr>
          <p:cNvSpPr txBox="1"/>
          <p:nvPr/>
        </p:nvSpPr>
        <p:spPr>
          <a:xfrm>
            <a:off x="324570" y="57781"/>
            <a:ext cx="11099400" cy="609367"/>
          </a:xfrm>
          <a:prstGeom prst="rect">
            <a:avLst/>
          </a:prstGeom>
          <a:noFill/>
          <a:ln>
            <a:noFill/>
          </a:ln>
        </p:spPr>
        <p:txBody>
          <a:bodyPr spcFirstLastPara="1" wrap="square" lIns="91425" tIns="91425" rIns="91425" bIns="91425" anchor="t" anchorCtr="0">
            <a:spAutoFit/>
          </a:bodyPr>
          <a:lstStyle/>
          <a:p>
            <a:pPr lvl="0">
              <a:lnSpc>
                <a:spcPct val="115000"/>
              </a:lnSpc>
            </a:pPr>
            <a:r>
              <a:rPr lang="en-GB" sz="2400" b="1" dirty="0" err="1">
                <a:solidFill>
                  <a:srgbClr val="00B0F0"/>
                </a:solidFill>
              </a:rPr>
              <a:t>Modeling</a:t>
            </a:r>
            <a:r>
              <a:rPr lang="en-GB" sz="2400" b="1" dirty="0">
                <a:solidFill>
                  <a:srgbClr val="00B0F0"/>
                </a:solidFill>
              </a:rPr>
              <a:t> the LTA Substituent: D-Alanine</a:t>
            </a:r>
            <a:endParaRPr sz="2400" b="1" dirty="0">
              <a:solidFill>
                <a:srgbClr val="00B0F0"/>
              </a:solidFill>
            </a:endParaRPr>
          </a:p>
        </p:txBody>
      </p:sp>
      <p:sp>
        <p:nvSpPr>
          <p:cNvPr id="2" name="TextBox 1">
            <a:extLst>
              <a:ext uri="{FF2B5EF4-FFF2-40B4-BE49-F238E27FC236}">
                <a16:creationId xmlns:a16="http://schemas.microsoft.com/office/drawing/2014/main" id="{4479ABB7-5E3B-7BC9-886A-A00E03EDD1E7}"/>
              </a:ext>
            </a:extLst>
          </p:cNvPr>
          <p:cNvSpPr txBox="1"/>
          <p:nvPr/>
        </p:nvSpPr>
        <p:spPr>
          <a:xfrm>
            <a:off x="324570" y="1064399"/>
            <a:ext cx="2151551" cy="400110"/>
          </a:xfrm>
          <a:prstGeom prst="rect">
            <a:avLst/>
          </a:prstGeom>
          <a:noFill/>
        </p:spPr>
        <p:txBody>
          <a:bodyPr wrap="none" rtlCol="0">
            <a:spAutoFit/>
          </a:bodyPr>
          <a:lstStyle/>
          <a:p>
            <a:r>
              <a:rPr lang="en-IN" sz="2000" b="1" dirty="0">
                <a:solidFill>
                  <a:schemeClr val="bg1"/>
                </a:solidFill>
              </a:rPr>
              <a:t>Why D-Alanine?</a:t>
            </a:r>
          </a:p>
        </p:txBody>
      </p:sp>
      <p:sp>
        <p:nvSpPr>
          <p:cNvPr id="3" name="TextBox 2">
            <a:extLst>
              <a:ext uri="{FF2B5EF4-FFF2-40B4-BE49-F238E27FC236}">
                <a16:creationId xmlns:a16="http://schemas.microsoft.com/office/drawing/2014/main" id="{5B78D725-B227-8C3A-8838-94B9735B2EC4}"/>
              </a:ext>
            </a:extLst>
          </p:cNvPr>
          <p:cNvSpPr txBox="1"/>
          <p:nvPr/>
        </p:nvSpPr>
        <p:spPr>
          <a:xfrm>
            <a:off x="1291489" y="1461007"/>
            <a:ext cx="5766322" cy="923330"/>
          </a:xfrm>
          <a:prstGeom prst="rect">
            <a:avLst/>
          </a:prstGeom>
          <a:noFill/>
        </p:spPr>
        <p:txBody>
          <a:bodyPr wrap="none" rtlCol="0">
            <a:spAutoFit/>
          </a:bodyPr>
          <a:lstStyle/>
          <a:p>
            <a:r>
              <a:rPr lang="en-IN" sz="1800" dirty="0">
                <a:solidFill>
                  <a:schemeClr val="bg1"/>
                </a:solidFill>
              </a:rPr>
              <a:t>• Represents </a:t>
            </a:r>
            <a:r>
              <a:rPr lang="en-IN" sz="1800" b="1" dirty="0">
                <a:solidFill>
                  <a:schemeClr val="bg1"/>
                </a:solidFill>
              </a:rPr>
              <a:t>amino substituent in LTA</a:t>
            </a:r>
            <a:br>
              <a:rPr lang="en-IN" sz="1800" dirty="0">
                <a:solidFill>
                  <a:schemeClr val="bg1"/>
                </a:solidFill>
              </a:rPr>
            </a:br>
            <a:r>
              <a:rPr lang="en-IN" sz="1800" dirty="0">
                <a:solidFill>
                  <a:schemeClr val="bg1"/>
                </a:solidFill>
              </a:rPr>
              <a:t>• Responsible for </a:t>
            </a:r>
            <a:r>
              <a:rPr lang="en-IN" sz="1800" b="1" dirty="0">
                <a:solidFill>
                  <a:schemeClr val="bg1"/>
                </a:solidFill>
              </a:rPr>
              <a:t>surface charge regulation</a:t>
            </a:r>
            <a:br>
              <a:rPr lang="en-IN" sz="1800" dirty="0">
                <a:solidFill>
                  <a:schemeClr val="bg1"/>
                </a:solidFill>
              </a:rPr>
            </a:br>
            <a:r>
              <a:rPr lang="en-IN" sz="1800" dirty="0">
                <a:solidFill>
                  <a:schemeClr val="bg1"/>
                </a:solidFill>
              </a:rPr>
              <a:t>• Important for </a:t>
            </a:r>
            <a:r>
              <a:rPr lang="en-IN" sz="1800" b="1" dirty="0">
                <a:solidFill>
                  <a:schemeClr val="bg1"/>
                </a:solidFill>
              </a:rPr>
              <a:t>Gram-positive bacterial identification</a:t>
            </a:r>
            <a:endParaRPr lang="en-IN" sz="1800" dirty="0">
              <a:solidFill>
                <a:schemeClr val="bg1"/>
              </a:solidFill>
            </a:endParaRPr>
          </a:p>
        </p:txBody>
      </p:sp>
      <p:sp>
        <p:nvSpPr>
          <p:cNvPr id="8" name="TextBox 7">
            <a:extLst>
              <a:ext uri="{FF2B5EF4-FFF2-40B4-BE49-F238E27FC236}">
                <a16:creationId xmlns:a16="http://schemas.microsoft.com/office/drawing/2014/main" id="{82F0DC11-8B80-C02D-25AF-4788871FE981}"/>
              </a:ext>
            </a:extLst>
          </p:cNvPr>
          <p:cNvSpPr txBox="1"/>
          <p:nvPr/>
        </p:nvSpPr>
        <p:spPr>
          <a:xfrm>
            <a:off x="324570" y="2703924"/>
            <a:ext cx="3302507" cy="400110"/>
          </a:xfrm>
          <a:prstGeom prst="rect">
            <a:avLst/>
          </a:prstGeom>
          <a:noFill/>
        </p:spPr>
        <p:txBody>
          <a:bodyPr wrap="none" rtlCol="0">
            <a:spAutoFit/>
          </a:bodyPr>
          <a:lstStyle/>
          <a:p>
            <a:r>
              <a:rPr lang="en-IN" sz="2000" b="1" dirty="0">
                <a:solidFill>
                  <a:schemeClr val="bg1"/>
                </a:solidFill>
              </a:rPr>
              <a:t>Molecular Characteristics</a:t>
            </a:r>
          </a:p>
        </p:txBody>
      </p:sp>
      <p:sp>
        <p:nvSpPr>
          <p:cNvPr id="9" name="TextBox 8">
            <a:extLst>
              <a:ext uri="{FF2B5EF4-FFF2-40B4-BE49-F238E27FC236}">
                <a16:creationId xmlns:a16="http://schemas.microsoft.com/office/drawing/2014/main" id="{8A09947E-5A2E-6C8B-AE20-479022E8FF27}"/>
              </a:ext>
            </a:extLst>
          </p:cNvPr>
          <p:cNvSpPr txBox="1"/>
          <p:nvPr/>
        </p:nvSpPr>
        <p:spPr>
          <a:xfrm>
            <a:off x="1291489" y="3178196"/>
            <a:ext cx="5203654" cy="1477328"/>
          </a:xfrm>
          <a:prstGeom prst="rect">
            <a:avLst/>
          </a:prstGeom>
          <a:noFill/>
        </p:spPr>
        <p:txBody>
          <a:bodyPr wrap="square" rtlCol="0">
            <a:spAutoFit/>
          </a:bodyPr>
          <a:lstStyle/>
          <a:p>
            <a:r>
              <a:rPr lang="en-IN" sz="1800" dirty="0">
                <a:solidFill>
                  <a:schemeClr val="bg1"/>
                </a:solidFill>
              </a:rPr>
              <a:t>• Exists in </a:t>
            </a:r>
            <a:r>
              <a:rPr lang="en-IN" sz="1800" b="1" dirty="0">
                <a:solidFill>
                  <a:schemeClr val="bg1"/>
                </a:solidFill>
              </a:rPr>
              <a:t>zwitterionic form</a:t>
            </a:r>
            <a:r>
              <a:rPr lang="en-IN" sz="1800" dirty="0">
                <a:solidFill>
                  <a:schemeClr val="bg1"/>
                </a:solidFill>
              </a:rPr>
              <a:t>: NH₃⁺ – COO⁻</a:t>
            </a:r>
            <a:br>
              <a:rPr lang="en-IN" sz="1800" dirty="0">
                <a:solidFill>
                  <a:schemeClr val="bg1"/>
                </a:solidFill>
              </a:rPr>
            </a:br>
            <a:r>
              <a:rPr lang="en-IN" sz="1800" dirty="0">
                <a:solidFill>
                  <a:schemeClr val="bg1"/>
                </a:solidFill>
              </a:rPr>
              <a:t>• Contains:</a:t>
            </a:r>
          </a:p>
          <a:p>
            <a:pPr lvl="4"/>
            <a:r>
              <a:rPr lang="en-IN" sz="1800" dirty="0">
                <a:solidFill>
                  <a:schemeClr val="bg1"/>
                </a:solidFill>
              </a:rPr>
              <a:t>	Amino group </a:t>
            </a:r>
          </a:p>
          <a:p>
            <a:pPr lvl="4"/>
            <a:r>
              <a:rPr lang="en-IN" sz="1800" dirty="0">
                <a:solidFill>
                  <a:schemeClr val="bg1"/>
                </a:solidFill>
              </a:rPr>
              <a:t>	Carboxylate group </a:t>
            </a:r>
          </a:p>
          <a:p>
            <a:pPr lvl="4"/>
            <a:r>
              <a:rPr lang="en-IN" sz="1800" dirty="0">
                <a:solidFill>
                  <a:schemeClr val="bg1"/>
                </a:solidFill>
              </a:rPr>
              <a:t>	Methyl group</a:t>
            </a:r>
          </a:p>
        </p:txBody>
      </p:sp>
      <p:sp>
        <p:nvSpPr>
          <p:cNvPr id="10" name="TextBox 9">
            <a:extLst>
              <a:ext uri="{FF2B5EF4-FFF2-40B4-BE49-F238E27FC236}">
                <a16:creationId xmlns:a16="http://schemas.microsoft.com/office/drawing/2014/main" id="{083D5211-1620-82BF-1B82-81CB062EE473}"/>
              </a:ext>
            </a:extLst>
          </p:cNvPr>
          <p:cNvSpPr txBox="1"/>
          <p:nvPr/>
        </p:nvSpPr>
        <p:spPr>
          <a:xfrm>
            <a:off x="324570" y="4780962"/>
            <a:ext cx="3047629" cy="400110"/>
          </a:xfrm>
          <a:prstGeom prst="rect">
            <a:avLst/>
          </a:prstGeom>
          <a:noFill/>
        </p:spPr>
        <p:txBody>
          <a:bodyPr wrap="none" rtlCol="0">
            <a:spAutoFit/>
          </a:bodyPr>
          <a:lstStyle/>
          <a:p>
            <a:r>
              <a:rPr lang="en-IN" sz="2000" b="1" dirty="0">
                <a:solidFill>
                  <a:schemeClr val="bg1"/>
                </a:solidFill>
              </a:rPr>
              <a:t>DFT Simulation Method</a:t>
            </a:r>
          </a:p>
        </p:txBody>
      </p:sp>
      <p:sp>
        <p:nvSpPr>
          <p:cNvPr id="11" name="TextBox 10">
            <a:extLst>
              <a:ext uri="{FF2B5EF4-FFF2-40B4-BE49-F238E27FC236}">
                <a16:creationId xmlns:a16="http://schemas.microsoft.com/office/drawing/2014/main" id="{F94D103C-D1AF-92E4-33D8-263C2EEDE4FA}"/>
              </a:ext>
            </a:extLst>
          </p:cNvPr>
          <p:cNvSpPr txBox="1"/>
          <p:nvPr/>
        </p:nvSpPr>
        <p:spPr>
          <a:xfrm>
            <a:off x="1297892" y="5256132"/>
            <a:ext cx="4798108" cy="1200329"/>
          </a:xfrm>
          <a:prstGeom prst="rect">
            <a:avLst/>
          </a:prstGeom>
          <a:noFill/>
        </p:spPr>
        <p:txBody>
          <a:bodyPr wrap="none" rtlCol="0">
            <a:spAutoFit/>
          </a:bodyPr>
          <a:lstStyle/>
          <a:p>
            <a:r>
              <a:rPr lang="en-GB" sz="1800" dirty="0">
                <a:solidFill>
                  <a:schemeClr val="bg1"/>
                </a:solidFill>
              </a:rPr>
              <a:t>• Geometry optimization + Raman calculation</a:t>
            </a:r>
            <a:br>
              <a:rPr lang="en-GB" sz="1800" dirty="0">
                <a:solidFill>
                  <a:schemeClr val="bg1"/>
                </a:solidFill>
              </a:rPr>
            </a:br>
            <a:r>
              <a:rPr lang="en-GB" sz="1800" dirty="0">
                <a:solidFill>
                  <a:schemeClr val="bg1"/>
                </a:solidFill>
              </a:rPr>
              <a:t>• Functional: B3LYP</a:t>
            </a:r>
            <a:br>
              <a:rPr lang="en-GB" sz="1800" dirty="0">
                <a:solidFill>
                  <a:schemeClr val="bg1"/>
                </a:solidFill>
              </a:rPr>
            </a:br>
            <a:r>
              <a:rPr lang="en-GB" sz="1800" dirty="0">
                <a:solidFill>
                  <a:schemeClr val="bg1"/>
                </a:solidFill>
              </a:rPr>
              <a:t>• Basis set: 6-31G(d)</a:t>
            </a:r>
            <a:br>
              <a:rPr lang="en-GB" sz="1800" dirty="0">
                <a:solidFill>
                  <a:schemeClr val="bg1"/>
                </a:solidFill>
              </a:rPr>
            </a:br>
            <a:r>
              <a:rPr lang="en-GB" sz="1800" dirty="0">
                <a:solidFill>
                  <a:schemeClr val="bg1"/>
                </a:solidFill>
              </a:rPr>
              <a:t>• Solvent: SMD (water)</a:t>
            </a:r>
            <a:endParaRPr lang="en-IN" sz="1800" dirty="0">
              <a:solidFill>
                <a:schemeClr val="bg1"/>
              </a:solidFill>
            </a:endParaRPr>
          </a:p>
        </p:txBody>
      </p:sp>
      <p:pic>
        <p:nvPicPr>
          <p:cNvPr id="13" name="Picture 12">
            <a:extLst>
              <a:ext uri="{FF2B5EF4-FFF2-40B4-BE49-F238E27FC236}">
                <a16:creationId xmlns:a16="http://schemas.microsoft.com/office/drawing/2014/main" id="{DCA76E2D-54E6-6046-022D-15EA2499A5EB}"/>
              </a:ext>
            </a:extLst>
          </p:cNvPr>
          <p:cNvPicPr>
            <a:picLocks noChangeAspect="1"/>
          </p:cNvPicPr>
          <p:nvPr/>
        </p:nvPicPr>
        <p:blipFill>
          <a:blip r:embed="rId4"/>
          <a:stretch>
            <a:fillRect/>
          </a:stretch>
        </p:blipFill>
        <p:spPr>
          <a:xfrm>
            <a:off x="6509250" y="2981267"/>
            <a:ext cx="6294365" cy="3256879"/>
          </a:xfrm>
          <a:prstGeom prst="rect">
            <a:avLst/>
          </a:prstGeom>
        </p:spPr>
      </p:pic>
      <p:pic>
        <p:nvPicPr>
          <p:cNvPr id="15" name="Picture 14">
            <a:extLst>
              <a:ext uri="{FF2B5EF4-FFF2-40B4-BE49-F238E27FC236}">
                <a16:creationId xmlns:a16="http://schemas.microsoft.com/office/drawing/2014/main" id="{F6231FDA-9C4B-19F3-DAFA-2A623A267F96}"/>
              </a:ext>
            </a:extLst>
          </p:cNvPr>
          <p:cNvPicPr>
            <a:picLocks noChangeAspect="1"/>
          </p:cNvPicPr>
          <p:nvPr/>
        </p:nvPicPr>
        <p:blipFill>
          <a:blip r:embed="rId5"/>
          <a:stretch>
            <a:fillRect/>
          </a:stretch>
        </p:blipFill>
        <p:spPr>
          <a:xfrm>
            <a:off x="8580657" y="378689"/>
            <a:ext cx="2151552" cy="2151552"/>
          </a:xfrm>
          <a:prstGeom prst="rect">
            <a:avLst/>
          </a:prstGeom>
        </p:spPr>
      </p:pic>
      <p:sp>
        <p:nvSpPr>
          <p:cNvPr id="16" name="TextBox 15">
            <a:extLst>
              <a:ext uri="{FF2B5EF4-FFF2-40B4-BE49-F238E27FC236}">
                <a16:creationId xmlns:a16="http://schemas.microsoft.com/office/drawing/2014/main" id="{A73654AF-E5A1-F66D-2F44-C1A36EB40BBA}"/>
              </a:ext>
            </a:extLst>
          </p:cNvPr>
          <p:cNvSpPr txBox="1"/>
          <p:nvPr/>
        </p:nvSpPr>
        <p:spPr>
          <a:xfrm>
            <a:off x="9145346" y="2673490"/>
            <a:ext cx="1189749" cy="307777"/>
          </a:xfrm>
          <a:prstGeom prst="rect">
            <a:avLst/>
          </a:prstGeom>
          <a:noFill/>
        </p:spPr>
        <p:txBody>
          <a:bodyPr wrap="none" rtlCol="0">
            <a:spAutoFit/>
          </a:bodyPr>
          <a:lstStyle/>
          <a:p>
            <a:r>
              <a:rPr lang="en-IN" dirty="0">
                <a:solidFill>
                  <a:schemeClr val="bg1"/>
                </a:solidFill>
              </a:rPr>
              <a:t>2D Structure</a:t>
            </a:r>
          </a:p>
        </p:txBody>
      </p:sp>
      <p:sp>
        <p:nvSpPr>
          <p:cNvPr id="18" name="TextBox 17">
            <a:extLst>
              <a:ext uri="{FF2B5EF4-FFF2-40B4-BE49-F238E27FC236}">
                <a16:creationId xmlns:a16="http://schemas.microsoft.com/office/drawing/2014/main" id="{2C2006CB-8D2A-2B2F-F480-9ADED0D19F57}"/>
              </a:ext>
            </a:extLst>
          </p:cNvPr>
          <p:cNvSpPr txBox="1"/>
          <p:nvPr/>
        </p:nvSpPr>
        <p:spPr>
          <a:xfrm>
            <a:off x="9145346" y="5962534"/>
            <a:ext cx="1473411" cy="307777"/>
          </a:xfrm>
          <a:prstGeom prst="rect">
            <a:avLst/>
          </a:prstGeom>
          <a:noFill/>
        </p:spPr>
        <p:txBody>
          <a:bodyPr wrap="square">
            <a:spAutoFit/>
          </a:bodyPr>
          <a:lstStyle/>
          <a:p>
            <a:r>
              <a:rPr lang="en-IN" dirty="0">
                <a:solidFill>
                  <a:schemeClr val="bg1"/>
                </a:solidFill>
              </a:rPr>
              <a:t>3D Structure</a:t>
            </a:r>
          </a:p>
        </p:txBody>
      </p:sp>
    </p:spTree>
    <p:extLst>
      <p:ext uri="{BB962C8B-B14F-4D97-AF65-F5344CB8AC3E}">
        <p14:creationId xmlns:p14="http://schemas.microsoft.com/office/powerpoint/2010/main" val="28866164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9">
          <a:extLst>
            <a:ext uri="{FF2B5EF4-FFF2-40B4-BE49-F238E27FC236}">
              <a16:creationId xmlns:a16="http://schemas.microsoft.com/office/drawing/2014/main" id="{C86F4C53-11FC-3EBF-56A8-7738F2DF84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6F290F-0406-0C41-5DE5-991D61FD6CCC}"/>
              </a:ext>
            </a:extLst>
          </p:cNvPr>
          <p:cNvSpPr txBox="1"/>
          <p:nvPr/>
        </p:nvSpPr>
        <p:spPr>
          <a:xfrm>
            <a:off x="464457" y="261258"/>
            <a:ext cx="2906565" cy="400110"/>
          </a:xfrm>
          <a:prstGeom prst="rect">
            <a:avLst/>
          </a:prstGeom>
          <a:noFill/>
        </p:spPr>
        <p:txBody>
          <a:bodyPr wrap="none" rtlCol="0">
            <a:spAutoFit/>
          </a:bodyPr>
          <a:lstStyle/>
          <a:p>
            <a:r>
              <a:rPr lang="en-IN" sz="2000" b="1" dirty="0">
                <a:solidFill>
                  <a:schemeClr val="bg1"/>
                </a:solidFill>
              </a:rPr>
              <a:t>Key Raman Vibrations</a:t>
            </a:r>
          </a:p>
        </p:txBody>
      </p:sp>
      <p:graphicFrame>
        <p:nvGraphicFramePr>
          <p:cNvPr id="6" name="Table 5">
            <a:extLst>
              <a:ext uri="{FF2B5EF4-FFF2-40B4-BE49-F238E27FC236}">
                <a16:creationId xmlns:a16="http://schemas.microsoft.com/office/drawing/2014/main" id="{9086DCE9-DE7F-434F-992A-0EBA17F0EF19}"/>
              </a:ext>
            </a:extLst>
          </p:cNvPr>
          <p:cNvGraphicFramePr>
            <a:graphicFrameLocks noGrp="1"/>
          </p:cNvGraphicFramePr>
          <p:nvPr>
            <p:extLst>
              <p:ext uri="{D42A27DB-BD31-4B8C-83A1-F6EECF244321}">
                <p14:modId xmlns:p14="http://schemas.microsoft.com/office/powerpoint/2010/main" val="2920491214"/>
              </p:ext>
            </p:extLst>
          </p:nvPr>
        </p:nvGraphicFramePr>
        <p:xfrm>
          <a:off x="1513373" y="895011"/>
          <a:ext cx="8229600" cy="1524000"/>
        </p:xfrm>
        <a:graphic>
          <a:graphicData uri="http://schemas.openxmlformats.org/drawingml/2006/table">
            <a:tbl>
              <a:tblPr/>
              <a:tblGrid>
                <a:gridCol w="4114800">
                  <a:extLst>
                    <a:ext uri="{9D8B030D-6E8A-4147-A177-3AD203B41FA5}">
                      <a16:colId xmlns:a16="http://schemas.microsoft.com/office/drawing/2014/main" val="1413864903"/>
                    </a:ext>
                  </a:extLst>
                </a:gridCol>
                <a:gridCol w="4114800">
                  <a:extLst>
                    <a:ext uri="{9D8B030D-6E8A-4147-A177-3AD203B41FA5}">
                      <a16:colId xmlns:a16="http://schemas.microsoft.com/office/drawing/2014/main" val="1537618578"/>
                    </a:ext>
                  </a:extLst>
                </a:gridCol>
              </a:tblGrid>
              <a:tr h="0">
                <a:tc>
                  <a:txBody>
                    <a:bodyPr/>
                    <a:lstStyle/>
                    <a:p>
                      <a:pPr algn="ctr">
                        <a:buNone/>
                      </a:pPr>
                      <a:r>
                        <a:rPr lang="en-IN">
                          <a:solidFill>
                            <a:schemeClr val="bg1"/>
                          </a:solidFill>
                        </a:rPr>
                        <a:t>Raman Shift (cm⁻¹)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Assignment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14450991"/>
                  </a:ext>
                </a:extLst>
              </a:tr>
              <a:tr h="0">
                <a:tc>
                  <a:txBody>
                    <a:bodyPr/>
                    <a:lstStyle/>
                    <a:p>
                      <a:pPr algn="ctr">
                        <a:buNone/>
                      </a:pPr>
                      <a:r>
                        <a:rPr lang="en-IN">
                          <a:solidFill>
                            <a:schemeClr val="bg1"/>
                          </a:solidFill>
                        </a:rPr>
                        <a:t>~1500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NH₃⁺ symmetric deformation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38224824"/>
                  </a:ext>
                </a:extLst>
              </a:tr>
              <a:tr h="0">
                <a:tc>
                  <a:txBody>
                    <a:bodyPr/>
                    <a:lstStyle/>
                    <a:p>
                      <a:pPr algn="ctr">
                        <a:buNone/>
                      </a:pPr>
                      <a:r>
                        <a:rPr lang="en-IN">
                          <a:solidFill>
                            <a:schemeClr val="bg1"/>
                          </a:solidFill>
                        </a:rPr>
                        <a:t>~1560–1600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COO⁻ stretching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49868379"/>
                  </a:ext>
                </a:extLst>
              </a:tr>
              <a:tr h="0">
                <a:tc>
                  <a:txBody>
                    <a:bodyPr/>
                    <a:lstStyle/>
                    <a:p>
                      <a:pPr algn="ctr">
                        <a:buNone/>
                      </a:pPr>
                      <a:r>
                        <a:rPr lang="en-IN">
                          <a:solidFill>
                            <a:schemeClr val="bg1"/>
                          </a:solidFill>
                        </a:rPr>
                        <a:t>~1440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CH₃ deformation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04698356"/>
                  </a:ext>
                </a:extLst>
              </a:tr>
              <a:tr h="0">
                <a:tc>
                  <a:txBody>
                    <a:bodyPr/>
                    <a:lstStyle/>
                    <a:p>
                      <a:pPr algn="ctr">
                        <a:buNone/>
                      </a:pPr>
                      <a:r>
                        <a:rPr lang="en-IN">
                          <a:solidFill>
                            <a:schemeClr val="bg1"/>
                          </a:solidFill>
                        </a:rPr>
                        <a:t>~1200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dirty="0">
                          <a:solidFill>
                            <a:schemeClr val="bg1"/>
                          </a:solidFill>
                        </a:rPr>
                        <a:t>C–N stretching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1835985"/>
                  </a:ext>
                </a:extLst>
              </a:tr>
            </a:tbl>
          </a:graphicData>
        </a:graphic>
      </p:graphicFrame>
      <p:sp>
        <p:nvSpPr>
          <p:cNvPr id="7" name="TextBox 6">
            <a:extLst>
              <a:ext uri="{FF2B5EF4-FFF2-40B4-BE49-F238E27FC236}">
                <a16:creationId xmlns:a16="http://schemas.microsoft.com/office/drawing/2014/main" id="{84EF6049-5F90-EBC9-3B0B-5A15849E9272}"/>
              </a:ext>
            </a:extLst>
          </p:cNvPr>
          <p:cNvSpPr txBox="1"/>
          <p:nvPr/>
        </p:nvSpPr>
        <p:spPr>
          <a:xfrm>
            <a:off x="464457" y="2663847"/>
            <a:ext cx="1835759" cy="400110"/>
          </a:xfrm>
          <a:prstGeom prst="rect">
            <a:avLst/>
          </a:prstGeom>
          <a:noFill/>
        </p:spPr>
        <p:txBody>
          <a:bodyPr wrap="none" rtlCol="0">
            <a:spAutoFit/>
          </a:bodyPr>
          <a:lstStyle/>
          <a:p>
            <a:r>
              <a:rPr lang="en-IN" sz="2000" b="1" dirty="0">
                <a:solidFill>
                  <a:schemeClr val="bg1"/>
                </a:solidFill>
              </a:rPr>
              <a:t>Interpretation</a:t>
            </a:r>
          </a:p>
        </p:txBody>
      </p:sp>
      <p:sp>
        <p:nvSpPr>
          <p:cNvPr id="9" name="TextBox 8">
            <a:extLst>
              <a:ext uri="{FF2B5EF4-FFF2-40B4-BE49-F238E27FC236}">
                <a16:creationId xmlns:a16="http://schemas.microsoft.com/office/drawing/2014/main" id="{9FB5F6FB-7D03-D807-B653-9943C0693DC3}"/>
              </a:ext>
            </a:extLst>
          </p:cNvPr>
          <p:cNvSpPr txBox="1"/>
          <p:nvPr/>
        </p:nvSpPr>
        <p:spPr>
          <a:xfrm>
            <a:off x="1513373" y="3362608"/>
            <a:ext cx="6088526" cy="646331"/>
          </a:xfrm>
          <a:prstGeom prst="rect">
            <a:avLst/>
          </a:prstGeom>
          <a:noFill/>
        </p:spPr>
        <p:txBody>
          <a:bodyPr wrap="none" rtlCol="0">
            <a:spAutoFit/>
          </a:bodyPr>
          <a:lstStyle/>
          <a:p>
            <a:r>
              <a:rPr lang="en-GB" sz="1800" dirty="0">
                <a:solidFill>
                  <a:schemeClr val="bg1"/>
                </a:solidFill>
              </a:rPr>
              <a:t>• NH₃⁺ and COO⁻ peaks confirm </a:t>
            </a:r>
            <a:r>
              <a:rPr lang="en-GB" sz="1800" b="1" dirty="0">
                <a:solidFill>
                  <a:schemeClr val="bg1"/>
                </a:solidFill>
              </a:rPr>
              <a:t>zwitterionic amino acid</a:t>
            </a:r>
            <a:br>
              <a:rPr lang="en-GB" sz="1800" dirty="0">
                <a:solidFill>
                  <a:schemeClr val="bg1"/>
                </a:solidFill>
              </a:rPr>
            </a:br>
            <a:r>
              <a:rPr lang="en-GB" sz="1800" dirty="0">
                <a:solidFill>
                  <a:schemeClr val="bg1"/>
                </a:solidFill>
              </a:rPr>
              <a:t>• Provides </a:t>
            </a:r>
            <a:r>
              <a:rPr lang="en-GB" sz="1800" b="1" dirty="0">
                <a:solidFill>
                  <a:schemeClr val="bg1"/>
                </a:solidFill>
              </a:rPr>
              <a:t>amino signature in LTA spectrum</a:t>
            </a:r>
            <a:endParaRPr lang="en-IN" sz="1800" dirty="0">
              <a:solidFill>
                <a:schemeClr val="bg1"/>
              </a:solidFill>
            </a:endParaRPr>
          </a:p>
        </p:txBody>
      </p:sp>
      <p:sp>
        <p:nvSpPr>
          <p:cNvPr id="11" name="TextBox 10">
            <a:extLst>
              <a:ext uri="{FF2B5EF4-FFF2-40B4-BE49-F238E27FC236}">
                <a16:creationId xmlns:a16="http://schemas.microsoft.com/office/drawing/2014/main" id="{C34725DC-9744-F21F-5FD4-A6F1F2EE46D3}"/>
              </a:ext>
            </a:extLst>
          </p:cNvPr>
          <p:cNvSpPr txBox="1"/>
          <p:nvPr/>
        </p:nvSpPr>
        <p:spPr>
          <a:xfrm>
            <a:off x="464457" y="4421490"/>
            <a:ext cx="6096000" cy="400110"/>
          </a:xfrm>
          <a:prstGeom prst="rect">
            <a:avLst/>
          </a:prstGeom>
          <a:noFill/>
        </p:spPr>
        <p:txBody>
          <a:bodyPr wrap="square">
            <a:spAutoFit/>
          </a:bodyPr>
          <a:lstStyle/>
          <a:p>
            <a:r>
              <a:rPr lang="en-IN" sz="2000" b="1" dirty="0">
                <a:solidFill>
                  <a:schemeClr val="bg1"/>
                </a:solidFill>
              </a:rPr>
              <a:t>Conclusion</a:t>
            </a:r>
          </a:p>
        </p:txBody>
      </p:sp>
      <p:sp>
        <p:nvSpPr>
          <p:cNvPr id="12" name="TextBox 11">
            <a:extLst>
              <a:ext uri="{FF2B5EF4-FFF2-40B4-BE49-F238E27FC236}">
                <a16:creationId xmlns:a16="http://schemas.microsoft.com/office/drawing/2014/main" id="{FF592C16-A1A0-D20D-1DD2-1FBC5B4F2D76}"/>
              </a:ext>
            </a:extLst>
          </p:cNvPr>
          <p:cNvSpPr txBox="1"/>
          <p:nvPr/>
        </p:nvSpPr>
        <p:spPr>
          <a:xfrm>
            <a:off x="1284514" y="5123749"/>
            <a:ext cx="9383485" cy="646331"/>
          </a:xfrm>
          <a:prstGeom prst="rect">
            <a:avLst/>
          </a:prstGeom>
          <a:noFill/>
        </p:spPr>
        <p:txBody>
          <a:bodyPr wrap="square" rtlCol="0">
            <a:spAutoFit/>
          </a:bodyPr>
          <a:lstStyle/>
          <a:p>
            <a:r>
              <a:rPr lang="en-GB" sz="1800" dirty="0">
                <a:solidFill>
                  <a:schemeClr val="bg1"/>
                </a:solidFill>
              </a:rPr>
              <a:t>D-Alanine contributes </a:t>
            </a:r>
            <a:r>
              <a:rPr lang="en-GB" sz="1800" b="1" dirty="0">
                <a:solidFill>
                  <a:schemeClr val="bg1"/>
                </a:solidFill>
              </a:rPr>
              <a:t>amino vibrational features</a:t>
            </a:r>
            <a:r>
              <a:rPr lang="en-GB" sz="1800" dirty="0">
                <a:solidFill>
                  <a:schemeClr val="bg1"/>
                </a:solidFill>
              </a:rPr>
              <a:t>, especially in the </a:t>
            </a:r>
            <a:r>
              <a:rPr lang="en-GB" sz="1800" b="1" dirty="0">
                <a:solidFill>
                  <a:schemeClr val="bg1"/>
                </a:solidFill>
              </a:rPr>
              <a:t>1500–1600 cm⁻¹ region</a:t>
            </a:r>
            <a:r>
              <a:rPr lang="en-GB" sz="1800" dirty="0">
                <a:solidFill>
                  <a:schemeClr val="bg1"/>
                </a:solidFill>
              </a:rPr>
              <a:t>, enabling identification of amino substituents in LTA.</a:t>
            </a:r>
            <a:endParaRPr lang="en-IN" sz="1800" dirty="0">
              <a:solidFill>
                <a:schemeClr val="bg1"/>
              </a:solidFill>
            </a:endParaRPr>
          </a:p>
        </p:txBody>
      </p:sp>
    </p:spTree>
    <p:extLst>
      <p:ext uri="{BB962C8B-B14F-4D97-AF65-F5344CB8AC3E}">
        <p14:creationId xmlns:p14="http://schemas.microsoft.com/office/powerpoint/2010/main" val="2424791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BB518459-28D3-9F13-7644-0E56D683E922}"/>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6C1DB0B5-0D91-A520-8DF4-6A1DF270EBF2}"/>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pic>
        <p:nvPicPr>
          <p:cNvPr id="5" name="Picture 4">
            <a:extLst>
              <a:ext uri="{FF2B5EF4-FFF2-40B4-BE49-F238E27FC236}">
                <a16:creationId xmlns:a16="http://schemas.microsoft.com/office/drawing/2014/main" id="{89EA82AA-7508-C19F-55F1-75FA5D503F80}"/>
              </a:ext>
            </a:extLst>
          </p:cNvPr>
          <p:cNvPicPr>
            <a:picLocks noChangeAspect="1"/>
          </p:cNvPicPr>
          <p:nvPr/>
        </p:nvPicPr>
        <p:blipFill>
          <a:blip r:embed="rId4"/>
          <a:stretch>
            <a:fillRect/>
          </a:stretch>
        </p:blipFill>
        <p:spPr>
          <a:xfrm>
            <a:off x="1328525" y="1135910"/>
            <a:ext cx="9672985" cy="4799378"/>
          </a:xfrm>
          <a:prstGeom prst="rect">
            <a:avLst/>
          </a:prstGeom>
        </p:spPr>
      </p:pic>
    </p:spTree>
    <p:extLst>
      <p:ext uri="{BB962C8B-B14F-4D97-AF65-F5344CB8AC3E}">
        <p14:creationId xmlns:p14="http://schemas.microsoft.com/office/powerpoint/2010/main" val="6427138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9">
          <a:extLst>
            <a:ext uri="{FF2B5EF4-FFF2-40B4-BE49-F238E27FC236}">
              <a16:creationId xmlns:a16="http://schemas.microsoft.com/office/drawing/2014/main" id="{D14C8EBB-DD98-EB9F-70B2-7752B6755274}"/>
            </a:ext>
          </a:extLst>
        </p:cNvPr>
        <p:cNvGrpSpPr/>
        <p:nvPr/>
      </p:nvGrpSpPr>
      <p:grpSpPr>
        <a:xfrm>
          <a:off x="0" y="0"/>
          <a:ext cx="0" cy="0"/>
          <a:chOff x="0" y="0"/>
          <a:chExt cx="0" cy="0"/>
        </a:xfrm>
      </p:grpSpPr>
      <p:pic>
        <p:nvPicPr>
          <p:cNvPr id="330" name="Google Shape;330;p41" descr="image.png">
            <a:extLst>
              <a:ext uri="{FF2B5EF4-FFF2-40B4-BE49-F238E27FC236}">
                <a16:creationId xmlns:a16="http://schemas.microsoft.com/office/drawing/2014/main" id="{17FE9C8A-B2CC-EF3B-35A4-F080D71A5BE2}"/>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32" name="Google Shape;332;p41">
            <a:extLst>
              <a:ext uri="{FF2B5EF4-FFF2-40B4-BE49-F238E27FC236}">
                <a16:creationId xmlns:a16="http://schemas.microsoft.com/office/drawing/2014/main" id="{F760A5C8-E089-A7A4-B2F0-D6776A8EE251}"/>
              </a:ext>
            </a:extLst>
          </p:cNvPr>
          <p:cNvSpPr txBox="1"/>
          <p:nvPr/>
        </p:nvSpPr>
        <p:spPr>
          <a:xfrm>
            <a:off x="324570" y="57781"/>
            <a:ext cx="11099400" cy="609367"/>
          </a:xfrm>
          <a:prstGeom prst="rect">
            <a:avLst/>
          </a:prstGeom>
          <a:noFill/>
          <a:ln>
            <a:noFill/>
          </a:ln>
        </p:spPr>
        <p:txBody>
          <a:bodyPr spcFirstLastPara="1" wrap="square" lIns="91425" tIns="91425" rIns="91425" bIns="91425" anchor="t" anchorCtr="0">
            <a:spAutoFit/>
          </a:bodyPr>
          <a:lstStyle/>
          <a:p>
            <a:pPr lvl="0">
              <a:lnSpc>
                <a:spcPct val="115000"/>
              </a:lnSpc>
            </a:pPr>
            <a:r>
              <a:rPr lang="en-GB" sz="2400" b="1" dirty="0" err="1">
                <a:solidFill>
                  <a:srgbClr val="00B0F0"/>
                </a:solidFill>
              </a:rPr>
              <a:t>Modeling</a:t>
            </a:r>
            <a:r>
              <a:rPr lang="en-GB" sz="2400" b="1" dirty="0">
                <a:solidFill>
                  <a:srgbClr val="00B0F0"/>
                </a:solidFill>
              </a:rPr>
              <a:t> the LTA Substituent: </a:t>
            </a:r>
            <a:r>
              <a:rPr lang="en-GB" sz="2400" b="1" dirty="0" err="1">
                <a:solidFill>
                  <a:srgbClr val="00B0F0"/>
                </a:solidFill>
              </a:rPr>
              <a:t>GlcNAc</a:t>
            </a:r>
            <a:endParaRPr sz="2400" b="1" dirty="0">
              <a:solidFill>
                <a:srgbClr val="00B0F0"/>
              </a:solidFill>
            </a:endParaRPr>
          </a:p>
        </p:txBody>
      </p:sp>
      <p:sp>
        <p:nvSpPr>
          <p:cNvPr id="2" name="TextBox 1">
            <a:extLst>
              <a:ext uri="{FF2B5EF4-FFF2-40B4-BE49-F238E27FC236}">
                <a16:creationId xmlns:a16="http://schemas.microsoft.com/office/drawing/2014/main" id="{C5B7F588-EC31-3A35-2FBC-A688A86B37F9}"/>
              </a:ext>
            </a:extLst>
          </p:cNvPr>
          <p:cNvSpPr txBox="1"/>
          <p:nvPr/>
        </p:nvSpPr>
        <p:spPr>
          <a:xfrm>
            <a:off x="324570" y="1064399"/>
            <a:ext cx="1781257" cy="400110"/>
          </a:xfrm>
          <a:prstGeom prst="rect">
            <a:avLst/>
          </a:prstGeom>
          <a:noFill/>
        </p:spPr>
        <p:txBody>
          <a:bodyPr wrap="none" rtlCol="0">
            <a:spAutoFit/>
          </a:bodyPr>
          <a:lstStyle/>
          <a:p>
            <a:r>
              <a:rPr lang="en-IN" sz="2000" dirty="0">
                <a:solidFill>
                  <a:schemeClr val="bg1"/>
                </a:solidFill>
              </a:rPr>
              <a:t>Why </a:t>
            </a:r>
            <a:r>
              <a:rPr lang="en-IN" sz="2000" dirty="0" err="1">
                <a:solidFill>
                  <a:schemeClr val="bg1"/>
                </a:solidFill>
              </a:rPr>
              <a:t>GlcNAc</a:t>
            </a:r>
            <a:r>
              <a:rPr lang="en-IN" sz="2000" dirty="0">
                <a:solidFill>
                  <a:schemeClr val="bg1"/>
                </a:solidFill>
              </a:rPr>
              <a:t>?</a:t>
            </a:r>
            <a:endParaRPr lang="en-IN" sz="2000" b="1" dirty="0">
              <a:solidFill>
                <a:schemeClr val="bg1"/>
              </a:solidFill>
            </a:endParaRPr>
          </a:p>
        </p:txBody>
      </p:sp>
      <p:sp>
        <p:nvSpPr>
          <p:cNvPr id="3" name="TextBox 2">
            <a:extLst>
              <a:ext uri="{FF2B5EF4-FFF2-40B4-BE49-F238E27FC236}">
                <a16:creationId xmlns:a16="http://schemas.microsoft.com/office/drawing/2014/main" id="{88941337-9C5D-9136-B76B-C4347F631BA7}"/>
              </a:ext>
            </a:extLst>
          </p:cNvPr>
          <p:cNvSpPr txBox="1"/>
          <p:nvPr/>
        </p:nvSpPr>
        <p:spPr>
          <a:xfrm>
            <a:off x="1291489" y="1461007"/>
            <a:ext cx="5048177" cy="923330"/>
          </a:xfrm>
          <a:prstGeom prst="rect">
            <a:avLst/>
          </a:prstGeom>
          <a:noFill/>
        </p:spPr>
        <p:txBody>
          <a:bodyPr wrap="none" rtlCol="0">
            <a:spAutoFit/>
          </a:bodyPr>
          <a:lstStyle/>
          <a:p>
            <a:r>
              <a:rPr lang="en-GB" sz="1800" dirty="0">
                <a:solidFill>
                  <a:schemeClr val="bg1"/>
                </a:solidFill>
              </a:rPr>
              <a:t>• Represents </a:t>
            </a:r>
            <a:r>
              <a:rPr lang="en-GB" sz="1800" b="1" dirty="0">
                <a:solidFill>
                  <a:schemeClr val="bg1"/>
                </a:solidFill>
              </a:rPr>
              <a:t>carbohydrate component</a:t>
            </a:r>
            <a:br>
              <a:rPr lang="en-GB" sz="1800" dirty="0">
                <a:solidFill>
                  <a:schemeClr val="bg1"/>
                </a:solidFill>
              </a:rPr>
            </a:br>
            <a:r>
              <a:rPr lang="en-GB" sz="1800" dirty="0">
                <a:solidFill>
                  <a:schemeClr val="bg1"/>
                </a:solidFill>
              </a:rPr>
              <a:t>• Present in </a:t>
            </a:r>
            <a:r>
              <a:rPr lang="en-GB" sz="1800" b="1" dirty="0">
                <a:solidFill>
                  <a:schemeClr val="bg1"/>
                </a:solidFill>
              </a:rPr>
              <a:t>bacterial cell wall structures</a:t>
            </a:r>
            <a:br>
              <a:rPr lang="en-GB" sz="1800" dirty="0">
                <a:solidFill>
                  <a:schemeClr val="bg1"/>
                </a:solidFill>
              </a:rPr>
            </a:br>
            <a:r>
              <a:rPr lang="en-GB" sz="1800" dirty="0">
                <a:solidFill>
                  <a:schemeClr val="bg1"/>
                </a:solidFill>
              </a:rPr>
              <a:t>• Provides strong </a:t>
            </a:r>
            <a:r>
              <a:rPr lang="en-GB" sz="1800" b="1" dirty="0">
                <a:solidFill>
                  <a:schemeClr val="bg1"/>
                </a:solidFill>
              </a:rPr>
              <a:t>Raman-active sugar signals</a:t>
            </a:r>
            <a:endParaRPr lang="en-IN" sz="1800" dirty="0">
              <a:solidFill>
                <a:schemeClr val="bg1"/>
              </a:solidFill>
            </a:endParaRPr>
          </a:p>
        </p:txBody>
      </p:sp>
      <p:sp>
        <p:nvSpPr>
          <p:cNvPr id="8" name="TextBox 7">
            <a:extLst>
              <a:ext uri="{FF2B5EF4-FFF2-40B4-BE49-F238E27FC236}">
                <a16:creationId xmlns:a16="http://schemas.microsoft.com/office/drawing/2014/main" id="{9521A40B-8CC0-5187-6FBD-C29B10CA40D8}"/>
              </a:ext>
            </a:extLst>
          </p:cNvPr>
          <p:cNvSpPr txBox="1"/>
          <p:nvPr/>
        </p:nvSpPr>
        <p:spPr>
          <a:xfrm>
            <a:off x="324570" y="2703924"/>
            <a:ext cx="3302507" cy="400110"/>
          </a:xfrm>
          <a:prstGeom prst="rect">
            <a:avLst/>
          </a:prstGeom>
          <a:noFill/>
        </p:spPr>
        <p:txBody>
          <a:bodyPr wrap="none" rtlCol="0">
            <a:spAutoFit/>
          </a:bodyPr>
          <a:lstStyle/>
          <a:p>
            <a:r>
              <a:rPr lang="en-IN" sz="2000" b="1" dirty="0">
                <a:solidFill>
                  <a:schemeClr val="bg1"/>
                </a:solidFill>
              </a:rPr>
              <a:t>Molecular Characteristics</a:t>
            </a:r>
          </a:p>
        </p:txBody>
      </p:sp>
      <p:sp>
        <p:nvSpPr>
          <p:cNvPr id="9" name="TextBox 8">
            <a:extLst>
              <a:ext uri="{FF2B5EF4-FFF2-40B4-BE49-F238E27FC236}">
                <a16:creationId xmlns:a16="http://schemas.microsoft.com/office/drawing/2014/main" id="{12084EC2-0BC3-A54D-5CDD-4DB1FAF841AD}"/>
              </a:ext>
            </a:extLst>
          </p:cNvPr>
          <p:cNvSpPr txBox="1"/>
          <p:nvPr/>
        </p:nvSpPr>
        <p:spPr>
          <a:xfrm>
            <a:off x="1291489" y="3178196"/>
            <a:ext cx="5203654" cy="1477328"/>
          </a:xfrm>
          <a:prstGeom prst="rect">
            <a:avLst/>
          </a:prstGeom>
          <a:noFill/>
        </p:spPr>
        <p:txBody>
          <a:bodyPr wrap="square" rtlCol="0">
            <a:spAutoFit/>
          </a:bodyPr>
          <a:lstStyle/>
          <a:p>
            <a:r>
              <a:rPr lang="en-IN" sz="1800" dirty="0">
                <a:solidFill>
                  <a:schemeClr val="bg1"/>
                </a:solidFill>
              </a:rPr>
              <a:t>• Pyranose ring structure</a:t>
            </a:r>
            <a:br>
              <a:rPr lang="en-IN" sz="1800" dirty="0">
                <a:solidFill>
                  <a:schemeClr val="bg1"/>
                </a:solidFill>
              </a:rPr>
            </a:br>
            <a:r>
              <a:rPr lang="en-IN" sz="1800" dirty="0">
                <a:solidFill>
                  <a:schemeClr val="bg1"/>
                </a:solidFill>
              </a:rPr>
              <a:t>• Contains:</a:t>
            </a:r>
          </a:p>
          <a:p>
            <a:pPr lvl="3"/>
            <a:r>
              <a:rPr lang="en-IN" sz="1800" dirty="0">
                <a:solidFill>
                  <a:schemeClr val="bg1"/>
                </a:solidFill>
              </a:rPr>
              <a:t>	Multiple hydroxyl groups (–OH) </a:t>
            </a:r>
          </a:p>
          <a:p>
            <a:pPr lvl="3"/>
            <a:r>
              <a:rPr lang="en-IN" sz="1800" dirty="0">
                <a:solidFill>
                  <a:schemeClr val="bg1"/>
                </a:solidFill>
              </a:rPr>
              <a:t>	Acetamide group (–</a:t>
            </a:r>
            <a:r>
              <a:rPr lang="en-IN" sz="1800" dirty="0" err="1">
                <a:solidFill>
                  <a:schemeClr val="bg1"/>
                </a:solidFill>
              </a:rPr>
              <a:t>NHCO</a:t>
            </a:r>
            <a:r>
              <a:rPr lang="en-IN" sz="1800" dirty="0">
                <a:solidFill>
                  <a:schemeClr val="bg1"/>
                </a:solidFill>
              </a:rPr>
              <a:t>–) </a:t>
            </a:r>
          </a:p>
          <a:p>
            <a:pPr lvl="3"/>
            <a:r>
              <a:rPr lang="en-IN" sz="1800" dirty="0">
                <a:solidFill>
                  <a:schemeClr val="bg1"/>
                </a:solidFill>
              </a:rPr>
              <a:t>	C–O–C linkages </a:t>
            </a:r>
          </a:p>
        </p:txBody>
      </p:sp>
      <p:sp>
        <p:nvSpPr>
          <p:cNvPr id="10" name="TextBox 9">
            <a:extLst>
              <a:ext uri="{FF2B5EF4-FFF2-40B4-BE49-F238E27FC236}">
                <a16:creationId xmlns:a16="http://schemas.microsoft.com/office/drawing/2014/main" id="{9A9C6D67-A104-F983-B41D-89A566C51B7B}"/>
              </a:ext>
            </a:extLst>
          </p:cNvPr>
          <p:cNvSpPr txBox="1"/>
          <p:nvPr/>
        </p:nvSpPr>
        <p:spPr>
          <a:xfrm>
            <a:off x="324570" y="4780962"/>
            <a:ext cx="3047629" cy="400110"/>
          </a:xfrm>
          <a:prstGeom prst="rect">
            <a:avLst/>
          </a:prstGeom>
          <a:noFill/>
        </p:spPr>
        <p:txBody>
          <a:bodyPr wrap="none" rtlCol="0">
            <a:spAutoFit/>
          </a:bodyPr>
          <a:lstStyle/>
          <a:p>
            <a:r>
              <a:rPr lang="en-IN" sz="2000" b="1" dirty="0">
                <a:solidFill>
                  <a:schemeClr val="bg1"/>
                </a:solidFill>
              </a:rPr>
              <a:t>DFT Simulation Method</a:t>
            </a:r>
          </a:p>
        </p:txBody>
      </p:sp>
      <p:sp>
        <p:nvSpPr>
          <p:cNvPr id="11" name="TextBox 10">
            <a:extLst>
              <a:ext uri="{FF2B5EF4-FFF2-40B4-BE49-F238E27FC236}">
                <a16:creationId xmlns:a16="http://schemas.microsoft.com/office/drawing/2014/main" id="{8FC2552E-8385-9781-0B78-D1784D219A78}"/>
              </a:ext>
            </a:extLst>
          </p:cNvPr>
          <p:cNvSpPr txBox="1"/>
          <p:nvPr/>
        </p:nvSpPr>
        <p:spPr>
          <a:xfrm>
            <a:off x="1297892" y="5256132"/>
            <a:ext cx="4798108" cy="1200329"/>
          </a:xfrm>
          <a:prstGeom prst="rect">
            <a:avLst/>
          </a:prstGeom>
          <a:noFill/>
        </p:spPr>
        <p:txBody>
          <a:bodyPr wrap="none" rtlCol="0">
            <a:spAutoFit/>
          </a:bodyPr>
          <a:lstStyle/>
          <a:p>
            <a:r>
              <a:rPr lang="en-GB" sz="1800" dirty="0">
                <a:solidFill>
                  <a:schemeClr val="bg1"/>
                </a:solidFill>
              </a:rPr>
              <a:t>• Geometry optimization + Raman calculation</a:t>
            </a:r>
            <a:br>
              <a:rPr lang="en-GB" sz="1800" dirty="0">
                <a:solidFill>
                  <a:schemeClr val="bg1"/>
                </a:solidFill>
              </a:rPr>
            </a:br>
            <a:r>
              <a:rPr lang="en-GB" sz="1800" dirty="0">
                <a:solidFill>
                  <a:schemeClr val="bg1"/>
                </a:solidFill>
              </a:rPr>
              <a:t>• Functional: B3LYP</a:t>
            </a:r>
            <a:br>
              <a:rPr lang="en-GB" sz="1800" dirty="0">
                <a:solidFill>
                  <a:schemeClr val="bg1"/>
                </a:solidFill>
              </a:rPr>
            </a:br>
            <a:r>
              <a:rPr lang="en-GB" sz="1800" dirty="0">
                <a:solidFill>
                  <a:schemeClr val="bg1"/>
                </a:solidFill>
              </a:rPr>
              <a:t>• Basis set: 6-31G(d)</a:t>
            </a:r>
            <a:br>
              <a:rPr lang="en-GB" sz="1800" dirty="0">
                <a:solidFill>
                  <a:schemeClr val="bg1"/>
                </a:solidFill>
              </a:rPr>
            </a:br>
            <a:r>
              <a:rPr lang="en-GB" sz="1800" dirty="0">
                <a:solidFill>
                  <a:schemeClr val="bg1"/>
                </a:solidFill>
              </a:rPr>
              <a:t>• Solvent: SMD (water)</a:t>
            </a:r>
            <a:endParaRPr lang="en-IN" sz="1800" dirty="0">
              <a:solidFill>
                <a:schemeClr val="bg1"/>
              </a:solidFill>
            </a:endParaRPr>
          </a:p>
        </p:txBody>
      </p:sp>
      <p:pic>
        <p:nvPicPr>
          <p:cNvPr id="5" name="Picture 4">
            <a:extLst>
              <a:ext uri="{FF2B5EF4-FFF2-40B4-BE49-F238E27FC236}">
                <a16:creationId xmlns:a16="http://schemas.microsoft.com/office/drawing/2014/main" id="{4AB000F6-E346-1762-D417-B6CC6E7B3C7A}"/>
              </a:ext>
            </a:extLst>
          </p:cNvPr>
          <p:cNvPicPr>
            <a:picLocks noChangeAspect="1"/>
          </p:cNvPicPr>
          <p:nvPr/>
        </p:nvPicPr>
        <p:blipFill>
          <a:blip r:embed="rId4"/>
          <a:stretch>
            <a:fillRect/>
          </a:stretch>
        </p:blipFill>
        <p:spPr>
          <a:xfrm>
            <a:off x="8491941" y="455792"/>
            <a:ext cx="2321201" cy="2321201"/>
          </a:xfrm>
          <a:prstGeom prst="rect">
            <a:avLst/>
          </a:prstGeom>
        </p:spPr>
      </p:pic>
      <p:pic>
        <p:nvPicPr>
          <p:cNvPr id="7" name="Picture 6">
            <a:extLst>
              <a:ext uri="{FF2B5EF4-FFF2-40B4-BE49-F238E27FC236}">
                <a16:creationId xmlns:a16="http://schemas.microsoft.com/office/drawing/2014/main" id="{EA4CFD43-1B74-4A6B-C245-672D8E620AF5}"/>
              </a:ext>
            </a:extLst>
          </p:cNvPr>
          <p:cNvPicPr>
            <a:picLocks noChangeAspect="1"/>
          </p:cNvPicPr>
          <p:nvPr/>
        </p:nvPicPr>
        <p:blipFill>
          <a:blip r:embed="rId5"/>
          <a:stretch>
            <a:fillRect/>
          </a:stretch>
        </p:blipFill>
        <p:spPr>
          <a:xfrm>
            <a:off x="6890430" y="3652279"/>
            <a:ext cx="5305425" cy="2657475"/>
          </a:xfrm>
          <a:prstGeom prst="rect">
            <a:avLst/>
          </a:prstGeom>
        </p:spPr>
      </p:pic>
      <p:sp>
        <p:nvSpPr>
          <p:cNvPr id="12" name="TextBox 11">
            <a:extLst>
              <a:ext uri="{FF2B5EF4-FFF2-40B4-BE49-F238E27FC236}">
                <a16:creationId xmlns:a16="http://schemas.microsoft.com/office/drawing/2014/main" id="{AB110EA1-728F-F054-20C0-FCAE2B300907}"/>
              </a:ext>
            </a:extLst>
          </p:cNvPr>
          <p:cNvSpPr txBox="1"/>
          <p:nvPr/>
        </p:nvSpPr>
        <p:spPr>
          <a:xfrm>
            <a:off x="9150755" y="5856296"/>
            <a:ext cx="1189749" cy="307777"/>
          </a:xfrm>
          <a:prstGeom prst="rect">
            <a:avLst/>
          </a:prstGeom>
          <a:noFill/>
        </p:spPr>
        <p:txBody>
          <a:bodyPr wrap="none" rtlCol="0">
            <a:spAutoFit/>
          </a:bodyPr>
          <a:lstStyle/>
          <a:p>
            <a:r>
              <a:rPr lang="en-IN" dirty="0">
                <a:solidFill>
                  <a:schemeClr val="bg1"/>
                </a:solidFill>
              </a:rPr>
              <a:t>3D Structure</a:t>
            </a:r>
          </a:p>
        </p:txBody>
      </p:sp>
      <p:sp>
        <p:nvSpPr>
          <p:cNvPr id="13" name="TextBox 12">
            <a:extLst>
              <a:ext uri="{FF2B5EF4-FFF2-40B4-BE49-F238E27FC236}">
                <a16:creationId xmlns:a16="http://schemas.microsoft.com/office/drawing/2014/main" id="{6668CDD6-6A7E-834D-CD85-B571AB08C290}"/>
              </a:ext>
            </a:extLst>
          </p:cNvPr>
          <p:cNvSpPr txBox="1"/>
          <p:nvPr/>
        </p:nvSpPr>
        <p:spPr>
          <a:xfrm>
            <a:off x="8998355" y="3013880"/>
            <a:ext cx="1189749" cy="307777"/>
          </a:xfrm>
          <a:prstGeom prst="rect">
            <a:avLst/>
          </a:prstGeom>
          <a:noFill/>
        </p:spPr>
        <p:txBody>
          <a:bodyPr wrap="none" rtlCol="0">
            <a:spAutoFit/>
          </a:bodyPr>
          <a:lstStyle/>
          <a:p>
            <a:r>
              <a:rPr lang="en-IN" dirty="0">
                <a:solidFill>
                  <a:schemeClr val="bg1"/>
                </a:solidFill>
              </a:rPr>
              <a:t>2D Structure</a:t>
            </a:r>
          </a:p>
        </p:txBody>
      </p:sp>
    </p:spTree>
    <p:extLst>
      <p:ext uri="{BB962C8B-B14F-4D97-AF65-F5344CB8AC3E}">
        <p14:creationId xmlns:p14="http://schemas.microsoft.com/office/powerpoint/2010/main" val="10463863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9">
          <a:extLst>
            <a:ext uri="{FF2B5EF4-FFF2-40B4-BE49-F238E27FC236}">
              <a16:creationId xmlns:a16="http://schemas.microsoft.com/office/drawing/2014/main" id="{15F3AE56-918B-70AA-C134-5334413913F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7D21F7A-6E3F-54BD-4490-6DFDE75237BE}"/>
              </a:ext>
            </a:extLst>
          </p:cNvPr>
          <p:cNvSpPr txBox="1"/>
          <p:nvPr/>
        </p:nvSpPr>
        <p:spPr>
          <a:xfrm>
            <a:off x="464457" y="261258"/>
            <a:ext cx="2906565" cy="400110"/>
          </a:xfrm>
          <a:prstGeom prst="rect">
            <a:avLst/>
          </a:prstGeom>
          <a:noFill/>
        </p:spPr>
        <p:txBody>
          <a:bodyPr wrap="none" rtlCol="0">
            <a:spAutoFit/>
          </a:bodyPr>
          <a:lstStyle/>
          <a:p>
            <a:r>
              <a:rPr lang="en-IN" sz="2000" b="1" dirty="0">
                <a:solidFill>
                  <a:schemeClr val="bg1"/>
                </a:solidFill>
              </a:rPr>
              <a:t>Key Raman Vibrations</a:t>
            </a:r>
          </a:p>
        </p:txBody>
      </p:sp>
      <p:graphicFrame>
        <p:nvGraphicFramePr>
          <p:cNvPr id="6" name="Table 5">
            <a:extLst>
              <a:ext uri="{FF2B5EF4-FFF2-40B4-BE49-F238E27FC236}">
                <a16:creationId xmlns:a16="http://schemas.microsoft.com/office/drawing/2014/main" id="{9B64B5E3-0D92-20D4-0F9C-B05BC27DC12A}"/>
              </a:ext>
            </a:extLst>
          </p:cNvPr>
          <p:cNvGraphicFramePr>
            <a:graphicFrameLocks noGrp="1"/>
          </p:cNvGraphicFramePr>
          <p:nvPr>
            <p:extLst>
              <p:ext uri="{D42A27DB-BD31-4B8C-83A1-F6EECF244321}">
                <p14:modId xmlns:p14="http://schemas.microsoft.com/office/powerpoint/2010/main" val="1127089348"/>
              </p:ext>
            </p:extLst>
          </p:nvPr>
        </p:nvGraphicFramePr>
        <p:xfrm>
          <a:off x="1513373" y="895011"/>
          <a:ext cx="8229600" cy="1524000"/>
        </p:xfrm>
        <a:graphic>
          <a:graphicData uri="http://schemas.openxmlformats.org/drawingml/2006/table">
            <a:tbl>
              <a:tblPr/>
              <a:tblGrid>
                <a:gridCol w="4114800">
                  <a:extLst>
                    <a:ext uri="{9D8B030D-6E8A-4147-A177-3AD203B41FA5}">
                      <a16:colId xmlns:a16="http://schemas.microsoft.com/office/drawing/2014/main" val="1413864903"/>
                    </a:ext>
                  </a:extLst>
                </a:gridCol>
                <a:gridCol w="4114800">
                  <a:extLst>
                    <a:ext uri="{9D8B030D-6E8A-4147-A177-3AD203B41FA5}">
                      <a16:colId xmlns:a16="http://schemas.microsoft.com/office/drawing/2014/main" val="1537618578"/>
                    </a:ext>
                  </a:extLst>
                </a:gridCol>
              </a:tblGrid>
              <a:tr h="0">
                <a:tc>
                  <a:txBody>
                    <a:bodyPr/>
                    <a:lstStyle/>
                    <a:p>
                      <a:pPr algn="ctr">
                        <a:buNone/>
                      </a:pPr>
                      <a:r>
                        <a:rPr lang="en-IN" dirty="0">
                          <a:solidFill>
                            <a:schemeClr val="bg1"/>
                          </a:solidFill>
                        </a:rPr>
                        <a:t>Raman Shift (cm⁻¹)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Assignment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14450991"/>
                  </a:ext>
                </a:extLst>
              </a:tr>
              <a:tr h="0">
                <a:tc>
                  <a:txBody>
                    <a:bodyPr/>
                    <a:lstStyle/>
                    <a:p>
                      <a:pPr algn="ctr">
                        <a:buNone/>
                      </a:pPr>
                      <a:r>
                        <a:rPr lang="en-IN" dirty="0">
                          <a:solidFill>
                            <a:schemeClr val="bg1"/>
                          </a:solidFill>
                        </a:rPr>
                        <a:t>~900–1100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dirty="0">
                          <a:solidFill>
                            <a:schemeClr val="bg1"/>
                          </a:solidFill>
                        </a:rPr>
                        <a:t>C–O–C stretching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38224824"/>
                  </a:ext>
                </a:extLst>
              </a:tr>
              <a:tr h="0">
                <a:tc>
                  <a:txBody>
                    <a:bodyPr/>
                    <a:lstStyle/>
                    <a:p>
                      <a:pPr algn="ctr">
                        <a:buNone/>
                      </a:pPr>
                      <a:r>
                        <a:rPr lang="en-IN">
                          <a:solidFill>
                            <a:schemeClr val="bg1"/>
                          </a:solidFill>
                        </a:rPr>
                        <a:t>~1250–1300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Amide III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49868379"/>
                  </a:ext>
                </a:extLst>
              </a:tr>
              <a:tr h="0">
                <a:tc>
                  <a:txBody>
                    <a:bodyPr/>
                    <a:lstStyle/>
                    <a:p>
                      <a:pPr algn="ctr">
                        <a:buNone/>
                      </a:pPr>
                      <a:r>
                        <a:rPr lang="en-IN" dirty="0">
                          <a:solidFill>
                            <a:schemeClr val="bg1"/>
                          </a:solidFill>
                        </a:rPr>
                        <a:t>~1650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Amide 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04698356"/>
                  </a:ext>
                </a:extLst>
              </a:tr>
              <a:tr h="0">
                <a:tc>
                  <a:txBody>
                    <a:bodyPr/>
                    <a:lstStyle/>
                    <a:p>
                      <a:pPr algn="ctr">
                        <a:buNone/>
                      </a:pPr>
                      <a:r>
                        <a:rPr lang="en-IN" dirty="0">
                          <a:solidFill>
                            <a:schemeClr val="bg1"/>
                          </a:solidFill>
                        </a:rPr>
                        <a:t>~2800–3000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dirty="0">
                          <a:solidFill>
                            <a:schemeClr val="bg1"/>
                          </a:solidFill>
                        </a:rPr>
                        <a:t>C–H stretching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1835985"/>
                  </a:ext>
                </a:extLst>
              </a:tr>
            </a:tbl>
          </a:graphicData>
        </a:graphic>
      </p:graphicFrame>
      <p:sp>
        <p:nvSpPr>
          <p:cNvPr id="7" name="TextBox 6">
            <a:extLst>
              <a:ext uri="{FF2B5EF4-FFF2-40B4-BE49-F238E27FC236}">
                <a16:creationId xmlns:a16="http://schemas.microsoft.com/office/drawing/2014/main" id="{6ABB1FCE-D4BC-05AA-2A5D-18C8820C4675}"/>
              </a:ext>
            </a:extLst>
          </p:cNvPr>
          <p:cNvSpPr txBox="1"/>
          <p:nvPr/>
        </p:nvSpPr>
        <p:spPr>
          <a:xfrm>
            <a:off x="464457" y="2663847"/>
            <a:ext cx="1835759" cy="400110"/>
          </a:xfrm>
          <a:prstGeom prst="rect">
            <a:avLst/>
          </a:prstGeom>
          <a:noFill/>
        </p:spPr>
        <p:txBody>
          <a:bodyPr wrap="none" rtlCol="0">
            <a:spAutoFit/>
          </a:bodyPr>
          <a:lstStyle/>
          <a:p>
            <a:r>
              <a:rPr lang="en-IN" sz="2000" b="1" dirty="0">
                <a:solidFill>
                  <a:schemeClr val="bg1"/>
                </a:solidFill>
              </a:rPr>
              <a:t>Interpretation</a:t>
            </a:r>
          </a:p>
        </p:txBody>
      </p:sp>
      <p:sp>
        <p:nvSpPr>
          <p:cNvPr id="9" name="TextBox 8">
            <a:extLst>
              <a:ext uri="{FF2B5EF4-FFF2-40B4-BE49-F238E27FC236}">
                <a16:creationId xmlns:a16="http://schemas.microsoft.com/office/drawing/2014/main" id="{8414435C-0EE3-8BDD-5937-46C21DB05E4B}"/>
              </a:ext>
            </a:extLst>
          </p:cNvPr>
          <p:cNvSpPr txBox="1"/>
          <p:nvPr/>
        </p:nvSpPr>
        <p:spPr>
          <a:xfrm>
            <a:off x="1513373" y="3362608"/>
            <a:ext cx="6333785" cy="646331"/>
          </a:xfrm>
          <a:prstGeom prst="rect">
            <a:avLst/>
          </a:prstGeom>
          <a:noFill/>
        </p:spPr>
        <p:txBody>
          <a:bodyPr wrap="none" rtlCol="0">
            <a:spAutoFit/>
          </a:bodyPr>
          <a:lstStyle/>
          <a:p>
            <a:r>
              <a:rPr lang="en-IN" sz="1800" dirty="0">
                <a:solidFill>
                  <a:schemeClr val="bg1"/>
                </a:solidFill>
              </a:rPr>
              <a:t>• Strong </a:t>
            </a:r>
            <a:r>
              <a:rPr lang="en-IN" sz="1800" b="1" dirty="0">
                <a:solidFill>
                  <a:schemeClr val="bg1"/>
                </a:solidFill>
              </a:rPr>
              <a:t>carbohydrate fingerprint region (900–1100 cm⁻¹)</a:t>
            </a:r>
            <a:br>
              <a:rPr lang="en-IN" sz="1800" dirty="0">
                <a:solidFill>
                  <a:schemeClr val="bg1"/>
                </a:solidFill>
              </a:rPr>
            </a:br>
            <a:r>
              <a:rPr lang="en-IN" sz="1800" dirty="0">
                <a:solidFill>
                  <a:schemeClr val="bg1"/>
                </a:solidFill>
              </a:rPr>
              <a:t>• Amide peaks confirm </a:t>
            </a:r>
            <a:r>
              <a:rPr lang="en-IN" sz="1800" b="1" dirty="0">
                <a:solidFill>
                  <a:schemeClr val="bg1"/>
                </a:solidFill>
              </a:rPr>
              <a:t>acetyl functionality</a:t>
            </a:r>
            <a:endParaRPr lang="en-IN" sz="1800" dirty="0">
              <a:solidFill>
                <a:schemeClr val="bg1"/>
              </a:solidFill>
            </a:endParaRPr>
          </a:p>
        </p:txBody>
      </p:sp>
      <p:sp>
        <p:nvSpPr>
          <p:cNvPr id="11" name="TextBox 10">
            <a:extLst>
              <a:ext uri="{FF2B5EF4-FFF2-40B4-BE49-F238E27FC236}">
                <a16:creationId xmlns:a16="http://schemas.microsoft.com/office/drawing/2014/main" id="{F1A9B805-F0AE-C1FE-41C9-70AF39C9F052}"/>
              </a:ext>
            </a:extLst>
          </p:cNvPr>
          <p:cNvSpPr txBox="1"/>
          <p:nvPr/>
        </p:nvSpPr>
        <p:spPr>
          <a:xfrm>
            <a:off x="464457" y="4421490"/>
            <a:ext cx="6096000" cy="400110"/>
          </a:xfrm>
          <a:prstGeom prst="rect">
            <a:avLst/>
          </a:prstGeom>
          <a:noFill/>
        </p:spPr>
        <p:txBody>
          <a:bodyPr wrap="square">
            <a:spAutoFit/>
          </a:bodyPr>
          <a:lstStyle/>
          <a:p>
            <a:r>
              <a:rPr lang="en-IN" sz="2000" b="1" dirty="0">
                <a:solidFill>
                  <a:schemeClr val="bg1"/>
                </a:solidFill>
              </a:rPr>
              <a:t>Conclusion</a:t>
            </a:r>
          </a:p>
        </p:txBody>
      </p:sp>
      <p:sp>
        <p:nvSpPr>
          <p:cNvPr id="12" name="TextBox 11">
            <a:extLst>
              <a:ext uri="{FF2B5EF4-FFF2-40B4-BE49-F238E27FC236}">
                <a16:creationId xmlns:a16="http://schemas.microsoft.com/office/drawing/2014/main" id="{A002A562-68CF-79A7-15D3-DDBF3B8D1393}"/>
              </a:ext>
            </a:extLst>
          </p:cNvPr>
          <p:cNvSpPr txBox="1"/>
          <p:nvPr/>
        </p:nvSpPr>
        <p:spPr>
          <a:xfrm>
            <a:off x="645886" y="5181806"/>
            <a:ext cx="11405686" cy="369332"/>
          </a:xfrm>
          <a:prstGeom prst="rect">
            <a:avLst/>
          </a:prstGeom>
          <a:noFill/>
        </p:spPr>
        <p:txBody>
          <a:bodyPr wrap="none" rtlCol="0">
            <a:spAutoFit/>
          </a:bodyPr>
          <a:lstStyle/>
          <a:p>
            <a:r>
              <a:rPr lang="en-GB" sz="1800" dirty="0" err="1">
                <a:solidFill>
                  <a:schemeClr val="bg1"/>
                </a:solidFill>
              </a:rPr>
              <a:t>GlcNAc</a:t>
            </a:r>
            <a:r>
              <a:rPr lang="en-GB" sz="1800" dirty="0">
                <a:solidFill>
                  <a:schemeClr val="bg1"/>
                </a:solidFill>
              </a:rPr>
              <a:t> contributes </a:t>
            </a:r>
            <a:r>
              <a:rPr lang="en-GB" sz="1800" b="1" dirty="0">
                <a:solidFill>
                  <a:schemeClr val="bg1"/>
                </a:solidFill>
              </a:rPr>
              <a:t>carbohydrate and amide signatures</a:t>
            </a:r>
            <a:r>
              <a:rPr lang="en-GB" sz="1800" dirty="0">
                <a:solidFill>
                  <a:schemeClr val="bg1"/>
                </a:solidFill>
              </a:rPr>
              <a:t>, forming a major part of the LTA Raman fingerprint.</a:t>
            </a:r>
            <a:endParaRPr lang="en-IN" sz="1800" dirty="0">
              <a:solidFill>
                <a:schemeClr val="bg1"/>
              </a:solidFill>
            </a:endParaRPr>
          </a:p>
        </p:txBody>
      </p:sp>
    </p:spTree>
    <p:extLst>
      <p:ext uri="{BB962C8B-B14F-4D97-AF65-F5344CB8AC3E}">
        <p14:creationId xmlns:p14="http://schemas.microsoft.com/office/powerpoint/2010/main" val="34524059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A2946AE9-4927-C21C-6F2F-EBE65CA7C9B7}"/>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11C30C36-F0AA-8F6A-2FAB-F0D83460D49E}"/>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pic>
        <p:nvPicPr>
          <p:cNvPr id="5" name="Picture 4">
            <a:extLst>
              <a:ext uri="{FF2B5EF4-FFF2-40B4-BE49-F238E27FC236}">
                <a16:creationId xmlns:a16="http://schemas.microsoft.com/office/drawing/2014/main" id="{9FB4C49A-C7AD-9044-FBA5-E764F4C4397F}"/>
              </a:ext>
            </a:extLst>
          </p:cNvPr>
          <p:cNvPicPr>
            <a:picLocks noChangeAspect="1"/>
          </p:cNvPicPr>
          <p:nvPr/>
        </p:nvPicPr>
        <p:blipFill>
          <a:blip r:embed="rId4"/>
          <a:stretch>
            <a:fillRect/>
          </a:stretch>
        </p:blipFill>
        <p:spPr>
          <a:xfrm>
            <a:off x="864372" y="719921"/>
            <a:ext cx="10463256" cy="5191481"/>
          </a:xfrm>
          <a:prstGeom prst="rect">
            <a:avLst/>
          </a:prstGeom>
        </p:spPr>
      </p:pic>
    </p:spTree>
    <p:extLst>
      <p:ext uri="{BB962C8B-B14F-4D97-AF65-F5344CB8AC3E}">
        <p14:creationId xmlns:p14="http://schemas.microsoft.com/office/powerpoint/2010/main" val="26211840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31856058-1183-C9E2-4CE1-71EC6BF4AB0E}"/>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CC9E81A2-8E90-4D75-D87C-1311CDD9A421}"/>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sp>
        <p:nvSpPr>
          <p:cNvPr id="11" name="TextBox 10">
            <a:extLst>
              <a:ext uri="{FF2B5EF4-FFF2-40B4-BE49-F238E27FC236}">
                <a16:creationId xmlns:a16="http://schemas.microsoft.com/office/drawing/2014/main" id="{75B81B48-70AD-6522-D267-1445C84A1B0C}"/>
              </a:ext>
            </a:extLst>
          </p:cNvPr>
          <p:cNvSpPr txBox="1"/>
          <p:nvPr/>
        </p:nvSpPr>
        <p:spPr>
          <a:xfrm>
            <a:off x="153471" y="843566"/>
            <a:ext cx="8678979" cy="461665"/>
          </a:xfrm>
          <a:prstGeom prst="rect">
            <a:avLst/>
          </a:prstGeom>
          <a:noFill/>
        </p:spPr>
        <p:txBody>
          <a:bodyPr wrap="none" rtlCol="0">
            <a:spAutoFit/>
          </a:bodyPr>
          <a:lstStyle/>
          <a:p>
            <a:r>
              <a:rPr lang="en-GB" sz="2400" b="1" dirty="0">
                <a:solidFill>
                  <a:srgbClr val="00B0F0"/>
                </a:solidFill>
              </a:rPr>
              <a:t>Raman Spectroscopic Analysis of Lipoteichoic Acid (LTA)</a:t>
            </a:r>
            <a:endParaRPr lang="en-IN" sz="2400" b="1" dirty="0">
              <a:solidFill>
                <a:srgbClr val="00B0F0"/>
              </a:solidFill>
            </a:endParaRPr>
          </a:p>
        </p:txBody>
      </p:sp>
      <p:sp>
        <p:nvSpPr>
          <p:cNvPr id="12" name="TextBox 11">
            <a:extLst>
              <a:ext uri="{FF2B5EF4-FFF2-40B4-BE49-F238E27FC236}">
                <a16:creationId xmlns:a16="http://schemas.microsoft.com/office/drawing/2014/main" id="{63D622AE-38BF-03D7-E1B5-ED83AE6BAD9A}"/>
              </a:ext>
            </a:extLst>
          </p:cNvPr>
          <p:cNvSpPr txBox="1"/>
          <p:nvPr/>
        </p:nvSpPr>
        <p:spPr>
          <a:xfrm>
            <a:off x="1378038" y="1880315"/>
            <a:ext cx="8744755" cy="3600986"/>
          </a:xfrm>
          <a:prstGeom prst="rect">
            <a:avLst/>
          </a:prstGeom>
          <a:noFill/>
        </p:spPr>
        <p:txBody>
          <a:bodyPr wrap="square" rtlCol="0">
            <a:spAutoFit/>
          </a:bodyPr>
          <a:lstStyle/>
          <a:p>
            <a:r>
              <a:rPr lang="en-IN" sz="2800" b="1" dirty="0">
                <a:solidFill>
                  <a:schemeClr val="bg1"/>
                </a:solidFill>
              </a:rPr>
              <a:t>Content:</a:t>
            </a:r>
          </a:p>
          <a:p>
            <a:pPr lvl="1"/>
            <a:r>
              <a:rPr lang="en-IN" sz="1800" b="1" dirty="0">
                <a:solidFill>
                  <a:schemeClr val="bg1"/>
                </a:solidFill>
              </a:rPr>
              <a:t>	</a:t>
            </a:r>
            <a:r>
              <a:rPr lang="en-IN" sz="1800" dirty="0">
                <a:solidFill>
                  <a:schemeClr val="bg1"/>
                </a:solidFill>
              </a:rPr>
              <a:t>Sample: Lipoteichoic Acid (LTA) from </a:t>
            </a:r>
            <a:r>
              <a:rPr lang="en-IN" sz="1800" i="1" dirty="0">
                <a:solidFill>
                  <a:schemeClr val="bg1"/>
                </a:solidFill>
              </a:rPr>
              <a:t>Staphylococcus aureus</a:t>
            </a:r>
            <a:r>
              <a:rPr lang="en-IN" sz="1800" dirty="0">
                <a:solidFill>
                  <a:schemeClr val="bg1"/>
                </a:solidFill>
              </a:rPr>
              <a:t> </a:t>
            </a:r>
          </a:p>
          <a:p>
            <a:pPr lvl="1"/>
            <a:r>
              <a:rPr lang="en-IN" sz="1800" dirty="0">
                <a:solidFill>
                  <a:schemeClr val="bg1"/>
                </a:solidFill>
              </a:rPr>
              <a:t>	Technique: Raman Spectroscopy (785 nm laser) </a:t>
            </a:r>
          </a:p>
          <a:p>
            <a:pPr lvl="1"/>
            <a:endParaRPr lang="en-IN" sz="1800" b="1" dirty="0">
              <a:solidFill>
                <a:schemeClr val="bg1"/>
              </a:solidFill>
            </a:endParaRPr>
          </a:p>
          <a:p>
            <a:r>
              <a:rPr lang="en-IN" sz="2800" b="1" dirty="0">
                <a:solidFill>
                  <a:schemeClr val="bg1"/>
                </a:solidFill>
              </a:rPr>
              <a:t>Objective: </a:t>
            </a:r>
          </a:p>
          <a:p>
            <a:pPr lvl="1"/>
            <a:r>
              <a:rPr lang="en-IN" sz="1800" b="1" dirty="0">
                <a:solidFill>
                  <a:schemeClr val="bg1"/>
                </a:solidFill>
              </a:rPr>
              <a:t>	</a:t>
            </a:r>
            <a:r>
              <a:rPr lang="en-IN" sz="1800" dirty="0">
                <a:solidFill>
                  <a:schemeClr val="bg1"/>
                </a:solidFill>
              </a:rPr>
              <a:t>To identify functional groups of LTA </a:t>
            </a:r>
          </a:p>
          <a:p>
            <a:pPr lvl="1"/>
            <a:r>
              <a:rPr lang="en-IN" sz="1800" dirty="0">
                <a:solidFill>
                  <a:schemeClr val="bg1"/>
                </a:solidFill>
              </a:rPr>
              <a:t>	To compare experimental spectra with expected molecular regions </a:t>
            </a:r>
          </a:p>
          <a:p>
            <a:pPr lvl="1"/>
            <a:endParaRPr lang="en-IN" sz="1800" b="1" dirty="0">
              <a:solidFill>
                <a:schemeClr val="bg1"/>
              </a:solidFill>
            </a:endParaRPr>
          </a:p>
          <a:p>
            <a:r>
              <a:rPr lang="en-IN" sz="2800" b="1" dirty="0">
                <a:solidFill>
                  <a:schemeClr val="bg1"/>
                </a:solidFill>
              </a:rPr>
              <a:t>Approach: </a:t>
            </a:r>
          </a:p>
          <a:p>
            <a:pPr lvl="1"/>
            <a:r>
              <a:rPr lang="en-IN" sz="1800" b="1" dirty="0">
                <a:solidFill>
                  <a:schemeClr val="bg1"/>
                </a:solidFill>
              </a:rPr>
              <a:t>	</a:t>
            </a:r>
            <a:r>
              <a:rPr lang="en-IN" sz="1800" dirty="0">
                <a:solidFill>
                  <a:schemeClr val="bg1"/>
                </a:solidFill>
              </a:rPr>
              <a:t>Power variation study (40%, 50%, 60%, 70%) </a:t>
            </a:r>
          </a:p>
          <a:p>
            <a:pPr lvl="1"/>
            <a:r>
              <a:rPr lang="en-IN" sz="1800" dirty="0">
                <a:solidFill>
                  <a:schemeClr val="bg1"/>
                </a:solidFill>
              </a:rPr>
              <a:t>	Baseline correction + smoothing</a:t>
            </a:r>
          </a:p>
        </p:txBody>
      </p:sp>
    </p:spTree>
    <p:extLst>
      <p:ext uri="{BB962C8B-B14F-4D97-AF65-F5344CB8AC3E}">
        <p14:creationId xmlns:p14="http://schemas.microsoft.com/office/powerpoint/2010/main" val="13266646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3ED93856-37CB-628A-AD75-5352D380972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A9344C9-2B3A-0051-71C5-CEB075AA4A4F}"/>
              </a:ext>
            </a:extLst>
          </p:cNvPr>
          <p:cNvSpPr txBox="1"/>
          <p:nvPr/>
        </p:nvSpPr>
        <p:spPr>
          <a:xfrm>
            <a:off x="256502" y="180304"/>
            <a:ext cx="6920484" cy="461665"/>
          </a:xfrm>
          <a:prstGeom prst="rect">
            <a:avLst/>
          </a:prstGeom>
          <a:noFill/>
        </p:spPr>
        <p:txBody>
          <a:bodyPr wrap="none" rtlCol="0">
            <a:spAutoFit/>
          </a:bodyPr>
          <a:lstStyle/>
          <a:p>
            <a:r>
              <a:rPr lang="en-IN" sz="2400" b="1" dirty="0">
                <a:solidFill>
                  <a:srgbClr val="00B0F0"/>
                </a:solidFill>
              </a:rPr>
              <a:t>Experimental Methodology &amp; Data Processing</a:t>
            </a:r>
          </a:p>
        </p:txBody>
      </p:sp>
      <p:sp>
        <p:nvSpPr>
          <p:cNvPr id="12" name="TextBox 11">
            <a:extLst>
              <a:ext uri="{FF2B5EF4-FFF2-40B4-BE49-F238E27FC236}">
                <a16:creationId xmlns:a16="http://schemas.microsoft.com/office/drawing/2014/main" id="{C34C92C4-47BE-AE08-5B2C-446997C40F82}"/>
              </a:ext>
            </a:extLst>
          </p:cNvPr>
          <p:cNvSpPr txBox="1"/>
          <p:nvPr/>
        </p:nvSpPr>
        <p:spPr>
          <a:xfrm>
            <a:off x="256502" y="822273"/>
            <a:ext cx="1544012" cy="523220"/>
          </a:xfrm>
          <a:prstGeom prst="rect">
            <a:avLst/>
          </a:prstGeom>
          <a:noFill/>
        </p:spPr>
        <p:txBody>
          <a:bodyPr wrap="none" rtlCol="0">
            <a:spAutoFit/>
          </a:bodyPr>
          <a:lstStyle/>
          <a:p>
            <a:r>
              <a:rPr lang="en-IN" sz="2800" dirty="0">
                <a:solidFill>
                  <a:schemeClr val="bg1"/>
                </a:solidFill>
              </a:rPr>
              <a:t>Content:</a:t>
            </a:r>
            <a:endParaRPr lang="en-IN" sz="1800" b="1" dirty="0">
              <a:solidFill>
                <a:schemeClr val="bg1"/>
              </a:solidFill>
            </a:endParaRPr>
          </a:p>
        </p:txBody>
      </p:sp>
      <p:sp>
        <p:nvSpPr>
          <p:cNvPr id="5" name="Rectangle 3">
            <a:extLst>
              <a:ext uri="{FF2B5EF4-FFF2-40B4-BE49-F238E27FC236}">
                <a16:creationId xmlns:a16="http://schemas.microsoft.com/office/drawing/2014/main" id="{32C8416B-A2CC-0FCC-A226-1A83D06B4AD9}"/>
              </a:ext>
            </a:extLst>
          </p:cNvPr>
          <p:cNvSpPr>
            <a:spLocks noChangeArrowheads="1"/>
          </p:cNvSpPr>
          <p:nvPr/>
        </p:nvSpPr>
        <p:spPr bwMode="auto">
          <a:xfrm>
            <a:off x="1354055" y="1043731"/>
            <a:ext cx="625091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Raman spectra collected in </a:t>
            </a:r>
            <a:r>
              <a:rPr kumimoji="0" lang="en-US" altLang="en-US" sz="1800" b="1" i="0" u="none" strike="noStrike" cap="none" normalizeH="0" baseline="0" dirty="0">
                <a:ln>
                  <a:noFill/>
                </a:ln>
                <a:solidFill>
                  <a:schemeClr val="bg1"/>
                </a:solidFill>
                <a:effectLst/>
                <a:latin typeface="Arial" panose="020B0604020202020204" pitchFamily="34" charset="0"/>
              </a:rPr>
              <a:t>500–2000 cm⁻¹ region</a:t>
            </a:r>
          </a:p>
          <a:p>
            <a:pPr marL="285750" lvl="0" indent="-285750" eaLnBrk="0" fontAlgn="base" hangingPunct="0">
              <a:spcBef>
                <a:spcPct val="0"/>
              </a:spcBef>
              <a:spcAft>
                <a:spcPct val="0"/>
              </a:spcAft>
              <a:buClrTx/>
              <a:buFont typeface="Arial" panose="020B0604020202020204" pitchFamily="34" charset="0"/>
              <a:buChar char="•"/>
            </a:pPr>
            <a:r>
              <a:rPr lang="en-IN" sz="1800" dirty="0">
                <a:solidFill>
                  <a:schemeClr val="bg1"/>
                </a:solidFill>
              </a:rPr>
              <a:t>Instrument parameters:</a:t>
            </a:r>
            <a:r>
              <a:rPr kumimoji="0" lang="en-US" altLang="en-US" sz="1800" b="0" i="0" u="none" strike="noStrike" cap="none" normalizeH="0" baseline="0" dirty="0">
                <a:ln>
                  <a:noFill/>
                </a:ln>
                <a:solidFill>
                  <a:schemeClr val="bg1"/>
                </a:solidFill>
                <a:effectLst/>
                <a:latin typeface="Arial" panose="020B0604020202020204" pitchFamily="34" charset="0"/>
              </a:rPr>
              <a:t> </a:t>
            </a:r>
          </a:p>
          <a:p>
            <a:pPr lvl="5" eaLnBrk="0" fontAlgn="base" hangingPunct="0">
              <a:spcBef>
                <a:spcPct val="0"/>
              </a:spcBef>
              <a:spcAft>
                <a:spcPct val="0"/>
              </a:spcAft>
              <a:buClrTx/>
            </a:pPr>
            <a:r>
              <a:rPr kumimoji="0" lang="en-US" altLang="en-US" sz="1800" b="0" i="0" u="none" strike="noStrike" cap="none" normalizeH="0" baseline="0" dirty="0">
                <a:ln>
                  <a:noFill/>
                </a:ln>
                <a:solidFill>
                  <a:schemeClr val="bg1"/>
                </a:solidFill>
                <a:effectLst/>
                <a:latin typeface="Arial" panose="020B0604020202020204" pitchFamily="34" charset="0"/>
              </a:rPr>
              <a:t>		Integration time: 10 sec </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Arial" panose="020B0604020202020204" pitchFamily="34" charset="0"/>
              </a:rPr>
              <a:t>		Accumulations: 10 </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Arial" panose="020B0604020202020204" pitchFamily="34" charset="0"/>
              </a:rPr>
              <a:t>		Laser power: 40%, 50%, 60%, 70%</a:t>
            </a:r>
          </a:p>
        </p:txBody>
      </p:sp>
      <p:sp>
        <p:nvSpPr>
          <p:cNvPr id="8" name="TextBox 7">
            <a:extLst>
              <a:ext uri="{FF2B5EF4-FFF2-40B4-BE49-F238E27FC236}">
                <a16:creationId xmlns:a16="http://schemas.microsoft.com/office/drawing/2014/main" id="{6336D4F1-EC34-83FD-1F25-B508DCC4E859}"/>
              </a:ext>
            </a:extLst>
          </p:cNvPr>
          <p:cNvSpPr txBox="1"/>
          <p:nvPr/>
        </p:nvSpPr>
        <p:spPr>
          <a:xfrm>
            <a:off x="189961" y="2839862"/>
            <a:ext cx="3940502" cy="523220"/>
          </a:xfrm>
          <a:prstGeom prst="rect">
            <a:avLst/>
          </a:prstGeom>
          <a:noFill/>
        </p:spPr>
        <p:txBody>
          <a:bodyPr wrap="none" rtlCol="0">
            <a:spAutoFit/>
          </a:bodyPr>
          <a:lstStyle/>
          <a:p>
            <a:r>
              <a:rPr lang="en-IN" sz="2800" dirty="0">
                <a:solidFill>
                  <a:schemeClr val="bg1"/>
                </a:solidFill>
              </a:rPr>
              <a:t>Data Processing Steps:</a:t>
            </a:r>
            <a:endParaRPr lang="en-IN" sz="1800" b="1" dirty="0">
              <a:solidFill>
                <a:schemeClr val="bg1"/>
              </a:solidFill>
            </a:endParaRPr>
          </a:p>
        </p:txBody>
      </p:sp>
      <p:sp>
        <p:nvSpPr>
          <p:cNvPr id="9" name="Rectangle 3">
            <a:extLst>
              <a:ext uri="{FF2B5EF4-FFF2-40B4-BE49-F238E27FC236}">
                <a16:creationId xmlns:a16="http://schemas.microsoft.com/office/drawing/2014/main" id="{6DBF091E-F8FB-2818-2033-E0E67DA5C25E}"/>
              </a:ext>
            </a:extLst>
          </p:cNvPr>
          <p:cNvSpPr>
            <a:spLocks noChangeArrowheads="1"/>
          </p:cNvSpPr>
          <p:nvPr/>
        </p:nvSpPr>
        <p:spPr bwMode="auto">
          <a:xfrm>
            <a:off x="1287515" y="3476818"/>
            <a:ext cx="392286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ClrTx/>
              <a:buFont typeface="Arial" panose="020B0604020202020204" pitchFamily="34" charset="0"/>
              <a:buChar char="•"/>
            </a:pPr>
            <a:r>
              <a:rPr lang="en-GB" altLang="en-US" sz="1800" dirty="0">
                <a:solidFill>
                  <a:schemeClr val="bg1"/>
                </a:solidFill>
                <a:latin typeface="Arial" panose="020B0604020202020204" pitchFamily="34" charset="0"/>
              </a:rPr>
              <a:t>Dark subtraction</a:t>
            </a:r>
          </a:p>
          <a:p>
            <a:pPr marL="285750" lvl="0" indent="-285750" eaLnBrk="0" fontAlgn="base" hangingPunct="0">
              <a:spcBef>
                <a:spcPct val="0"/>
              </a:spcBef>
              <a:spcAft>
                <a:spcPct val="0"/>
              </a:spcAft>
              <a:buClrTx/>
              <a:buFont typeface="Arial" panose="020B0604020202020204" pitchFamily="34" charset="0"/>
              <a:buChar char="•"/>
            </a:pPr>
            <a:r>
              <a:rPr lang="en-GB" altLang="en-US" sz="1800" dirty="0">
                <a:solidFill>
                  <a:schemeClr val="bg1"/>
                </a:solidFill>
                <a:latin typeface="Arial" panose="020B0604020202020204" pitchFamily="34" charset="0"/>
              </a:rPr>
              <a:t>Baseline correction (ALS method)</a:t>
            </a:r>
          </a:p>
          <a:p>
            <a:pPr marL="285750" lvl="0" indent="-285750" eaLnBrk="0" fontAlgn="base" hangingPunct="0">
              <a:spcBef>
                <a:spcPct val="0"/>
              </a:spcBef>
              <a:spcAft>
                <a:spcPct val="0"/>
              </a:spcAft>
              <a:buClrTx/>
              <a:buFont typeface="Arial" panose="020B0604020202020204" pitchFamily="34" charset="0"/>
              <a:buChar char="•"/>
            </a:pPr>
            <a:r>
              <a:rPr lang="en-GB" altLang="en-US" sz="1800" dirty="0">
                <a:solidFill>
                  <a:schemeClr val="bg1"/>
                </a:solidFill>
                <a:latin typeface="Arial" panose="020B0604020202020204" pitchFamily="34" charset="0"/>
              </a:rPr>
              <a:t>Smoothing (</a:t>
            </a:r>
            <a:r>
              <a:rPr lang="en-GB" altLang="en-US" sz="1800" dirty="0" err="1">
                <a:solidFill>
                  <a:schemeClr val="bg1"/>
                </a:solidFill>
                <a:latin typeface="Arial" panose="020B0604020202020204" pitchFamily="34" charset="0"/>
              </a:rPr>
              <a:t>Savitzky</a:t>
            </a:r>
            <a:r>
              <a:rPr lang="en-GB" altLang="en-US" sz="1800" dirty="0">
                <a:solidFill>
                  <a:schemeClr val="bg1"/>
                </a:solidFill>
                <a:latin typeface="Arial" panose="020B0604020202020204" pitchFamily="34" charset="0"/>
              </a:rPr>
              <a:t>–Golay filter)</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15" name="TextBox 14">
            <a:extLst>
              <a:ext uri="{FF2B5EF4-FFF2-40B4-BE49-F238E27FC236}">
                <a16:creationId xmlns:a16="http://schemas.microsoft.com/office/drawing/2014/main" id="{75D126DA-EE61-09F3-D69D-E08CBC9EBB46}"/>
              </a:ext>
            </a:extLst>
          </p:cNvPr>
          <p:cNvSpPr txBox="1"/>
          <p:nvPr/>
        </p:nvSpPr>
        <p:spPr>
          <a:xfrm>
            <a:off x="368657" y="4674140"/>
            <a:ext cx="6172200" cy="523220"/>
          </a:xfrm>
          <a:prstGeom prst="rect">
            <a:avLst/>
          </a:prstGeom>
          <a:noFill/>
        </p:spPr>
        <p:txBody>
          <a:bodyPr wrap="square">
            <a:spAutoFit/>
          </a:bodyPr>
          <a:lstStyle/>
          <a:p>
            <a:r>
              <a:rPr lang="en-IN" sz="2800" dirty="0">
                <a:solidFill>
                  <a:schemeClr val="bg1"/>
                </a:solidFill>
              </a:rPr>
              <a:t>Visualization:</a:t>
            </a:r>
          </a:p>
        </p:txBody>
      </p:sp>
      <p:sp>
        <p:nvSpPr>
          <p:cNvPr id="19" name="Rectangle 8">
            <a:extLst>
              <a:ext uri="{FF2B5EF4-FFF2-40B4-BE49-F238E27FC236}">
                <a16:creationId xmlns:a16="http://schemas.microsoft.com/office/drawing/2014/main" id="{3AC3293F-24FF-366E-2E6D-1FCE66455900}"/>
              </a:ext>
            </a:extLst>
          </p:cNvPr>
          <p:cNvSpPr>
            <a:spLocks noChangeArrowheads="1"/>
          </p:cNvSpPr>
          <p:nvPr/>
        </p:nvSpPr>
        <p:spPr bwMode="auto">
          <a:xfrm>
            <a:off x="1354055" y="5112397"/>
            <a:ext cx="666400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Functional regions highlighted using </a:t>
            </a:r>
            <a:r>
              <a:rPr kumimoji="0" lang="en-US" altLang="en-US" sz="1800" b="1" i="0" u="none" strike="noStrike" cap="none" normalizeH="0" baseline="0" dirty="0">
                <a:ln>
                  <a:noFill/>
                </a:ln>
                <a:solidFill>
                  <a:schemeClr val="bg1"/>
                </a:solidFill>
                <a:effectLst/>
                <a:latin typeface="Arial" panose="020B0604020202020204" pitchFamily="34" charset="0"/>
              </a:rPr>
              <a:t>color-coded bands</a:t>
            </a:r>
            <a:r>
              <a:rPr kumimoji="0" lang="en-US" altLang="en-US" sz="1800" b="0" i="0" u="none" strike="noStrike" cap="none" normalizeH="0" baseline="0" dirty="0">
                <a:ln>
                  <a:noFill/>
                </a:ln>
                <a:solidFill>
                  <a:schemeClr val="bg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Region-based interpretation instead of exact peak assignment </a:t>
            </a:r>
          </a:p>
        </p:txBody>
      </p:sp>
    </p:spTree>
    <p:extLst>
      <p:ext uri="{BB962C8B-B14F-4D97-AF65-F5344CB8AC3E}">
        <p14:creationId xmlns:p14="http://schemas.microsoft.com/office/powerpoint/2010/main" val="9757464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A00A82F6-A767-13A1-70E3-7108D7D9731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5503ED4-10AE-8C2B-E40D-41D15953AC18}"/>
              </a:ext>
            </a:extLst>
          </p:cNvPr>
          <p:cNvSpPr txBox="1"/>
          <p:nvPr/>
        </p:nvSpPr>
        <p:spPr>
          <a:xfrm>
            <a:off x="256502" y="180304"/>
            <a:ext cx="7715574" cy="461665"/>
          </a:xfrm>
          <a:prstGeom prst="rect">
            <a:avLst/>
          </a:prstGeom>
          <a:noFill/>
        </p:spPr>
        <p:txBody>
          <a:bodyPr wrap="none" rtlCol="0">
            <a:spAutoFit/>
          </a:bodyPr>
          <a:lstStyle/>
          <a:p>
            <a:r>
              <a:rPr lang="en-IN" sz="2400" b="1" dirty="0">
                <a:solidFill>
                  <a:srgbClr val="00B0F0"/>
                </a:solidFill>
              </a:rPr>
              <a:t>Functional Region Identification (LTA Components)</a:t>
            </a:r>
            <a:endParaRPr lang="en-IN" sz="2400" dirty="0">
              <a:solidFill>
                <a:srgbClr val="00B0F0"/>
              </a:solidFill>
            </a:endParaRPr>
          </a:p>
        </p:txBody>
      </p:sp>
      <p:graphicFrame>
        <p:nvGraphicFramePr>
          <p:cNvPr id="2" name="Table 1">
            <a:extLst>
              <a:ext uri="{FF2B5EF4-FFF2-40B4-BE49-F238E27FC236}">
                <a16:creationId xmlns:a16="http://schemas.microsoft.com/office/drawing/2014/main" id="{2F558F4B-8C71-C9E9-4CD9-5098B5B8D22C}"/>
              </a:ext>
            </a:extLst>
          </p:cNvPr>
          <p:cNvGraphicFramePr>
            <a:graphicFrameLocks noGrp="1"/>
          </p:cNvGraphicFramePr>
          <p:nvPr>
            <p:extLst>
              <p:ext uri="{D42A27DB-BD31-4B8C-83A1-F6EECF244321}">
                <p14:modId xmlns:p14="http://schemas.microsoft.com/office/powerpoint/2010/main" val="3757536352"/>
              </p:ext>
            </p:extLst>
          </p:nvPr>
        </p:nvGraphicFramePr>
        <p:xfrm>
          <a:off x="1981199" y="1376772"/>
          <a:ext cx="8229600" cy="1981200"/>
        </p:xfrm>
        <a:graphic>
          <a:graphicData uri="http://schemas.openxmlformats.org/drawingml/2006/table">
            <a:tbl>
              <a:tblPr/>
              <a:tblGrid>
                <a:gridCol w="2743200">
                  <a:extLst>
                    <a:ext uri="{9D8B030D-6E8A-4147-A177-3AD203B41FA5}">
                      <a16:colId xmlns:a16="http://schemas.microsoft.com/office/drawing/2014/main" val="2831130091"/>
                    </a:ext>
                  </a:extLst>
                </a:gridCol>
                <a:gridCol w="2743200">
                  <a:extLst>
                    <a:ext uri="{9D8B030D-6E8A-4147-A177-3AD203B41FA5}">
                      <a16:colId xmlns:a16="http://schemas.microsoft.com/office/drawing/2014/main" val="2455211656"/>
                    </a:ext>
                  </a:extLst>
                </a:gridCol>
                <a:gridCol w="2743200">
                  <a:extLst>
                    <a:ext uri="{9D8B030D-6E8A-4147-A177-3AD203B41FA5}">
                      <a16:colId xmlns:a16="http://schemas.microsoft.com/office/drawing/2014/main" val="3573776350"/>
                    </a:ext>
                  </a:extLst>
                </a:gridCol>
              </a:tblGrid>
              <a:tr h="0">
                <a:tc>
                  <a:txBody>
                    <a:bodyPr/>
                    <a:lstStyle/>
                    <a:p>
                      <a:pPr algn="ctr">
                        <a:buNone/>
                      </a:pPr>
                      <a:r>
                        <a:rPr lang="en-IN" sz="2400" b="1" dirty="0">
                          <a:solidFill>
                            <a:schemeClr val="bg1"/>
                          </a:solidFill>
                        </a:rPr>
                        <a:t>Region (cm⁻¹)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sz="2400" b="1">
                          <a:solidFill>
                            <a:schemeClr val="bg1"/>
                          </a:solidFill>
                        </a:rPr>
                        <a:t>Assignment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sz="2400" b="1" dirty="0">
                          <a:solidFill>
                            <a:schemeClr val="bg1"/>
                          </a:solidFill>
                        </a:rPr>
                        <a:t>Component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08380710"/>
                  </a:ext>
                </a:extLst>
              </a:tr>
              <a:tr h="0">
                <a:tc>
                  <a:txBody>
                    <a:bodyPr/>
                    <a:lstStyle/>
                    <a:p>
                      <a:pPr algn="ctr">
                        <a:buNone/>
                      </a:pPr>
                      <a:r>
                        <a:rPr lang="en-IN" dirty="0">
                          <a:solidFill>
                            <a:schemeClr val="bg1"/>
                          </a:solidFill>
                        </a:rPr>
                        <a:t>700–900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P–O–C vibration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Phosphate backbone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53414051"/>
                  </a:ext>
                </a:extLst>
              </a:tr>
              <a:tr h="0">
                <a:tc>
                  <a:txBody>
                    <a:bodyPr/>
                    <a:lstStyle/>
                    <a:p>
                      <a:pPr algn="ctr">
                        <a:buNone/>
                      </a:pPr>
                      <a:r>
                        <a:rPr lang="en-IN">
                          <a:solidFill>
                            <a:schemeClr val="bg1"/>
                          </a:solidFill>
                        </a:rPr>
                        <a:t>900–1100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pl-PL">
                          <a:solidFill>
                            <a:schemeClr val="bg1"/>
                          </a:solidFill>
                        </a:rPr>
                        <a:t>C–O–C + PO stretch</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Carbohydrate (GlcNAc)</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3316335"/>
                  </a:ext>
                </a:extLst>
              </a:tr>
              <a:tr h="0">
                <a:tc>
                  <a:txBody>
                    <a:bodyPr/>
                    <a:lstStyle/>
                    <a:p>
                      <a:pPr algn="ctr">
                        <a:buNone/>
                      </a:pPr>
                      <a:r>
                        <a:rPr lang="en-IN">
                          <a:solidFill>
                            <a:schemeClr val="bg1"/>
                          </a:solidFill>
                        </a:rPr>
                        <a:t>1200–1300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Amide III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GlcNAc acetyl group</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49786375"/>
                  </a:ext>
                </a:extLst>
              </a:tr>
              <a:tr h="0">
                <a:tc>
                  <a:txBody>
                    <a:bodyPr/>
                    <a:lstStyle/>
                    <a:p>
                      <a:pPr algn="ctr">
                        <a:buNone/>
                      </a:pPr>
                      <a:r>
                        <a:rPr lang="en-IN">
                          <a:solidFill>
                            <a:schemeClr val="bg1"/>
                          </a:solidFill>
                        </a:rPr>
                        <a:t>1400–1500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CH₃ deformation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D-Alanine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43725003"/>
                  </a:ext>
                </a:extLst>
              </a:tr>
              <a:tr h="0">
                <a:tc>
                  <a:txBody>
                    <a:bodyPr/>
                    <a:lstStyle/>
                    <a:p>
                      <a:pPr algn="ctr">
                        <a:buNone/>
                      </a:pPr>
                      <a:r>
                        <a:rPr lang="en-IN" dirty="0">
                          <a:solidFill>
                            <a:schemeClr val="bg1"/>
                          </a:solidFill>
                        </a:rPr>
                        <a:t>1500–1650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dirty="0">
                          <a:solidFill>
                            <a:schemeClr val="bg1"/>
                          </a:solidFill>
                        </a:rPr>
                        <a:t>Amide / NH₃⁺ / COO⁻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dirty="0">
                          <a:solidFill>
                            <a:schemeClr val="bg1"/>
                          </a:solidFill>
                        </a:rPr>
                        <a:t>Amino + peptide region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59963687"/>
                  </a:ext>
                </a:extLst>
              </a:tr>
            </a:tbl>
          </a:graphicData>
        </a:graphic>
      </p:graphicFrame>
      <p:sp>
        <p:nvSpPr>
          <p:cNvPr id="10" name="TextBox 9">
            <a:extLst>
              <a:ext uri="{FF2B5EF4-FFF2-40B4-BE49-F238E27FC236}">
                <a16:creationId xmlns:a16="http://schemas.microsoft.com/office/drawing/2014/main" id="{FDEAFC8B-730A-22A0-2D71-933613842820}"/>
              </a:ext>
            </a:extLst>
          </p:cNvPr>
          <p:cNvSpPr txBox="1"/>
          <p:nvPr/>
        </p:nvSpPr>
        <p:spPr>
          <a:xfrm>
            <a:off x="3389970" y="3791120"/>
            <a:ext cx="5412059" cy="307777"/>
          </a:xfrm>
          <a:prstGeom prst="rect">
            <a:avLst/>
          </a:prstGeom>
          <a:noFill/>
        </p:spPr>
        <p:txBody>
          <a:bodyPr wrap="none" rtlCol="0">
            <a:spAutoFit/>
          </a:bodyPr>
          <a:lstStyle/>
          <a:p>
            <a:r>
              <a:rPr lang="en-GB" dirty="0">
                <a:solidFill>
                  <a:schemeClr val="bg1"/>
                </a:solidFill>
              </a:rPr>
              <a:t>These regions correspond to </a:t>
            </a:r>
            <a:r>
              <a:rPr lang="en-GB" b="1" dirty="0">
                <a:solidFill>
                  <a:schemeClr val="bg1"/>
                </a:solidFill>
              </a:rPr>
              <a:t>key structural components of LTA</a:t>
            </a:r>
            <a:endParaRPr lang="en-IN" dirty="0">
              <a:solidFill>
                <a:schemeClr val="bg1"/>
              </a:solidFill>
            </a:endParaRPr>
          </a:p>
        </p:txBody>
      </p:sp>
    </p:spTree>
    <p:extLst>
      <p:ext uri="{BB962C8B-B14F-4D97-AF65-F5344CB8AC3E}">
        <p14:creationId xmlns:p14="http://schemas.microsoft.com/office/powerpoint/2010/main" val="26049985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FA2482D6-8C5B-1808-C359-4F12346C40C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82E3E5-BB9D-C6A0-2C22-E9E7FD17BC32}"/>
              </a:ext>
            </a:extLst>
          </p:cNvPr>
          <p:cNvPicPr>
            <a:picLocks noChangeAspect="1"/>
          </p:cNvPicPr>
          <p:nvPr/>
        </p:nvPicPr>
        <p:blipFill>
          <a:blip r:embed="rId3"/>
          <a:stretch>
            <a:fillRect/>
          </a:stretch>
        </p:blipFill>
        <p:spPr>
          <a:xfrm>
            <a:off x="311615" y="3455860"/>
            <a:ext cx="5614469" cy="2757751"/>
          </a:xfrm>
          <a:prstGeom prst="rect">
            <a:avLst/>
          </a:prstGeom>
        </p:spPr>
      </p:pic>
      <p:pic>
        <p:nvPicPr>
          <p:cNvPr id="8" name="Picture 7">
            <a:extLst>
              <a:ext uri="{FF2B5EF4-FFF2-40B4-BE49-F238E27FC236}">
                <a16:creationId xmlns:a16="http://schemas.microsoft.com/office/drawing/2014/main" id="{591BABFE-8796-8162-2A8B-2C7496855557}"/>
              </a:ext>
            </a:extLst>
          </p:cNvPr>
          <p:cNvPicPr>
            <a:picLocks noChangeAspect="1"/>
          </p:cNvPicPr>
          <p:nvPr/>
        </p:nvPicPr>
        <p:blipFill>
          <a:blip r:embed="rId4"/>
          <a:stretch>
            <a:fillRect/>
          </a:stretch>
        </p:blipFill>
        <p:spPr>
          <a:xfrm>
            <a:off x="6368016" y="3455860"/>
            <a:ext cx="5614469" cy="2757751"/>
          </a:xfrm>
          <a:prstGeom prst="rect">
            <a:avLst/>
          </a:prstGeom>
        </p:spPr>
      </p:pic>
      <p:pic>
        <p:nvPicPr>
          <p:cNvPr id="9" name="Picture 8">
            <a:extLst>
              <a:ext uri="{FF2B5EF4-FFF2-40B4-BE49-F238E27FC236}">
                <a16:creationId xmlns:a16="http://schemas.microsoft.com/office/drawing/2014/main" id="{8A94A78F-E1AF-63FA-EB7C-1EAB5E0168FC}"/>
              </a:ext>
            </a:extLst>
          </p:cNvPr>
          <p:cNvPicPr>
            <a:picLocks noChangeAspect="1"/>
          </p:cNvPicPr>
          <p:nvPr/>
        </p:nvPicPr>
        <p:blipFill>
          <a:blip r:embed="rId5"/>
          <a:stretch>
            <a:fillRect/>
          </a:stretch>
        </p:blipFill>
        <p:spPr>
          <a:xfrm>
            <a:off x="311615" y="322921"/>
            <a:ext cx="5554712" cy="2728399"/>
          </a:xfrm>
          <a:prstGeom prst="rect">
            <a:avLst/>
          </a:prstGeom>
        </p:spPr>
      </p:pic>
      <p:pic>
        <p:nvPicPr>
          <p:cNvPr id="10" name="Picture 9">
            <a:extLst>
              <a:ext uri="{FF2B5EF4-FFF2-40B4-BE49-F238E27FC236}">
                <a16:creationId xmlns:a16="http://schemas.microsoft.com/office/drawing/2014/main" id="{79EDF868-1E49-BF55-50F2-E48213D112F6}"/>
              </a:ext>
            </a:extLst>
          </p:cNvPr>
          <p:cNvPicPr>
            <a:picLocks noChangeAspect="1"/>
          </p:cNvPicPr>
          <p:nvPr/>
        </p:nvPicPr>
        <p:blipFill>
          <a:blip r:embed="rId6"/>
          <a:stretch>
            <a:fillRect/>
          </a:stretch>
        </p:blipFill>
        <p:spPr>
          <a:xfrm>
            <a:off x="6373087" y="322920"/>
            <a:ext cx="5554714" cy="2728400"/>
          </a:xfrm>
          <a:prstGeom prst="rect">
            <a:avLst/>
          </a:prstGeom>
        </p:spPr>
      </p:pic>
    </p:spTree>
    <p:extLst>
      <p:ext uri="{BB962C8B-B14F-4D97-AF65-F5344CB8AC3E}">
        <p14:creationId xmlns:p14="http://schemas.microsoft.com/office/powerpoint/2010/main" val="5901525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17D9109E-897A-754B-E0C5-A1A3F5D7A036}"/>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2ABD6AAE-197A-2B72-EA50-1337B9107B9E}"/>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pic>
        <p:nvPicPr>
          <p:cNvPr id="6" name="Picture 5">
            <a:extLst>
              <a:ext uri="{FF2B5EF4-FFF2-40B4-BE49-F238E27FC236}">
                <a16:creationId xmlns:a16="http://schemas.microsoft.com/office/drawing/2014/main" id="{2782DEAB-174A-C7B0-DCCA-AC009DFAD4DB}"/>
              </a:ext>
            </a:extLst>
          </p:cNvPr>
          <p:cNvPicPr>
            <a:picLocks noChangeAspect="1"/>
          </p:cNvPicPr>
          <p:nvPr/>
        </p:nvPicPr>
        <p:blipFill>
          <a:blip r:embed="rId4"/>
          <a:stretch>
            <a:fillRect/>
          </a:stretch>
        </p:blipFill>
        <p:spPr>
          <a:xfrm>
            <a:off x="4810483" y="3506447"/>
            <a:ext cx="6415192" cy="3171657"/>
          </a:xfrm>
          <a:prstGeom prst="rect">
            <a:avLst/>
          </a:prstGeom>
        </p:spPr>
      </p:pic>
      <p:pic>
        <p:nvPicPr>
          <p:cNvPr id="7" name="Picture 6">
            <a:extLst>
              <a:ext uri="{FF2B5EF4-FFF2-40B4-BE49-F238E27FC236}">
                <a16:creationId xmlns:a16="http://schemas.microsoft.com/office/drawing/2014/main" id="{6D16CC5E-2BCA-EB37-B2CF-D8A90C80064E}"/>
              </a:ext>
            </a:extLst>
          </p:cNvPr>
          <p:cNvPicPr>
            <a:picLocks noChangeAspect="1"/>
          </p:cNvPicPr>
          <p:nvPr/>
        </p:nvPicPr>
        <p:blipFill>
          <a:blip r:embed="rId5"/>
          <a:stretch>
            <a:fillRect/>
          </a:stretch>
        </p:blipFill>
        <p:spPr>
          <a:xfrm>
            <a:off x="4810483" y="150866"/>
            <a:ext cx="6415192" cy="3151055"/>
          </a:xfrm>
          <a:prstGeom prst="rect">
            <a:avLst/>
          </a:prstGeom>
        </p:spPr>
      </p:pic>
      <p:sp>
        <p:nvSpPr>
          <p:cNvPr id="8" name="TextBox 7">
            <a:extLst>
              <a:ext uri="{FF2B5EF4-FFF2-40B4-BE49-F238E27FC236}">
                <a16:creationId xmlns:a16="http://schemas.microsoft.com/office/drawing/2014/main" id="{A0FB228D-4583-D5AC-77B9-75ECCA7EF483}"/>
              </a:ext>
            </a:extLst>
          </p:cNvPr>
          <p:cNvSpPr txBox="1"/>
          <p:nvPr/>
        </p:nvSpPr>
        <p:spPr>
          <a:xfrm>
            <a:off x="740229" y="1335314"/>
            <a:ext cx="3027604" cy="400110"/>
          </a:xfrm>
          <a:prstGeom prst="rect">
            <a:avLst/>
          </a:prstGeom>
          <a:noFill/>
        </p:spPr>
        <p:txBody>
          <a:bodyPr wrap="square" rtlCol="0">
            <a:spAutoFit/>
          </a:bodyPr>
          <a:lstStyle/>
          <a:p>
            <a:r>
              <a:rPr lang="en-IN" sz="2000" dirty="0">
                <a:solidFill>
                  <a:schemeClr val="bg1"/>
                </a:solidFill>
              </a:rPr>
              <a:t>Experimental Data</a:t>
            </a:r>
          </a:p>
        </p:txBody>
      </p:sp>
      <p:sp>
        <p:nvSpPr>
          <p:cNvPr id="9" name="TextBox 8">
            <a:extLst>
              <a:ext uri="{FF2B5EF4-FFF2-40B4-BE49-F238E27FC236}">
                <a16:creationId xmlns:a16="http://schemas.microsoft.com/office/drawing/2014/main" id="{58DEA0FD-76EA-115C-B596-B830A1D32D37}"/>
              </a:ext>
            </a:extLst>
          </p:cNvPr>
          <p:cNvSpPr txBox="1"/>
          <p:nvPr/>
        </p:nvSpPr>
        <p:spPr>
          <a:xfrm>
            <a:off x="631372" y="4692165"/>
            <a:ext cx="3027604" cy="400110"/>
          </a:xfrm>
          <a:prstGeom prst="rect">
            <a:avLst/>
          </a:prstGeom>
          <a:noFill/>
        </p:spPr>
        <p:txBody>
          <a:bodyPr wrap="square" rtlCol="0">
            <a:spAutoFit/>
          </a:bodyPr>
          <a:lstStyle/>
          <a:p>
            <a:r>
              <a:rPr lang="en-IN" sz="2000" dirty="0">
                <a:solidFill>
                  <a:schemeClr val="bg1"/>
                </a:solidFill>
              </a:rPr>
              <a:t>Simulation Data</a:t>
            </a:r>
          </a:p>
        </p:txBody>
      </p:sp>
    </p:spTree>
    <p:extLst>
      <p:ext uri="{BB962C8B-B14F-4D97-AF65-F5344CB8AC3E}">
        <p14:creationId xmlns:p14="http://schemas.microsoft.com/office/powerpoint/2010/main" val="10597228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9568F0CD-8E04-75D6-BCAC-43355AD4D83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0423C9-53A7-2CBF-77BF-4D2FF40FFB42}"/>
              </a:ext>
            </a:extLst>
          </p:cNvPr>
          <p:cNvSpPr txBox="1"/>
          <p:nvPr/>
        </p:nvSpPr>
        <p:spPr>
          <a:xfrm>
            <a:off x="199622" y="218940"/>
            <a:ext cx="6098144" cy="523220"/>
          </a:xfrm>
          <a:prstGeom prst="rect">
            <a:avLst/>
          </a:prstGeom>
          <a:noFill/>
        </p:spPr>
        <p:txBody>
          <a:bodyPr wrap="none" rtlCol="0">
            <a:spAutoFit/>
          </a:bodyPr>
          <a:lstStyle/>
          <a:p>
            <a:r>
              <a:rPr lang="en-IN" sz="2800" b="1" dirty="0">
                <a:solidFill>
                  <a:srgbClr val="00B0F0"/>
                </a:solidFill>
              </a:rPr>
              <a:t>Observations from Raman Spectra</a:t>
            </a:r>
          </a:p>
        </p:txBody>
      </p:sp>
      <p:sp>
        <p:nvSpPr>
          <p:cNvPr id="4" name="TextBox 3">
            <a:extLst>
              <a:ext uri="{FF2B5EF4-FFF2-40B4-BE49-F238E27FC236}">
                <a16:creationId xmlns:a16="http://schemas.microsoft.com/office/drawing/2014/main" id="{07D76B5A-16DE-40DC-D170-1BF2E44DA782}"/>
              </a:ext>
            </a:extLst>
          </p:cNvPr>
          <p:cNvSpPr txBox="1"/>
          <p:nvPr/>
        </p:nvSpPr>
        <p:spPr>
          <a:xfrm>
            <a:off x="123958" y="869324"/>
            <a:ext cx="9013602" cy="3170099"/>
          </a:xfrm>
          <a:prstGeom prst="rect">
            <a:avLst/>
          </a:prstGeom>
          <a:noFill/>
        </p:spPr>
        <p:txBody>
          <a:bodyPr wrap="square">
            <a:spAutoFit/>
          </a:bodyPr>
          <a:lstStyle/>
          <a:p>
            <a:pPr marL="285750" indent="-285750">
              <a:buFont typeface="Arial" panose="020B0604020202020204" pitchFamily="34" charset="0"/>
              <a:buChar char="•"/>
            </a:pPr>
            <a:r>
              <a:rPr lang="en-IN" sz="2000" dirty="0">
                <a:solidFill>
                  <a:schemeClr val="bg1"/>
                </a:solidFill>
              </a:rPr>
              <a:t>All spectra show </a:t>
            </a:r>
            <a:r>
              <a:rPr lang="en-IN" sz="2000" b="1" dirty="0">
                <a:solidFill>
                  <a:schemeClr val="bg1"/>
                </a:solidFill>
              </a:rPr>
              <a:t>broad and overlapping peaks</a:t>
            </a:r>
            <a:r>
              <a:rPr lang="en-IN" sz="2000" dirty="0">
                <a:solidFill>
                  <a:schemeClr val="bg1"/>
                </a:solidFill>
              </a:rPr>
              <a:t> </a:t>
            </a:r>
          </a:p>
          <a:p>
            <a:pPr marL="285750" indent="-285750">
              <a:buFont typeface="Arial" panose="020B0604020202020204" pitchFamily="34" charset="0"/>
              <a:buChar char="•"/>
            </a:pPr>
            <a:r>
              <a:rPr lang="en-IN" sz="2000" dirty="0">
                <a:solidFill>
                  <a:schemeClr val="bg1"/>
                </a:solidFill>
              </a:rPr>
              <a:t>Key regions are </a:t>
            </a:r>
            <a:r>
              <a:rPr lang="en-IN" sz="2000" b="1" dirty="0">
                <a:solidFill>
                  <a:schemeClr val="bg1"/>
                </a:solidFill>
              </a:rPr>
              <a:t>present but not sharply resolved</a:t>
            </a:r>
            <a:r>
              <a:rPr lang="en-IN" sz="2000" dirty="0">
                <a:solidFill>
                  <a:schemeClr val="bg1"/>
                </a:solidFill>
              </a:rPr>
              <a:t> </a:t>
            </a:r>
          </a:p>
          <a:p>
            <a:pPr marL="285750" indent="-285750">
              <a:buFont typeface="Arial" panose="020B0604020202020204" pitchFamily="34" charset="0"/>
              <a:buChar char="•"/>
            </a:pPr>
            <a:r>
              <a:rPr lang="en-IN" sz="2000" dirty="0">
                <a:solidFill>
                  <a:schemeClr val="bg1"/>
                </a:solidFill>
              </a:rPr>
              <a:t>Strong signal observed in: </a:t>
            </a:r>
          </a:p>
          <a:p>
            <a:pPr marL="742950" lvl="1" indent="-285750">
              <a:buFont typeface="Arial" panose="020B0604020202020204" pitchFamily="34" charset="0"/>
              <a:buChar char="•"/>
            </a:pPr>
            <a:r>
              <a:rPr lang="en-IN" sz="2000" dirty="0">
                <a:solidFill>
                  <a:schemeClr val="bg1"/>
                </a:solidFill>
              </a:rPr>
              <a:t>~1100 cm⁻¹ → phosphate/carbohydrate region </a:t>
            </a:r>
          </a:p>
          <a:p>
            <a:pPr marL="742950" lvl="1" indent="-285750">
              <a:buFont typeface="Arial" panose="020B0604020202020204" pitchFamily="34" charset="0"/>
              <a:buChar char="•"/>
            </a:pPr>
            <a:r>
              <a:rPr lang="en-IN" sz="2000" dirty="0">
                <a:solidFill>
                  <a:schemeClr val="bg1"/>
                </a:solidFill>
              </a:rPr>
              <a:t>~800–900 cm⁻¹ → phosphate backbone </a:t>
            </a:r>
          </a:p>
          <a:p>
            <a:pPr marL="285750" indent="-285750">
              <a:buFont typeface="Arial" panose="020B0604020202020204" pitchFamily="34" charset="0"/>
              <a:buChar char="•"/>
            </a:pPr>
            <a:r>
              <a:rPr lang="en-IN" sz="2000" dirty="0">
                <a:solidFill>
                  <a:schemeClr val="bg1"/>
                </a:solidFill>
              </a:rPr>
              <a:t>Moderate signal in: </a:t>
            </a:r>
          </a:p>
          <a:p>
            <a:pPr marL="742950" lvl="1" indent="-285750">
              <a:buFont typeface="Arial" panose="020B0604020202020204" pitchFamily="34" charset="0"/>
              <a:buChar char="•"/>
            </a:pPr>
            <a:r>
              <a:rPr lang="en-IN" sz="2000" dirty="0">
                <a:solidFill>
                  <a:schemeClr val="bg1"/>
                </a:solidFill>
              </a:rPr>
              <a:t>~1400–1500 cm⁻¹ → CH₃ (D-Alanine) </a:t>
            </a:r>
          </a:p>
          <a:p>
            <a:pPr marL="285750" indent="-285750">
              <a:buFont typeface="Arial" panose="020B0604020202020204" pitchFamily="34" charset="0"/>
              <a:buChar char="•"/>
            </a:pPr>
            <a:r>
              <a:rPr lang="en-IN" sz="2000" dirty="0">
                <a:solidFill>
                  <a:schemeClr val="bg1"/>
                </a:solidFill>
              </a:rPr>
              <a:t>Weak/merged signal in: </a:t>
            </a:r>
          </a:p>
          <a:p>
            <a:pPr marL="742950" lvl="1" indent="-285750">
              <a:buFont typeface="Arial" panose="020B0604020202020204" pitchFamily="34" charset="0"/>
              <a:buChar char="•"/>
            </a:pPr>
            <a:r>
              <a:rPr lang="en-IN" sz="2000" dirty="0">
                <a:solidFill>
                  <a:schemeClr val="bg1"/>
                </a:solidFill>
              </a:rPr>
              <a:t>Amide regions (1200–1300, 1500–1650 cm⁻¹) </a:t>
            </a:r>
          </a:p>
          <a:p>
            <a:pPr marL="285750" indent="-285750">
              <a:buFont typeface="Arial" panose="020B0604020202020204" pitchFamily="34" charset="0"/>
              <a:buChar char="•"/>
            </a:pPr>
            <a:r>
              <a:rPr lang="en-IN" sz="2000" dirty="0">
                <a:solidFill>
                  <a:schemeClr val="bg1"/>
                </a:solidFill>
              </a:rPr>
              <a:t>Indicates </a:t>
            </a:r>
            <a:r>
              <a:rPr lang="en-IN" sz="2000" b="1" dirty="0">
                <a:solidFill>
                  <a:schemeClr val="bg1"/>
                </a:solidFill>
              </a:rPr>
              <a:t>presence of LTA functional groups but low peak resolution</a:t>
            </a:r>
            <a:endParaRPr lang="en-IN" sz="2000" dirty="0">
              <a:solidFill>
                <a:schemeClr val="bg1"/>
              </a:solidFill>
            </a:endParaRPr>
          </a:p>
        </p:txBody>
      </p:sp>
      <p:pic>
        <p:nvPicPr>
          <p:cNvPr id="7" name="Picture 6">
            <a:extLst>
              <a:ext uri="{FF2B5EF4-FFF2-40B4-BE49-F238E27FC236}">
                <a16:creationId xmlns:a16="http://schemas.microsoft.com/office/drawing/2014/main" id="{501D45C4-7434-6D0A-4543-26DED02FFA83}"/>
              </a:ext>
            </a:extLst>
          </p:cNvPr>
          <p:cNvPicPr>
            <a:picLocks noChangeAspect="1"/>
          </p:cNvPicPr>
          <p:nvPr/>
        </p:nvPicPr>
        <p:blipFill>
          <a:blip r:embed="rId3"/>
          <a:stretch>
            <a:fillRect/>
          </a:stretch>
        </p:blipFill>
        <p:spPr>
          <a:xfrm>
            <a:off x="1004698" y="4039423"/>
            <a:ext cx="5145502" cy="2767369"/>
          </a:xfrm>
          <a:prstGeom prst="rect">
            <a:avLst/>
          </a:prstGeom>
        </p:spPr>
      </p:pic>
    </p:spTree>
    <p:extLst>
      <p:ext uri="{BB962C8B-B14F-4D97-AF65-F5344CB8AC3E}">
        <p14:creationId xmlns:p14="http://schemas.microsoft.com/office/powerpoint/2010/main" val="6023758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6E791233-742C-3925-7A1C-A59AFBE06B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5FAC52-A147-30BA-2F79-5073770892E9}"/>
              </a:ext>
            </a:extLst>
          </p:cNvPr>
          <p:cNvSpPr txBox="1"/>
          <p:nvPr/>
        </p:nvSpPr>
        <p:spPr>
          <a:xfrm>
            <a:off x="199622" y="218940"/>
            <a:ext cx="4918334" cy="523220"/>
          </a:xfrm>
          <a:prstGeom prst="rect">
            <a:avLst/>
          </a:prstGeom>
          <a:noFill/>
        </p:spPr>
        <p:txBody>
          <a:bodyPr wrap="none" rtlCol="0">
            <a:spAutoFit/>
          </a:bodyPr>
          <a:lstStyle/>
          <a:p>
            <a:r>
              <a:rPr lang="en-IN" sz="2800" b="1" dirty="0">
                <a:solidFill>
                  <a:srgbClr val="00B0F0"/>
                </a:solidFill>
              </a:rPr>
              <a:t>Conclusion &amp; Interpretation</a:t>
            </a:r>
          </a:p>
        </p:txBody>
      </p:sp>
      <p:sp>
        <p:nvSpPr>
          <p:cNvPr id="4" name="TextBox 3">
            <a:extLst>
              <a:ext uri="{FF2B5EF4-FFF2-40B4-BE49-F238E27FC236}">
                <a16:creationId xmlns:a16="http://schemas.microsoft.com/office/drawing/2014/main" id="{1AC6240A-9D26-AC14-FE78-D6160D0A03B7}"/>
              </a:ext>
            </a:extLst>
          </p:cNvPr>
          <p:cNvSpPr txBox="1"/>
          <p:nvPr/>
        </p:nvSpPr>
        <p:spPr>
          <a:xfrm>
            <a:off x="1585710" y="874454"/>
            <a:ext cx="8440493" cy="4832092"/>
          </a:xfrm>
          <a:prstGeom prst="rect">
            <a:avLst/>
          </a:prstGeom>
          <a:noFill/>
        </p:spPr>
        <p:txBody>
          <a:bodyPr wrap="square">
            <a:spAutoFit/>
          </a:bodyPr>
          <a:lstStyle/>
          <a:p>
            <a:r>
              <a:rPr lang="en-IN" sz="2800" b="1" dirty="0">
                <a:solidFill>
                  <a:schemeClr val="bg1"/>
                </a:solidFill>
              </a:rPr>
              <a:t>Content:</a:t>
            </a:r>
            <a:endParaRPr lang="en-IN" sz="2800" dirty="0">
              <a:solidFill>
                <a:schemeClr val="bg1"/>
              </a:solidFill>
            </a:endParaRPr>
          </a:p>
          <a:p>
            <a:r>
              <a:rPr lang="en-IN" sz="1800" dirty="0">
                <a:solidFill>
                  <a:schemeClr val="bg1"/>
                </a:solidFill>
              </a:rPr>
              <a:t>Functional regions of LTA were successfully identified </a:t>
            </a:r>
          </a:p>
          <a:p>
            <a:r>
              <a:rPr lang="en-IN" sz="1800" dirty="0">
                <a:solidFill>
                  <a:schemeClr val="bg1"/>
                </a:solidFill>
              </a:rPr>
              <a:t>Experimental spectra show: </a:t>
            </a:r>
          </a:p>
          <a:p>
            <a:pPr lvl="1"/>
            <a:r>
              <a:rPr lang="en-IN" sz="1800" dirty="0">
                <a:solidFill>
                  <a:schemeClr val="bg1"/>
                </a:solidFill>
              </a:rPr>
              <a:t>	1.Broad peaks due to complex biomolecule structure </a:t>
            </a:r>
          </a:p>
          <a:p>
            <a:pPr lvl="1"/>
            <a:r>
              <a:rPr lang="en-IN" sz="1800" dirty="0">
                <a:solidFill>
                  <a:schemeClr val="bg1"/>
                </a:solidFill>
              </a:rPr>
              <a:t>	2.Overlapping contributions from multiple components</a:t>
            </a:r>
          </a:p>
          <a:p>
            <a:r>
              <a:rPr lang="en-IN" sz="1800" dirty="0">
                <a:solidFill>
                  <a:schemeClr val="bg1"/>
                </a:solidFill>
              </a:rPr>
              <a:t>Region-based analysis confirms: </a:t>
            </a:r>
          </a:p>
          <a:p>
            <a:pPr lvl="1"/>
            <a:r>
              <a:rPr lang="en-IN" sz="1800" dirty="0">
                <a:solidFill>
                  <a:schemeClr val="bg1"/>
                </a:solidFill>
              </a:rPr>
              <a:t>			Phosphate backbone </a:t>
            </a:r>
          </a:p>
          <a:p>
            <a:pPr lvl="1"/>
            <a:r>
              <a:rPr lang="en-IN" sz="1800" dirty="0">
                <a:solidFill>
                  <a:schemeClr val="bg1"/>
                </a:solidFill>
              </a:rPr>
              <a:t>			Carbohydrate structure </a:t>
            </a:r>
          </a:p>
          <a:p>
            <a:pPr lvl="1"/>
            <a:r>
              <a:rPr lang="en-IN" sz="1800" dirty="0">
                <a:solidFill>
                  <a:schemeClr val="bg1"/>
                </a:solidFill>
              </a:rPr>
              <a:t>			Amino acid (D-Alanine) presence </a:t>
            </a:r>
          </a:p>
          <a:p>
            <a:endParaRPr lang="en-IN" sz="1800" dirty="0">
              <a:solidFill>
                <a:schemeClr val="bg1"/>
              </a:solidFill>
            </a:endParaRPr>
          </a:p>
          <a:p>
            <a:endParaRPr lang="en-IN" sz="1800" dirty="0">
              <a:solidFill>
                <a:schemeClr val="bg1"/>
              </a:solidFill>
            </a:endParaRPr>
          </a:p>
          <a:p>
            <a:r>
              <a:rPr lang="en-IN" sz="2800" dirty="0">
                <a:solidFill>
                  <a:schemeClr val="bg1"/>
                </a:solidFill>
              </a:rPr>
              <a:t>Limitation:</a:t>
            </a:r>
          </a:p>
          <a:p>
            <a:r>
              <a:rPr lang="en-IN" sz="1800" dirty="0">
                <a:solidFill>
                  <a:schemeClr val="bg1"/>
                </a:solidFill>
              </a:rPr>
              <a:t>Peaks are not sharp due to: </a:t>
            </a:r>
          </a:p>
          <a:p>
            <a:pPr lvl="1"/>
            <a:r>
              <a:rPr lang="en-IN" sz="1800" dirty="0">
                <a:solidFill>
                  <a:schemeClr val="bg1"/>
                </a:solidFill>
              </a:rPr>
              <a:t>	Weak Raman scattering </a:t>
            </a:r>
          </a:p>
          <a:p>
            <a:pPr lvl="1"/>
            <a:r>
              <a:rPr lang="en-IN" sz="1800" dirty="0">
                <a:solidFill>
                  <a:schemeClr val="bg1"/>
                </a:solidFill>
              </a:rPr>
              <a:t>	Sample form (powder) </a:t>
            </a:r>
          </a:p>
          <a:p>
            <a:pPr lvl="1"/>
            <a:r>
              <a:rPr lang="en-IN" sz="1800" dirty="0">
                <a:solidFill>
                  <a:schemeClr val="bg1"/>
                </a:solidFill>
              </a:rPr>
              <a:t>	</a:t>
            </a:r>
          </a:p>
        </p:txBody>
      </p:sp>
    </p:spTree>
    <p:extLst>
      <p:ext uri="{BB962C8B-B14F-4D97-AF65-F5344CB8AC3E}">
        <p14:creationId xmlns:p14="http://schemas.microsoft.com/office/powerpoint/2010/main" val="10871889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B7C8BC2E-47C7-5CF5-A3C2-94C34900D042}"/>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3C9BB788-6069-1EDF-4979-8268E1DBC4A4}"/>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sp>
        <p:nvSpPr>
          <p:cNvPr id="3" name="TextBox 2">
            <a:extLst>
              <a:ext uri="{FF2B5EF4-FFF2-40B4-BE49-F238E27FC236}">
                <a16:creationId xmlns:a16="http://schemas.microsoft.com/office/drawing/2014/main" id="{2F5B731A-5E41-038D-13B2-007C4AB06BD6}"/>
              </a:ext>
            </a:extLst>
          </p:cNvPr>
          <p:cNvSpPr txBox="1"/>
          <p:nvPr/>
        </p:nvSpPr>
        <p:spPr>
          <a:xfrm>
            <a:off x="568280" y="1192937"/>
            <a:ext cx="9514038" cy="5355312"/>
          </a:xfrm>
          <a:prstGeom prst="rect">
            <a:avLst/>
          </a:prstGeom>
          <a:noFill/>
        </p:spPr>
        <p:txBody>
          <a:bodyPr wrap="square">
            <a:spAutoFit/>
          </a:bodyPr>
          <a:lstStyle/>
          <a:p>
            <a:r>
              <a:rPr lang="en-IN" sz="1800" b="1" dirty="0">
                <a:solidFill>
                  <a:schemeClr val="bg1"/>
                </a:solidFill>
              </a:rPr>
              <a:t>1. Experimental Extension (NAM)</a:t>
            </a:r>
          </a:p>
          <a:p>
            <a:r>
              <a:rPr lang="en-IN" sz="1800" dirty="0">
                <a:solidFill>
                  <a:schemeClr val="bg1"/>
                </a:solidFill>
              </a:rPr>
              <a:t>• Serial dilution of NAM samples  </a:t>
            </a:r>
            <a:br>
              <a:rPr lang="en-IN" sz="1800" dirty="0">
                <a:solidFill>
                  <a:schemeClr val="bg1"/>
                </a:solidFill>
              </a:rPr>
            </a:br>
            <a:r>
              <a:rPr lang="en-IN" sz="1800" dirty="0">
                <a:solidFill>
                  <a:schemeClr val="bg1"/>
                </a:solidFill>
              </a:rPr>
              <a:t>• Raman data collection at different concentrations  </a:t>
            </a:r>
            <a:br>
              <a:rPr lang="en-IN" sz="1800" dirty="0">
                <a:solidFill>
                  <a:schemeClr val="bg1"/>
                </a:solidFill>
              </a:rPr>
            </a:br>
            <a:r>
              <a:rPr lang="en-IN" sz="1800" dirty="0">
                <a:solidFill>
                  <a:schemeClr val="bg1"/>
                </a:solidFill>
              </a:rPr>
              <a:t>• Study of signal variation with concentration  </a:t>
            </a:r>
          </a:p>
          <a:p>
            <a:endParaRPr lang="en-IN" sz="1800" dirty="0">
              <a:solidFill>
                <a:schemeClr val="bg1"/>
              </a:solidFill>
            </a:endParaRPr>
          </a:p>
          <a:p>
            <a:r>
              <a:rPr lang="en-IN" sz="1800" b="1" dirty="0">
                <a:solidFill>
                  <a:schemeClr val="bg1"/>
                </a:solidFill>
              </a:rPr>
              <a:t> 2. Quantitative Analysis</a:t>
            </a:r>
          </a:p>
          <a:p>
            <a:r>
              <a:rPr lang="en-IN" sz="1800" dirty="0">
                <a:solidFill>
                  <a:schemeClr val="bg1"/>
                </a:solidFill>
              </a:rPr>
              <a:t>• Comparative analysis of peak intensity vs concentration  </a:t>
            </a:r>
            <a:br>
              <a:rPr lang="en-IN" sz="1800" dirty="0">
                <a:solidFill>
                  <a:schemeClr val="bg1"/>
                </a:solidFill>
              </a:rPr>
            </a:br>
            <a:r>
              <a:rPr lang="en-IN" sz="1800" dirty="0">
                <a:solidFill>
                  <a:schemeClr val="bg1"/>
                </a:solidFill>
              </a:rPr>
              <a:t>• Evaluation of detection limits  </a:t>
            </a:r>
            <a:br>
              <a:rPr lang="en-IN" sz="1800" dirty="0">
                <a:solidFill>
                  <a:schemeClr val="bg1"/>
                </a:solidFill>
              </a:rPr>
            </a:br>
            <a:r>
              <a:rPr lang="en-IN" sz="1800" dirty="0">
                <a:solidFill>
                  <a:schemeClr val="bg1"/>
                </a:solidFill>
              </a:rPr>
              <a:t>• Signal-to-noise variation across dilution levels  </a:t>
            </a:r>
            <a:br>
              <a:rPr lang="en-IN" sz="1800" dirty="0">
                <a:solidFill>
                  <a:schemeClr val="bg1"/>
                </a:solidFill>
              </a:rPr>
            </a:br>
            <a:endParaRPr lang="en-IN" sz="1800" dirty="0">
              <a:solidFill>
                <a:schemeClr val="bg1"/>
              </a:solidFill>
            </a:endParaRPr>
          </a:p>
          <a:p>
            <a:r>
              <a:rPr lang="en-IN" sz="1800" b="1" dirty="0">
                <a:solidFill>
                  <a:schemeClr val="bg1"/>
                </a:solidFill>
              </a:rPr>
              <a:t>3. LTA Work</a:t>
            </a:r>
          </a:p>
          <a:p>
            <a:r>
              <a:rPr lang="en-IN" sz="1800" dirty="0">
                <a:solidFill>
                  <a:schemeClr val="bg1"/>
                </a:solidFill>
              </a:rPr>
              <a:t>• Serial dilution of LTA samples  </a:t>
            </a:r>
            <a:br>
              <a:rPr lang="en-IN" sz="1800" dirty="0">
                <a:solidFill>
                  <a:schemeClr val="bg1"/>
                </a:solidFill>
              </a:rPr>
            </a:br>
            <a:r>
              <a:rPr lang="en-IN" sz="1800" dirty="0">
                <a:solidFill>
                  <a:schemeClr val="bg1"/>
                </a:solidFill>
              </a:rPr>
              <a:t>• Raman data collection at different concentrations  </a:t>
            </a:r>
            <a:br>
              <a:rPr lang="en-IN" sz="1800" dirty="0">
                <a:solidFill>
                  <a:schemeClr val="bg1"/>
                </a:solidFill>
              </a:rPr>
            </a:br>
            <a:r>
              <a:rPr lang="en-IN" sz="1800" dirty="0">
                <a:solidFill>
                  <a:schemeClr val="bg1"/>
                </a:solidFill>
              </a:rPr>
              <a:t>• Study of signal variation with concentration  </a:t>
            </a:r>
          </a:p>
          <a:p>
            <a:endParaRPr lang="en-IN" sz="1800" dirty="0">
              <a:solidFill>
                <a:schemeClr val="bg1"/>
              </a:solidFill>
            </a:endParaRPr>
          </a:p>
          <a:p>
            <a:r>
              <a:rPr lang="en-IN" sz="1800" b="1" dirty="0">
                <a:solidFill>
                  <a:schemeClr val="bg1"/>
                </a:solidFill>
              </a:rPr>
              <a:t>4. LPS Work</a:t>
            </a:r>
          </a:p>
          <a:p>
            <a:r>
              <a:rPr lang="en-IN" sz="1800" dirty="0">
                <a:solidFill>
                  <a:schemeClr val="bg1"/>
                </a:solidFill>
              </a:rPr>
              <a:t>• DFT simulation of LPS components (Lipid A / phosphate groups)  </a:t>
            </a:r>
            <a:br>
              <a:rPr lang="en-IN" sz="1800" dirty="0">
                <a:solidFill>
                  <a:schemeClr val="bg1"/>
                </a:solidFill>
              </a:rPr>
            </a:br>
            <a:r>
              <a:rPr lang="en-IN" sz="1800" dirty="0">
                <a:solidFill>
                  <a:schemeClr val="bg1"/>
                </a:solidFill>
              </a:rPr>
              <a:t>• Identification of characteristic Raman peaks  </a:t>
            </a:r>
            <a:br>
              <a:rPr lang="en-IN" sz="1800" dirty="0">
                <a:solidFill>
                  <a:schemeClr val="bg1"/>
                </a:solidFill>
              </a:rPr>
            </a:br>
            <a:r>
              <a:rPr lang="en-IN" sz="1800" dirty="0">
                <a:solidFill>
                  <a:schemeClr val="bg1"/>
                </a:solidFill>
              </a:rPr>
              <a:t>• Literature comparison for validation  </a:t>
            </a:r>
          </a:p>
        </p:txBody>
      </p:sp>
      <p:sp>
        <p:nvSpPr>
          <p:cNvPr id="5" name="TextBox 4">
            <a:extLst>
              <a:ext uri="{FF2B5EF4-FFF2-40B4-BE49-F238E27FC236}">
                <a16:creationId xmlns:a16="http://schemas.microsoft.com/office/drawing/2014/main" id="{EFA26ED2-5845-C230-AAB4-DA4A2B652B8C}"/>
              </a:ext>
            </a:extLst>
          </p:cNvPr>
          <p:cNvSpPr txBox="1"/>
          <p:nvPr/>
        </p:nvSpPr>
        <p:spPr>
          <a:xfrm>
            <a:off x="568280" y="309751"/>
            <a:ext cx="6172200" cy="523220"/>
          </a:xfrm>
          <a:prstGeom prst="rect">
            <a:avLst/>
          </a:prstGeom>
          <a:noFill/>
        </p:spPr>
        <p:txBody>
          <a:bodyPr wrap="square">
            <a:spAutoFit/>
          </a:bodyPr>
          <a:lstStyle/>
          <a:p>
            <a:pPr lvl="0"/>
            <a:r>
              <a:rPr lang="en-US" sz="2800" b="1" dirty="0">
                <a:solidFill>
                  <a:srgbClr val="22D3EE"/>
                </a:solidFill>
                <a:latin typeface="Outfit SemiBold"/>
                <a:ea typeface="Outfit SemiBold"/>
                <a:cs typeface="Outfit SemiBold"/>
                <a:sym typeface="Outfit SemiBold"/>
              </a:rPr>
              <a:t>Future Work &amp; Next Steps</a:t>
            </a:r>
            <a:endParaRPr lang="en-US" sz="2800" b="1" dirty="0"/>
          </a:p>
        </p:txBody>
      </p:sp>
    </p:spTree>
    <p:extLst>
      <p:ext uri="{BB962C8B-B14F-4D97-AF65-F5344CB8AC3E}">
        <p14:creationId xmlns:p14="http://schemas.microsoft.com/office/powerpoint/2010/main" val="11835291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71F1F5EC-D826-04AA-FCC5-2BCA105CBA3F}"/>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BA10FB6E-628B-2A2E-30AE-26ECA0BBC6D8}"/>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sp>
        <p:nvSpPr>
          <p:cNvPr id="3" name="TextBox 2">
            <a:extLst>
              <a:ext uri="{FF2B5EF4-FFF2-40B4-BE49-F238E27FC236}">
                <a16:creationId xmlns:a16="http://schemas.microsoft.com/office/drawing/2014/main" id="{EB60AD15-7DDF-9605-A569-D3C432B6D869}"/>
              </a:ext>
            </a:extLst>
          </p:cNvPr>
          <p:cNvSpPr txBox="1"/>
          <p:nvPr/>
        </p:nvSpPr>
        <p:spPr>
          <a:xfrm>
            <a:off x="568280" y="1192937"/>
            <a:ext cx="9514038" cy="5078313"/>
          </a:xfrm>
          <a:prstGeom prst="rect">
            <a:avLst/>
          </a:prstGeom>
          <a:noFill/>
        </p:spPr>
        <p:txBody>
          <a:bodyPr wrap="square">
            <a:spAutoFit/>
          </a:bodyPr>
          <a:lstStyle/>
          <a:p>
            <a:r>
              <a:rPr lang="en-GB" sz="1800" b="1" dirty="0">
                <a:solidFill>
                  <a:schemeClr val="bg1"/>
                </a:solidFill>
              </a:rPr>
              <a:t>1. Detection vs Quantification</a:t>
            </a:r>
          </a:p>
          <a:p>
            <a:r>
              <a:rPr lang="en-GB" sz="1800" b="1" dirty="0">
                <a:solidFill>
                  <a:schemeClr val="bg1"/>
                </a:solidFill>
              </a:rPr>
              <a:t>Question:</a:t>
            </a:r>
            <a:r>
              <a:rPr lang="en-GB" sz="1800" dirty="0">
                <a:solidFill>
                  <a:schemeClr val="bg1"/>
                </a:solidFill>
              </a:rPr>
              <a:t> Can Raman/SERS quantify bacteria or only detect presence?</a:t>
            </a:r>
            <a:br>
              <a:rPr lang="en-GB" sz="1800" dirty="0">
                <a:solidFill>
                  <a:schemeClr val="bg1"/>
                </a:solidFill>
              </a:rPr>
            </a:br>
            <a:r>
              <a:rPr lang="en-GB" sz="1800" b="1" dirty="0">
                <a:solidFill>
                  <a:schemeClr val="bg1"/>
                </a:solidFill>
              </a:rPr>
              <a:t>Answer:</a:t>
            </a:r>
            <a:r>
              <a:rPr lang="en-GB" sz="1800" dirty="0">
                <a:solidFill>
                  <a:schemeClr val="bg1"/>
                </a:solidFill>
              </a:rPr>
              <a:t> Raman/SERS primarily provides qualitative detection through molecular fingerprints. However, with calibration methods such as serial dilution and intensity–concentration mapping, it can be extended to semi-quantitative estimation of bacterial load.</a:t>
            </a:r>
          </a:p>
          <a:p>
            <a:br>
              <a:rPr lang="en-GB" sz="1800" dirty="0">
                <a:solidFill>
                  <a:schemeClr val="bg1"/>
                </a:solidFill>
              </a:rPr>
            </a:br>
            <a:endParaRPr lang="en-GB" sz="1800" dirty="0">
              <a:solidFill>
                <a:schemeClr val="bg1"/>
              </a:solidFill>
            </a:endParaRPr>
          </a:p>
          <a:p>
            <a:r>
              <a:rPr lang="en-GB" sz="1800" b="1" dirty="0">
                <a:solidFill>
                  <a:schemeClr val="bg1"/>
                </a:solidFill>
              </a:rPr>
              <a:t>2. Speed vs Culture</a:t>
            </a:r>
          </a:p>
          <a:p>
            <a:r>
              <a:rPr lang="en-GB" sz="1800" b="1" dirty="0">
                <a:solidFill>
                  <a:schemeClr val="bg1"/>
                </a:solidFill>
              </a:rPr>
              <a:t>Question:</a:t>
            </a:r>
            <a:r>
              <a:rPr lang="en-GB" sz="1800" dirty="0">
                <a:solidFill>
                  <a:schemeClr val="bg1"/>
                </a:solidFill>
              </a:rPr>
              <a:t> How is Raman better than culture if culture provides accurate results?</a:t>
            </a:r>
            <a:br>
              <a:rPr lang="en-GB" sz="1800" dirty="0">
                <a:solidFill>
                  <a:schemeClr val="bg1"/>
                </a:solidFill>
              </a:rPr>
            </a:br>
            <a:r>
              <a:rPr lang="en-GB" sz="1800" b="1" dirty="0">
                <a:solidFill>
                  <a:schemeClr val="bg1"/>
                </a:solidFill>
              </a:rPr>
              <a:t>Answer:</a:t>
            </a:r>
            <a:r>
              <a:rPr lang="en-GB" sz="1800" dirty="0">
                <a:solidFill>
                  <a:schemeClr val="bg1"/>
                </a:solidFill>
              </a:rPr>
              <a:t> Culture methods typically take 48–72 hours, whereas Raman/SERS can provide results within minutes. Even if quantification is approximate, rapid detection enables early clinical decision-making, which is critical in acute conditions.</a:t>
            </a:r>
          </a:p>
          <a:p>
            <a:br>
              <a:rPr lang="en-GB" sz="1800" dirty="0">
                <a:solidFill>
                  <a:schemeClr val="bg1"/>
                </a:solidFill>
              </a:rPr>
            </a:br>
            <a:endParaRPr lang="en-GB" sz="1800" dirty="0">
              <a:solidFill>
                <a:schemeClr val="bg1"/>
              </a:solidFill>
            </a:endParaRPr>
          </a:p>
          <a:p>
            <a:r>
              <a:rPr lang="en-GB" sz="1800" b="1" dirty="0">
                <a:solidFill>
                  <a:schemeClr val="bg1"/>
                </a:solidFill>
              </a:rPr>
              <a:t>3. Infection Stage Estimation</a:t>
            </a:r>
          </a:p>
          <a:p>
            <a:r>
              <a:rPr lang="en-GB" sz="1800" b="1" dirty="0">
                <a:solidFill>
                  <a:schemeClr val="bg1"/>
                </a:solidFill>
              </a:rPr>
              <a:t>Question:</a:t>
            </a:r>
            <a:r>
              <a:rPr lang="en-GB" sz="1800" dirty="0">
                <a:solidFill>
                  <a:schemeClr val="bg1"/>
                </a:solidFill>
              </a:rPr>
              <a:t> Can you determine whether infection is low or severe?</a:t>
            </a:r>
            <a:br>
              <a:rPr lang="en-GB" sz="1800" dirty="0">
                <a:solidFill>
                  <a:schemeClr val="bg1"/>
                </a:solidFill>
              </a:rPr>
            </a:br>
            <a:r>
              <a:rPr lang="en-GB" sz="1800" b="1" dirty="0">
                <a:solidFill>
                  <a:schemeClr val="bg1"/>
                </a:solidFill>
              </a:rPr>
              <a:t>Answer:</a:t>
            </a:r>
            <a:r>
              <a:rPr lang="en-GB" sz="1800" dirty="0">
                <a:solidFill>
                  <a:schemeClr val="bg1"/>
                </a:solidFill>
              </a:rPr>
              <a:t> Yes. By correlating Raman intensity with bacterial concentration, infection levels can be classified as low, medium, or high, providing an indication of disease severity.</a:t>
            </a:r>
          </a:p>
        </p:txBody>
      </p:sp>
      <p:sp>
        <p:nvSpPr>
          <p:cNvPr id="5" name="TextBox 4">
            <a:extLst>
              <a:ext uri="{FF2B5EF4-FFF2-40B4-BE49-F238E27FC236}">
                <a16:creationId xmlns:a16="http://schemas.microsoft.com/office/drawing/2014/main" id="{4C19EC61-60D7-55A9-E5A2-DA9E8963D90D}"/>
              </a:ext>
            </a:extLst>
          </p:cNvPr>
          <p:cNvSpPr txBox="1"/>
          <p:nvPr/>
        </p:nvSpPr>
        <p:spPr>
          <a:xfrm>
            <a:off x="568280" y="309751"/>
            <a:ext cx="6172200" cy="523220"/>
          </a:xfrm>
          <a:prstGeom prst="rect">
            <a:avLst/>
          </a:prstGeom>
          <a:noFill/>
        </p:spPr>
        <p:txBody>
          <a:bodyPr wrap="square">
            <a:spAutoFit/>
          </a:bodyPr>
          <a:lstStyle/>
          <a:p>
            <a:pPr lvl="0"/>
            <a:r>
              <a:rPr lang="en-GB" sz="2800" dirty="0">
                <a:solidFill>
                  <a:srgbClr val="00B0F0"/>
                </a:solidFill>
              </a:rPr>
              <a:t>Key Questions from Last Meeting</a:t>
            </a:r>
            <a:endParaRPr lang="en-US" sz="2800" b="1" dirty="0">
              <a:solidFill>
                <a:srgbClr val="00B0F0"/>
              </a:solidFill>
            </a:endParaRPr>
          </a:p>
        </p:txBody>
      </p:sp>
    </p:spTree>
    <p:extLst>
      <p:ext uri="{BB962C8B-B14F-4D97-AF65-F5344CB8AC3E}">
        <p14:creationId xmlns:p14="http://schemas.microsoft.com/office/powerpoint/2010/main" val="29426173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340C7284-2FAE-EE92-B030-E54940B3DBE4}"/>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28E0F94C-065F-E5CF-CFDA-275D2AF3C822}"/>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sp>
        <p:nvSpPr>
          <p:cNvPr id="3" name="TextBox 2">
            <a:extLst>
              <a:ext uri="{FF2B5EF4-FFF2-40B4-BE49-F238E27FC236}">
                <a16:creationId xmlns:a16="http://schemas.microsoft.com/office/drawing/2014/main" id="{63F824D6-150D-6C3F-F705-CED43C70F720}"/>
              </a:ext>
            </a:extLst>
          </p:cNvPr>
          <p:cNvSpPr txBox="1"/>
          <p:nvPr/>
        </p:nvSpPr>
        <p:spPr>
          <a:xfrm>
            <a:off x="291653" y="535365"/>
            <a:ext cx="11608694" cy="5632311"/>
          </a:xfrm>
          <a:prstGeom prst="rect">
            <a:avLst/>
          </a:prstGeom>
          <a:noFill/>
        </p:spPr>
        <p:txBody>
          <a:bodyPr wrap="square">
            <a:spAutoFit/>
          </a:bodyPr>
          <a:lstStyle/>
          <a:p>
            <a:r>
              <a:rPr lang="en-GB" sz="1800" b="1" dirty="0">
                <a:solidFill>
                  <a:schemeClr val="bg1"/>
                </a:solidFill>
              </a:rPr>
              <a:t>4. Accuracy of Quantification</a:t>
            </a:r>
          </a:p>
          <a:p>
            <a:r>
              <a:rPr lang="en-GB" sz="1800" b="1" dirty="0">
                <a:solidFill>
                  <a:schemeClr val="bg1"/>
                </a:solidFill>
              </a:rPr>
              <a:t>Question:</a:t>
            </a:r>
            <a:r>
              <a:rPr lang="en-GB" sz="1800" dirty="0">
                <a:solidFill>
                  <a:schemeClr val="bg1"/>
                </a:solidFill>
              </a:rPr>
              <a:t> How reliable is Raman-based quantification?</a:t>
            </a:r>
            <a:br>
              <a:rPr lang="en-GB" sz="1800" dirty="0">
                <a:solidFill>
                  <a:schemeClr val="bg1"/>
                </a:solidFill>
              </a:rPr>
            </a:br>
            <a:r>
              <a:rPr lang="en-GB" sz="1800" b="1" dirty="0">
                <a:solidFill>
                  <a:schemeClr val="bg1"/>
                </a:solidFill>
              </a:rPr>
              <a:t>Answer:</a:t>
            </a:r>
            <a:r>
              <a:rPr lang="en-GB" sz="1800" dirty="0">
                <a:solidFill>
                  <a:schemeClr val="bg1"/>
                </a:solidFill>
              </a:rPr>
              <a:t> Raman quantification can be challenging due to signal variability. However, with proper calibration and controlled experimental conditions, it can provide clinically useful approximate estimates.</a:t>
            </a:r>
          </a:p>
          <a:p>
            <a:endParaRPr lang="en-GB" sz="1800" dirty="0">
              <a:solidFill>
                <a:schemeClr val="bg1"/>
              </a:solidFill>
            </a:endParaRPr>
          </a:p>
          <a:p>
            <a:endParaRPr lang="en-GB" sz="1800" dirty="0">
              <a:solidFill>
                <a:schemeClr val="bg1"/>
              </a:solidFill>
            </a:endParaRPr>
          </a:p>
          <a:p>
            <a:r>
              <a:rPr lang="en-GB" sz="1800" b="1" dirty="0">
                <a:solidFill>
                  <a:schemeClr val="bg1"/>
                </a:solidFill>
              </a:rPr>
              <a:t>5. Dead vs Alive Bacteria</a:t>
            </a:r>
          </a:p>
          <a:p>
            <a:r>
              <a:rPr lang="en-GB" sz="1800" b="1" dirty="0">
                <a:solidFill>
                  <a:schemeClr val="bg1"/>
                </a:solidFill>
              </a:rPr>
              <a:t>Question:</a:t>
            </a:r>
            <a:r>
              <a:rPr lang="en-GB" sz="1800" dirty="0">
                <a:solidFill>
                  <a:schemeClr val="bg1"/>
                </a:solidFill>
              </a:rPr>
              <a:t> Raman detects dead bacteria as well—how do you address this limitation?</a:t>
            </a:r>
            <a:br>
              <a:rPr lang="en-GB" sz="1800" dirty="0">
                <a:solidFill>
                  <a:schemeClr val="bg1"/>
                </a:solidFill>
              </a:rPr>
            </a:br>
            <a:r>
              <a:rPr lang="en-GB" sz="1800" b="1" dirty="0">
                <a:solidFill>
                  <a:schemeClr val="bg1"/>
                </a:solidFill>
              </a:rPr>
              <a:t>Answer:</a:t>
            </a:r>
            <a:r>
              <a:rPr lang="en-GB" sz="1800" dirty="0">
                <a:solidFill>
                  <a:schemeClr val="bg1"/>
                </a:solidFill>
              </a:rPr>
              <a:t> Raman detects molecular signatures regardless of viability. To address this, time-dependent measurements can be used. If signal intensity increases over time, it indicates active bacterial growth rather than residual presence.</a:t>
            </a:r>
          </a:p>
          <a:p>
            <a:endParaRPr lang="en-GB" sz="1800" dirty="0">
              <a:solidFill>
                <a:schemeClr val="bg1"/>
              </a:solidFill>
            </a:endParaRPr>
          </a:p>
          <a:p>
            <a:endParaRPr lang="en-GB" sz="1800" dirty="0">
              <a:solidFill>
                <a:schemeClr val="bg1"/>
              </a:solidFill>
            </a:endParaRPr>
          </a:p>
          <a:p>
            <a:r>
              <a:rPr lang="en-GB" sz="1800" b="1" dirty="0">
                <a:solidFill>
                  <a:schemeClr val="bg1"/>
                </a:solidFill>
              </a:rPr>
              <a:t>6. Growth Monitoring</a:t>
            </a:r>
          </a:p>
          <a:p>
            <a:r>
              <a:rPr lang="en-GB" sz="1800" b="1" dirty="0">
                <a:solidFill>
                  <a:schemeClr val="bg1"/>
                </a:solidFill>
              </a:rPr>
              <a:t>Question:</a:t>
            </a:r>
            <a:r>
              <a:rPr lang="en-GB" sz="1800" dirty="0">
                <a:solidFill>
                  <a:schemeClr val="bg1"/>
                </a:solidFill>
              </a:rPr>
              <a:t> Can you track whether bacteria are multiplying?</a:t>
            </a:r>
            <a:br>
              <a:rPr lang="en-GB" sz="1800" dirty="0">
                <a:solidFill>
                  <a:schemeClr val="bg1"/>
                </a:solidFill>
              </a:rPr>
            </a:br>
            <a:r>
              <a:rPr lang="en-GB" sz="1800" b="1" dirty="0">
                <a:solidFill>
                  <a:schemeClr val="bg1"/>
                </a:solidFill>
              </a:rPr>
              <a:t>Answer:</a:t>
            </a:r>
            <a:r>
              <a:rPr lang="en-GB" sz="1800" dirty="0">
                <a:solidFill>
                  <a:schemeClr val="bg1"/>
                </a:solidFill>
              </a:rPr>
              <a:t> Yes. By acquiring Raman spectra at multiple time points (e.g., 0, 30, and 60 minutes), trends can be observed. Increasing intensity indicates active growth, while stable or decreasing intensity suggests inactive or controlled infection.</a:t>
            </a:r>
          </a:p>
          <a:p>
            <a:endParaRPr lang="en-GB" sz="1800" dirty="0">
              <a:solidFill>
                <a:schemeClr val="bg1"/>
              </a:solidFill>
            </a:endParaRPr>
          </a:p>
          <a:p>
            <a:endParaRPr lang="en-GB" sz="1800" dirty="0">
              <a:solidFill>
                <a:schemeClr val="bg1"/>
              </a:solidFill>
            </a:endParaRPr>
          </a:p>
        </p:txBody>
      </p:sp>
    </p:spTree>
    <p:extLst>
      <p:ext uri="{BB962C8B-B14F-4D97-AF65-F5344CB8AC3E}">
        <p14:creationId xmlns:p14="http://schemas.microsoft.com/office/powerpoint/2010/main" val="31399493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16523FD1-1A64-9B24-CA48-7C8EC0ABB70E}"/>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78084EA4-9717-056B-F780-6870549A0844}"/>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sp>
        <p:nvSpPr>
          <p:cNvPr id="3" name="TextBox 2">
            <a:extLst>
              <a:ext uri="{FF2B5EF4-FFF2-40B4-BE49-F238E27FC236}">
                <a16:creationId xmlns:a16="http://schemas.microsoft.com/office/drawing/2014/main" id="{05F41593-F6EC-777A-C3BC-317711EAC124}"/>
              </a:ext>
            </a:extLst>
          </p:cNvPr>
          <p:cNvSpPr txBox="1"/>
          <p:nvPr/>
        </p:nvSpPr>
        <p:spPr>
          <a:xfrm>
            <a:off x="284945" y="233603"/>
            <a:ext cx="11499224" cy="6186309"/>
          </a:xfrm>
          <a:prstGeom prst="rect">
            <a:avLst/>
          </a:prstGeom>
          <a:noFill/>
        </p:spPr>
        <p:txBody>
          <a:bodyPr wrap="square">
            <a:spAutoFit/>
          </a:bodyPr>
          <a:lstStyle/>
          <a:p>
            <a:r>
              <a:rPr lang="en-GB" sz="1800" b="1" dirty="0">
                <a:solidFill>
                  <a:schemeClr val="bg1"/>
                </a:solidFill>
              </a:rPr>
              <a:t>7. Predictive </a:t>
            </a:r>
            <a:r>
              <a:rPr lang="en-GB" sz="1800" b="1" dirty="0" err="1">
                <a:solidFill>
                  <a:schemeClr val="bg1"/>
                </a:solidFill>
              </a:rPr>
              <a:t>Modeling</a:t>
            </a:r>
            <a:endParaRPr lang="en-GB" sz="1800" b="1" dirty="0">
              <a:solidFill>
                <a:schemeClr val="bg1"/>
              </a:solidFill>
            </a:endParaRPr>
          </a:p>
          <a:p>
            <a:r>
              <a:rPr lang="en-GB" sz="1800" b="1" dirty="0">
                <a:solidFill>
                  <a:schemeClr val="bg1"/>
                </a:solidFill>
              </a:rPr>
              <a:t>Question:</a:t>
            </a:r>
            <a:r>
              <a:rPr lang="en-GB" sz="1800" dirty="0">
                <a:solidFill>
                  <a:schemeClr val="bg1"/>
                </a:solidFill>
              </a:rPr>
              <a:t> Can we build a model to estimate bacterial quantity?</a:t>
            </a:r>
            <a:br>
              <a:rPr lang="en-GB" sz="1800" dirty="0">
                <a:solidFill>
                  <a:schemeClr val="bg1"/>
                </a:solidFill>
              </a:rPr>
            </a:br>
            <a:r>
              <a:rPr lang="en-GB" sz="1800" b="1" dirty="0">
                <a:solidFill>
                  <a:schemeClr val="bg1"/>
                </a:solidFill>
              </a:rPr>
              <a:t>Answer:</a:t>
            </a:r>
            <a:r>
              <a:rPr lang="en-GB" sz="1800" dirty="0">
                <a:solidFill>
                  <a:schemeClr val="bg1"/>
                </a:solidFill>
              </a:rPr>
              <a:t> Yes. Models can be developed to map spectral features to concentration. Additionally, machine learning approaches such as regression or neural networks can improve prediction accuracy.</a:t>
            </a:r>
          </a:p>
          <a:p>
            <a:endParaRPr lang="en-GB" sz="1800" b="1" dirty="0">
              <a:solidFill>
                <a:schemeClr val="bg1"/>
              </a:solidFill>
            </a:endParaRPr>
          </a:p>
          <a:p>
            <a:br>
              <a:rPr lang="en-GB" sz="1800" b="1" dirty="0">
                <a:solidFill>
                  <a:schemeClr val="bg1"/>
                </a:solidFill>
              </a:rPr>
            </a:br>
            <a:r>
              <a:rPr lang="en-GB" sz="1800" b="1" dirty="0">
                <a:solidFill>
                  <a:schemeClr val="bg1"/>
                </a:solidFill>
              </a:rPr>
              <a:t>8. Clinical Usefulness</a:t>
            </a:r>
          </a:p>
          <a:p>
            <a:r>
              <a:rPr lang="en-GB" sz="1800" b="1" dirty="0">
                <a:solidFill>
                  <a:schemeClr val="bg1"/>
                </a:solidFill>
              </a:rPr>
              <a:t>Question:</a:t>
            </a:r>
            <a:r>
              <a:rPr lang="en-GB" sz="1800" dirty="0">
                <a:solidFill>
                  <a:schemeClr val="bg1"/>
                </a:solidFill>
              </a:rPr>
              <a:t> How will this approach help clinicians?</a:t>
            </a:r>
            <a:br>
              <a:rPr lang="en-GB" sz="1800" dirty="0">
                <a:solidFill>
                  <a:schemeClr val="bg1"/>
                </a:solidFill>
              </a:rPr>
            </a:br>
            <a:r>
              <a:rPr lang="en-GB" sz="1800" b="1" dirty="0">
                <a:solidFill>
                  <a:schemeClr val="bg1"/>
                </a:solidFill>
              </a:rPr>
              <a:t>Answer:</a:t>
            </a:r>
            <a:r>
              <a:rPr lang="en-GB" sz="1800" dirty="0">
                <a:solidFill>
                  <a:schemeClr val="bg1"/>
                </a:solidFill>
              </a:rPr>
              <a:t> It provides rapid information on both the presence and approximate bacterial load, enabling clinicians to decide whether treatment is necessary and how aggressive it should be.</a:t>
            </a:r>
          </a:p>
          <a:p>
            <a:endParaRPr lang="en-GB" sz="1800" dirty="0">
              <a:solidFill>
                <a:schemeClr val="bg1"/>
              </a:solidFill>
            </a:endParaRPr>
          </a:p>
          <a:p>
            <a:endParaRPr lang="en-GB" sz="1800" dirty="0">
              <a:solidFill>
                <a:schemeClr val="bg1"/>
              </a:solidFill>
            </a:endParaRPr>
          </a:p>
          <a:p>
            <a:r>
              <a:rPr lang="en-GB" sz="1800" b="1" dirty="0">
                <a:solidFill>
                  <a:schemeClr val="bg1"/>
                </a:solidFill>
              </a:rPr>
              <a:t>9. Importance of Quantification</a:t>
            </a:r>
          </a:p>
          <a:p>
            <a:r>
              <a:rPr lang="en-GB" sz="1800" b="1" dirty="0">
                <a:solidFill>
                  <a:schemeClr val="bg1"/>
                </a:solidFill>
              </a:rPr>
              <a:t>Question:</a:t>
            </a:r>
            <a:r>
              <a:rPr lang="en-GB" sz="1800" dirty="0">
                <a:solidFill>
                  <a:schemeClr val="bg1"/>
                </a:solidFill>
              </a:rPr>
              <a:t> Why is quantification important clinically?</a:t>
            </a:r>
            <a:br>
              <a:rPr lang="en-GB" sz="1800" dirty="0">
                <a:solidFill>
                  <a:schemeClr val="bg1"/>
                </a:solidFill>
              </a:rPr>
            </a:br>
            <a:r>
              <a:rPr lang="en-GB" sz="1800" b="1" dirty="0">
                <a:solidFill>
                  <a:schemeClr val="bg1"/>
                </a:solidFill>
              </a:rPr>
              <a:t>Answer:</a:t>
            </a:r>
            <a:r>
              <a:rPr lang="en-GB" sz="1800" dirty="0">
                <a:solidFill>
                  <a:schemeClr val="bg1"/>
                </a:solidFill>
              </a:rPr>
              <a:t> Bacterial load correlates with disease severity. Low levels may not require antibiotics, whereas high levels indicate active infection requiring intervention. Therefore, quantification supports clinical decision-making.</a:t>
            </a:r>
          </a:p>
          <a:p>
            <a:endParaRPr lang="en-GB" sz="1800" dirty="0">
              <a:solidFill>
                <a:schemeClr val="bg1"/>
              </a:solidFill>
            </a:endParaRPr>
          </a:p>
          <a:p>
            <a:endParaRPr lang="en-GB" sz="1800" dirty="0">
              <a:solidFill>
                <a:schemeClr val="bg1"/>
              </a:solidFill>
            </a:endParaRPr>
          </a:p>
          <a:p>
            <a:r>
              <a:rPr lang="en-GB" sz="1800" b="1" dirty="0">
                <a:solidFill>
                  <a:schemeClr val="bg1"/>
                </a:solidFill>
              </a:rPr>
              <a:t>10. Clinical Validation</a:t>
            </a:r>
          </a:p>
          <a:p>
            <a:r>
              <a:rPr lang="en-GB" sz="1800" b="1" dirty="0">
                <a:solidFill>
                  <a:schemeClr val="bg1"/>
                </a:solidFill>
              </a:rPr>
              <a:t>Question:</a:t>
            </a:r>
            <a:r>
              <a:rPr lang="en-GB" sz="1800" dirty="0">
                <a:solidFill>
                  <a:schemeClr val="bg1"/>
                </a:solidFill>
              </a:rPr>
              <a:t> What level of estimation is useful for clinicians?</a:t>
            </a:r>
            <a:br>
              <a:rPr lang="en-GB" sz="1800" dirty="0">
                <a:solidFill>
                  <a:schemeClr val="bg1"/>
                </a:solidFill>
              </a:rPr>
            </a:br>
            <a:r>
              <a:rPr lang="en-GB" sz="1800" b="1" dirty="0">
                <a:solidFill>
                  <a:schemeClr val="bg1"/>
                </a:solidFill>
              </a:rPr>
              <a:t>Answer:</a:t>
            </a:r>
            <a:r>
              <a:rPr lang="en-GB" sz="1800" dirty="0">
                <a:solidFill>
                  <a:schemeClr val="bg1"/>
                </a:solidFill>
              </a:rPr>
              <a:t> This requires validation with clinicians to determine what level of accuracy is clinically actionable and what thresholds should guide treatment decisions.</a:t>
            </a:r>
          </a:p>
        </p:txBody>
      </p:sp>
    </p:spTree>
    <p:extLst>
      <p:ext uri="{BB962C8B-B14F-4D97-AF65-F5344CB8AC3E}">
        <p14:creationId xmlns:p14="http://schemas.microsoft.com/office/powerpoint/2010/main" val="35401772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42"/>
        <p:cNvGrpSpPr/>
        <p:nvPr/>
      </p:nvGrpSpPr>
      <p:grpSpPr>
        <a:xfrm>
          <a:off x="0" y="0"/>
          <a:ext cx="0" cy="0"/>
          <a:chOff x="0" y="0"/>
          <a:chExt cx="0" cy="0"/>
        </a:xfrm>
      </p:grpSpPr>
      <p:pic>
        <p:nvPicPr>
          <p:cNvPr id="343" name="Google Shape;343;p4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44" name="Google Shape;344;p43"/>
          <p:cNvSpPr txBox="1"/>
          <p:nvPr/>
        </p:nvSpPr>
        <p:spPr>
          <a:xfrm>
            <a:off x="1130379" y="2394644"/>
            <a:ext cx="9931200" cy="83099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0" i="0" u="none" strike="noStrike" cap="none" dirty="0">
                <a:solidFill>
                  <a:srgbClr val="F8FAFC"/>
                </a:solidFill>
                <a:latin typeface="Outfit SemiBold"/>
                <a:ea typeface="Outfit SemiBold"/>
                <a:cs typeface="Outfit SemiBold"/>
                <a:sym typeface="Outfit SemiBold"/>
              </a:rPr>
              <a:t>Questions &amp; Discussion</a:t>
            </a:r>
            <a:endParaRPr sz="1050" dirty="0"/>
          </a:p>
        </p:txBody>
      </p:sp>
      <p:sp>
        <p:nvSpPr>
          <p:cNvPr id="345" name="Google Shape;345;p43"/>
          <p:cNvSpPr txBox="1"/>
          <p:nvPr/>
        </p:nvSpPr>
        <p:spPr>
          <a:xfrm>
            <a:off x="4019550" y="3832919"/>
            <a:ext cx="4152900" cy="787908"/>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3200" b="0" i="0" u="none" strike="noStrike" cap="none" dirty="0">
                <a:solidFill>
                  <a:srgbClr val="CBD5E1"/>
                </a:solidFill>
                <a:latin typeface="Inter"/>
                <a:ea typeface="Inter"/>
                <a:cs typeface="Inter"/>
                <a:sym typeface="Inter"/>
              </a:rPr>
              <a:t>Thank you </a:t>
            </a:r>
            <a:endParaRPr sz="18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1324</TotalTime>
  <Words>3294</Words>
  <Application>Microsoft Office PowerPoint</Application>
  <PresentationFormat>Widescreen</PresentationFormat>
  <Paragraphs>559</Paragraphs>
  <Slides>49</Slides>
  <Notes>49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Calibri</vt:lpstr>
      <vt:lpstr>Arial</vt:lpstr>
      <vt:lpstr>Outfit SemiBold</vt:lpstr>
      <vt:lpstr>Times New Roman</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Sukesh Periyasamy</dc:creator>
  <cp:lastModifiedBy>subash P</cp:lastModifiedBy>
  <cp:revision>17</cp:revision>
  <dcterms:modified xsi:type="dcterms:W3CDTF">2026-04-08T01:52:48Z</dcterms:modified>
</cp:coreProperties>
</file>