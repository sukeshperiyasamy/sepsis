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3A6606B-6968-45D7-B732-A66EF79815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3362BEEB-CE2E-469E-9DA9-0CECCB4141C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72e22394_1_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72e22394_1_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5c8a7ea8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5c8a7ea8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5c8a7ea88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5c8a7ea88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531f5c6af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531f5c6af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2cbf42029_0_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2cbf42029_0_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5c8a7ea88_1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5c8a7ea88_1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5c8a7ea88_1_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5c8a7ea88_1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5c8a7ea88_0_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5c8a7ea88_0_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1.xml"/><Relationship Id="rId5" Type="http://schemas.openxmlformats.org/officeDocument/2006/relationships/hyperlink" Target="https://www.sigmaaldrich.com/IN/en/product/sigma/l5293?srsltid=AfmBOorYJpVa0gVxS5WNOjxahytW76fNyiwc10s1sbs2fp07uPhn5fqA&amp;utm_source=chatgpt.com" TargetMode="External"/><Relationship Id="rId4" Type="http://schemas.openxmlformats.org/officeDocument/2006/relationships/hyperlink" Target="https://cdn.caymanchem.com/cdn/msds/31330m.pdf?utm_source=chatgpt.com" TargetMode="External"/><Relationship Id="rId3" Type="http://schemas.openxmlformats.org/officeDocument/2006/relationships/hyperlink" Target="https://www.chemicalbook.com/ChemicalProductProperty_EN_CB6313265.htm?utm_source=chatgpt.com" TargetMode="External"/><Relationship Id="rId2" Type="http://schemas.openxmlformats.org/officeDocument/2006/relationships/hyperlink" Target="https://www.sigmaaldrich.com/IN/en/product/sigma/l2515?srsltid=AfmBOoqBCDsq_nJyrMmDJXfmLPZda8L29Zg07Q9-3w9a6kBJrdw0hvb-&amp;utm_source=chatgpt.com" TargetMode="External"/><Relationship Id="rId1" Type="http://schemas.openxmlformats.org/officeDocument/2006/relationships/hyperlink" Target="https://www.sigmaaldrich.com/deepweb/assets/sigmaaldrich/product/documents/175/351/l2515pis.pdf?srsltid=AfmBOoog6BjwQ_sawG9x9_D6BtzHm8XEzXiRszrJ4YlVlF7y2gg0NSR8&amp;utm_source=chatgpt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73425" y="-66675"/>
            <a:ext cx="9317424" cy="524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27850" y="133675"/>
            <a:ext cx="8787600" cy="48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u="sng">
                <a:solidFill>
                  <a:schemeClr val="dk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Confirmation of Biomarker panel </a:t>
            </a:r>
            <a:endParaRPr sz="1900" b="1" u="sng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 u="sng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u="sng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Universal Bacterial Detection </a:t>
            </a: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:N-acetylmuramic acid (NAM)</a:t>
            </a:r>
            <a:endParaRPr sz="1800" b="1" u="sng">
              <a:solidFill>
                <a:schemeClr val="dk1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 b="1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Gram-Positive–Specific Marker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Lipoteichoic Acid (LTA)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 b="1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Gram Negative specific marker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:Lipopolysaccharides (LPS)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following panel is selected on the basis biomarker exclusivity to bacteria, surface accessibility for SERS detection, and Gram classification capability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97600" y="220850"/>
            <a:ext cx="8700300" cy="47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b="1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Computational Approach Overview </a:t>
            </a:r>
            <a:r>
              <a:rPr lang="en-GB" sz="20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endParaRPr sz="20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 team conducted simulations using few basic molecules to </a:t>
            </a: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learn</a:t>
            </a: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about the software  settings and configuration.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Gained </a:t>
            </a: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proficiency</a:t>
            </a: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to apply it to our selected biomarker panel and help in the project goals.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 panose="02020603050405020304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Interpretation and analysis of raman spectrum using </a:t>
            </a:r>
            <a:r>
              <a:rPr lang="en-GB" sz="1800">
                <a:solidFill>
                  <a:srgbClr val="222222"/>
                </a:solidFill>
                <a:highlight>
                  <a:srgbClr val="FFFFFF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KnowItAll® Raman Identification Pro  software suite will be carried out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10425" y="151100"/>
            <a:ext cx="8857200" cy="48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9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Pure Biomarker standards </a:t>
            </a:r>
            <a:endParaRPr sz="19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Procurement procedures following institute administrative process is completed and first consignment of biomarkers are </a:t>
            </a: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received</a:t>
            </a: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.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With procurement milestones and technical preparation, the research team is looking forward to transition  from planning and preparation to active experimental work with confidence and efficiency.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17"/>
          <p:cNvGraphicFramePr/>
          <p:nvPr/>
        </p:nvGraphicFramePr>
        <p:xfrm>
          <a:off x="348450" y="823625"/>
          <a:ext cx="8082650" cy="3660700"/>
        </p:xfrm>
        <a:graphic>
          <a:graphicData uri="http://schemas.openxmlformats.org/drawingml/2006/table">
            <a:tbl>
              <a:tblPr>
                <a:noFill/>
                <a:tableStyleId>{43A6606B-6968-45D7-B732-A66EF7981598}</a:tableStyleId>
              </a:tblPr>
              <a:tblGrid>
                <a:gridCol w="949275"/>
                <a:gridCol w="1285925"/>
                <a:gridCol w="2134950"/>
                <a:gridCol w="1020150"/>
                <a:gridCol w="1067825"/>
                <a:gridCol w="1624525"/>
              </a:tblGrid>
              <a:tr h="65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Biomarker / Solvent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Water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PBS (pH 7.2–7.4)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DMSO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DMF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Ethanol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5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LTA (Staph. aureus)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5 mg/mL (hazy)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1"/>
                        </a:rPr>
                        <a:t>MilliporeSigma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Moderate (hazy; comparable to water), </a:t>
                      </a:r>
                      <a:r>
                        <a:rPr lang="en-GB" sz="1100" b="1" i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qualitative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2"/>
                        </a:rPr>
                        <a:t>MilliporeSigma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Unknown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Unknown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Moderate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2"/>
                        </a:rPr>
                        <a:t>MilliporeSigma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MurNAc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~50 mg/mL (clear)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3"/>
                        </a:rPr>
                        <a:t>ChemicalBook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~10 mg/mL (</a:t>
                      </a:r>
                      <a:r>
                        <a:rPr lang="en-GB" sz="1100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4"/>
                        </a:rPr>
                        <a:t>Cayman Chemical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~30 mg/mL (</a:t>
                      </a:r>
                      <a:r>
                        <a:rPr lang="en-GB" sz="1100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4"/>
                        </a:rPr>
                        <a:t>Cayman Chemical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~2.5 mg/mL (</a:t>
                      </a:r>
                      <a:r>
                        <a:rPr lang="en-GB" sz="1100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4"/>
                        </a:rPr>
                        <a:t>Cayman Chemical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Unknown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3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LPS (E. coli O111:B4)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~5 mg/mL (hazy; up to ~20 mg/mL with heat)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5"/>
                        </a:rPr>
                        <a:t>MilliporeSigma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Moderate (hazy solutions in PBS; similar to water)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5"/>
                        </a:rPr>
                        <a:t>MilliporeSigma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Poor / Not reported (organic solvents do not yield clearer solutions)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5"/>
                        </a:rPr>
                        <a:t>MilliporeSigma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Unknown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Poor (methanol/ethanol produce turbid suspensions with precipitates) (</a:t>
                      </a:r>
                      <a:r>
                        <a:rPr lang="en-GB" sz="1100" b="1" u="sng">
                          <a:solidFill>
                            <a:schemeClr val="hlink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  <a:hlinkClick r:id="rId5"/>
                        </a:rPr>
                        <a:t>MilliporeSigma</a:t>
                      </a:r>
                      <a:r>
                        <a:rPr lang="en-GB" sz="1100" b="1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)</a:t>
                      </a:r>
                      <a:endParaRPr sz="1100" b="1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5" name="Google Shape;75;p17"/>
          <p:cNvSpPr txBox="1"/>
          <p:nvPr/>
        </p:nvSpPr>
        <p:spPr>
          <a:xfrm>
            <a:off x="341175" y="192125"/>
            <a:ext cx="81450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1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 table for Which Solvent Has the </a:t>
            </a:r>
            <a:r>
              <a:rPr lang="en-GB" sz="1100" b="1" i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Highest Overall Solubility?</a:t>
            </a:r>
            <a:endParaRPr sz="1100" b="1" i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235600" y="244925"/>
            <a:ext cx="36501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Best Solvent for Each Biomarker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1" name="Google Shape;81;p18"/>
          <p:cNvGraphicFramePr/>
          <p:nvPr/>
        </p:nvGraphicFramePr>
        <p:xfrm>
          <a:off x="786575" y="73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{3362BEEB-CE2E-469E-9DA9-0CECCB4141CD}</a:tableStyleId>
              </a:tblPr>
              <a:tblGrid>
                <a:gridCol w="829050"/>
                <a:gridCol w="2163950"/>
              </a:tblGrid>
              <a:tr h="370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Biomarker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Best Solvent /Highest Solubility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  <a:tr h="356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LTA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Water (5 mg/mL) 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  <a:tr h="356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MurNAc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Water (~50 mg/mL) 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  <a:tr h="356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LPS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Water (~5 mg/mL)  </a:t>
                      </a:r>
                      <a:endParaRPr lang="en-GB" sz="11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82" name="Google Shape;82;p18"/>
          <p:cNvSpPr txBox="1"/>
          <p:nvPr/>
        </p:nvSpPr>
        <p:spPr>
          <a:xfrm>
            <a:off x="703200" y="2748800"/>
            <a:ext cx="5196300" cy="14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Water is the first choice:</a:t>
            </a:r>
            <a:endParaRPr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●"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Water has </a:t>
            </a: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very weak Raman background</a:t>
            </a:r>
            <a:endParaRPr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●"/>
            </a:pP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phosphate → </a:t>
            </a:r>
            <a:r>
              <a:rPr lang="en-GB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 overlap</a:t>
            </a:r>
            <a:r>
              <a:rPr lang="en-GB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with biomarker peaks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19"/>
          <p:cNvGraphicFramePr/>
          <p:nvPr/>
        </p:nvGraphicFramePr>
        <p:xfrm>
          <a:off x="349125" y="712300"/>
          <a:ext cx="3309775" cy="3000000"/>
        </p:xfrm>
        <a:graphic>
          <a:graphicData uri="http://schemas.openxmlformats.org/drawingml/2006/table">
            <a:tbl>
              <a:tblPr>
                <a:noFill/>
                <a:tableStyleId>{3362BEEB-CE2E-469E-9DA9-0CECCB4141CD}</a:tableStyleId>
              </a:tblPr>
              <a:tblGrid>
                <a:gridCol w="1450075"/>
                <a:gridCol w="1859700"/>
              </a:tblGrid>
              <a:tr h="338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Dilution</a:t>
                      </a:r>
                      <a:endParaRPr lang="en-GB" sz="12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Concentration (mg/mL)</a:t>
                      </a:r>
                      <a:endParaRPr lang="en-GB" sz="1200" b="1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25" marR="91425" marT="91425" marB="91425"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Stock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1.0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10⁻¹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0.1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10⁻²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0.01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10⁻³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0.001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10⁻⁴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0.0001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525" marR="9525" marT="9525" marB="9525">
                    <a:lnL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2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19"/>
          <p:cNvSpPr txBox="1"/>
          <p:nvPr/>
        </p:nvSpPr>
        <p:spPr>
          <a:xfrm>
            <a:off x="258200" y="290200"/>
            <a:ext cx="37170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Minimum Limit of Detection (LOD)</a:t>
            </a:r>
            <a:endParaRPr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4330825" y="1248025"/>
            <a:ext cx="4525200" cy="3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Goal</a:t>
            </a:r>
            <a:r>
              <a:rPr lang="en-GB"/>
              <a:t>: Collect reliable spectra.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each biomarker: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Measure spectra at each concentration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Maintain same acquisition settings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Collect: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Multiple spectra per condition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Check: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Whether expected characteristic peaks appear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Whether peak positions remain stable across concentrations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Compare: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Across concentrations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Across sensors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629225" y="479125"/>
            <a:ext cx="7671900" cy="41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800" b="1">
                <a:solidFill>
                  <a:schemeClr val="dk2"/>
                </a:solidFill>
              </a:rPr>
              <a:t>Thank You</a:t>
            </a:r>
            <a:endParaRPr sz="38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2473</Words>
  <Application>WPS Presentation</Application>
  <PresentationFormat/>
  <Paragraphs>159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19UCIT051 SUKESH P</cp:lastModifiedBy>
  <cp:revision>1</cp:revision>
  <dcterms:created xsi:type="dcterms:W3CDTF">2026-01-09T09:19:24Z</dcterms:created>
  <dcterms:modified xsi:type="dcterms:W3CDTF">2026-01-09T09:19:24Z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F0DE4CCD99444A5191E8ABF16047FC36_12</vt:lpwstr>
  </property>
  <property fmtid="{D5CDD505-2E9C-101B-9397-08002B2CF9AE}" pid="3" name="KSOProductBuildVer">
    <vt:lpwstr>1033-12.2.0.23196</vt:lpwstr>
  </property>
</Properties>
</file>