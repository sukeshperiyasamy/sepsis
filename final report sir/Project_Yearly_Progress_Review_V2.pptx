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328" r:id="rId2"/>
    <p:sldId id="293" r:id="rId3"/>
    <p:sldId id="294" r:id="rId4"/>
    <p:sldId id="295" r:id="rId5"/>
    <p:sldId id="329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" y="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073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Yearly review. Narrative: reference fingerprints established for all three biomarkers, two SERS substrate generations built and validated, NAM and LTA trials completed, artifact-screening criterion established. Key remaining challenge is reproducible biomarker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Sensor System for Early Prediction of</a:t>
            </a:r>
            <a:endParaRPr lang="en-US" sz="3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in Neonates and High-Risk Adults</a:t>
            </a:r>
            <a:endParaRPr lang="en-US" sz="3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SERS-Based Detection of Bacterial Cell-Wall Biomarkers  |  NAM · LPS · LTA</a:t>
            </a:r>
            <a:endParaRPr lang="en-US"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13716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Project Progress Review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PI: Prof. Ajay Agarwal (IIT Jodhpur)   |   Co-PI: Prof. (Dr.) Neeraj (AIIMS Jodhpur)   |   Co-PIs: TCS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4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MOTIVATION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is a dysregulated host response to infection and a leading cause of mortality in neonates and critically ill adults.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diagnosis depends on blood culture (24–72 h), immunoassays and PCR — accurate but slow and infrastructure-heavy.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Host-response markers (CRP, PCT, IL-6) are faster, but only indirect indicators of infection.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enables label-free, minimal-preparation detection of bacterial structural components — direct evidence of the pathogen itself.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40880" y="1508760"/>
            <a:ext cx="4572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6948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 h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06840" y="1645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Blood-culture turnaround the project aims to improve 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40880" y="2880360"/>
            <a:ext cx="4572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269480" y="3017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006840" y="30175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cell-wall biomarkers targeted: NAM, LPS, LTA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40880" y="4251960"/>
            <a:ext cx="4572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269480" y="43891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785 nm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006840" y="4389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 excitation used throughout the study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targets bacterial cell-wall components rather than host-response markers, so that a positive signal is direct evidence of bacterial presence.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673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CHALLENGE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validated, rapid, label-free platform exists for direct detection of bacterial cell-wall biomarkers within a sepsis-relevant timeframe.</a:t>
            </a:r>
            <a:endParaRPr lang="en-US" sz="19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prerequisites must be established before such a platform can be built — both were the focus of this year's work: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44068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1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Raman fingerprint library for the target biomarkers — combining DFT prediction with experimental pure-standard measurement.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4663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this year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2697480"/>
            <a:ext cx="544068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2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92240" y="33375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SERS-active sensing substrate, demonstrated to enhance Raman signal, before applying it to the harder problem of detecting a specific biomarker at low concentration.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92240" y="4663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built and validated;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optimization ongoing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1453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DEFINED IN THE PROPOSAL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Project Objectives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62456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5636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563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Discovery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bacterial biomarkers of Gram-positive and Gram-negative sepsis using Raman spectroscopy and purified components.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24780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SERS-Based Sensing Technology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optimize a SERS-enabled nanosensor chip with enhanced Raman signals.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" y="33924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 Raman Analysis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0" y="3337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machine-learning approaches for automated Raman spectral classification.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" y="43068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63440" y="42519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sensor on clinical isolates and patient samples for sensitivity and specificity.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7240" y="52212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7160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Prototype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63440" y="5166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sensing and analysis into a portable Raman-based point-of-care system.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3380" y="5916168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68680" y="60533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year's work targets Objectives 1 and 2,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generates the structured Raman datasets that Objective 3 will later require.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279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YEAR SITS IN THE FULL PROGRAMME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Roadmap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51790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" y="208026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18842" y="200710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801722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865730" y="151790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65730" y="208026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1923" y="200710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54803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18811" y="151790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Raman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18811" y="208026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25005" y="200710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07885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71893" y="151790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substrate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71893" y="208026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78086" y="200710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560966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24974" y="151790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biomarker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24974" y="208026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2648" y="307238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" y="363474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618842" y="35615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801722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65730" y="307238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isolate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65730" y="363474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1923" y="35615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054803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118811" y="307238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18811" y="363474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125005" y="35615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307885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371893" y="307238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71893" y="363474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378086" y="35615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560966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624974" y="3072384"/>
            <a:ext cx="1923898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624974" y="3634740"/>
            <a:ext cx="1923898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68680" y="486460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after year one: 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computational and experimental Raman foundation is in place and the sensing hardware exists and is validated. The programme now turns from </a:t>
            </a: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capability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reproducible biomarker detection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gateway to all later phases.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547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PROJECT AREAS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Progress at a Glance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76656" y="1545336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6112" y="1417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selection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4612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" y="2295144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96112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modelling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46120" y="21671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76656" y="3044952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6112" y="29169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Raman characterization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291693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6656" y="3794760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6112" y="366674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 reference library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46120" y="366674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for NAM, LTA and LPS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76656" y="4544568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" y="44165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substrate fabrication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46120" y="44165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generations 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76656" y="5294376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96112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 substrate 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46120" y="5166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72200" y="1417320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00216" y="1545336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19672" y="1417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SERS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86968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Attempted; not reproducibly detected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72200" y="2167128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00216" y="2295144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19672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SERS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869680" y="21671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Attempted; candidate rejected as detector artifact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72200" y="2916936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300216" y="3044952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9672" y="29169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SERS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869680" y="291693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performed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72200" y="3666744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300216" y="3794760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519672" y="366674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analysis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869680" y="366674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172200" y="4416552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00216" y="4544568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519672" y="44165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869680" y="441655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172200" y="5166360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00216" y="5294376"/>
            <a:ext cx="82296" cy="384048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9672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prototype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869680" y="5166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stage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49808" y="6016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493008" y="6016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236208" y="6016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228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THE ORIGINAL PROPOSAL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 vs. Work Completed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597571"/>
              </p:ext>
            </p:extLst>
          </p:nvPr>
        </p:nvGraphicFramePr>
        <p:xfrm>
          <a:off x="548640" y="1325880"/>
          <a:ext cx="11064240" cy="4572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Original plan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Work performed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Evidence / result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Raman characterization of purified NAM, LPS and LTA; build a reference spectral library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DFT Raman simulation and optimized pure-powder Raman measurement for all three biomarkers; theory-vs-experiment comparison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 NAM peaks matched (low RMSE); LTA composite reconstruction; LPS NNLS fit R² = 0.18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Completed for the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selected biomarkers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Develop and optimize a SERS-enabled nanosensor chip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Two Ag-coated silicon substrate generations fabricated — Sensor 1 (Ag/Si) and Sensor 2 (Ag/black-Si, MACE at 2, 5 and 10 min)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Both generations SERS-active with R6G; 2-minute etch best among Sensor 2 variants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Substrate complete;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optimization ongoing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Apply the substrate to the target biomarkers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 SERS trials on both generations; LTA SERS trial on Sensor 2; pixel-level validation of candidate peaks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 reproducible reference-band detection; LTA 1095 cm⁻¹ candidate rejected as detector artifact; validation criterion established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Trials complete;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detection pending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467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Characterization Workflow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563624"/>
            <a:ext cx="192389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/ LPS / LTA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" y="2240280"/>
            <a:ext cx="1923898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 +/- cell-wall targets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18842" y="216712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801722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865730" y="1563624"/>
            <a:ext cx="192389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modelling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65730" y="2240280"/>
            <a:ext cx="1923898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molecule (NAM)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(LPS, LTA)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1923" y="216712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54803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18811" y="1563624"/>
            <a:ext cx="192389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Raman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18811" y="2240280"/>
            <a:ext cx="1923898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optimized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SNR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25005" y="216712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07885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71893" y="1563624"/>
            <a:ext cx="192389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71893" y="2240280"/>
            <a:ext cx="1923898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vs. experiment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78086" y="216712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560966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24974" y="1563624"/>
            <a:ext cx="192389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testing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24974" y="2240280"/>
            <a:ext cx="1923898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fabricated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3291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biomarker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554755"/>
              </p:ext>
            </p:extLst>
          </p:nvPr>
        </p:nvGraphicFramePr>
        <p:xfrm>
          <a:off x="548640" y="3611880"/>
          <a:ext cx="11064240" cy="1391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Biomarker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DFT approach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Pure Raman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Reference outcome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SERS stage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Full-molecule DFT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Optimized powder Raman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(25 s, 80% power, SNR 95.91)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 matched peaks, low RMSE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Trials on Sensor 1 and 2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LPS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5-fragment DFT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Optimized powder Raman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(60 s, 20% power, 30 acc.)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NNLS composite fit, R² = 0.18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Not yet performed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LTA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3-fragment DFT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Powder Raman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Qualitative composite agreement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Trial on Sensor 2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9549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STRONGEST THEORY–EXPERIMENT AGREEMENT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— DFT Modelling and Pure Raman Reference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4112"/>
            <a:ext cx="7589520" cy="32760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9262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NAM spectrum overlaid with the DFT-simulated spectrum (full-molecule model)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366760" y="137160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595360" y="15087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matched between experiment and DFT simulation, with low RMSE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66760" y="29260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is specific to bacterial peptidoglycan and absent from human biomolecules.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as a complete molecule, since the Raman spectrum arises from coupled modes across the whole framework.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optimized by SNR before the reference spectrum was fixed.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validated reference against which all NAM SERS work is judged.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matched peaks — 284.3 / 282.5 (ring deformation) · 955.9 / 965.7 (ring breathing) · 1155.4 / 1156.9 (C–O–C) · 1700.7 / 1725.1 cm⁻¹ (carbonyl). </a:t>
            </a:r>
          </a:p>
        </p:txBody>
      </p:sp>
    </p:spTree>
    <p:extLst>
      <p:ext uri="{BB962C8B-B14F-4D97-AF65-F5344CB8AC3E}">
        <p14:creationId xmlns:p14="http://schemas.microsoft.com/office/powerpoint/2010/main" val="359342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BIOMARKER DETECTION ATTEMPT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— SERS Trial and Result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56784"/>
            <a:ext cx="5486400" cy="31763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183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— pure NAM reference vs. Sensor 1 SERS experiment (both normalised)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70018"/>
            <a:ext cx="5440680" cy="31498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471830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— pure NAM reference vs. Sensor 2 SERS experiment (2-minute etch)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8640" y="51663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868680" y="528523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SERS: attempted, but no reproducible reference-band detection was achieved.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Sensor 2: no validated reference band reached SNR ≥ 3 reproducibly on any etch-time substrate.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1 — a reproducible candidate appeared at ~243 cm⁻¹ (7/7 replicates, SNR 5.8–39). 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— outside the 400–1800 cm⁻¹ pure-reference range, so it cannot be verified against the established NAM reference. It is not presented as NAM detection.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9785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GRAM-NEGATIVE MARKER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— Fragment Modelling and Pure Raman Reference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57" y="1371600"/>
            <a:ext cx="6051406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926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NNLS-optimized five-fragment composite vs. experimental LPS spectrum, with residual structure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26680" y="1417320"/>
            <a:ext cx="1197864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90688" y="1472184"/>
            <a:ext cx="1069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5-fragment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942832" y="1755648"/>
            <a:ext cx="109728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070848" y="1417320"/>
            <a:ext cx="1197864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34856" y="1472184"/>
            <a:ext cx="1069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Raman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287000" y="1755648"/>
            <a:ext cx="109728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0415016" y="1417320"/>
            <a:ext cx="1197864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479024" y="1472184"/>
            <a:ext cx="1069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26680" y="2423160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955280" y="25603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0.18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NNLS-optimized composite (RMSE 0.185, correlation 0.508)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26680" y="3611880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Full-molecule simulation is impractical, so five representative fragments were modelled (Kdo, D-glucosamine, heptose, myristic acid, phosphoric acid).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reproduces the 900–1100 cm⁻¹ sugar / ring / backbone region.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fit remains moderate — consistent with LPS being a large, heterogeneous molecule poorly represented by a small fragment set.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8640" y="5623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967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EXPERIMENT STILL TO BE PERFORMED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— Current SERS Status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SERS measurement has NOT YET been performed.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LPS SERS spectrum or pure-reference-versus-SERS comparison exists at this stage. LPS SERS remains a planned next experiment, following optimization of the NAM and LTA substrate/adsorption conditions.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9535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Raman characterization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359359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278892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26280" y="29535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/ fragment modelling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26280" y="359359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2628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8160" y="278892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21040" y="29535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Pure-reference comparison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(equal-weight and NNLS fits)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21040" y="359359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2104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45079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— Sensor 1 (Ag/Si)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51480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5148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performed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43400" y="434340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26280" y="45079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— Sensor 2 (Ag/black-Si)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26280" y="51480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26280" y="5148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performed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38160" y="434340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321040" y="45079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detection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21040" y="51480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321040" y="5148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 experiment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68680" y="5897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performed  ≠  not detected.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LPS reference work is complete; only the SERS measurement step remains outstanding.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54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GRAM-POSITIVE MARKER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— Fragment Modelling and Pure Raman Reference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2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5660"/>
            <a:ext cx="7315200" cy="36157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75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Off-substrate experimental LTA Raman spectrum vs. reconstructed theoretical (composite) spectrum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92440" y="1417320"/>
            <a:ext cx="1088136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156448" y="1472184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3-fragment DFT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98864" y="1755648"/>
            <a:ext cx="91440" cy="146304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308592" y="1417320"/>
            <a:ext cx="1088136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372600" y="1472184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Raman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415016" y="1755648"/>
            <a:ext cx="91440" cy="146304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0524744" y="1417320"/>
            <a:ext cx="1320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588752" y="1472184"/>
            <a:ext cx="1193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92440" y="24688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Glycerol-phosphate backbone, D-alanine and GlcNAc modelled as representative fragments.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observed in phosphate vibrations, carbohydrate bands, CH deformation and amide-related features.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is qualitative and region-level — the three-fragment model does not capture the full polymeric architecture of LTA.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92440" y="4892040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321040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established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theory–experiment agreement via fragment modelling.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864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1679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A METHODOLOGICAL ACHIEVEMENT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— SERS Trial and Artifact Validation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4752"/>
            <a:ext cx="704088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2394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zoom of the apparent 1095 cm⁻¹ feature (SP_45/46/47) — the signal occupies a single detector pixel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818120" y="137160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001000" y="14264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peak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800100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feature at 1095 cm⁻¹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601200" y="2048256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818120" y="2185416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001000" y="2240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screening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01000" y="2514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15 spots met SNR ≥ 3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601200" y="2862072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7818120" y="2999232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001000" y="30540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001000" y="3328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inspected pixel by pixel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601200" y="3675888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818120" y="3813048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001000" y="3867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Single-pixel origin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01000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one fixed detector pixel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601200" y="4489704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818120" y="4626864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001000" y="4681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artifact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001000" y="49560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genuine Raman band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601200" y="5303520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7818120" y="544068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001000" y="54955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001000" y="5769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reclassified NOT DETECTED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48640" y="4709160"/>
            <a:ext cx="7040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22960" y="48463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22960" y="513892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Raman band on this instrument should exhibit a multi-pixel width consistent with the instrument response, whereas a single-pixel spike is a detector artifact. Screening on this basis prevented a false-positive LTA result and produced a validation criterion now applied to all SERS peak candidates in the project.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5186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ONE CONTINUOUS DEVELOPMENT STORY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Substrate Development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517904"/>
            <a:ext cx="1548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1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Ag/Si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" y="2148840"/>
            <a:ext cx="1548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AgNO₃-assisted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43328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426208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90216" y="1517904"/>
            <a:ext cx="1548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90216" y="2148840"/>
            <a:ext cx="1548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activity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20896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03776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67784" y="1517904"/>
            <a:ext cx="1548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2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Ag/black-Si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67784" y="2148840"/>
            <a:ext cx="1548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 with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+ AgNO₃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98464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5352" y="1517904"/>
            <a:ext cx="1548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Etch-time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45352" y="2148840"/>
            <a:ext cx="1548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/ 10 min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76032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058912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122920" y="1517904"/>
            <a:ext cx="1548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condition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etch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22920" y="2148840"/>
            <a:ext cx="1548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response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variants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753600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936480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000488" y="1517904"/>
            <a:ext cx="1548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00488" y="2148840"/>
            <a:ext cx="1548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and LTA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" name="Image 0" descr="/sessions/dreamy-funny-johnson/mnt/outputs/ppt_build/media/imag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74" y="3108960"/>
            <a:ext cx="4256532" cy="243230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48640" y="55412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 on Sensor 2 across the three etch times — the 2-minute substrate gives the strongest response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9" name="Image 1" descr="/sessions/dreamy-funny-johnson/mnt/outputs/ppt_build/media/imag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274" y="3108960"/>
            <a:ext cx="4256532" cy="243230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172200" y="554126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 and NAM on the best-performing 2-minute etch substrate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0955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THE HARDWARE WORKS, BEFORE TESTING BIOMARKERS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 — Substrate Validation Probe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49047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 is a SERS substrate validation probe — not a sepsis biomarker. 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SERS activity confirms the substrate functions; it is not evidence of biomarker detection.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0" descr="/sessions/dreamy-funny-johnson/mnt/outputs/ppt_build/media/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41" y="2240280"/>
            <a:ext cx="4465597" cy="2889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1297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1 — R6G concentration-response, 1 nM–1 mM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Image 1" descr="/sessions/dreamy-funny-johnson/mnt/outputs/ppt_build/media/image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240280"/>
            <a:ext cx="5056632" cy="2889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512978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2 — R6G response across 2, 5 and 10-minute etch substrates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8640" y="5532120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777240" y="562356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1 (Ag/Si)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77240" y="58795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SERS-active; measurable concentration response across the tested R6G range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172200" y="5532120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6400800" y="562356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2 (Ag/black-Si, MACE)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00800" y="58795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SERS-active; 2-minute etch best among the three variants tested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6700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SAMPLE, EVERY STAGE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Experimental Results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48368"/>
              </p:ext>
            </p:extLst>
          </p:nvPr>
        </p:nvGraphicFramePr>
        <p:xfrm>
          <a:off x="548640" y="1463040"/>
          <a:ext cx="11064240" cy="3520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Pure Raman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DFT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⚠  Attempted — not reproducibly detected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⚠  Attempted — candidate rejected as artifact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LPS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—  Not yet performed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R6G (validation probe)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✓  SERS-active on both substrate generations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3749040" y="5029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Attempted / in progress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49440" y="5029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Not performed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layer (Pure Raman + DFT) is complete for all three biomarkers. The SERS layer is where the remaining work sits — two biomarkers trialled without reproducible detection, one not yet measured.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8005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YEAR DELIVERED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Scientific Achievements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5544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2144" y="1517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biomarkers characterized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NAM, LPS and LTA selected and fully characterized as Gram +/- cell-wall targets.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44568" y="15544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46904" y="1517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Raman modelling 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44568" y="199339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Full-molecule model for NAM; validated fragment-based approach for LPS and LTA.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39328" y="15544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3932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41664" y="1517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Raman reference spectra established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9328" y="199339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Optimized, reproducible reference spectra for all three biomarkers.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9808" y="31089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980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2144" y="30723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NAM peaks matched with DFT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9808" y="35478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RMSE — the strongest theory–experiment agreement of the three biomarkers.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43400" y="29260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44568" y="31089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4456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46904" y="30723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SERS substrate generations fabricated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44568" y="35478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1 (Ag/Si) and Sensor 2 (Ag/black-Si via MACE).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38160" y="29260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39328" y="31089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33932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741664" y="30723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substrates demonstrated SERS activity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39328" y="35478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independently using the R6G validation probe.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49808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4980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52144" y="46268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MACE condition identified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9808" y="510235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etch outperformed the 5- and 10-minute Sensor 2 variants.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343400" y="44805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44568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4456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946904" y="46268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and LTA SERS trials 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44568" y="510235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trials executed on the fabricated substrates.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38160" y="44805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339328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33932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741664" y="46268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Artifact-screening criterion established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339328" y="510235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Multi-pixel peak-width validation now applied project-wide — prevented a false positive.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0313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→ WORK PERFORMED → STATUS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Against Original Objectives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Discovery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23360" y="141732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+ optimized pure-powder Raman for NAM, LTA and LPS; theory-vs-experiment comparison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75320" y="1737360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75320" y="1737360"/>
            <a:ext cx="1730045" cy="16459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378440" y="1417320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complete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359152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261518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240487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SERS-Based Sensing Technology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23360" y="2404872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substrate generations fabricated and validated with R6G; NAM and LTA trials completed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75320" y="2724912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275320" y="2724912"/>
            <a:ext cx="905256" cy="16459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378440" y="2404872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7240" y="360273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25880" y="3392424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 Raman Analysis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23360" y="3392424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Raman datasets and preprocessing pipeline provide the foundation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75320" y="3712464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275320" y="37124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378440" y="3392424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4334256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77240" y="45902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724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325880" y="4379976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023360" y="4379976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reproducible biomarker detection first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75320" y="4700016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378440" y="437997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5321808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77240" y="55778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7724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25880" y="536752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Prototype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023360" y="5367528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validated sensing and analysis components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75320" y="568756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0378440" y="5367528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stage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are indicative of stage completion, not quantitative metrics.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5295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FOUR PROPOSAL DELIVERABLES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Progress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 spectral library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0" y="1645920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dataset established;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ongoing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0" y="1508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Pure-standard Raman reference data established for NAM, LTA and LPS, cross-validated against DFT. Expansion to additional bacterial components continues.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715768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chip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0" y="2852928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0" y="28529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generations fabricated and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validated; optimization ongoing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271576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1 (Ag/Si) and Sensor 2 (Ag/black-Si, MACE) both fabricated and confirmed SERS-active with R6G; best etch condition identified. Biomarker-level optimization continues.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392277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Raman analysis algorithm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4059936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0" y="40599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Data-generation /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stage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29400" y="392277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Raman datasets and a consistent preprocessing pipeline are being produced — the required input for model development in a later phase.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992624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5129784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512978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prototype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114800" y="5266944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0" y="52669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stage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29400" y="512978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validated sensing and analysis components; scheduled for a later phase of the programme.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deliverables are progressing along the sequence set out in the proposal; none is claimed as finished.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720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· IN PROGRESS · NEXT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901952"/>
            <a:ext cx="3154680" cy="137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modelling — NAM, LTA, LPS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Raman characterization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spectra established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 substrate fabrication (2 generations)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 substrate 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SERS trial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SERS trial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Artifact-screening criterion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901952"/>
            <a:ext cx="3154680" cy="137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optimization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adsorption optimization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reproducibility improvement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 reference library expansion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6676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66760" y="1901952"/>
            <a:ext cx="3154680" cy="137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66760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SERS measurement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Concentration-dependent NAM detection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Concentration-dependent LTA detection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substrate optimization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runs through reproducible biomarker detection — every later objective depends on it.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8638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EXPERIMENTS VS. LATER PROJECT PHASES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experiments in the current work package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2340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61872" y="2286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substrate fabrication and reproducibility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288950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61872" y="2834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biomarker–surface adsorption conditions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343814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61872" y="3383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measurement reproducibility across batches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39867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61872" y="3931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LPS SERS measurement on both substrates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" y="453542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8680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61872" y="4480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concentration-dependent NAM detection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50840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61872" y="5029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concentration-dependent LTA detection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72200" y="1371600"/>
            <a:ext cx="54406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4652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PROJECT PHASES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46520" y="1874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after reproducible detection is achieved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46520" y="233172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46520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35240" y="227685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cultured bacterial / clinical isolates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46520" y="31089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46520" y="3108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35240" y="305409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patient-sample 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46520" y="388620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46520" y="3886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35240" y="383133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Raman classification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46520" y="466344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46520" y="46634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635240" y="460857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prototype development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695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472184"/>
            <a:ext cx="64008" cy="50292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computational and experimental Raman foundation — DFT models and pure reference spectra for NAM, LTA and LPS.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185416"/>
            <a:ext cx="64008" cy="50292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2130552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and validated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generations of SERS substrates, both confirmed SERS-active using R6G.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898648"/>
            <a:ext cx="64008" cy="50292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2843784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and LTA SERS trials on the fabricated substrates.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approach for distinguishing genuine spectral features from detector artifacts.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45262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next challenge: 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reproducible biomarker SERS detection through substrate and biomarker–surface optimization.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633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3246120"/>
            <a:ext cx="13716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9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5312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Additional Results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3611880"/>
            <a:ext cx="13716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technical detail for discussion and Q&amp;A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0775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16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DFT Computational Parameters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60646"/>
              </p:ext>
            </p:extLst>
          </p:nvPr>
        </p:nvGraphicFramePr>
        <p:xfrm>
          <a:off x="548640" y="1417320"/>
          <a:ext cx="1106424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 (full molecule)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LTA fragments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LPS fragments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Functional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B3LYP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B3LYP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B3LYP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Basis set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6-31+G(d,p)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6-31G(d)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6-31G(d)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Job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 + Freq + Raman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 + Freq + Raman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 + Freq + Raman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Solvation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SMD (water)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SMD (water)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SMD (water)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Grid / SCF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UltraFine / Tight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UltraFine / Tight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UltraFine / Tight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 cores, 56 GB RAM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 cores, 56 GB RAM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 cores, 56 GB RAM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46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Pure-standard Raman acquisition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351809"/>
              </p:ext>
            </p:extLst>
          </p:nvPr>
        </p:nvGraphicFramePr>
        <p:xfrm>
          <a:off x="548640" y="5166360"/>
          <a:ext cx="11064240" cy="1584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LPS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Sample form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High-purity powder (~98%)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Powder / prepared solution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Powder / prepared solution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Excitation source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785 nm laser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785 nm laser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785 nm laser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Optimum condition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 s integration, 80% power,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best SNR = 95.91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b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 s integration, 20% power,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 accumulations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403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REFERENCE MEASUREMENT CONDITION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NAM Acquisition Optimisation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62727"/>
            <a:ext cx="6583680" cy="23302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8406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Raman spectra of pure NAM powder across laser power / integration-time settings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40919"/>
            <a:ext cx="4297680" cy="21738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0" y="508406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map across the tested parameter combinations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condition:  25 s integration · 80% laser power · best SNR = 95.91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chosen by comparing SNR across all tested combinations.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1711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FOR OBJECTIVE 1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NAM Structure, Simulated Spectrum and Peak Matching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8750"/>
            <a:ext cx="2743200" cy="20522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438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DFT-optimised NAM structure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21158"/>
            <a:ext cx="8183880" cy="19674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9000" y="3438144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DFT-simulated Raman spectrum of NAM (full-molecule model)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Image 2" descr="/sessions/dreamy-funny-johnson/mnt/outputs/ppt_build/media/image7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625" y="3886200"/>
            <a:ext cx="3986430" cy="20665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59527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Peak-matching and error analysis — 51 matched peaks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309360" y="38862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matched peaks (6 of 51)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60888"/>
              </p:ext>
            </p:extLst>
          </p:nvPr>
        </p:nvGraphicFramePr>
        <p:xfrm>
          <a:off x="6309360" y="4206240"/>
          <a:ext cx="5303520" cy="25908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Experimental (cm⁻¹)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Simulated (cm⁻¹)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Assignment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284.3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282.5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Ring deformation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772.7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777.8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Ring vibration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955.9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965.7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Ring breathing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1155.4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1156.9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C–O–C stretching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1345.9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1347.4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 deformation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1700.7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1725.1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Carbonyl stretching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214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1 AND SENSOR 2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NAM SERS Trial Detail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7312"/>
            <a:ext cx="3657600" cy="2235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782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(1 mg/mL) on Sensor 1 vs. blank-substrate spectrum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506" y="1371600"/>
            <a:ext cx="3247949" cy="2706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40782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~243 cm⁻¹ candidate peak intensity vs. NAM concentration (mean ± SD)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Image 2" descr="/sessions/dreamy-funny-johnson/mnt/outputs/ppt_build/media/image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706009"/>
            <a:ext cx="3566160" cy="20378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46720" y="40782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on Sensor 2 across 2, 5 and 10-minute etch substrates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851677"/>
              </p:ext>
            </p:extLst>
          </p:nvPr>
        </p:nvGraphicFramePr>
        <p:xfrm>
          <a:off x="548640" y="4526280"/>
          <a:ext cx="11064240" cy="159004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Substrate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Sensor 1 (Ag/Si)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One reproducible, tentative candidate at ~243 cm⁻¹ (7/7 replicates), outside the range covered by the pure reference spectrum and therefore not confirmable against it. Weaker candidates near 928 and 1504 cm⁻¹ (SNR ≈ 1–3) were not accepted.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Sensor 2 (Ag/black-Si, MACE)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 validated NAM reference band reached SNR ≥ 3 reproducibly on any etch-time substrate, at either laser power, raw or blank-subtracted.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Contributing factors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Low intrinsic Raman scattering strength · weak or non-specific adsorption onto the silver surface · competition with background adsorption · concentration dependence · difference between a purified compound and the same motif within a bacterial cell wall.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864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FIVE-FRAGMENT DFT APPROACH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LPS Fragment Models and Simulated Spectra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4126"/>
            <a:ext cx="1325880" cy="6128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8895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Kdo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1550739"/>
            <a:ext cx="1325880" cy="1159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65960" y="28895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Image 2" descr="/sessions/dreamy-funny-johnson/mnt/outputs/ppt_build/media/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610308"/>
            <a:ext cx="1325880" cy="10404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83280" y="28895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" name="Image 3" descr="/sessions/dreamy-funny-johnson/mnt/outputs/ppt_build/media/imag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526107"/>
            <a:ext cx="1325880" cy="12088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00600" y="28895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" name="Image 4" descr="/sessions/dreamy-funny-johnson/mnt/outputs/ppt_build/media/image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1895761"/>
            <a:ext cx="1325880" cy="46958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17920" y="288950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7"/>
          <p:cNvSpPr/>
          <p:nvPr/>
        </p:nvSpPr>
        <p:spPr>
          <a:xfrm>
            <a:off x="548640" y="3291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Kdo, identified in the report; (b)–(e) the four further fragments — D-glucosamine, L-glycero-D-manno-heptose, myristic acid and phosphoric acid — shown as a set, as in the source report.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8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fragment contributions (NNLS)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939928"/>
              </p:ext>
            </p:extLst>
          </p:nvPr>
        </p:nvGraphicFramePr>
        <p:xfrm>
          <a:off x="548640" y="4251960"/>
          <a:ext cx="6858000" cy="201168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Fragment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Contribution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Kdo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Heptose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D-glucosamine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15.3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Myristic acid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Phosphoric acid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" name="Image 5" descr="/sessions/dreamy-funny-johnson/mnt/outputs/ppt_build/media/image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1516198"/>
            <a:ext cx="3931920" cy="424622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680960" y="59070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Raman spectra of the five LPS fragments (normalised, 500–3500 cm⁻¹)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458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VS. NNLS-OPTIMIZED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LPS Experimental Spectrum and Composite Fits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303" y="1371600"/>
            <a:ext cx="4161355" cy="2889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6110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LPS powder spectrum (60 s, 20% power, 30 accumulations)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70001"/>
            <a:ext cx="5440680" cy="2692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426110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five-fragment composite vs. experimental LPS spectrum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quality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266345"/>
              </p:ext>
            </p:extLst>
          </p:nvPr>
        </p:nvGraphicFramePr>
        <p:xfrm>
          <a:off x="548640" y="5074920"/>
          <a:ext cx="11064240" cy="10058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Correlation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Equal weight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0.189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0.149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NNLS optimized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0.508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NNLS composite reproduces the 900–1100 cm⁻¹ sugar/ring/backbone region; the overall fit remains moderate (R² = 0.18), consistent with LPS being a large, heterogeneous molecule poorly represented by a small fragment set.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9721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THREE-FRAGMENT DFT APPROACH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LTA Fragment Models and Composite Spectrum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4562"/>
            <a:ext cx="2286000" cy="1354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723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Glycerol-phosphate backbone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801" y="1371600"/>
            <a:ext cx="1972559" cy="17007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26080" y="30723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D-alanine substituent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Image 2" descr="/sessions/dreamy-funny-johnson/mnt/outputs/ppt_build/media/image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484573"/>
            <a:ext cx="2286000" cy="14748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03520" y="30723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GlcNAc substituent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755382"/>
              </p:ext>
            </p:extLst>
          </p:nvPr>
        </p:nvGraphicFramePr>
        <p:xfrm>
          <a:off x="548640" y="3657600"/>
          <a:ext cx="7040880" cy="138988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Approximate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Glycerol-phosphate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20–25%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D-alanine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34–40%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GlcNAc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40–43%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548640" y="51206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weighting in the composite theoretical LTA spectrum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" name="Image 3" descr="/sessions/dreamy-funny-johnson/mnt/outputs/ppt_build/media/image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296" y="1371600"/>
            <a:ext cx="2314688" cy="20665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772400" y="34381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Simulated spectra of the three LTA fragments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4" descr="/sessions/dreamy-funny-johnson/mnt/outputs/ppt_build/media/image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202806"/>
            <a:ext cx="3840480" cy="125045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772400" y="57698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Weighted composite theoretical LTA spectrum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5179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2, 2-MINUTE ETCH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LTA SERS Trial, All Measurement Spots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99329"/>
            <a:ext cx="7223760" cy="34398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6694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on Sensor 2 (2-minute etch) — all 15 measurement spots overlaid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01000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Peak-validation methodology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001000" y="17830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11312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acceptance threshold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11312" y="21671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SNR of 3, reproducible across replicate spots, is required for a candidate SERS peak to be accepted.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001000" y="324612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11312" y="3355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Peak-width validity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11312" y="36301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Raman band should exhibit a multi-pixel width consistent with the instrument response; a single-pixel spike is treated as a detector artifact.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001000" y="470916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211312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consistently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11312" y="50932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from the LTA investigation and applied to all subsequent SERS peak validation.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8640" y="5715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the apparent 1095 cm⁻¹ feature (4 of 15 spots at SNR ≥ 3) failed the peak-width criterion and was rejected as a detector artifact.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9310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BLANK, CONCENTRATION SERIES AND REPRODUCIBILITY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Sensor 1 (Ag/Si) R6G Validation Detail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4272"/>
            <a:ext cx="3566160" cy="1981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4381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substrate — five spectra overlaid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165" y="1371600"/>
            <a:ext cx="3193750" cy="20665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1960" y="34381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 concentration-response, 1 nM–1 mM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Image 2" descr="/sessions/dreamy-funny-johnson/mnt/outputs/ppt_build/media/imag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172" y="1371600"/>
            <a:ext cx="3099816" cy="20665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55280" y="34381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R6G concentration series (stacked)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" name="Image 3" descr="/sessions/dreamy-funny-johnson/mnt/outputs/ppt_build/media/image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" y="3977640"/>
            <a:ext cx="3950208" cy="19751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595274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39-spectrum acquisition sweep used for reproducibility assessment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6172200" y="397764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7"/>
          <p:cNvSpPr/>
          <p:nvPr/>
        </p:nvSpPr>
        <p:spPr>
          <a:xfrm>
            <a:off x="6446520" y="4160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446520" y="45262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1 demonstrated SERS activity and a measurable concentration response across the tested R6G range.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Blank-substrate spectra established the background baseline used for all subsequent subtraction.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39-spectrum sweep provided the reproducibility reference for the substrate.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02128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REFERENCE MEASUREMENTS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Raw-Silicon Reference and Wavenumber Calibration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3566160" cy="2139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696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Unetched-silicon reference spectrum (highest-signal condition)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 1" descr="/sessions/dreamy-funny-johnson/mnt/outputs/ppt_build/media/image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700784"/>
            <a:ext cx="3566160" cy="2139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1960" y="41696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Unetched-silicon spectra across tested laser power settings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Image 2" descr="/sessions/dreamy-funny-johnson/mnt/outputs/ppt_build/media/image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039112"/>
            <a:ext cx="3657600" cy="1463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55280" y="41696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check of the silicon 520 cm⁻¹ phonon reference peak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unetched raw-silicon spectra provide the wavenumber calibration reference for the instrument and establish its minimum resolvable peak width — the basis for the multi-pixel peak-validity criterion applied to all SERS candidate peaks in this project.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4594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PRESENTED IN THE PROJECT REPORT</a:t>
            </a:r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Project Objectives (Original Proposal Figure)</a:t>
            </a:r>
            <a:endParaRPr lang="en-US" sz="29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0" descr="/sessions/dreamy-funny-johnson/mnt/outputs/ppt_build/media/image1.png"/>
          <p:cNvPicPr>
            <a:picLocks noChangeAspect="1"/>
          </p:cNvPicPr>
          <p:nvPr/>
        </p:nvPicPr>
        <p:blipFill>
          <a:blip r:embed="rId3"/>
          <a:srcRect b="5109"/>
          <a:stretch>
            <a:fillRect/>
          </a:stretch>
        </p:blipFill>
        <p:spPr>
          <a:xfrm>
            <a:off x="1291412" y="1371600"/>
            <a:ext cx="5281015" cy="41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2414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representation of the project objectives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43800" y="1417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summary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543800" y="1783080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26680" y="195681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2668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13816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Discovery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543800" y="2532888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726680" y="270662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26680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138160" y="25328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SERS-Based Sensing Technology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43800" y="3282696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726680" y="345643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726680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38160" y="328269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 Raman Analysis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43800" y="4032504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726680" y="42062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72668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138160" y="40325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543800" y="4782312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726680" y="49560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726680" y="4956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138160" y="47823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Prototype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543800" y="56235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165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396E0D-01A5-4E23-922B-EAF5679340F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ceb5248-cf01-4212-a45b-55de041c5e5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3713</Words>
  <Application>Microsoft Office PowerPoint</Application>
  <PresentationFormat>Widescreen</PresentationFormat>
  <Paragraphs>667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Yearly Project Progress Review — V2</dc:title>
  <dc:subject>PptxGenJS Presentation</dc:subject>
  <dc:creator>Sukesh P (M24IM1007)</dc:creator>
  <cp:lastModifiedBy>subash P</cp:lastModifiedBy>
  <cp:revision>3</cp:revision>
  <dcterms:created xsi:type="dcterms:W3CDTF">2026-08-25T04:34:04Z</dcterms:created>
  <dcterms:modified xsi:type="dcterms:W3CDTF">2026-08-25T08:26:22Z</dcterms:modified>
</cp:coreProperties>
</file>