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6" r:id="rId7"/>
    <p:sldId id="257" r:id="rId8"/>
    <p:sldId id="259" r:id="rId9"/>
    <p:sldId id="258" r:id="rId10"/>
    <p:sldId id="265" r:id="rId11"/>
    <p:sldId id="268" r:id="rId12"/>
    <p:sldId id="267" r:id="rId13"/>
    <p:sldId id="270" r:id="rId14"/>
    <p:sldId id="274" r:id="rId15"/>
    <p:sldId id="269" r:id="rId16"/>
    <p:sldId id="272" r:id="rId17"/>
    <p:sldId id="271" r:id="rId18"/>
    <p:sldId id="273" r:id="rId19"/>
    <p:sldId id="284" r:id="rId20"/>
    <p:sldId id="286" r:id="rId21"/>
    <p:sldId id="285" r:id="rId22"/>
    <p:sldId id="288" r:id="rId23"/>
    <p:sldId id="287" r:id="rId24"/>
    <p:sldId id="276" r:id="rId25"/>
    <p:sldId id="277" r:id="rId26"/>
    <p:sldId id="275" r:id="rId27"/>
    <p:sldId id="278" r:id="rId28"/>
    <p:sldId id="280" r:id="rId29"/>
    <p:sldId id="281" r:id="rId30"/>
    <p:sldId id="282" r:id="rId31"/>
    <p:sldId id="2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94660"/>
  </p:normalViewPr>
  <p:slideViewPr>
    <p:cSldViewPr snapToGrid="0" showGuides="1">
      <p:cViewPr varScale="1">
        <p:scale>
          <a:sx n="85" d="100"/>
          <a:sy n="85" d="100"/>
        </p:scale>
        <p:origin x="295"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3914F-579D-F09E-9701-AB740AE540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D4D208-ED8C-A410-8585-6F1EC3B128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84F394-C434-B858-252E-EDE28573EB87}"/>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D039F8F8-AC23-ACC7-D33E-71E8B1B0F6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90F6BC-5DBB-D831-0452-B5AD1D912B75}"/>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201998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5B376-B261-2E6F-0204-886C9D2434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86C0C6-C095-ACD7-6AE9-505A89193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CD96D6-566C-5967-D5BE-3926EFCC5D33}"/>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70E6FB71-41D8-CFC9-DC9A-631C7A0EB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A1C3BA-7121-80C0-648D-0A2CD65F64D4}"/>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2677918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9368A-82C0-A7D9-1AB9-431D8FB6D8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CBAB23-BBE6-35B4-B710-AA1C09B24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EE6A21-A7D0-AE51-12D0-CEB937DA43A4}"/>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AB0D0883-A0A5-608D-D096-C4C952BAD5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5A02C-D6D6-E0E9-BA00-6A07403525A7}"/>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2958641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86E7C-B795-3710-139E-77891F09E6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4A3DFB-2DF9-33EB-E84F-1DB41E777B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C37910-D5EB-B32E-FD22-3E43E4DAB7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333CB8-F4B2-6FC1-42F2-743E9D8D5710}"/>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6" name="Footer Placeholder 5">
            <a:extLst>
              <a:ext uri="{FF2B5EF4-FFF2-40B4-BE49-F238E27FC236}">
                <a16:creationId xmlns:a16="http://schemas.microsoft.com/office/drawing/2014/main" id="{A9A27E2F-EC3E-1781-E916-7884228C6A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80E89A-7CD5-D78E-AB7F-0116AF1739F1}"/>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131221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CD19-9717-904A-6248-843A6EBF78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AFC041-BB44-1E49-5491-F7841C73C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B36E59-5C0D-9891-36C5-BA3E027374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AB35FF-3EEB-34B9-3A62-5E755B8C1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2DC873-17F6-CEAF-FF52-013B324E82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3797D1-4607-43DE-160D-9D1D1634B53B}"/>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8" name="Footer Placeholder 7">
            <a:extLst>
              <a:ext uri="{FF2B5EF4-FFF2-40B4-BE49-F238E27FC236}">
                <a16:creationId xmlns:a16="http://schemas.microsoft.com/office/drawing/2014/main" id="{228090D8-7C02-3F4D-1AB9-D5E725D978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C465DF-B06C-65D3-E7B1-3D866AAEFA46}"/>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356957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3F856-F471-0A0A-6FFD-A772C0E9FB5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D280BF-020F-2841-0320-81DABAF189A9}"/>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4" name="Footer Placeholder 3">
            <a:extLst>
              <a:ext uri="{FF2B5EF4-FFF2-40B4-BE49-F238E27FC236}">
                <a16:creationId xmlns:a16="http://schemas.microsoft.com/office/drawing/2014/main" id="{CFA86E96-7414-C14E-D99B-98D722EA43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7732AF-E990-C404-B31F-F06889B67A87}"/>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2038154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6A1782-5615-1BF2-BC01-DAF057283D1C}"/>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3" name="Footer Placeholder 2">
            <a:extLst>
              <a:ext uri="{FF2B5EF4-FFF2-40B4-BE49-F238E27FC236}">
                <a16:creationId xmlns:a16="http://schemas.microsoft.com/office/drawing/2014/main" id="{E219E3C2-B247-B397-4504-F961C75802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7D9908-9BF3-C200-0AEA-CE5C33588BD6}"/>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1099388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AFBE-74E4-79C7-AC77-5CA0A1136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1E4322-C04C-41EC-43EC-2ECA2C020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9983B1-46E5-DBBB-642E-07C324DC9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96736-8B45-4AB2-149F-E3CC90153453}"/>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6" name="Footer Placeholder 5">
            <a:extLst>
              <a:ext uri="{FF2B5EF4-FFF2-40B4-BE49-F238E27FC236}">
                <a16:creationId xmlns:a16="http://schemas.microsoft.com/office/drawing/2014/main" id="{C1415EE7-9873-B65B-2178-81526345C2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76F8BF-04B5-F923-778B-B18C6F522D43}"/>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2491827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1503-9A5B-0305-1829-9A56CDA195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B44BB5-DCC7-61F8-943F-9360786D6D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E046C0-CBF0-7F97-140C-EBAF210E39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0A2356-AA9E-8B43-54E9-6532A92555E5}"/>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6" name="Footer Placeholder 5">
            <a:extLst>
              <a:ext uri="{FF2B5EF4-FFF2-40B4-BE49-F238E27FC236}">
                <a16:creationId xmlns:a16="http://schemas.microsoft.com/office/drawing/2014/main" id="{1EFA3F21-4C26-52E5-5F59-10E1381466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171247-AED4-F45B-D55D-BD575963BAA4}"/>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3290669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306B-5B5F-5EA6-155E-4B253A5DD0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38CEB6-14AB-A0B8-D566-CFFF36732C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203C7D-B702-20EE-9F88-08784D60801A}"/>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E628DCD6-922D-2852-579D-462C21A81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4C60A8-E1D6-3594-82F7-0AD39A1CA3FA}"/>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1222699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BB1BE-730B-ED06-E23F-AE9919D3D2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6E8C0E-DB54-628E-A026-767334BD3A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F2460A-5FEC-281D-F770-43A5BA0F5BCF}"/>
              </a:ext>
            </a:extLst>
          </p:cNvPr>
          <p:cNvSpPr>
            <a:spLocks noGrp="1"/>
          </p:cNvSpPr>
          <p:nvPr>
            <p:ph type="dt" sz="half" idx="10"/>
          </p:nvPr>
        </p:nvSpPr>
        <p:spPr/>
        <p:txBody>
          <a:body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5624A8DD-C1CE-D188-BE08-9ABEDBA69D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0C4ECF-FA33-4510-DF10-E51DC1289E54}"/>
              </a:ext>
            </a:extLst>
          </p:cNvPr>
          <p:cNvSpPr>
            <a:spLocks noGrp="1"/>
          </p:cNvSpPr>
          <p:nvPr>
            <p:ph type="sldNum" sz="quarter" idx="12"/>
          </p:nvPr>
        </p:nvSpPr>
        <p:spPr/>
        <p:txBody>
          <a:bodyPr/>
          <a:lstStyle/>
          <a:p>
            <a:fld id="{FCADAAD7-82A4-4FAE-9453-0E15CB3C30AA}" type="slidenum">
              <a:rPr lang="en-IN" smtClean="0"/>
              <a:t>‹#›</a:t>
            </a:fld>
            <a:endParaRPr lang="en-IN"/>
          </a:p>
        </p:txBody>
      </p:sp>
    </p:spTree>
    <p:extLst>
      <p:ext uri="{BB962C8B-B14F-4D97-AF65-F5344CB8AC3E}">
        <p14:creationId xmlns:p14="http://schemas.microsoft.com/office/powerpoint/2010/main" val="3063785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EF4367-B70C-070A-B680-C50E37857F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449C6A-CF6F-A763-B728-7B748D4AD7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28E69E-2A51-7A2F-C580-7B4A0D5A9B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47B3D2-DD97-4C5E-B9A4-E6AFC735CE34}" type="datetimeFigureOut">
              <a:rPr lang="en-IN" smtClean="0"/>
              <a:t>17-04-2026</a:t>
            </a:fld>
            <a:endParaRPr lang="en-IN"/>
          </a:p>
        </p:txBody>
      </p:sp>
      <p:sp>
        <p:nvSpPr>
          <p:cNvPr id="5" name="Footer Placeholder 4">
            <a:extLst>
              <a:ext uri="{FF2B5EF4-FFF2-40B4-BE49-F238E27FC236}">
                <a16:creationId xmlns:a16="http://schemas.microsoft.com/office/drawing/2014/main" id="{8CA07E4D-568A-012A-183F-D5B8F8F552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DE0DAD-BA77-3999-5F2D-D119F41BC2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ADAAD7-82A4-4FAE-9453-0E15CB3C30AA}" type="slidenum">
              <a:rPr lang="en-IN" smtClean="0"/>
              <a:t>‹#›</a:t>
            </a:fld>
            <a:endParaRPr lang="en-IN"/>
          </a:p>
        </p:txBody>
      </p:sp>
    </p:spTree>
    <p:extLst>
      <p:ext uri="{BB962C8B-B14F-4D97-AF65-F5344CB8AC3E}">
        <p14:creationId xmlns:p14="http://schemas.microsoft.com/office/powerpoint/2010/main" val="3106057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349DB7A-3261-1110-A0D2-A3CFDA655ECC}"/>
              </a:ext>
            </a:extLst>
          </p:cNvPr>
          <p:cNvSpPr txBox="1"/>
          <p:nvPr/>
        </p:nvSpPr>
        <p:spPr>
          <a:xfrm>
            <a:off x="226991" y="198480"/>
            <a:ext cx="11254524" cy="646331"/>
          </a:xfrm>
          <a:prstGeom prst="rect">
            <a:avLst/>
          </a:prstGeom>
          <a:noFill/>
        </p:spPr>
        <p:txBody>
          <a:bodyPr wrap="square">
            <a:spAutoFit/>
          </a:bodyPr>
          <a:lstStyle/>
          <a:p>
            <a:pPr marL="0" marR="0" lvl="0" indent="0" algn="l" rtl="0">
              <a:spcBef>
                <a:spcPts val="0"/>
              </a:spcBef>
              <a:spcAft>
                <a:spcPts val="0"/>
              </a:spcAft>
              <a:buNone/>
            </a:pPr>
            <a:r>
              <a:rPr lang="en-GB" sz="3600" dirty="0">
                <a:solidFill>
                  <a:srgbClr val="00B0F0"/>
                </a:solidFill>
                <a:latin typeface="Outfit SemiBold"/>
                <a:ea typeface="Outfit SemiBold"/>
                <a:cs typeface="Outfit SemiBold"/>
                <a:sym typeface="Outfit SemiBold"/>
              </a:rPr>
              <a:t>Raman–DFT Analysis of N-Acetylmuramic Acid (NAM)</a:t>
            </a:r>
            <a:endParaRPr lang="en-GB" sz="3600" dirty="0">
              <a:solidFill>
                <a:srgbClr val="00B0F0"/>
              </a:solidFill>
            </a:endParaRPr>
          </a:p>
        </p:txBody>
      </p:sp>
      <p:pic>
        <p:nvPicPr>
          <p:cNvPr id="7" name="Picture 6">
            <a:extLst>
              <a:ext uri="{FF2B5EF4-FFF2-40B4-BE49-F238E27FC236}">
                <a16:creationId xmlns:a16="http://schemas.microsoft.com/office/drawing/2014/main" id="{ED26275A-084B-2229-EA4A-13462FCDC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5349" y="906288"/>
            <a:ext cx="5305425" cy="2657475"/>
          </a:xfrm>
          <a:prstGeom prst="rect">
            <a:avLst/>
          </a:prstGeom>
        </p:spPr>
      </p:pic>
      <p:pic>
        <p:nvPicPr>
          <p:cNvPr id="9" name="Picture 8">
            <a:extLst>
              <a:ext uri="{FF2B5EF4-FFF2-40B4-BE49-F238E27FC236}">
                <a16:creationId xmlns:a16="http://schemas.microsoft.com/office/drawing/2014/main" id="{4FF19450-2B70-30D1-31D3-948E1C6FB0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262" y="976558"/>
            <a:ext cx="2516936" cy="2516936"/>
          </a:xfrm>
          <a:prstGeom prst="rect">
            <a:avLst/>
          </a:prstGeom>
        </p:spPr>
      </p:pic>
      <p:sp>
        <p:nvSpPr>
          <p:cNvPr id="10" name="TextBox 9">
            <a:extLst>
              <a:ext uri="{FF2B5EF4-FFF2-40B4-BE49-F238E27FC236}">
                <a16:creationId xmlns:a16="http://schemas.microsoft.com/office/drawing/2014/main" id="{9AB35416-FA5E-3FFF-0D41-8F619A9A3B36}"/>
              </a:ext>
            </a:extLst>
          </p:cNvPr>
          <p:cNvSpPr txBox="1"/>
          <p:nvPr/>
        </p:nvSpPr>
        <p:spPr>
          <a:xfrm>
            <a:off x="2459865" y="3696237"/>
            <a:ext cx="1970467" cy="369332"/>
          </a:xfrm>
          <a:prstGeom prst="rect">
            <a:avLst/>
          </a:prstGeom>
          <a:noFill/>
        </p:spPr>
        <p:txBody>
          <a:bodyPr wrap="square" rtlCol="0">
            <a:spAutoFit/>
          </a:bodyPr>
          <a:lstStyle/>
          <a:p>
            <a:r>
              <a:rPr lang="en-IN" dirty="0"/>
              <a:t>2D Structure</a:t>
            </a:r>
          </a:p>
        </p:txBody>
      </p:sp>
      <p:sp>
        <p:nvSpPr>
          <p:cNvPr id="11" name="TextBox 10">
            <a:extLst>
              <a:ext uri="{FF2B5EF4-FFF2-40B4-BE49-F238E27FC236}">
                <a16:creationId xmlns:a16="http://schemas.microsoft.com/office/drawing/2014/main" id="{C6F6917B-5C0B-F89A-C9D3-710FE2460F88}"/>
              </a:ext>
            </a:extLst>
          </p:cNvPr>
          <p:cNvSpPr txBox="1"/>
          <p:nvPr/>
        </p:nvSpPr>
        <p:spPr>
          <a:xfrm>
            <a:off x="7761670" y="3625240"/>
            <a:ext cx="1970467" cy="369332"/>
          </a:xfrm>
          <a:prstGeom prst="rect">
            <a:avLst/>
          </a:prstGeom>
          <a:noFill/>
        </p:spPr>
        <p:txBody>
          <a:bodyPr wrap="square" rtlCol="0">
            <a:spAutoFit/>
          </a:bodyPr>
          <a:lstStyle/>
          <a:p>
            <a:r>
              <a:rPr lang="en-IN" dirty="0"/>
              <a:t>3D Structure</a:t>
            </a:r>
          </a:p>
        </p:txBody>
      </p:sp>
      <p:pic>
        <p:nvPicPr>
          <p:cNvPr id="13" name="Picture 12">
            <a:extLst>
              <a:ext uri="{FF2B5EF4-FFF2-40B4-BE49-F238E27FC236}">
                <a16:creationId xmlns:a16="http://schemas.microsoft.com/office/drawing/2014/main" id="{DABE5670-EF48-444C-2F7D-B34FC880A5A7}"/>
              </a:ext>
            </a:extLst>
          </p:cNvPr>
          <p:cNvPicPr>
            <a:picLocks noChangeAspect="1"/>
          </p:cNvPicPr>
          <p:nvPr/>
        </p:nvPicPr>
        <p:blipFill>
          <a:blip r:embed="rId4">
            <a:extLst>
              <a:ext uri="{28A0092B-C50C-407E-A947-70E740481C1C}">
                <a14:useLocalDpi xmlns:a14="http://schemas.microsoft.com/office/drawing/2010/main" val="0"/>
              </a:ext>
            </a:extLst>
          </a:blip>
          <a:srcRect l="4550" t="15061" r="52210" b="41126"/>
          <a:stretch>
            <a:fillRect/>
          </a:stretch>
        </p:blipFill>
        <p:spPr>
          <a:xfrm>
            <a:off x="869324" y="4346620"/>
            <a:ext cx="3953814" cy="2201252"/>
          </a:xfrm>
          <a:prstGeom prst="rect">
            <a:avLst/>
          </a:prstGeom>
        </p:spPr>
      </p:pic>
      <p:pic>
        <p:nvPicPr>
          <p:cNvPr id="15" name="Picture 14">
            <a:extLst>
              <a:ext uri="{FF2B5EF4-FFF2-40B4-BE49-F238E27FC236}">
                <a16:creationId xmlns:a16="http://schemas.microsoft.com/office/drawing/2014/main" id="{9134CF9B-6F18-34FD-87C7-905BBF6DA772}"/>
              </a:ext>
            </a:extLst>
          </p:cNvPr>
          <p:cNvPicPr>
            <a:picLocks noChangeAspect="1"/>
          </p:cNvPicPr>
          <p:nvPr/>
        </p:nvPicPr>
        <p:blipFill>
          <a:blip r:embed="rId4">
            <a:extLst>
              <a:ext uri="{28A0092B-C50C-407E-A947-70E740481C1C}">
                <a14:useLocalDpi xmlns:a14="http://schemas.microsoft.com/office/drawing/2010/main" val="0"/>
              </a:ext>
            </a:extLst>
          </a:blip>
          <a:srcRect l="48754" t="12253" r="2936" b="50000"/>
          <a:stretch>
            <a:fillRect/>
          </a:stretch>
        </p:blipFill>
        <p:spPr>
          <a:xfrm>
            <a:off x="6478074" y="4411014"/>
            <a:ext cx="4417454" cy="1941490"/>
          </a:xfrm>
          <a:prstGeom prst="rect">
            <a:avLst/>
          </a:prstGeom>
        </p:spPr>
      </p:pic>
    </p:spTree>
    <p:extLst>
      <p:ext uri="{BB962C8B-B14F-4D97-AF65-F5344CB8AC3E}">
        <p14:creationId xmlns:p14="http://schemas.microsoft.com/office/powerpoint/2010/main" val="67693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5055B98-F91A-C331-D624-255FA04D6D47}"/>
              </a:ext>
            </a:extLst>
          </p:cNvPr>
          <p:cNvGraphicFramePr>
            <a:graphicFrameLocks noGrp="1"/>
          </p:cNvGraphicFramePr>
          <p:nvPr>
            <p:extLst>
              <p:ext uri="{D42A27DB-BD31-4B8C-83A1-F6EECF244321}">
                <p14:modId xmlns:p14="http://schemas.microsoft.com/office/powerpoint/2010/main" val="3183125814"/>
              </p:ext>
            </p:extLst>
          </p:nvPr>
        </p:nvGraphicFramePr>
        <p:xfrm>
          <a:off x="6944616" y="965604"/>
          <a:ext cx="4216758" cy="2463396"/>
        </p:xfrm>
        <a:graphic>
          <a:graphicData uri="http://schemas.openxmlformats.org/drawingml/2006/table">
            <a:tbl>
              <a:tblPr>
                <a:noFill/>
              </a:tblPr>
              <a:tblGrid>
                <a:gridCol w="2255473">
                  <a:extLst>
                    <a:ext uri="{9D8B030D-6E8A-4147-A177-3AD203B41FA5}">
                      <a16:colId xmlns:a16="http://schemas.microsoft.com/office/drawing/2014/main" val="1921201356"/>
                    </a:ext>
                  </a:extLst>
                </a:gridCol>
                <a:gridCol w="1961285">
                  <a:extLst>
                    <a:ext uri="{9D8B030D-6E8A-4147-A177-3AD203B41FA5}">
                      <a16:colId xmlns:a16="http://schemas.microsoft.com/office/drawing/2014/main" val="2505984483"/>
                    </a:ext>
                  </a:extLst>
                </a:gridCol>
              </a:tblGrid>
              <a:tr h="384206">
                <a:tc>
                  <a:txBody>
                    <a:bodyPr/>
                    <a:lstStyle/>
                    <a:p>
                      <a:pPr marL="0" lvl="0" indent="0" algn="l" rtl="0">
                        <a:lnSpc>
                          <a:spcPct val="115000"/>
                        </a:lnSpc>
                        <a:spcBef>
                          <a:spcPts val="0"/>
                        </a:spcBef>
                        <a:spcAft>
                          <a:spcPts val="0"/>
                        </a:spcAft>
                        <a:buNone/>
                      </a:pPr>
                      <a:r>
                        <a:rPr lang="en-US" sz="2000" b="1" dirty="0">
                          <a:solidFill>
                            <a:schemeClr val="tx1"/>
                          </a:solidFill>
                        </a:rPr>
                        <a:t>Parameter</a:t>
                      </a:r>
                      <a:endParaRPr sz="2000" b="1"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en-US" sz="2000" b="1" dirty="0">
                          <a:solidFill>
                            <a:schemeClr val="tx1"/>
                          </a:solidFill>
                        </a:rPr>
                        <a:t>Range</a:t>
                      </a:r>
                      <a:endParaRPr sz="2000" b="1"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522941"/>
                  </a:ext>
                </a:extLst>
              </a:tr>
              <a:tr h="403799">
                <a:tc>
                  <a:txBody>
                    <a:bodyPr/>
                    <a:lstStyle/>
                    <a:p>
                      <a:pPr marL="0" lvl="0" indent="0" algn="l" rtl="0">
                        <a:spcBef>
                          <a:spcPts val="0"/>
                        </a:spcBef>
                        <a:spcAft>
                          <a:spcPts val="0"/>
                        </a:spcAft>
                        <a:buNone/>
                      </a:pPr>
                      <a:r>
                        <a:rPr lang="en-US" sz="2000" dirty="0">
                          <a:solidFill>
                            <a:schemeClr val="tx1"/>
                          </a:solidFill>
                        </a:rPr>
                        <a:t>Laser wavelength</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2000">
                          <a:solidFill>
                            <a:schemeClr val="tx1"/>
                          </a:solidFill>
                        </a:rPr>
                        <a:t>785 nm</a:t>
                      </a:r>
                      <a:endParaRPr sz="20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159382"/>
                  </a:ext>
                </a:extLst>
              </a:tr>
              <a:tr h="403799">
                <a:tc>
                  <a:txBody>
                    <a:bodyPr/>
                    <a:lstStyle/>
                    <a:p>
                      <a:pPr marL="0" lvl="0" indent="0" algn="l" rtl="0">
                        <a:spcBef>
                          <a:spcPts val="0"/>
                        </a:spcBef>
                        <a:spcAft>
                          <a:spcPts val="0"/>
                        </a:spcAft>
                        <a:buNone/>
                      </a:pPr>
                      <a:r>
                        <a:rPr lang="en-US" sz="2000" dirty="0">
                          <a:solidFill>
                            <a:schemeClr val="tx1"/>
                          </a:solidFill>
                        </a:rPr>
                        <a:t>Laser power</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2000">
                          <a:solidFill>
                            <a:schemeClr val="tx1"/>
                          </a:solidFill>
                        </a:rPr>
                        <a:t>10–80 %</a:t>
                      </a:r>
                      <a:endParaRPr sz="20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934744"/>
                  </a:ext>
                </a:extLst>
              </a:tr>
              <a:tr h="403799">
                <a:tc>
                  <a:txBody>
                    <a:bodyPr/>
                    <a:lstStyle/>
                    <a:p>
                      <a:pPr marL="0" lvl="0" indent="0" algn="l" rtl="0">
                        <a:spcBef>
                          <a:spcPts val="0"/>
                        </a:spcBef>
                        <a:spcAft>
                          <a:spcPts val="0"/>
                        </a:spcAft>
                        <a:buNone/>
                      </a:pPr>
                      <a:r>
                        <a:rPr lang="en-US" sz="2000" dirty="0">
                          <a:solidFill>
                            <a:schemeClr val="tx1"/>
                          </a:solidFill>
                        </a:rPr>
                        <a:t>Integration time</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2000">
                          <a:solidFill>
                            <a:schemeClr val="tx1"/>
                          </a:solidFill>
                        </a:rPr>
                        <a:t>10–25 s</a:t>
                      </a:r>
                      <a:endParaRPr sz="20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0881664"/>
                  </a:ext>
                </a:extLst>
              </a:tr>
              <a:tr h="403799">
                <a:tc>
                  <a:txBody>
                    <a:bodyPr/>
                    <a:lstStyle/>
                    <a:p>
                      <a:pPr marL="0" lvl="0" indent="0" algn="l" rtl="0">
                        <a:spcBef>
                          <a:spcPts val="0"/>
                        </a:spcBef>
                        <a:spcAft>
                          <a:spcPts val="0"/>
                        </a:spcAft>
                        <a:buNone/>
                      </a:pPr>
                      <a:r>
                        <a:rPr lang="en-US" sz="2000" dirty="0">
                          <a:solidFill>
                            <a:schemeClr val="tx1"/>
                          </a:solidFill>
                        </a:rPr>
                        <a:t>Spectral range</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2000" dirty="0">
                          <a:solidFill>
                            <a:schemeClr val="tx1"/>
                          </a:solidFill>
                        </a:rPr>
                        <a:t>200–3000 cm⁻¹</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2721873"/>
                  </a:ext>
                </a:extLst>
              </a:tr>
            </a:tbl>
          </a:graphicData>
        </a:graphic>
      </p:graphicFrame>
      <p:sp>
        <p:nvSpPr>
          <p:cNvPr id="6" name="TextBox 5">
            <a:extLst>
              <a:ext uri="{FF2B5EF4-FFF2-40B4-BE49-F238E27FC236}">
                <a16:creationId xmlns:a16="http://schemas.microsoft.com/office/drawing/2014/main" id="{1937129D-B634-807C-D405-1ECDE67C78DF}"/>
              </a:ext>
            </a:extLst>
          </p:cNvPr>
          <p:cNvSpPr txBox="1"/>
          <p:nvPr/>
        </p:nvSpPr>
        <p:spPr>
          <a:xfrm>
            <a:off x="7587268" y="387754"/>
            <a:ext cx="6094926" cy="369332"/>
          </a:xfrm>
          <a:prstGeom prst="rect">
            <a:avLst/>
          </a:prstGeom>
          <a:noFill/>
        </p:spPr>
        <p:txBody>
          <a:bodyPr wrap="square">
            <a:spAutoFit/>
          </a:bodyPr>
          <a:lstStyle/>
          <a:p>
            <a:pPr marL="0" marR="0" lvl="0" indent="0" algn="l" rtl="0">
              <a:spcBef>
                <a:spcPts val="0"/>
              </a:spcBef>
              <a:spcAft>
                <a:spcPts val="0"/>
              </a:spcAft>
              <a:buNone/>
            </a:pPr>
            <a:r>
              <a:rPr lang="en-US" sz="1800" b="1" dirty="0">
                <a:solidFill>
                  <a:srgbClr val="00B0F0"/>
                </a:solidFill>
                <a:latin typeface="Outfit SemiBold"/>
                <a:ea typeface="Outfit SemiBold"/>
                <a:cs typeface="Outfit SemiBold"/>
                <a:sym typeface="Outfit SemiBold"/>
              </a:rPr>
              <a:t>Raman Measurement</a:t>
            </a:r>
            <a:endParaRPr lang="en-US" b="1" dirty="0">
              <a:solidFill>
                <a:srgbClr val="00B0F0"/>
              </a:solidFill>
            </a:endParaRPr>
          </a:p>
        </p:txBody>
      </p:sp>
      <p:sp>
        <p:nvSpPr>
          <p:cNvPr id="8" name="TextBox 7">
            <a:extLst>
              <a:ext uri="{FF2B5EF4-FFF2-40B4-BE49-F238E27FC236}">
                <a16:creationId xmlns:a16="http://schemas.microsoft.com/office/drawing/2014/main" id="{89ED715A-DB32-6DD4-8BEF-37B71A651590}"/>
              </a:ext>
            </a:extLst>
          </p:cNvPr>
          <p:cNvSpPr txBox="1"/>
          <p:nvPr/>
        </p:nvSpPr>
        <p:spPr>
          <a:xfrm>
            <a:off x="249529" y="572420"/>
            <a:ext cx="6442656" cy="1908215"/>
          </a:xfrm>
          <a:prstGeom prst="rect">
            <a:avLst/>
          </a:prstGeom>
          <a:noFill/>
        </p:spPr>
        <p:txBody>
          <a:bodyPr wrap="square">
            <a:spAutoFit/>
          </a:bodyPr>
          <a:lstStyle/>
          <a:p>
            <a:r>
              <a:rPr lang="en-IN" sz="2800" b="1" dirty="0">
                <a:solidFill>
                  <a:srgbClr val="00B0F0"/>
                </a:solidFill>
              </a:rPr>
              <a:t>DFT Simulation Parameters (NAM)</a:t>
            </a:r>
            <a:endParaRPr lang="en-IN" sz="2800" dirty="0">
              <a:solidFill>
                <a:schemeClr val="bg1"/>
              </a:solidFill>
            </a:endParaRPr>
          </a:p>
          <a:p>
            <a:r>
              <a:rPr lang="en-IN" sz="1800" dirty="0"/>
              <a:t>Software: Gaussian 16</a:t>
            </a:r>
          </a:p>
          <a:p>
            <a:r>
              <a:rPr lang="en-IN" sz="1800" dirty="0"/>
              <a:t>Method: B3LYP / 6-31+G(</a:t>
            </a:r>
            <a:r>
              <a:rPr lang="en-IN" sz="1800" dirty="0" err="1"/>
              <a:t>d,p</a:t>
            </a:r>
            <a:r>
              <a:rPr lang="en-IN" sz="1800" dirty="0"/>
              <a:t>)</a:t>
            </a:r>
          </a:p>
          <a:p>
            <a:r>
              <a:rPr lang="en-IN" sz="1800" dirty="0"/>
              <a:t>Calculation: </a:t>
            </a:r>
            <a:r>
              <a:rPr lang="en-IN" sz="1800" dirty="0" err="1"/>
              <a:t>Opt</a:t>
            </a:r>
            <a:r>
              <a:rPr lang="en-IN" sz="1800" dirty="0"/>
              <a:t> (Tight) + Freq (Raman)</a:t>
            </a:r>
          </a:p>
          <a:p>
            <a:r>
              <a:rPr lang="en-IN" sz="1800" dirty="0"/>
              <a:t>Geometry: Connectivity defined</a:t>
            </a:r>
          </a:p>
          <a:p>
            <a:r>
              <a:rPr lang="en-IN" sz="1800" dirty="0"/>
              <a:t>Resources: 16 cores, 56 GB RAM</a:t>
            </a:r>
          </a:p>
        </p:txBody>
      </p:sp>
      <p:sp>
        <p:nvSpPr>
          <p:cNvPr id="9" name="Google Shape;205;p26">
            <a:extLst>
              <a:ext uri="{FF2B5EF4-FFF2-40B4-BE49-F238E27FC236}">
                <a16:creationId xmlns:a16="http://schemas.microsoft.com/office/drawing/2014/main" id="{821B8B80-91D3-F4FC-2E74-044AD65BA8FA}"/>
              </a:ext>
            </a:extLst>
          </p:cNvPr>
          <p:cNvSpPr txBox="1"/>
          <p:nvPr/>
        </p:nvSpPr>
        <p:spPr>
          <a:xfrm>
            <a:off x="249529" y="2750708"/>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00B0F0"/>
                </a:solidFill>
                <a:latin typeface="Outfit SemiBold"/>
                <a:ea typeface="Outfit SemiBold"/>
                <a:cs typeface="Outfit SemiBold"/>
                <a:sym typeface="Outfit SemiBold"/>
              </a:rPr>
              <a:t>Raman Data Processing</a:t>
            </a:r>
            <a:endParaRPr dirty="0">
              <a:solidFill>
                <a:srgbClr val="00B0F0"/>
              </a:solidFill>
            </a:endParaRPr>
          </a:p>
        </p:txBody>
      </p:sp>
      <p:sp>
        <p:nvSpPr>
          <p:cNvPr id="11" name="TextBox 10">
            <a:extLst>
              <a:ext uri="{FF2B5EF4-FFF2-40B4-BE49-F238E27FC236}">
                <a16:creationId xmlns:a16="http://schemas.microsoft.com/office/drawing/2014/main" id="{AD2EF3A5-3180-B037-6AA1-0E36BC726778}"/>
              </a:ext>
            </a:extLst>
          </p:cNvPr>
          <p:cNvSpPr txBox="1"/>
          <p:nvPr/>
        </p:nvSpPr>
        <p:spPr>
          <a:xfrm>
            <a:off x="355235" y="3245359"/>
            <a:ext cx="6841554" cy="392159"/>
          </a:xfrm>
          <a:prstGeom prst="rect">
            <a:avLst/>
          </a:prstGeom>
          <a:noFill/>
        </p:spPr>
        <p:txBody>
          <a:bodyPr wrap="square">
            <a:spAutoFit/>
          </a:bodyPr>
          <a:lstStyle/>
          <a:p>
            <a:pPr marL="0" lvl="0" indent="0" algn="l" rtl="0">
              <a:lnSpc>
                <a:spcPct val="115000"/>
              </a:lnSpc>
              <a:spcBef>
                <a:spcPts val="1200"/>
              </a:spcBef>
              <a:spcAft>
                <a:spcPts val="0"/>
              </a:spcAft>
              <a:buNone/>
            </a:pPr>
            <a:r>
              <a:rPr lang="en-GB" sz="1800" dirty="0"/>
              <a:t>Spectra were </a:t>
            </a:r>
            <a:r>
              <a:rPr lang="en-GB" sz="1800" dirty="0" err="1"/>
              <a:t>preprocessed</a:t>
            </a:r>
            <a:r>
              <a:rPr lang="en-GB" sz="1800" dirty="0"/>
              <a:t> before analysis.</a:t>
            </a:r>
          </a:p>
        </p:txBody>
      </p:sp>
      <p:sp>
        <p:nvSpPr>
          <p:cNvPr id="13" name="TextBox 12">
            <a:extLst>
              <a:ext uri="{FF2B5EF4-FFF2-40B4-BE49-F238E27FC236}">
                <a16:creationId xmlns:a16="http://schemas.microsoft.com/office/drawing/2014/main" id="{56C09966-1DB7-7A41-31F0-C599D7B931D7}"/>
              </a:ext>
            </a:extLst>
          </p:cNvPr>
          <p:cNvSpPr txBox="1"/>
          <p:nvPr/>
        </p:nvSpPr>
        <p:spPr>
          <a:xfrm>
            <a:off x="513117" y="3637518"/>
            <a:ext cx="6841554" cy="2457339"/>
          </a:xfrm>
          <a:prstGeom prst="rect">
            <a:avLst/>
          </a:prstGeom>
          <a:noFill/>
        </p:spPr>
        <p:txBody>
          <a:bodyPr wrap="square">
            <a:spAutoFit/>
          </a:bodyPr>
          <a:lstStyle/>
          <a:p>
            <a:pPr marL="0" lvl="0" indent="0" algn="l" rtl="0">
              <a:lnSpc>
                <a:spcPct val="115000"/>
              </a:lnSpc>
              <a:spcBef>
                <a:spcPts val="1200"/>
              </a:spcBef>
              <a:spcAft>
                <a:spcPts val="0"/>
              </a:spcAft>
              <a:buNone/>
            </a:pPr>
            <a:r>
              <a:rPr lang="en-US" sz="1800" dirty="0"/>
              <a:t>Processing pipeline:</a:t>
            </a:r>
          </a:p>
          <a:p>
            <a:pPr marL="457200" lvl="0" indent="-323850" algn="l" rtl="0">
              <a:lnSpc>
                <a:spcPct val="115000"/>
              </a:lnSpc>
              <a:spcBef>
                <a:spcPts val="1200"/>
              </a:spcBef>
              <a:spcAft>
                <a:spcPts val="0"/>
              </a:spcAft>
              <a:buClr>
                <a:schemeClr val="lt1"/>
              </a:buClr>
              <a:buSzPts val="1500"/>
              <a:buChar char="●"/>
            </a:pPr>
            <a:r>
              <a:rPr lang="en-US" sz="1800" dirty="0"/>
              <a:t>Dark subtraction</a:t>
            </a:r>
          </a:p>
          <a:p>
            <a:pPr marL="457200" lvl="0" indent="-323850" algn="l" rtl="0">
              <a:lnSpc>
                <a:spcPct val="115000"/>
              </a:lnSpc>
              <a:spcBef>
                <a:spcPts val="0"/>
              </a:spcBef>
              <a:spcAft>
                <a:spcPts val="0"/>
              </a:spcAft>
              <a:buClr>
                <a:schemeClr val="lt1"/>
              </a:buClr>
              <a:buSzPts val="1500"/>
              <a:buChar char="●"/>
            </a:pPr>
            <a:r>
              <a:rPr lang="en-US" sz="1800" dirty="0" err="1"/>
              <a:t>Savitzky</a:t>
            </a:r>
            <a:r>
              <a:rPr lang="en-US" sz="1800" dirty="0"/>
              <a:t>–Golay smoothing</a:t>
            </a:r>
          </a:p>
          <a:p>
            <a:pPr marL="457200" lvl="0" indent="-323850" algn="l" rtl="0">
              <a:lnSpc>
                <a:spcPct val="115000"/>
              </a:lnSpc>
              <a:spcBef>
                <a:spcPts val="0"/>
              </a:spcBef>
              <a:spcAft>
                <a:spcPts val="0"/>
              </a:spcAft>
              <a:buClr>
                <a:schemeClr val="lt1"/>
              </a:buClr>
              <a:buSzPts val="1500"/>
              <a:buChar char="●"/>
            </a:pPr>
            <a:r>
              <a:rPr lang="en-US" sz="1800" dirty="0"/>
              <a:t>Baseline correction (ALS)</a:t>
            </a:r>
          </a:p>
          <a:p>
            <a:pPr marL="457200" lvl="0" indent="-323850" algn="l" rtl="0">
              <a:lnSpc>
                <a:spcPct val="115000"/>
              </a:lnSpc>
              <a:spcBef>
                <a:spcPts val="0"/>
              </a:spcBef>
              <a:spcAft>
                <a:spcPts val="0"/>
              </a:spcAft>
              <a:buClr>
                <a:schemeClr val="lt1"/>
              </a:buClr>
              <a:buSzPts val="1500"/>
              <a:buChar char="●"/>
            </a:pPr>
            <a:r>
              <a:rPr lang="en-US" sz="1800" dirty="0"/>
              <a:t>Normalization</a:t>
            </a:r>
          </a:p>
          <a:p>
            <a:pPr marL="457200" lvl="0" indent="-323850" algn="l" rtl="0">
              <a:lnSpc>
                <a:spcPct val="115000"/>
              </a:lnSpc>
              <a:spcBef>
                <a:spcPts val="0"/>
              </a:spcBef>
              <a:spcAft>
                <a:spcPts val="0"/>
              </a:spcAft>
              <a:buClr>
                <a:schemeClr val="lt1"/>
              </a:buClr>
              <a:buSzPts val="1500"/>
              <a:buChar char="●"/>
            </a:pPr>
            <a:r>
              <a:rPr lang="en-US" sz="1800" dirty="0"/>
              <a:t>Peak detection</a:t>
            </a:r>
          </a:p>
          <a:p>
            <a:pPr marL="457200" lvl="0" indent="-323850" algn="l" rtl="0">
              <a:lnSpc>
                <a:spcPct val="115000"/>
              </a:lnSpc>
              <a:spcBef>
                <a:spcPts val="0"/>
              </a:spcBef>
              <a:spcAft>
                <a:spcPts val="0"/>
              </a:spcAft>
              <a:buClr>
                <a:schemeClr val="lt1"/>
              </a:buClr>
              <a:buSzPts val="1500"/>
              <a:buChar char="●"/>
            </a:pPr>
            <a:r>
              <a:rPr lang="en-US" sz="1800" dirty="0"/>
              <a:t>SNR calculation</a:t>
            </a:r>
          </a:p>
        </p:txBody>
      </p:sp>
      <p:pic>
        <p:nvPicPr>
          <p:cNvPr id="15" name="Picture 14">
            <a:extLst>
              <a:ext uri="{FF2B5EF4-FFF2-40B4-BE49-F238E27FC236}">
                <a16:creationId xmlns:a16="http://schemas.microsoft.com/office/drawing/2014/main" id="{2EC92E41-E01D-21EC-952D-5558DDD67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3894" y="3888524"/>
            <a:ext cx="7894514" cy="2681212"/>
          </a:xfrm>
          <a:prstGeom prst="rect">
            <a:avLst/>
          </a:prstGeom>
        </p:spPr>
      </p:pic>
    </p:spTree>
    <p:extLst>
      <p:ext uri="{BB962C8B-B14F-4D97-AF65-F5344CB8AC3E}">
        <p14:creationId xmlns:p14="http://schemas.microsoft.com/office/powerpoint/2010/main" val="37397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22;p28">
            <a:extLst>
              <a:ext uri="{FF2B5EF4-FFF2-40B4-BE49-F238E27FC236}">
                <a16:creationId xmlns:a16="http://schemas.microsoft.com/office/drawing/2014/main" id="{3B66AA61-F159-F8E6-8EF8-0247FCD44079}"/>
              </a:ext>
            </a:extLst>
          </p:cNvPr>
          <p:cNvSpPr txBox="1"/>
          <p:nvPr/>
        </p:nvSpPr>
        <p:spPr>
          <a:xfrm>
            <a:off x="441722" y="4775736"/>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00B0F0"/>
                </a:solidFill>
                <a:latin typeface="Outfit SemiBold"/>
                <a:ea typeface="Outfit SemiBold"/>
                <a:cs typeface="Outfit SemiBold"/>
                <a:sym typeface="Outfit SemiBold"/>
              </a:rPr>
              <a:t>Optimal Raman Parameters</a:t>
            </a:r>
            <a:endParaRPr dirty="0">
              <a:solidFill>
                <a:srgbClr val="00B0F0"/>
              </a:solidFill>
            </a:endParaRPr>
          </a:p>
        </p:txBody>
      </p:sp>
      <p:sp>
        <p:nvSpPr>
          <p:cNvPr id="7" name="Google Shape;223;p28">
            <a:extLst>
              <a:ext uri="{FF2B5EF4-FFF2-40B4-BE49-F238E27FC236}">
                <a16:creationId xmlns:a16="http://schemas.microsoft.com/office/drawing/2014/main" id="{8038B5D0-5DA0-38AF-B50B-F6AF83FD5891}"/>
              </a:ext>
            </a:extLst>
          </p:cNvPr>
          <p:cNvSpPr txBox="1"/>
          <p:nvPr/>
        </p:nvSpPr>
        <p:spPr>
          <a:xfrm>
            <a:off x="441722" y="5148941"/>
            <a:ext cx="6616837" cy="1020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2000" dirty="0"/>
              <a:t>These settings produced the </a:t>
            </a:r>
            <a:r>
              <a:rPr lang="en-US" sz="2000" b="1" dirty="0"/>
              <a:t>highest quality spectrum</a:t>
            </a:r>
            <a:r>
              <a:rPr lang="en-US" sz="2000" dirty="0"/>
              <a:t>.</a:t>
            </a:r>
            <a:endParaRPr sz="3200" dirty="0"/>
          </a:p>
        </p:txBody>
      </p:sp>
      <p:graphicFrame>
        <p:nvGraphicFramePr>
          <p:cNvPr id="8" name="Google Shape;224;p28">
            <a:extLst>
              <a:ext uri="{FF2B5EF4-FFF2-40B4-BE49-F238E27FC236}">
                <a16:creationId xmlns:a16="http://schemas.microsoft.com/office/drawing/2014/main" id="{B666BF80-E9C1-7849-E9CD-904BA8375381}"/>
              </a:ext>
            </a:extLst>
          </p:cNvPr>
          <p:cNvGraphicFramePr/>
          <p:nvPr>
            <p:extLst>
              <p:ext uri="{D42A27DB-BD31-4B8C-83A1-F6EECF244321}">
                <p14:modId xmlns:p14="http://schemas.microsoft.com/office/powerpoint/2010/main" val="1818463660"/>
              </p:ext>
            </p:extLst>
          </p:nvPr>
        </p:nvGraphicFramePr>
        <p:xfrm>
          <a:off x="7541712" y="3451475"/>
          <a:ext cx="3832925" cy="1975746"/>
        </p:xfrm>
        <a:graphic>
          <a:graphicData uri="http://schemas.openxmlformats.org/drawingml/2006/table">
            <a:tbl>
              <a:tblPr>
                <a:noFill/>
              </a:tblPr>
              <a:tblGrid>
                <a:gridCol w="2756550">
                  <a:extLst>
                    <a:ext uri="{9D8B030D-6E8A-4147-A177-3AD203B41FA5}">
                      <a16:colId xmlns:a16="http://schemas.microsoft.com/office/drawing/2014/main" val="20000"/>
                    </a:ext>
                  </a:extLst>
                </a:gridCol>
                <a:gridCol w="10763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2000" b="1">
                          <a:solidFill>
                            <a:schemeClr val="tx1"/>
                          </a:solidFill>
                        </a:rPr>
                        <a:t>Parameter</a:t>
                      </a:r>
                      <a:endParaRPr sz="2000" b="1">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15000"/>
                        </a:lnSpc>
                        <a:spcBef>
                          <a:spcPts val="0"/>
                        </a:spcBef>
                        <a:spcAft>
                          <a:spcPts val="0"/>
                        </a:spcAft>
                        <a:buNone/>
                      </a:pPr>
                      <a:r>
                        <a:rPr lang="en-US" sz="2000" b="1" dirty="0">
                          <a:solidFill>
                            <a:schemeClr val="tx1"/>
                          </a:solidFill>
                        </a:rPr>
                        <a:t>Value</a:t>
                      </a:r>
                      <a:endParaRPr sz="2000" b="1"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US" sz="2000" dirty="0">
                          <a:solidFill>
                            <a:schemeClr val="tx1"/>
                          </a:solidFill>
                        </a:rPr>
                        <a:t>Integration time</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2000" dirty="0">
                          <a:solidFill>
                            <a:schemeClr val="tx1"/>
                          </a:solidFill>
                        </a:rPr>
                        <a:t>25 s</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US" sz="2000" dirty="0">
                          <a:solidFill>
                            <a:schemeClr val="tx1"/>
                          </a:solidFill>
                        </a:rPr>
                        <a:t>Laser power</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2000" dirty="0">
                          <a:solidFill>
                            <a:schemeClr val="tx1"/>
                          </a:solidFill>
                        </a:rPr>
                        <a:t>80 %</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dirty="0">
                          <a:solidFill>
                            <a:schemeClr val="tx1"/>
                          </a:solidFill>
                        </a:rPr>
                        <a:t>Best SNR</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2000" dirty="0">
                          <a:solidFill>
                            <a:schemeClr val="tx1"/>
                          </a:solidFill>
                        </a:rPr>
                        <a:t>95.9</a:t>
                      </a:r>
                      <a:endParaRPr sz="20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 name="Google Shape;226;p28">
            <a:extLst>
              <a:ext uri="{FF2B5EF4-FFF2-40B4-BE49-F238E27FC236}">
                <a16:creationId xmlns:a16="http://schemas.microsoft.com/office/drawing/2014/main" id="{84C7E4C5-96CF-35A0-DC99-221E17A3B40C}"/>
              </a:ext>
            </a:extLst>
          </p:cNvPr>
          <p:cNvPicPr preferRelativeResize="0"/>
          <p:nvPr/>
        </p:nvPicPr>
        <p:blipFill>
          <a:blip r:embed="rId2">
            <a:alphaModFix/>
          </a:blip>
          <a:stretch>
            <a:fillRect/>
          </a:stretch>
        </p:blipFill>
        <p:spPr>
          <a:xfrm>
            <a:off x="7046550" y="180977"/>
            <a:ext cx="4823250" cy="3124199"/>
          </a:xfrm>
          <a:prstGeom prst="rect">
            <a:avLst/>
          </a:prstGeom>
          <a:noFill/>
          <a:ln>
            <a:noFill/>
          </a:ln>
        </p:spPr>
      </p:pic>
      <p:sp>
        <p:nvSpPr>
          <p:cNvPr id="11" name="Flowchart: Connector 10">
            <a:extLst>
              <a:ext uri="{FF2B5EF4-FFF2-40B4-BE49-F238E27FC236}">
                <a16:creationId xmlns:a16="http://schemas.microsoft.com/office/drawing/2014/main" id="{1E5B2438-2379-D247-1B7F-0A30E830089A}"/>
              </a:ext>
            </a:extLst>
          </p:cNvPr>
          <p:cNvSpPr/>
          <p:nvPr/>
        </p:nvSpPr>
        <p:spPr>
          <a:xfrm>
            <a:off x="10781869" y="327276"/>
            <a:ext cx="399959" cy="405649"/>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3ADC8053-51A9-69C1-4FBD-B429EDB50A9A}"/>
              </a:ext>
            </a:extLst>
          </p:cNvPr>
          <p:cNvSpPr txBox="1"/>
          <p:nvPr/>
        </p:nvSpPr>
        <p:spPr>
          <a:xfrm>
            <a:off x="8803292" y="5018136"/>
            <a:ext cx="1890573" cy="261610"/>
          </a:xfrm>
          <a:prstGeom prst="rect">
            <a:avLst/>
          </a:prstGeom>
          <a:noFill/>
        </p:spPr>
        <p:txBody>
          <a:bodyPr wrap="square">
            <a:spAutoFit/>
          </a:bodyPr>
          <a:lstStyle/>
          <a:p>
            <a:pPr>
              <a:buNone/>
            </a:pPr>
            <a:r>
              <a:rPr lang="en-IN" sz="1100" dirty="0"/>
              <a:t> &gt; 80 = Excellent</a:t>
            </a:r>
          </a:p>
        </p:txBody>
      </p:sp>
      <p:sp>
        <p:nvSpPr>
          <p:cNvPr id="13" name="TextBox 12">
            <a:extLst>
              <a:ext uri="{FF2B5EF4-FFF2-40B4-BE49-F238E27FC236}">
                <a16:creationId xmlns:a16="http://schemas.microsoft.com/office/drawing/2014/main" id="{B7D24B34-07A4-E6E8-B5DB-B7625A18259D}"/>
              </a:ext>
            </a:extLst>
          </p:cNvPr>
          <p:cNvSpPr txBox="1"/>
          <p:nvPr/>
        </p:nvSpPr>
        <p:spPr>
          <a:xfrm>
            <a:off x="8893983" y="5476694"/>
            <a:ext cx="2087865" cy="1200329"/>
          </a:xfrm>
          <a:prstGeom prst="rect">
            <a:avLst/>
          </a:prstGeom>
          <a:noFill/>
        </p:spPr>
        <p:txBody>
          <a:bodyPr wrap="square">
            <a:spAutoFit/>
          </a:bodyPr>
          <a:lstStyle/>
          <a:p>
            <a:r>
              <a:rPr lang="en-IN" dirty="0"/>
              <a:t>SNR Interpretation:</a:t>
            </a:r>
          </a:p>
          <a:p>
            <a:r>
              <a:rPr lang="en-IN" dirty="0"/>
              <a:t>&gt;80 → Excellent  </a:t>
            </a:r>
          </a:p>
          <a:p>
            <a:r>
              <a:rPr lang="en-IN" dirty="0"/>
              <a:t>50–80 → Very Good  </a:t>
            </a:r>
          </a:p>
          <a:p>
            <a:r>
              <a:rPr lang="en-IN" dirty="0"/>
              <a:t>30–50 → Good </a:t>
            </a:r>
          </a:p>
        </p:txBody>
      </p:sp>
      <p:pic>
        <p:nvPicPr>
          <p:cNvPr id="17" name="Picture 16">
            <a:extLst>
              <a:ext uri="{FF2B5EF4-FFF2-40B4-BE49-F238E27FC236}">
                <a16:creationId xmlns:a16="http://schemas.microsoft.com/office/drawing/2014/main" id="{445DF56D-B3D2-307C-6576-0D53744BA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388" y="327276"/>
            <a:ext cx="6616837" cy="4224596"/>
          </a:xfrm>
          <a:prstGeom prst="rect">
            <a:avLst/>
          </a:prstGeom>
        </p:spPr>
      </p:pic>
    </p:spTree>
    <p:extLst>
      <p:ext uri="{BB962C8B-B14F-4D97-AF65-F5344CB8AC3E}">
        <p14:creationId xmlns:p14="http://schemas.microsoft.com/office/powerpoint/2010/main" val="1137381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1807C-B9D0-99F1-3B4C-CF066FFB4F9C}"/>
            </a:ext>
          </a:extLst>
        </p:cNvPr>
        <p:cNvGrpSpPr/>
        <p:nvPr/>
      </p:nvGrpSpPr>
      <p:grpSpPr>
        <a:xfrm>
          <a:off x="0" y="0"/>
          <a:ext cx="0" cy="0"/>
          <a:chOff x="0" y="0"/>
          <a:chExt cx="0" cy="0"/>
        </a:xfrm>
      </p:grpSpPr>
      <p:sp>
        <p:nvSpPr>
          <p:cNvPr id="2" name="Google Shape;231;p29">
            <a:extLst>
              <a:ext uri="{FF2B5EF4-FFF2-40B4-BE49-F238E27FC236}">
                <a16:creationId xmlns:a16="http://schemas.microsoft.com/office/drawing/2014/main" id="{4D0F46D6-4F65-2B65-7374-57EA84ECE0BA}"/>
              </a:ext>
            </a:extLst>
          </p:cNvPr>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22D3EE"/>
                </a:solidFill>
                <a:latin typeface="Outfit SemiBold"/>
                <a:ea typeface="Outfit SemiBold"/>
                <a:cs typeface="Outfit SemiBold"/>
                <a:sym typeface="Outfit SemiBold"/>
              </a:rPr>
              <a:t>Acquisition Parameter Analysis</a:t>
            </a:r>
            <a:endParaRPr dirty="0"/>
          </a:p>
        </p:txBody>
      </p:sp>
      <p:pic>
        <p:nvPicPr>
          <p:cNvPr id="3" name="Google Shape;232;p29">
            <a:extLst>
              <a:ext uri="{FF2B5EF4-FFF2-40B4-BE49-F238E27FC236}">
                <a16:creationId xmlns:a16="http://schemas.microsoft.com/office/drawing/2014/main" id="{06FB36A3-9352-298A-3926-7B571CD0D71A}"/>
              </a:ext>
            </a:extLst>
          </p:cNvPr>
          <p:cNvPicPr preferRelativeResize="0"/>
          <p:nvPr/>
        </p:nvPicPr>
        <p:blipFill>
          <a:blip r:embed="rId2">
            <a:alphaModFix/>
          </a:blip>
          <a:stretch>
            <a:fillRect/>
          </a:stretch>
        </p:blipFill>
        <p:spPr>
          <a:xfrm>
            <a:off x="1260086" y="758406"/>
            <a:ext cx="9772749" cy="2719950"/>
          </a:xfrm>
          <a:prstGeom prst="rect">
            <a:avLst/>
          </a:prstGeom>
          <a:noFill/>
          <a:ln>
            <a:noFill/>
          </a:ln>
        </p:spPr>
      </p:pic>
      <p:pic>
        <p:nvPicPr>
          <p:cNvPr id="4" name="Google Shape;233;p29">
            <a:extLst>
              <a:ext uri="{FF2B5EF4-FFF2-40B4-BE49-F238E27FC236}">
                <a16:creationId xmlns:a16="http://schemas.microsoft.com/office/drawing/2014/main" id="{F0FA3293-185A-1B03-E591-C9760CB6F2C7}"/>
              </a:ext>
            </a:extLst>
          </p:cNvPr>
          <p:cNvPicPr preferRelativeResize="0"/>
          <p:nvPr/>
        </p:nvPicPr>
        <p:blipFill>
          <a:blip r:embed="rId3">
            <a:alphaModFix/>
          </a:blip>
          <a:stretch>
            <a:fillRect/>
          </a:stretch>
        </p:blipFill>
        <p:spPr>
          <a:xfrm>
            <a:off x="2861954" y="3708694"/>
            <a:ext cx="6468091" cy="3072975"/>
          </a:xfrm>
          <a:prstGeom prst="rect">
            <a:avLst/>
          </a:prstGeom>
          <a:noFill/>
          <a:ln>
            <a:noFill/>
          </a:ln>
        </p:spPr>
      </p:pic>
      <p:sp>
        <p:nvSpPr>
          <p:cNvPr id="5" name="Rectangle 4">
            <a:extLst>
              <a:ext uri="{FF2B5EF4-FFF2-40B4-BE49-F238E27FC236}">
                <a16:creationId xmlns:a16="http://schemas.microsoft.com/office/drawing/2014/main" id="{D1C4FF81-9383-428B-FA34-4D7D8003C66B}"/>
              </a:ext>
            </a:extLst>
          </p:cNvPr>
          <p:cNvSpPr/>
          <p:nvPr/>
        </p:nvSpPr>
        <p:spPr>
          <a:xfrm>
            <a:off x="3640480" y="1281448"/>
            <a:ext cx="173865" cy="166137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C271745B-9615-9EFD-D90D-477775A956D4}"/>
              </a:ext>
            </a:extLst>
          </p:cNvPr>
          <p:cNvSpPr/>
          <p:nvPr/>
        </p:nvSpPr>
        <p:spPr>
          <a:xfrm>
            <a:off x="10221532" y="2771043"/>
            <a:ext cx="354872" cy="4636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801FAC3C-1AFF-2AF1-E166-7645380BBBE5}"/>
              </a:ext>
            </a:extLst>
          </p:cNvPr>
          <p:cNvSpPr/>
          <p:nvPr/>
        </p:nvSpPr>
        <p:spPr>
          <a:xfrm>
            <a:off x="6959617" y="1281448"/>
            <a:ext cx="173865" cy="1803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75415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70BEC-201C-F2DD-FDB2-82DC11027590}"/>
            </a:ext>
          </a:extLst>
        </p:cNvPr>
        <p:cNvGrpSpPr/>
        <p:nvPr/>
      </p:nvGrpSpPr>
      <p:grpSpPr>
        <a:xfrm>
          <a:off x="0" y="0"/>
          <a:ext cx="0" cy="0"/>
          <a:chOff x="0" y="0"/>
          <a:chExt cx="0" cy="0"/>
        </a:xfrm>
      </p:grpSpPr>
      <p:sp>
        <p:nvSpPr>
          <p:cNvPr id="6" name="Google Shape;238;p30">
            <a:extLst>
              <a:ext uri="{FF2B5EF4-FFF2-40B4-BE49-F238E27FC236}">
                <a16:creationId xmlns:a16="http://schemas.microsoft.com/office/drawing/2014/main" id="{F46C114D-6992-BC1B-5397-9A427C0A85D3}"/>
              </a:ext>
            </a:extLst>
          </p:cNvPr>
          <p:cNvSpPr txBox="1"/>
          <p:nvPr/>
        </p:nvSpPr>
        <p:spPr>
          <a:xfrm>
            <a:off x="577350" y="146300"/>
            <a:ext cx="6469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Raman Peak Assignments</a:t>
            </a:r>
            <a:endParaRPr/>
          </a:p>
        </p:txBody>
      </p:sp>
      <p:graphicFrame>
        <p:nvGraphicFramePr>
          <p:cNvPr id="7" name="Google Shape;239;p30">
            <a:extLst>
              <a:ext uri="{FF2B5EF4-FFF2-40B4-BE49-F238E27FC236}">
                <a16:creationId xmlns:a16="http://schemas.microsoft.com/office/drawing/2014/main" id="{2EDD8349-3A15-8F4D-F33E-D4C0DF52600F}"/>
              </a:ext>
            </a:extLst>
          </p:cNvPr>
          <p:cNvGraphicFramePr/>
          <p:nvPr>
            <p:extLst>
              <p:ext uri="{D42A27DB-BD31-4B8C-83A1-F6EECF244321}">
                <p14:modId xmlns:p14="http://schemas.microsoft.com/office/powerpoint/2010/main" val="1420496479"/>
              </p:ext>
            </p:extLst>
          </p:nvPr>
        </p:nvGraphicFramePr>
        <p:xfrm>
          <a:off x="590673" y="647062"/>
          <a:ext cx="7029328" cy="2986830"/>
        </p:xfrm>
        <a:graphic>
          <a:graphicData uri="http://schemas.openxmlformats.org/drawingml/2006/table">
            <a:tbl>
              <a:tblPr>
                <a:noFill/>
              </a:tblPr>
              <a:tblGrid>
                <a:gridCol w="2563964">
                  <a:extLst>
                    <a:ext uri="{9D8B030D-6E8A-4147-A177-3AD203B41FA5}">
                      <a16:colId xmlns:a16="http://schemas.microsoft.com/office/drawing/2014/main" val="20000"/>
                    </a:ext>
                  </a:extLst>
                </a:gridCol>
                <a:gridCol w="4465364">
                  <a:extLst>
                    <a:ext uri="{9D8B030D-6E8A-4147-A177-3AD203B41FA5}">
                      <a16:colId xmlns:a16="http://schemas.microsoft.com/office/drawing/2014/main" val="20001"/>
                    </a:ext>
                  </a:extLst>
                </a:gridCol>
              </a:tblGrid>
              <a:tr h="0">
                <a:tc>
                  <a:txBody>
                    <a:bodyPr/>
                    <a:lstStyle/>
                    <a:p>
                      <a:pPr marL="0" lvl="0" indent="0" algn="ctr" rtl="0">
                        <a:lnSpc>
                          <a:spcPct val="100000"/>
                        </a:lnSpc>
                        <a:spcBef>
                          <a:spcPts val="0"/>
                        </a:spcBef>
                        <a:spcAft>
                          <a:spcPts val="0"/>
                        </a:spcAft>
                        <a:buNone/>
                      </a:pPr>
                      <a:r>
                        <a:rPr lang="en-US" sz="1600" b="1">
                          <a:solidFill>
                            <a:schemeClr val="tx1"/>
                          </a:solidFill>
                        </a:rPr>
                        <a:t>Raman Shift</a:t>
                      </a:r>
                      <a:endParaRPr sz="1600" b="1">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b="1">
                          <a:solidFill>
                            <a:schemeClr val="tx1"/>
                          </a:solidFill>
                        </a:rPr>
                        <a:t>Assignment</a:t>
                      </a:r>
                      <a:endParaRPr sz="1600" b="1">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US" sz="1600" dirty="0">
                          <a:solidFill>
                            <a:srgbClr val="FF0000"/>
                          </a:solidFill>
                        </a:rPr>
                        <a:t>1701</a:t>
                      </a:r>
                      <a:endParaRPr sz="1600" dirty="0">
                        <a:solidFill>
                          <a:srgbClr val="FF0000"/>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lvl="0" indent="0" algn="ctr" rtl="0">
                        <a:lnSpc>
                          <a:spcPct val="100000"/>
                        </a:lnSpc>
                        <a:spcBef>
                          <a:spcPts val="0"/>
                        </a:spcBef>
                        <a:spcAft>
                          <a:spcPts val="0"/>
                        </a:spcAft>
                        <a:buNone/>
                      </a:pPr>
                      <a:r>
                        <a:rPr lang="en-US" sz="1600" dirty="0">
                          <a:solidFill>
                            <a:schemeClr val="tx1"/>
                          </a:solidFill>
                        </a:rPr>
                        <a:t>1546</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a:solidFill>
                            <a:schemeClr val="tx1"/>
                          </a:solidFill>
                        </a:rPr>
                        <a:t>Amide II</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lvl="0" indent="0" algn="ctr" rtl="0">
                        <a:lnSpc>
                          <a:spcPct val="100000"/>
                        </a:lnSpc>
                        <a:spcBef>
                          <a:spcPts val="0"/>
                        </a:spcBef>
                        <a:spcAft>
                          <a:spcPts val="0"/>
                        </a:spcAft>
                        <a:buNone/>
                      </a:pPr>
                      <a:r>
                        <a:rPr lang="en-US" sz="1600">
                          <a:solidFill>
                            <a:schemeClr val="tx1"/>
                          </a:solidFill>
                        </a:rPr>
                        <a:t>1452</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dirty="0">
                          <a:solidFill>
                            <a:schemeClr val="tx1"/>
                          </a:solidFill>
                        </a:rPr>
                        <a:t>CH₂ bending</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lvl="0" indent="0" algn="ctr" rtl="0">
                        <a:lnSpc>
                          <a:spcPct val="100000"/>
                        </a:lnSpc>
                        <a:spcBef>
                          <a:spcPts val="0"/>
                        </a:spcBef>
                        <a:spcAft>
                          <a:spcPts val="0"/>
                        </a:spcAft>
                        <a:buNone/>
                      </a:pPr>
                      <a:r>
                        <a:rPr lang="en-US" sz="1600" dirty="0">
                          <a:solidFill>
                            <a:srgbClr val="FF0000"/>
                          </a:solidFill>
                        </a:rPr>
                        <a:t>1086</a:t>
                      </a:r>
                      <a:endParaRPr sz="1600" dirty="0">
                        <a:solidFill>
                          <a:srgbClr val="FF0000"/>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dirty="0">
                          <a:solidFill>
                            <a:srgbClr val="FF0000"/>
                          </a:solidFill>
                        </a:rPr>
                        <a:t>C–O stretch</a:t>
                      </a:r>
                      <a:endParaRPr sz="1600" dirty="0">
                        <a:solidFill>
                          <a:srgbClr val="FF0000"/>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lvl="0" indent="0" algn="ctr" rtl="0">
                        <a:lnSpc>
                          <a:spcPct val="100000"/>
                        </a:lnSpc>
                        <a:spcBef>
                          <a:spcPts val="0"/>
                        </a:spcBef>
                        <a:spcAft>
                          <a:spcPts val="0"/>
                        </a:spcAft>
                        <a:buNone/>
                      </a:pPr>
                      <a:r>
                        <a:rPr lang="en-US" sz="1600">
                          <a:solidFill>
                            <a:schemeClr val="tx1"/>
                          </a:solidFill>
                        </a:rPr>
                        <a:t>872</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dirty="0">
                          <a:solidFill>
                            <a:schemeClr val="tx1"/>
                          </a:solidFill>
                        </a:rPr>
                        <a:t>C–O–C stretch</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lvl="0" indent="0" algn="ctr" rtl="0">
                        <a:lnSpc>
                          <a:spcPct val="100000"/>
                        </a:lnSpc>
                        <a:spcBef>
                          <a:spcPts val="0"/>
                        </a:spcBef>
                        <a:spcAft>
                          <a:spcPts val="0"/>
                        </a:spcAft>
                        <a:buNone/>
                      </a:pPr>
                      <a:r>
                        <a:rPr lang="en-US" sz="1600">
                          <a:solidFill>
                            <a:schemeClr val="tx1"/>
                          </a:solidFill>
                        </a:rPr>
                        <a:t>956</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None/>
                      </a:pPr>
                      <a:r>
                        <a:rPr lang="en-US" sz="1600" dirty="0">
                          <a:solidFill>
                            <a:schemeClr val="tx1"/>
                          </a:solidFill>
                        </a:rPr>
                        <a:t>Pyranose ring breathing</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Google Shape;240;p30">
            <a:extLst>
              <a:ext uri="{FF2B5EF4-FFF2-40B4-BE49-F238E27FC236}">
                <a16:creationId xmlns:a16="http://schemas.microsoft.com/office/drawing/2014/main" id="{815A2287-CB20-3D51-52BD-96FCE992397F}"/>
              </a:ext>
            </a:extLst>
          </p:cNvPr>
          <p:cNvPicPr preferRelativeResize="0"/>
          <p:nvPr/>
        </p:nvPicPr>
        <p:blipFill>
          <a:blip r:embed="rId2">
            <a:alphaModFix/>
          </a:blip>
          <a:stretch>
            <a:fillRect/>
          </a:stretch>
        </p:blipFill>
        <p:spPr>
          <a:xfrm>
            <a:off x="548896" y="3903876"/>
            <a:ext cx="6497654" cy="2807824"/>
          </a:xfrm>
          <a:prstGeom prst="rect">
            <a:avLst/>
          </a:prstGeom>
          <a:noFill/>
          <a:ln>
            <a:noFill/>
          </a:ln>
        </p:spPr>
      </p:pic>
      <p:pic>
        <p:nvPicPr>
          <p:cNvPr id="10" name="Picture 9">
            <a:extLst>
              <a:ext uri="{FF2B5EF4-FFF2-40B4-BE49-F238E27FC236}">
                <a16:creationId xmlns:a16="http://schemas.microsoft.com/office/drawing/2014/main" id="{A1E4439D-8DAF-EFE4-9AC7-A506409AE8F8}"/>
              </a:ext>
            </a:extLst>
          </p:cNvPr>
          <p:cNvPicPr>
            <a:picLocks noChangeAspect="1"/>
          </p:cNvPicPr>
          <p:nvPr/>
        </p:nvPicPr>
        <p:blipFill>
          <a:blip r:embed="rId3"/>
          <a:srcRect l="22897" t="12324" r="23131" b="9691"/>
          <a:stretch>
            <a:fillRect/>
          </a:stretch>
        </p:blipFill>
        <p:spPr>
          <a:xfrm>
            <a:off x="7834592" y="508066"/>
            <a:ext cx="4074127" cy="3174642"/>
          </a:xfrm>
          <a:prstGeom prst="rect">
            <a:avLst/>
          </a:prstGeom>
        </p:spPr>
      </p:pic>
      <p:pic>
        <p:nvPicPr>
          <p:cNvPr id="11" name="Picture 10">
            <a:extLst>
              <a:ext uri="{FF2B5EF4-FFF2-40B4-BE49-F238E27FC236}">
                <a16:creationId xmlns:a16="http://schemas.microsoft.com/office/drawing/2014/main" id="{94AD0074-E726-0D63-92AD-A1EBDD324494}"/>
              </a:ext>
            </a:extLst>
          </p:cNvPr>
          <p:cNvPicPr>
            <a:picLocks noChangeAspect="1"/>
          </p:cNvPicPr>
          <p:nvPr/>
        </p:nvPicPr>
        <p:blipFill>
          <a:blip r:embed="rId4"/>
          <a:srcRect l="20277" t="15720" r="26713" b="8580"/>
          <a:stretch>
            <a:fillRect/>
          </a:stretch>
        </p:blipFill>
        <p:spPr>
          <a:xfrm>
            <a:off x="8041247" y="4010873"/>
            <a:ext cx="3369435" cy="2700827"/>
          </a:xfrm>
          <a:prstGeom prst="rect">
            <a:avLst/>
          </a:prstGeom>
        </p:spPr>
      </p:pic>
      <p:sp>
        <p:nvSpPr>
          <p:cNvPr id="12" name="TextBox 11">
            <a:extLst>
              <a:ext uri="{FF2B5EF4-FFF2-40B4-BE49-F238E27FC236}">
                <a16:creationId xmlns:a16="http://schemas.microsoft.com/office/drawing/2014/main" id="{324EC97B-D124-BCBD-F812-3DFEE4FD02E3}"/>
              </a:ext>
            </a:extLst>
          </p:cNvPr>
          <p:cNvSpPr txBox="1"/>
          <p:nvPr/>
        </p:nvSpPr>
        <p:spPr>
          <a:xfrm>
            <a:off x="5712463" y="3191098"/>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13" name="TextBox 12">
            <a:extLst>
              <a:ext uri="{FF2B5EF4-FFF2-40B4-BE49-F238E27FC236}">
                <a16:creationId xmlns:a16="http://schemas.microsoft.com/office/drawing/2014/main" id="{BA5A12AD-6EEA-A91A-631B-DD26C3993F63}"/>
              </a:ext>
            </a:extLst>
          </p:cNvPr>
          <p:cNvSpPr txBox="1"/>
          <p:nvPr/>
        </p:nvSpPr>
        <p:spPr>
          <a:xfrm>
            <a:off x="5548178" y="5523499"/>
            <a:ext cx="6094926" cy="307777"/>
          </a:xfrm>
          <a:prstGeom prst="rect">
            <a:avLst/>
          </a:prstGeom>
          <a:noFill/>
        </p:spPr>
        <p:txBody>
          <a:bodyPr wrap="square">
            <a:spAutoFit/>
          </a:bodyPr>
          <a:lstStyle/>
          <a:p>
            <a:pPr marL="0" lvl="0" indent="0" algn="ctr" rtl="0">
              <a:lnSpc>
                <a:spcPct val="100000"/>
              </a:lnSpc>
              <a:spcBef>
                <a:spcPts val="0"/>
              </a:spcBef>
              <a:spcAft>
                <a:spcPts val="0"/>
              </a:spcAft>
              <a:buNone/>
            </a:pPr>
            <a:r>
              <a:rPr lang="en-US" sz="1400" b="1" dirty="0">
                <a:solidFill>
                  <a:srgbClr val="FF0000"/>
                </a:solidFill>
              </a:rPr>
              <a:t>C–O stretch</a:t>
            </a:r>
          </a:p>
        </p:txBody>
      </p:sp>
      <p:sp>
        <p:nvSpPr>
          <p:cNvPr id="15" name="Flowchart: Connector 14">
            <a:extLst>
              <a:ext uri="{FF2B5EF4-FFF2-40B4-BE49-F238E27FC236}">
                <a16:creationId xmlns:a16="http://schemas.microsoft.com/office/drawing/2014/main" id="{1CFA07E3-2040-E64A-BC61-F7958C571528}"/>
              </a:ext>
            </a:extLst>
          </p:cNvPr>
          <p:cNvSpPr/>
          <p:nvPr/>
        </p:nvSpPr>
        <p:spPr>
          <a:xfrm rot="19942640">
            <a:off x="9311425" y="2653503"/>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Connector 15">
            <a:extLst>
              <a:ext uri="{FF2B5EF4-FFF2-40B4-BE49-F238E27FC236}">
                <a16:creationId xmlns:a16="http://schemas.microsoft.com/office/drawing/2014/main" id="{EE728C7A-491D-14D4-CDF9-88C2B1832822}"/>
              </a:ext>
            </a:extLst>
          </p:cNvPr>
          <p:cNvSpPr/>
          <p:nvPr/>
        </p:nvSpPr>
        <p:spPr>
          <a:xfrm rot="19942640">
            <a:off x="8069168" y="4530057"/>
            <a:ext cx="1532586" cy="888642"/>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46483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FF9E-0535-D034-EB5B-1F89F45CBA9B}"/>
            </a:ext>
          </a:extLst>
        </p:cNvPr>
        <p:cNvGrpSpPr/>
        <p:nvPr/>
      </p:nvGrpSpPr>
      <p:grpSpPr>
        <a:xfrm>
          <a:off x="0" y="0"/>
          <a:ext cx="0" cy="0"/>
          <a:chOff x="0" y="0"/>
          <a:chExt cx="0" cy="0"/>
        </a:xfrm>
      </p:grpSpPr>
      <p:sp>
        <p:nvSpPr>
          <p:cNvPr id="2" name="Google Shape;253;p32">
            <a:extLst>
              <a:ext uri="{FF2B5EF4-FFF2-40B4-BE49-F238E27FC236}">
                <a16:creationId xmlns:a16="http://schemas.microsoft.com/office/drawing/2014/main" id="{277B9819-A17B-8900-D30F-49EE454C2BDE}"/>
              </a:ext>
            </a:extLst>
          </p:cNvPr>
          <p:cNvSpPr txBox="1"/>
          <p:nvPr/>
        </p:nvSpPr>
        <p:spPr>
          <a:xfrm>
            <a:off x="577350" y="146300"/>
            <a:ext cx="84972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22D3EE"/>
                </a:solidFill>
                <a:latin typeface="Outfit SemiBold"/>
                <a:ea typeface="Outfit SemiBold"/>
                <a:cs typeface="Outfit SemiBold"/>
                <a:sym typeface="Outfit SemiBold"/>
              </a:rPr>
              <a:t>Experimental vs DFT Raman Spectrum (NAM)</a:t>
            </a:r>
            <a:endParaRPr/>
          </a:p>
        </p:txBody>
      </p:sp>
      <p:pic>
        <p:nvPicPr>
          <p:cNvPr id="3" name="Google Shape;254;p32">
            <a:extLst>
              <a:ext uri="{FF2B5EF4-FFF2-40B4-BE49-F238E27FC236}">
                <a16:creationId xmlns:a16="http://schemas.microsoft.com/office/drawing/2014/main" id="{8A08A068-74C1-7989-F2EE-EC23C45E0B35}"/>
              </a:ext>
            </a:extLst>
          </p:cNvPr>
          <p:cNvPicPr preferRelativeResize="0"/>
          <p:nvPr/>
        </p:nvPicPr>
        <p:blipFill>
          <a:blip r:embed="rId2">
            <a:alphaModFix/>
          </a:blip>
          <a:stretch>
            <a:fillRect/>
          </a:stretch>
        </p:blipFill>
        <p:spPr>
          <a:xfrm>
            <a:off x="1447255" y="755606"/>
            <a:ext cx="9297489" cy="4973301"/>
          </a:xfrm>
          <a:prstGeom prst="rect">
            <a:avLst/>
          </a:prstGeom>
          <a:noFill/>
          <a:ln>
            <a:noFill/>
          </a:ln>
        </p:spPr>
      </p:pic>
      <p:sp>
        <p:nvSpPr>
          <p:cNvPr id="4" name="TextBox 3">
            <a:extLst>
              <a:ext uri="{FF2B5EF4-FFF2-40B4-BE49-F238E27FC236}">
                <a16:creationId xmlns:a16="http://schemas.microsoft.com/office/drawing/2014/main" id="{7DB6FE73-D4F8-D053-B289-00910BEDB39D}"/>
              </a:ext>
            </a:extLst>
          </p:cNvPr>
          <p:cNvSpPr txBox="1"/>
          <p:nvPr/>
        </p:nvSpPr>
        <p:spPr>
          <a:xfrm>
            <a:off x="3196721" y="5853413"/>
            <a:ext cx="6096000" cy="646331"/>
          </a:xfrm>
          <a:prstGeom prst="rect">
            <a:avLst/>
          </a:prstGeom>
          <a:noFill/>
        </p:spPr>
        <p:txBody>
          <a:bodyPr wrap="square">
            <a:spAutoFit/>
          </a:bodyPr>
          <a:lstStyle/>
          <a:p>
            <a:r>
              <a:rPr lang="en-IN" dirty="0"/>
              <a:t>Excellent agreement between experiment and simulation</a:t>
            </a:r>
            <a:br>
              <a:rPr lang="en-IN" dirty="0"/>
            </a:br>
            <a:r>
              <a:rPr lang="en-GB" dirty="0"/>
              <a:t>(</a:t>
            </a:r>
            <a:r>
              <a:rPr lang="en-GB" dirty="0" err="1"/>
              <a:t>RMSE</a:t>
            </a:r>
            <a:r>
              <a:rPr lang="en-GB" dirty="0"/>
              <a:t> ~2 cm⁻¹) validates DFT for biomarker detection</a:t>
            </a:r>
            <a:endParaRPr lang="en-IN" dirty="0"/>
          </a:p>
        </p:txBody>
      </p:sp>
    </p:spTree>
    <p:extLst>
      <p:ext uri="{BB962C8B-B14F-4D97-AF65-F5344CB8AC3E}">
        <p14:creationId xmlns:p14="http://schemas.microsoft.com/office/powerpoint/2010/main" val="1948230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2F837-FC1A-8399-5947-902267AB19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EFCF77B-F3BC-F5FB-CEA7-14651B009E43}"/>
              </a:ext>
            </a:extLst>
          </p:cNvPr>
          <p:cNvSpPr>
            <a:spLocks noGrp="1"/>
          </p:cNvSpPr>
          <p:nvPr>
            <p:ph type="subTitle" idx="1"/>
          </p:nvPr>
        </p:nvSpPr>
        <p:spPr>
          <a:xfrm>
            <a:off x="480812" y="137621"/>
            <a:ext cx="9144000" cy="437882"/>
          </a:xfrm>
        </p:spPr>
        <p:txBody>
          <a:bodyPr/>
          <a:lstStyle/>
          <a:p>
            <a:pPr algn="l"/>
            <a:r>
              <a:rPr lang="en-IN" b="1" dirty="0">
                <a:solidFill>
                  <a:srgbClr val="00B0F0"/>
                </a:solidFill>
              </a:rPr>
              <a:t>Simulation vs Literature Simulation</a:t>
            </a:r>
          </a:p>
        </p:txBody>
      </p:sp>
      <p:graphicFrame>
        <p:nvGraphicFramePr>
          <p:cNvPr id="4" name="Table 3">
            <a:extLst>
              <a:ext uri="{FF2B5EF4-FFF2-40B4-BE49-F238E27FC236}">
                <a16:creationId xmlns:a16="http://schemas.microsoft.com/office/drawing/2014/main" id="{7B299E7B-DE23-CBFB-DA7F-479DBA89341C}"/>
              </a:ext>
            </a:extLst>
          </p:cNvPr>
          <p:cNvGraphicFramePr>
            <a:graphicFrameLocks noGrp="1"/>
          </p:cNvGraphicFramePr>
          <p:nvPr>
            <p:extLst>
              <p:ext uri="{D42A27DB-BD31-4B8C-83A1-F6EECF244321}">
                <p14:modId xmlns:p14="http://schemas.microsoft.com/office/powerpoint/2010/main" val="2365360454"/>
              </p:ext>
            </p:extLst>
          </p:nvPr>
        </p:nvGraphicFramePr>
        <p:xfrm>
          <a:off x="1842752" y="745515"/>
          <a:ext cx="8412480" cy="3291840"/>
        </p:xfrm>
        <a:graphic>
          <a:graphicData uri="http://schemas.openxmlformats.org/drawingml/2006/table">
            <a:tbl>
              <a:tblPr/>
              <a:tblGrid>
                <a:gridCol w="2103120">
                  <a:extLst>
                    <a:ext uri="{9D8B030D-6E8A-4147-A177-3AD203B41FA5}">
                      <a16:colId xmlns:a16="http://schemas.microsoft.com/office/drawing/2014/main" val="744490543"/>
                    </a:ext>
                  </a:extLst>
                </a:gridCol>
                <a:gridCol w="2103120">
                  <a:extLst>
                    <a:ext uri="{9D8B030D-6E8A-4147-A177-3AD203B41FA5}">
                      <a16:colId xmlns:a16="http://schemas.microsoft.com/office/drawing/2014/main" val="2454494957"/>
                    </a:ext>
                  </a:extLst>
                </a:gridCol>
                <a:gridCol w="2103120">
                  <a:extLst>
                    <a:ext uri="{9D8B030D-6E8A-4147-A177-3AD203B41FA5}">
                      <a16:colId xmlns:a16="http://schemas.microsoft.com/office/drawing/2014/main" val="881584811"/>
                    </a:ext>
                  </a:extLst>
                </a:gridCol>
                <a:gridCol w="2103120">
                  <a:extLst>
                    <a:ext uri="{9D8B030D-6E8A-4147-A177-3AD203B41FA5}">
                      <a16:colId xmlns:a16="http://schemas.microsoft.com/office/drawing/2014/main" val="1636457840"/>
                    </a:ext>
                  </a:extLst>
                </a:gridCol>
              </a:tblGrid>
              <a:tr h="0">
                <a:tc>
                  <a:txBody>
                    <a:bodyPr/>
                    <a:lstStyle/>
                    <a:p>
                      <a:pPr algn="ctr">
                        <a:buNone/>
                      </a:pPr>
                      <a:r>
                        <a:rPr lang="en-IN" b="1" dirty="0"/>
                        <a:t>Your Sim (cm⁻¹)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Literature (cm⁻¹)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Assignment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1179539"/>
                  </a:ext>
                </a:extLst>
              </a:tr>
              <a:tr h="0">
                <a:tc>
                  <a:txBody>
                    <a:bodyPr/>
                    <a:lstStyle/>
                    <a:p>
                      <a:pPr algn="ctr">
                        <a:buNone/>
                      </a:pPr>
                      <a:r>
                        <a:rPr lang="en-IN"/>
                        <a:t>216.1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214.2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CH rocking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49212"/>
                  </a:ext>
                </a:extLst>
              </a:tr>
              <a:tr h="0">
                <a:tc>
                  <a:txBody>
                    <a:bodyPr/>
                    <a:lstStyle/>
                    <a:p>
                      <a:pPr algn="ctr">
                        <a:buNone/>
                      </a:pPr>
                      <a:r>
                        <a:rPr lang="en-IN"/>
                        <a:t>282.5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292.7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Torsion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930643"/>
                  </a:ext>
                </a:extLst>
              </a:tr>
              <a:tr h="0">
                <a:tc>
                  <a:txBody>
                    <a:bodyPr/>
                    <a:lstStyle/>
                    <a:p>
                      <a:pPr algn="ctr">
                        <a:buNone/>
                      </a:pPr>
                      <a:r>
                        <a:rPr lang="en-IN"/>
                        <a:t>562.4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558.9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C–O bending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239100"/>
                  </a:ext>
                </a:extLst>
              </a:tr>
              <a:tr h="0">
                <a:tc>
                  <a:txBody>
                    <a:bodyPr/>
                    <a:lstStyle/>
                    <a:p>
                      <a:pPr algn="ctr">
                        <a:buNone/>
                      </a:pPr>
                      <a:r>
                        <a:rPr lang="en-IN" dirty="0"/>
                        <a:t>1009.5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1010.5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C–O–C stretch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9759110"/>
                  </a:ext>
                </a:extLst>
              </a:tr>
              <a:tr h="0">
                <a:tc>
                  <a:txBody>
                    <a:bodyPr/>
                    <a:lstStyle/>
                    <a:p>
                      <a:pPr algn="ctr">
                        <a:buNone/>
                      </a:pPr>
                      <a:r>
                        <a:rPr lang="en-IN" dirty="0"/>
                        <a:t>1260.1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1233.8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Amide III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3354605"/>
                  </a:ext>
                </a:extLst>
              </a:tr>
              <a:tr h="0">
                <a:tc>
                  <a:txBody>
                    <a:bodyPr/>
                    <a:lstStyle/>
                    <a:p>
                      <a:pPr algn="ctr">
                        <a:buNone/>
                      </a:pPr>
                      <a:r>
                        <a:rPr lang="en-IN"/>
                        <a:t>1508.0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1535.1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Amide 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5196366"/>
                  </a:ext>
                </a:extLst>
              </a:tr>
              <a:tr h="0">
                <a:tc>
                  <a:txBody>
                    <a:bodyPr/>
                    <a:lstStyle/>
                    <a:p>
                      <a:pPr algn="ctr">
                        <a:buNone/>
                      </a:pPr>
                      <a:r>
                        <a:rPr lang="en-IN"/>
                        <a:t>1652.7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1677.0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Amide 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0324042"/>
                  </a:ext>
                </a:extLst>
              </a:tr>
              <a:tr h="0">
                <a:tc>
                  <a:txBody>
                    <a:bodyPr/>
                    <a:lstStyle/>
                    <a:p>
                      <a:pPr algn="ctr">
                        <a:buNone/>
                      </a:pPr>
                      <a:r>
                        <a:rPr lang="en-IN" dirty="0"/>
                        <a:t>1725.1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1763 / 1677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Carbonyl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478454"/>
                  </a:ext>
                </a:extLst>
              </a:tr>
            </a:tbl>
          </a:graphicData>
        </a:graphic>
      </p:graphicFrame>
      <p:sp>
        <p:nvSpPr>
          <p:cNvPr id="7" name="TextBox 6">
            <a:extLst>
              <a:ext uri="{FF2B5EF4-FFF2-40B4-BE49-F238E27FC236}">
                <a16:creationId xmlns:a16="http://schemas.microsoft.com/office/drawing/2014/main" id="{E1585E3D-8DCD-C637-1C46-0C161B13C898}"/>
              </a:ext>
            </a:extLst>
          </p:cNvPr>
          <p:cNvSpPr txBox="1"/>
          <p:nvPr/>
        </p:nvSpPr>
        <p:spPr>
          <a:xfrm>
            <a:off x="1328132" y="4207367"/>
            <a:ext cx="10121185" cy="369332"/>
          </a:xfrm>
          <a:prstGeom prst="rect">
            <a:avLst/>
          </a:prstGeom>
          <a:noFill/>
        </p:spPr>
        <p:txBody>
          <a:bodyPr wrap="square">
            <a:spAutoFit/>
          </a:bodyPr>
          <a:lstStyle/>
          <a:p>
            <a:r>
              <a:rPr lang="en-GB" dirty="0"/>
              <a:t>Strong agreement with literature-reported DFT frequencies confirms reliability of the simulation method.</a:t>
            </a:r>
            <a:endParaRPr lang="en-IN" dirty="0"/>
          </a:p>
        </p:txBody>
      </p:sp>
      <p:sp>
        <p:nvSpPr>
          <p:cNvPr id="2" name="TextBox 1">
            <a:extLst>
              <a:ext uri="{FF2B5EF4-FFF2-40B4-BE49-F238E27FC236}">
                <a16:creationId xmlns:a16="http://schemas.microsoft.com/office/drawing/2014/main" id="{2F848D52-BE14-BED2-7F80-8CAA8D715539}"/>
              </a:ext>
            </a:extLst>
          </p:cNvPr>
          <p:cNvSpPr txBox="1"/>
          <p:nvPr/>
        </p:nvSpPr>
        <p:spPr>
          <a:xfrm>
            <a:off x="188353" y="4802720"/>
            <a:ext cx="4092946" cy="1766189"/>
          </a:xfrm>
          <a:prstGeom prst="rect">
            <a:avLst/>
          </a:prstGeom>
          <a:noFill/>
        </p:spPr>
        <p:txBody>
          <a:bodyPr wrap="square">
            <a:spAutoFit/>
          </a:bodyPr>
          <a:lstStyle/>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IMPORTANT MATCHES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 1009.5 ≈ 1010.5 cm⁻¹</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Perfect match From literature: ν(C–O–C)</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is: NAM SIGNATURE PEAK (ETHER /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LACTYL</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GROUP)</a:t>
            </a:r>
          </a:p>
        </p:txBody>
      </p:sp>
      <p:sp>
        <p:nvSpPr>
          <p:cNvPr id="5" name="TextBox 4">
            <a:extLst>
              <a:ext uri="{FF2B5EF4-FFF2-40B4-BE49-F238E27FC236}">
                <a16:creationId xmlns:a16="http://schemas.microsoft.com/office/drawing/2014/main" id="{E561E32F-4BB8-6119-CF27-4045285647E6}"/>
              </a:ext>
            </a:extLst>
          </p:cNvPr>
          <p:cNvSpPr txBox="1"/>
          <p:nvPr/>
        </p:nvSpPr>
        <p:spPr>
          <a:xfrm>
            <a:off x="4426075" y="4686811"/>
            <a:ext cx="3664127" cy="2461508"/>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2. 1652.7 ≈ 1676 cm⁻¹</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Amide I Confirms: N-acetyl group</a:t>
            </a: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3. 1508 ≈ 1535 cm⁻¹</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Amide II</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4. 1347 ≈ 1318 cm⁻¹</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CH bending</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E9ED2AF-B357-6FF0-0F44-564D809138C8}"/>
              </a:ext>
            </a:extLst>
          </p:cNvPr>
          <p:cNvSpPr txBox="1"/>
          <p:nvPr/>
        </p:nvSpPr>
        <p:spPr>
          <a:xfrm>
            <a:off x="8022804" y="4685711"/>
            <a:ext cx="4464856" cy="1971374"/>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ERROR ANALYSIS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Observations: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Low region (&lt;1000): ~2–30 cm⁻¹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Mid region: ~20–40 cm⁻¹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High region: ~20–50 cm⁻¹</a:t>
            </a:r>
          </a:p>
        </p:txBody>
      </p:sp>
      <p:sp>
        <p:nvSpPr>
          <p:cNvPr id="10" name="TextBox 9">
            <a:extLst>
              <a:ext uri="{FF2B5EF4-FFF2-40B4-BE49-F238E27FC236}">
                <a16:creationId xmlns:a16="http://schemas.microsoft.com/office/drawing/2014/main" id="{6E80912E-C699-011D-396A-D2AB752BAD4E}"/>
              </a:ext>
            </a:extLst>
          </p:cNvPr>
          <p:cNvSpPr txBox="1"/>
          <p:nvPr/>
        </p:nvSpPr>
        <p:spPr>
          <a:xfrm>
            <a:off x="6388724" y="134516"/>
            <a:ext cx="6123904" cy="369332"/>
          </a:xfrm>
          <a:prstGeom prst="rect">
            <a:avLst/>
          </a:prstGeom>
          <a:noFill/>
        </p:spPr>
        <p:txBody>
          <a:bodyPr wrap="square">
            <a:spAutoFit/>
          </a:bodyPr>
          <a:lstStyle/>
          <a:p>
            <a:r>
              <a:rPr lang="en-GB" dirty="0"/>
              <a:t>This validates your </a:t>
            </a:r>
            <a:r>
              <a:rPr lang="en-GB" b="1" dirty="0"/>
              <a:t>computational workflow</a:t>
            </a:r>
            <a:r>
              <a:rPr lang="en-GB" dirty="0"/>
              <a:t>.</a:t>
            </a:r>
            <a:endParaRPr lang="en-IN" dirty="0"/>
          </a:p>
        </p:txBody>
      </p:sp>
      <p:sp>
        <p:nvSpPr>
          <p:cNvPr id="11" name="Flowchart: Process 10">
            <a:extLst>
              <a:ext uri="{FF2B5EF4-FFF2-40B4-BE49-F238E27FC236}">
                <a16:creationId xmlns:a16="http://schemas.microsoft.com/office/drawing/2014/main" id="{CE94854B-2D79-BC04-4339-B4CF481FF9D1}"/>
              </a:ext>
            </a:extLst>
          </p:cNvPr>
          <p:cNvSpPr/>
          <p:nvPr/>
        </p:nvSpPr>
        <p:spPr>
          <a:xfrm>
            <a:off x="109470" y="4668592"/>
            <a:ext cx="4092946" cy="2051787"/>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Process 11">
            <a:extLst>
              <a:ext uri="{FF2B5EF4-FFF2-40B4-BE49-F238E27FC236}">
                <a16:creationId xmlns:a16="http://schemas.microsoft.com/office/drawing/2014/main" id="{737AC92B-D8F0-5575-FCBE-792135ECCD4C}"/>
              </a:ext>
            </a:extLst>
          </p:cNvPr>
          <p:cNvSpPr/>
          <p:nvPr/>
        </p:nvSpPr>
        <p:spPr>
          <a:xfrm>
            <a:off x="4281299" y="4668592"/>
            <a:ext cx="3452464" cy="2189408"/>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Process 12">
            <a:extLst>
              <a:ext uri="{FF2B5EF4-FFF2-40B4-BE49-F238E27FC236}">
                <a16:creationId xmlns:a16="http://schemas.microsoft.com/office/drawing/2014/main" id="{3AEC5D5F-FC90-C702-2462-F70DA5769726}"/>
              </a:ext>
            </a:extLst>
          </p:cNvPr>
          <p:cNvSpPr/>
          <p:nvPr/>
        </p:nvSpPr>
        <p:spPr>
          <a:xfrm>
            <a:off x="7920507" y="4668592"/>
            <a:ext cx="3947375" cy="2051787"/>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6336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BAD2-0701-A339-F457-1B3E1DDCB4A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0ADA0D8-34F8-2BEA-7B44-91EABCAF9931}"/>
              </a:ext>
            </a:extLst>
          </p:cNvPr>
          <p:cNvSpPr>
            <a:spLocks noGrp="1"/>
          </p:cNvSpPr>
          <p:nvPr>
            <p:ph type="subTitle" idx="1"/>
          </p:nvPr>
        </p:nvSpPr>
        <p:spPr>
          <a:xfrm>
            <a:off x="480812" y="137621"/>
            <a:ext cx="9144000" cy="437882"/>
          </a:xfrm>
        </p:spPr>
        <p:txBody>
          <a:bodyPr/>
          <a:lstStyle/>
          <a:p>
            <a:pPr algn="l"/>
            <a:r>
              <a:rPr lang="en-IN" b="1" dirty="0">
                <a:solidFill>
                  <a:srgbClr val="00B0F0"/>
                </a:solidFill>
              </a:rPr>
              <a:t>Experimental vs Simulation </a:t>
            </a:r>
          </a:p>
        </p:txBody>
      </p:sp>
      <p:sp>
        <p:nvSpPr>
          <p:cNvPr id="7" name="TextBox 6">
            <a:extLst>
              <a:ext uri="{FF2B5EF4-FFF2-40B4-BE49-F238E27FC236}">
                <a16:creationId xmlns:a16="http://schemas.microsoft.com/office/drawing/2014/main" id="{D8FC4F5E-E6D8-2FF1-CA03-CF686321AA78}"/>
              </a:ext>
            </a:extLst>
          </p:cNvPr>
          <p:cNvSpPr txBox="1"/>
          <p:nvPr/>
        </p:nvSpPr>
        <p:spPr>
          <a:xfrm>
            <a:off x="1328132" y="4207367"/>
            <a:ext cx="10121185" cy="646331"/>
          </a:xfrm>
          <a:prstGeom prst="rect">
            <a:avLst/>
          </a:prstGeom>
          <a:noFill/>
        </p:spPr>
        <p:txBody>
          <a:bodyPr wrap="square">
            <a:spAutoFit/>
          </a:bodyPr>
          <a:lstStyle/>
          <a:p>
            <a:r>
              <a:rPr lang="en-GB" dirty="0"/>
              <a:t>The measured pure NAM powder spectrum shows strong agreement with theoretical vibrational modes across key fingerprint regions.</a:t>
            </a:r>
            <a:endParaRPr lang="en-IN" dirty="0"/>
          </a:p>
        </p:txBody>
      </p:sp>
      <p:graphicFrame>
        <p:nvGraphicFramePr>
          <p:cNvPr id="8" name="Table 7">
            <a:extLst>
              <a:ext uri="{FF2B5EF4-FFF2-40B4-BE49-F238E27FC236}">
                <a16:creationId xmlns:a16="http://schemas.microsoft.com/office/drawing/2014/main" id="{272FE9C2-DBB2-38BA-C321-B0B6B2573A39}"/>
              </a:ext>
            </a:extLst>
          </p:cNvPr>
          <p:cNvGraphicFramePr>
            <a:graphicFrameLocks noGrp="1"/>
          </p:cNvGraphicFramePr>
          <p:nvPr>
            <p:extLst>
              <p:ext uri="{D42A27DB-BD31-4B8C-83A1-F6EECF244321}">
                <p14:modId xmlns:p14="http://schemas.microsoft.com/office/powerpoint/2010/main" val="3325306118"/>
              </p:ext>
            </p:extLst>
          </p:nvPr>
        </p:nvGraphicFramePr>
        <p:xfrm>
          <a:off x="2051898" y="613203"/>
          <a:ext cx="8412480" cy="3566160"/>
        </p:xfrm>
        <a:graphic>
          <a:graphicData uri="http://schemas.openxmlformats.org/drawingml/2006/table">
            <a:tbl>
              <a:tblPr/>
              <a:tblGrid>
                <a:gridCol w="2103120">
                  <a:extLst>
                    <a:ext uri="{9D8B030D-6E8A-4147-A177-3AD203B41FA5}">
                      <a16:colId xmlns:a16="http://schemas.microsoft.com/office/drawing/2014/main" val="506114066"/>
                    </a:ext>
                  </a:extLst>
                </a:gridCol>
                <a:gridCol w="2103120">
                  <a:extLst>
                    <a:ext uri="{9D8B030D-6E8A-4147-A177-3AD203B41FA5}">
                      <a16:colId xmlns:a16="http://schemas.microsoft.com/office/drawing/2014/main" val="389178112"/>
                    </a:ext>
                  </a:extLst>
                </a:gridCol>
                <a:gridCol w="2103120">
                  <a:extLst>
                    <a:ext uri="{9D8B030D-6E8A-4147-A177-3AD203B41FA5}">
                      <a16:colId xmlns:a16="http://schemas.microsoft.com/office/drawing/2014/main" val="1042514070"/>
                    </a:ext>
                  </a:extLst>
                </a:gridCol>
                <a:gridCol w="2103120">
                  <a:extLst>
                    <a:ext uri="{9D8B030D-6E8A-4147-A177-3AD203B41FA5}">
                      <a16:colId xmlns:a16="http://schemas.microsoft.com/office/drawing/2014/main" val="3170080541"/>
                    </a:ext>
                  </a:extLst>
                </a:gridCol>
              </a:tblGrid>
              <a:tr h="0">
                <a:tc>
                  <a:txBody>
                    <a:bodyPr/>
                    <a:lstStyle/>
                    <a:p>
                      <a:pPr algn="ctr">
                        <a:buNone/>
                      </a:pPr>
                      <a:r>
                        <a:rPr lang="en-IN" b="1" dirty="0"/>
                        <a:t>Experimental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Simulated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Assignment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8859751"/>
                  </a:ext>
                </a:extLst>
              </a:tr>
              <a:tr h="0">
                <a:tc>
                  <a:txBody>
                    <a:bodyPr/>
                    <a:lstStyle/>
                    <a:p>
                      <a:pPr algn="ctr">
                        <a:buNone/>
                      </a:pPr>
                      <a:r>
                        <a:rPr lang="en-IN"/>
                        <a:t>284.3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282.5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Ring deformation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5103757"/>
                  </a:ext>
                </a:extLst>
              </a:tr>
              <a:tr h="0">
                <a:tc>
                  <a:txBody>
                    <a:bodyPr/>
                    <a:lstStyle/>
                    <a:p>
                      <a:pPr algn="ctr">
                        <a:buNone/>
                      </a:pPr>
                      <a:r>
                        <a:rPr lang="en-IN" dirty="0"/>
                        <a:t>772.7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777.8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Ring / CH wagging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4424906"/>
                  </a:ext>
                </a:extLst>
              </a:tr>
              <a:tr h="0">
                <a:tc>
                  <a:txBody>
                    <a:bodyPr/>
                    <a:lstStyle/>
                    <a:p>
                      <a:pPr algn="ctr">
                        <a:buNone/>
                      </a:pPr>
                      <a:r>
                        <a:rPr lang="en-IN"/>
                        <a:t>955.9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965.7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Ring breathing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466983"/>
                  </a:ext>
                </a:extLst>
              </a:tr>
              <a:tr h="0">
                <a:tc>
                  <a:txBody>
                    <a:bodyPr/>
                    <a:lstStyle/>
                    <a:p>
                      <a:pPr algn="ctr">
                        <a:buNone/>
                      </a:pPr>
                      <a:r>
                        <a:rPr lang="en-IN"/>
                        <a:t>1155.4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1156.9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C–O–C stretch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4013112"/>
                  </a:ext>
                </a:extLst>
              </a:tr>
              <a:tr h="0">
                <a:tc>
                  <a:txBody>
                    <a:bodyPr/>
                    <a:lstStyle/>
                    <a:p>
                      <a:pPr algn="ctr">
                        <a:buNone/>
                      </a:pPr>
                      <a:r>
                        <a:rPr lang="en-IN"/>
                        <a:t>1249.4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1260.1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C–N / OH deformation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3557481"/>
                  </a:ext>
                </a:extLst>
              </a:tr>
              <a:tr h="0">
                <a:tc>
                  <a:txBody>
                    <a:bodyPr/>
                    <a:lstStyle/>
                    <a:p>
                      <a:pPr algn="ctr">
                        <a:buNone/>
                      </a:pPr>
                      <a:r>
                        <a:rPr lang="en-IN"/>
                        <a:t>1345.9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1347.4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CH deformation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409633"/>
                  </a:ext>
                </a:extLst>
              </a:tr>
              <a:tr h="0">
                <a:tc>
                  <a:txBody>
                    <a:bodyPr/>
                    <a:lstStyle/>
                    <a:p>
                      <a:pPr algn="ctr">
                        <a:buNone/>
                      </a:pPr>
                      <a:r>
                        <a:rPr lang="en-IN"/>
                        <a:t>1451.8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1431.4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CH₂ / CH₃ bending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727499"/>
                  </a:ext>
                </a:extLst>
              </a:tr>
              <a:tr h="0">
                <a:tc>
                  <a:txBody>
                    <a:bodyPr/>
                    <a:lstStyle/>
                    <a:p>
                      <a:pPr algn="ctr">
                        <a:buNone/>
                      </a:pPr>
                      <a:r>
                        <a:rPr lang="en-IN" dirty="0"/>
                        <a:t>1700.7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1725.1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C=O stretch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7260780"/>
                  </a:ext>
                </a:extLst>
              </a:tr>
            </a:tbl>
          </a:graphicData>
        </a:graphic>
      </p:graphicFrame>
      <p:sp>
        <p:nvSpPr>
          <p:cNvPr id="11" name="TextBox 10">
            <a:extLst>
              <a:ext uri="{FF2B5EF4-FFF2-40B4-BE49-F238E27FC236}">
                <a16:creationId xmlns:a16="http://schemas.microsoft.com/office/drawing/2014/main" id="{57AA98D9-1D91-EA19-4B3D-BD8800781E11}"/>
              </a:ext>
            </a:extLst>
          </p:cNvPr>
          <p:cNvSpPr txBox="1"/>
          <p:nvPr/>
        </p:nvSpPr>
        <p:spPr>
          <a:xfrm>
            <a:off x="4872508" y="4622047"/>
            <a:ext cx="4332130" cy="1978170"/>
          </a:xfrm>
          <a:prstGeom prst="rect">
            <a:avLst/>
          </a:prstGeom>
          <a:noFill/>
        </p:spPr>
        <p:txBody>
          <a:bodyPr wrap="square">
            <a:spAutoFit/>
          </a:bodyPr>
          <a:lstStyle/>
          <a:p>
            <a:pPr>
              <a:lnSpc>
                <a:spcPct val="107000"/>
              </a:lnSpc>
              <a:spcAft>
                <a:spcPts val="800"/>
              </a:spcAft>
              <a:buNone/>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Strong Matches (Excellent Agreement)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Peaks with very small shift (≈0–5 cm⁻¹):</a:t>
            </a:r>
          </a:p>
          <a:p>
            <a:pPr marL="342900" lvl="0" indent="-342900">
              <a:lnSpc>
                <a:spcPct val="107000"/>
              </a:lnSpc>
              <a:spcAft>
                <a:spcPts val="800"/>
              </a:spcAft>
              <a:buSzPts val="1000"/>
              <a:buFont typeface="Symbol" panose="05050102010706020507" pitchFamily="18" charset="2"/>
              <a:buChar char=""/>
              <a:tabLst>
                <a:tab pos="4572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284.3 ↔ 282.5 </a:t>
            </a:r>
          </a:p>
          <a:p>
            <a:pPr marL="342900" lvl="0" indent="-342900">
              <a:lnSpc>
                <a:spcPct val="107000"/>
              </a:lnSpc>
              <a:spcAft>
                <a:spcPts val="800"/>
              </a:spcAft>
              <a:buSzPts val="1000"/>
              <a:buFont typeface="Symbol" panose="05050102010706020507" pitchFamily="18" charset="2"/>
              <a:buChar char=""/>
              <a:tabLst>
                <a:tab pos="4572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772.7 ↔ 777.8 </a:t>
            </a:r>
          </a:p>
          <a:p>
            <a:pPr marL="342900" lvl="0" indent="-342900">
              <a:lnSpc>
                <a:spcPct val="107000"/>
              </a:lnSpc>
              <a:spcAft>
                <a:spcPts val="800"/>
              </a:spcAft>
              <a:buSzPts val="1000"/>
              <a:buFont typeface="Symbol" panose="05050102010706020507" pitchFamily="18" charset="2"/>
              <a:buChar char=""/>
              <a:tabLst>
                <a:tab pos="4572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1155.4 ↔ 1156.9 </a:t>
            </a:r>
          </a:p>
          <a:p>
            <a:pPr marL="342900" lvl="0" indent="-342900">
              <a:lnSpc>
                <a:spcPct val="107000"/>
              </a:lnSpc>
              <a:spcAft>
                <a:spcPts val="800"/>
              </a:spcAft>
              <a:buSzPts val="1000"/>
              <a:buFont typeface="Symbol" panose="05050102010706020507" pitchFamily="18" charset="2"/>
              <a:buChar char=""/>
              <a:tabLst>
                <a:tab pos="4572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1345.9 ↔ 1347.4 </a:t>
            </a:r>
          </a:p>
        </p:txBody>
      </p:sp>
      <p:sp>
        <p:nvSpPr>
          <p:cNvPr id="13" name="TextBox 12">
            <a:extLst>
              <a:ext uri="{FF2B5EF4-FFF2-40B4-BE49-F238E27FC236}">
                <a16:creationId xmlns:a16="http://schemas.microsoft.com/office/drawing/2014/main" id="{90E9D78D-9129-1350-E06D-70850007ED7D}"/>
              </a:ext>
            </a:extLst>
          </p:cNvPr>
          <p:cNvSpPr txBox="1"/>
          <p:nvPr/>
        </p:nvSpPr>
        <p:spPr>
          <a:xfrm>
            <a:off x="5681194" y="171896"/>
            <a:ext cx="6094926" cy="369332"/>
          </a:xfrm>
          <a:prstGeom prst="rect">
            <a:avLst/>
          </a:prstGeom>
          <a:noFill/>
        </p:spPr>
        <p:txBody>
          <a:bodyPr wrap="square">
            <a:spAutoFit/>
          </a:bodyPr>
          <a:lstStyle/>
          <a:p>
            <a:r>
              <a:rPr lang="en-GB" dirty="0"/>
              <a:t>This validates your </a:t>
            </a:r>
            <a:r>
              <a:rPr lang="en-GB" b="1" dirty="0"/>
              <a:t>real measured NAM powder spectrum</a:t>
            </a:r>
            <a:r>
              <a:rPr lang="en-GB" dirty="0"/>
              <a:t>.</a:t>
            </a:r>
            <a:endParaRPr lang="en-IN" dirty="0"/>
          </a:p>
        </p:txBody>
      </p:sp>
      <p:sp>
        <p:nvSpPr>
          <p:cNvPr id="14" name="Flowchart: Process 13">
            <a:extLst>
              <a:ext uri="{FF2B5EF4-FFF2-40B4-BE49-F238E27FC236}">
                <a16:creationId xmlns:a16="http://schemas.microsoft.com/office/drawing/2014/main" id="{EDD809B8-1BA7-39ED-FCB8-D959E72B7053}"/>
              </a:ext>
            </a:extLst>
          </p:cNvPr>
          <p:cNvSpPr/>
          <p:nvPr/>
        </p:nvSpPr>
        <p:spPr>
          <a:xfrm>
            <a:off x="4720107" y="4530532"/>
            <a:ext cx="3618963" cy="2189847"/>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39356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8D87E75-C178-A2A4-A1EB-0C233FB5E1F0}"/>
              </a:ext>
            </a:extLst>
          </p:cNvPr>
          <p:cNvSpPr txBox="1"/>
          <p:nvPr/>
        </p:nvSpPr>
        <p:spPr>
          <a:xfrm>
            <a:off x="611748" y="4027849"/>
            <a:ext cx="10676586" cy="2308324"/>
          </a:xfrm>
          <a:prstGeom prst="rect">
            <a:avLst/>
          </a:prstGeom>
          <a:noFill/>
        </p:spPr>
        <p:txBody>
          <a:bodyPr wrap="square">
            <a:spAutoFit/>
          </a:bodyPr>
          <a:lstStyle/>
          <a:p>
            <a:r>
              <a:rPr lang="en-IN" dirty="0"/>
              <a:t>In the present study, Raman spectroscopy of high-purity N-acetylmuramic acid powder was used to establish the characteristic spectral fingerprint of NAM. Identification is based on the collective pattern of multiple Raman bands rather than any single peak, since individual vibrations may also appear in other biomolecules. Direct comparison with whole bacterial spectra is limited because bacterial samples contain proteins, lipids, nucleic acids, and other overlapping components. Therefore, the most appropriate validation is comparison between the experimental pure NAM spectrum and DFT-simulated NAM spectrum, where strong agreement was observed. The obtained pure NAM spectrum can now serve as a reference control for future analysis of complex biological or bacterial samples.</a:t>
            </a:r>
          </a:p>
        </p:txBody>
      </p:sp>
      <p:sp>
        <p:nvSpPr>
          <p:cNvPr id="12" name="TextBox 11">
            <a:extLst>
              <a:ext uri="{FF2B5EF4-FFF2-40B4-BE49-F238E27FC236}">
                <a16:creationId xmlns:a16="http://schemas.microsoft.com/office/drawing/2014/main" id="{91DDD258-F19A-35D9-9454-C4CB93E926AB}"/>
              </a:ext>
            </a:extLst>
          </p:cNvPr>
          <p:cNvSpPr txBox="1"/>
          <p:nvPr/>
        </p:nvSpPr>
        <p:spPr>
          <a:xfrm>
            <a:off x="832298" y="119111"/>
            <a:ext cx="6094926" cy="3168240"/>
          </a:xfrm>
          <a:prstGeom prst="rect">
            <a:avLst/>
          </a:prstGeom>
          <a:noFill/>
        </p:spPr>
        <p:txBody>
          <a:bodyPr wrap="square">
            <a:spAutoFit/>
          </a:bodyPr>
          <a:lstStyle/>
          <a:p>
            <a:pPr>
              <a:lnSpc>
                <a:spcPct val="107000"/>
              </a:lnSpc>
              <a:spcAft>
                <a:spcPts val="800"/>
              </a:spcAft>
              <a:buNone/>
            </a:pPr>
            <a:r>
              <a:rPr lang="en-IN" sz="1800" b="1"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Larger Shifts</a:t>
            </a:r>
            <a:endParaRPr lang="en-IN"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Observed in some peaks due to:</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solid-state vs isolated molecule effects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hydrogen bonding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anharmonicity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basis set limitations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coupled vibrational modes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experimental environment </a:t>
            </a:r>
          </a:p>
        </p:txBody>
      </p:sp>
      <p:sp>
        <p:nvSpPr>
          <p:cNvPr id="14" name="TextBox 13">
            <a:extLst>
              <a:ext uri="{FF2B5EF4-FFF2-40B4-BE49-F238E27FC236}">
                <a16:creationId xmlns:a16="http://schemas.microsoft.com/office/drawing/2014/main" id="{68D851DE-5FA4-2F01-71EF-9D6D7FC62FCF}"/>
              </a:ext>
            </a:extLst>
          </p:cNvPr>
          <p:cNvSpPr txBox="1"/>
          <p:nvPr/>
        </p:nvSpPr>
        <p:spPr>
          <a:xfrm>
            <a:off x="611748" y="3570650"/>
            <a:ext cx="6094926" cy="369332"/>
          </a:xfrm>
          <a:prstGeom prst="rect">
            <a:avLst/>
          </a:prstGeom>
          <a:noFill/>
        </p:spPr>
        <p:txBody>
          <a:bodyPr wrap="square">
            <a:spAutoFit/>
          </a:bodyPr>
          <a:lstStyle/>
          <a:p>
            <a:r>
              <a:rPr lang="en-IN" sz="1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Conclusion</a:t>
            </a:r>
            <a:endParaRPr lang="en-IN" dirty="0">
              <a:solidFill>
                <a:srgbClr val="00B0F0"/>
              </a:solidFill>
            </a:endParaRPr>
          </a:p>
        </p:txBody>
      </p:sp>
    </p:spTree>
    <p:extLst>
      <p:ext uri="{BB962C8B-B14F-4D97-AF65-F5344CB8AC3E}">
        <p14:creationId xmlns:p14="http://schemas.microsoft.com/office/powerpoint/2010/main" val="608713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7B509-E5B7-8927-E6F4-1C77331A9E75}"/>
            </a:ext>
          </a:extLst>
        </p:cNvPr>
        <p:cNvGrpSpPr/>
        <p:nvPr/>
      </p:nvGrpSpPr>
      <p:grpSpPr>
        <a:xfrm>
          <a:off x="0" y="0"/>
          <a:ext cx="0" cy="0"/>
          <a:chOff x="0" y="0"/>
          <a:chExt cx="0" cy="0"/>
        </a:xfrm>
      </p:grpSpPr>
      <p:sp>
        <p:nvSpPr>
          <p:cNvPr id="6" name="Google Shape;261;p33">
            <a:extLst>
              <a:ext uri="{FF2B5EF4-FFF2-40B4-BE49-F238E27FC236}">
                <a16:creationId xmlns:a16="http://schemas.microsoft.com/office/drawing/2014/main" id="{113AB111-D4C7-3419-6A4B-0AFC144C81E8}"/>
              </a:ext>
            </a:extLst>
          </p:cNvPr>
          <p:cNvSpPr txBox="1"/>
          <p:nvPr/>
        </p:nvSpPr>
        <p:spPr>
          <a:xfrm>
            <a:off x="2040284" y="0"/>
            <a:ext cx="7990998"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solidFill>
                  <a:srgbClr val="00B0F0"/>
                </a:solidFill>
                <a:latin typeface="Outfit SemiBold"/>
                <a:ea typeface="Outfit SemiBold"/>
                <a:cs typeface="Outfit SemiBold"/>
                <a:sym typeface="Outfit SemiBold"/>
              </a:rPr>
              <a:t>Lipoteichoic Acid</a:t>
            </a:r>
            <a:endParaRPr b="1" dirty="0">
              <a:solidFill>
                <a:srgbClr val="00B0F0"/>
              </a:solidFill>
            </a:endParaRPr>
          </a:p>
        </p:txBody>
      </p:sp>
      <p:sp>
        <p:nvSpPr>
          <p:cNvPr id="7" name="Google Shape;262;p33">
            <a:extLst>
              <a:ext uri="{FF2B5EF4-FFF2-40B4-BE49-F238E27FC236}">
                <a16:creationId xmlns:a16="http://schemas.microsoft.com/office/drawing/2014/main" id="{B3740A1A-9505-8D0F-F8FD-F1790824153D}"/>
              </a:ext>
            </a:extLst>
          </p:cNvPr>
          <p:cNvSpPr txBox="1"/>
          <p:nvPr/>
        </p:nvSpPr>
        <p:spPr>
          <a:xfrm>
            <a:off x="316013" y="687187"/>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rgbClr val="00B0F0"/>
                </a:solidFill>
              </a:rPr>
              <a:t>Challenge in LTA Simulation</a:t>
            </a:r>
            <a:endParaRPr sz="1600" b="1" dirty="0">
              <a:solidFill>
                <a:srgbClr val="00B0F0"/>
              </a:solidFill>
            </a:endParaRPr>
          </a:p>
        </p:txBody>
      </p:sp>
      <p:sp>
        <p:nvSpPr>
          <p:cNvPr id="8" name="Rectangle 4">
            <a:extLst>
              <a:ext uri="{FF2B5EF4-FFF2-40B4-BE49-F238E27FC236}">
                <a16:creationId xmlns:a16="http://schemas.microsoft.com/office/drawing/2014/main" id="{9FD96AEF-2276-917A-39A2-D54B73F34591}"/>
              </a:ext>
            </a:extLst>
          </p:cNvPr>
          <p:cNvSpPr>
            <a:spLocks noChangeArrowheads="1"/>
          </p:cNvSpPr>
          <p:nvPr/>
        </p:nvSpPr>
        <p:spPr bwMode="auto">
          <a:xfrm>
            <a:off x="1618343" y="1111988"/>
            <a:ext cx="65405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LTA is a </a:t>
            </a:r>
            <a:r>
              <a:rPr kumimoji="0" lang="en-US" altLang="en-US" sz="2000" b="1" i="0" u="none" strike="noStrike" cap="none" normalizeH="0" baseline="0" dirty="0">
                <a:ln>
                  <a:noFill/>
                </a:ln>
                <a:effectLst/>
                <a:latin typeface="Arial" panose="020B0604020202020204" pitchFamily="34" charset="0"/>
              </a:rPr>
              <a:t>large polymeric biomolecule</a:t>
            </a:r>
            <a:r>
              <a:rPr kumimoji="0" lang="en-US" altLang="en-US" sz="2000" b="0" i="0" u="none" strike="noStrike" cap="none" normalizeH="0" baseline="0" dirty="0">
                <a:ln>
                  <a:noFill/>
                </a:ln>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Full </a:t>
            </a:r>
            <a:r>
              <a:rPr kumimoji="0" lang="en-US" altLang="en-US" sz="2000" b="0" i="0" u="none" strike="noStrike" cap="none" normalizeH="0" baseline="0" dirty="0" err="1">
                <a:ln>
                  <a:noFill/>
                </a:ln>
                <a:effectLst/>
                <a:latin typeface="Arial" panose="020B0604020202020204" pitchFamily="34" charset="0"/>
              </a:rPr>
              <a:t>DFT</a:t>
            </a:r>
            <a:r>
              <a:rPr kumimoji="0" lang="en-US" altLang="en-US" sz="2000" b="0" i="0" u="none" strike="noStrike" cap="none" normalizeH="0" baseline="0" dirty="0">
                <a:ln>
                  <a:noFill/>
                </a:ln>
                <a:effectLst/>
                <a:latin typeface="Arial" panose="020B0604020202020204" pitchFamily="34" charset="0"/>
              </a:rPr>
              <a:t> simulation → </a:t>
            </a:r>
            <a:r>
              <a:rPr kumimoji="0" lang="en-US" altLang="en-US" sz="2000" b="1" i="0" u="none" strike="noStrike" cap="none" normalizeH="0" baseline="0" dirty="0">
                <a:ln>
                  <a:noFill/>
                </a:ln>
                <a:effectLst/>
                <a:latin typeface="Arial" panose="020B0604020202020204" pitchFamily="34" charset="0"/>
              </a:rPr>
              <a:t>computationally impractical</a:t>
            </a:r>
            <a:r>
              <a:rPr kumimoji="0" lang="en-US" altLang="en-US" sz="2000" b="0" i="0" u="none" strike="noStrike" cap="none" normalizeH="0" baseline="0" dirty="0">
                <a:ln>
                  <a:noFill/>
                </a:ln>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Need a </a:t>
            </a:r>
            <a:r>
              <a:rPr kumimoji="0" lang="en-US" altLang="en-US" sz="2000" b="1" i="0" u="none" strike="noStrike" cap="none" normalizeH="0" baseline="0" dirty="0">
                <a:ln>
                  <a:noFill/>
                </a:ln>
                <a:effectLst/>
                <a:latin typeface="Arial" panose="020B0604020202020204" pitchFamily="34" charset="0"/>
              </a:rPr>
              <a:t>scientifically valid alternative approach</a:t>
            </a:r>
            <a:r>
              <a:rPr kumimoji="0" lang="en-US" altLang="en-US" sz="2000" b="0" i="0" u="none" strike="noStrike" cap="none" normalizeH="0" baseline="0" dirty="0">
                <a:ln>
                  <a:noFill/>
                </a:ln>
                <a:effectLst/>
                <a:latin typeface="Arial" panose="020B0604020202020204" pitchFamily="34" charset="0"/>
              </a:rPr>
              <a:t> </a:t>
            </a:r>
          </a:p>
        </p:txBody>
      </p:sp>
      <p:sp>
        <p:nvSpPr>
          <p:cNvPr id="9" name="Google Shape;262;p33">
            <a:extLst>
              <a:ext uri="{FF2B5EF4-FFF2-40B4-BE49-F238E27FC236}">
                <a16:creationId xmlns:a16="http://schemas.microsoft.com/office/drawing/2014/main" id="{37173BE1-DAD7-9214-DF28-97B8E7D0CA6C}"/>
              </a:ext>
            </a:extLst>
          </p:cNvPr>
          <p:cNvSpPr txBox="1"/>
          <p:nvPr/>
        </p:nvSpPr>
        <p:spPr>
          <a:xfrm>
            <a:off x="316013" y="2373872"/>
            <a:ext cx="11033700" cy="590931"/>
          </a:xfrm>
          <a:prstGeom prst="rect">
            <a:avLst/>
          </a:prstGeom>
          <a:noFill/>
          <a:ln>
            <a:noFill/>
          </a:ln>
        </p:spPr>
        <p:txBody>
          <a:bodyPr spcFirstLastPara="1" wrap="square" lIns="0" tIns="0" rIns="0" bIns="0" anchor="t" anchorCtr="0">
            <a:spAutoFit/>
          </a:bodyPr>
          <a:lstStyle/>
          <a:p>
            <a:pPr lvl="0">
              <a:lnSpc>
                <a:spcPct val="159952"/>
              </a:lnSpc>
            </a:pPr>
            <a:r>
              <a:rPr lang="en-IN" sz="2400" b="1" dirty="0">
                <a:solidFill>
                  <a:srgbClr val="00B0F0"/>
                </a:solidFill>
              </a:rPr>
              <a:t>Component-Based </a:t>
            </a:r>
            <a:r>
              <a:rPr lang="en-IN" sz="2400" b="1" dirty="0" err="1">
                <a:solidFill>
                  <a:srgbClr val="00B0F0"/>
                </a:solidFill>
              </a:rPr>
              <a:t>Modeling</a:t>
            </a:r>
            <a:r>
              <a:rPr lang="en-IN" sz="2400" b="1" dirty="0">
                <a:solidFill>
                  <a:srgbClr val="00B0F0"/>
                </a:solidFill>
              </a:rPr>
              <a:t> Strategy</a:t>
            </a:r>
            <a:endParaRPr sz="1600" b="1" dirty="0">
              <a:solidFill>
                <a:srgbClr val="00B0F0"/>
              </a:solidFill>
            </a:endParaRPr>
          </a:p>
        </p:txBody>
      </p:sp>
      <p:sp>
        <p:nvSpPr>
          <p:cNvPr id="10" name="Rectangle 4">
            <a:extLst>
              <a:ext uri="{FF2B5EF4-FFF2-40B4-BE49-F238E27FC236}">
                <a16:creationId xmlns:a16="http://schemas.microsoft.com/office/drawing/2014/main" id="{A72C71CA-6A23-1009-1CD9-0FEA7EBC7BFF}"/>
              </a:ext>
            </a:extLst>
          </p:cNvPr>
          <p:cNvSpPr>
            <a:spLocks noChangeArrowheads="1"/>
          </p:cNvSpPr>
          <p:nvPr/>
        </p:nvSpPr>
        <p:spPr bwMode="auto">
          <a:xfrm>
            <a:off x="1038812" y="6319488"/>
            <a:ext cx="9446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GB" sz="2400" dirty="0"/>
              <a:t>“Fragment-based </a:t>
            </a:r>
            <a:r>
              <a:rPr lang="en-GB" sz="2400" dirty="0" err="1"/>
              <a:t>modeling</a:t>
            </a:r>
            <a:r>
              <a:rPr lang="en-GB" sz="2400" dirty="0"/>
              <a:t> is a standard approach for large biomolecules”</a:t>
            </a:r>
            <a:endParaRPr kumimoji="0" lang="en-US" altLang="en-US" sz="2400" b="0" i="0" u="none" strike="noStrike" cap="none" normalizeH="0" baseline="0" dirty="0">
              <a:ln>
                <a:noFill/>
              </a:ln>
              <a:effectLst/>
              <a:latin typeface="Arial" panose="020B0604020202020204" pitchFamily="34" charset="0"/>
            </a:endParaRPr>
          </a:p>
        </p:txBody>
      </p:sp>
      <p:sp>
        <p:nvSpPr>
          <p:cNvPr id="11" name="Rectangle 5">
            <a:extLst>
              <a:ext uri="{FF2B5EF4-FFF2-40B4-BE49-F238E27FC236}">
                <a16:creationId xmlns:a16="http://schemas.microsoft.com/office/drawing/2014/main" id="{6F1CDD80-6ABC-C8B7-3514-D0285C305DB8}"/>
              </a:ext>
            </a:extLst>
          </p:cNvPr>
          <p:cNvSpPr>
            <a:spLocks noChangeArrowheads="1"/>
          </p:cNvSpPr>
          <p:nvPr/>
        </p:nvSpPr>
        <p:spPr bwMode="auto">
          <a:xfrm>
            <a:off x="1618343" y="2964803"/>
            <a:ext cx="74366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Decompose LTA into </a:t>
            </a:r>
            <a:r>
              <a:rPr kumimoji="0" lang="en-US" altLang="en-US" sz="2000" b="1" i="0" u="none" strike="noStrike" cap="none" normalizeH="0" baseline="0" dirty="0">
                <a:ln>
                  <a:noFill/>
                </a:ln>
                <a:effectLst/>
                <a:latin typeface="Arial" panose="020B0604020202020204" pitchFamily="34" charset="0"/>
              </a:rPr>
              <a:t>representative molecular units</a:t>
            </a:r>
            <a:r>
              <a:rPr kumimoji="0" lang="en-US" altLang="en-US" sz="2000" b="0" i="0" u="none" strike="noStrike" cap="none" normalizeH="0" baseline="0" dirty="0">
                <a:ln>
                  <a:noFill/>
                </a:ln>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Simulate each component using </a:t>
            </a:r>
            <a:r>
              <a:rPr kumimoji="0" lang="en-US" altLang="en-US" sz="2000" b="0" i="0" u="none" strike="noStrike" cap="none" normalizeH="0" baseline="0" dirty="0" err="1">
                <a:ln>
                  <a:noFill/>
                </a:ln>
                <a:effectLst/>
                <a:latin typeface="Arial" panose="020B0604020202020204" pitchFamily="34" charset="0"/>
              </a:rPr>
              <a:t>DFT</a:t>
            </a:r>
            <a:r>
              <a:rPr kumimoji="0" lang="en-US" altLang="en-US" sz="2000" b="0" i="0" u="none" strike="noStrike" cap="none" normalizeH="0" baseline="0" dirty="0">
                <a:ln>
                  <a:noFill/>
                </a:ln>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Arial" panose="020B0604020202020204" pitchFamily="34" charset="0"/>
              </a:rPr>
              <a:t>Combine spectral contributions to reconstruct LTA fingerprint </a:t>
            </a:r>
          </a:p>
        </p:txBody>
      </p:sp>
      <p:sp>
        <p:nvSpPr>
          <p:cNvPr id="13" name="TextBox 12">
            <a:extLst>
              <a:ext uri="{FF2B5EF4-FFF2-40B4-BE49-F238E27FC236}">
                <a16:creationId xmlns:a16="http://schemas.microsoft.com/office/drawing/2014/main" id="{F2371890-7EBA-3C8E-F3C8-056B0CE0EFE5}"/>
              </a:ext>
            </a:extLst>
          </p:cNvPr>
          <p:cNvSpPr txBox="1"/>
          <p:nvPr/>
        </p:nvSpPr>
        <p:spPr>
          <a:xfrm>
            <a:off x="1286503" y="4431804"/>
            <a:ext cx="8100330" cy="1641219"/>
          </a:xfrm>
          <a:prstGeom prst="rect">
            <a:avLst/>
          </a:prstGeom>
          <a:noFill/>
        </p:spPr>
        <p:txBody>
          <a:bodyPr wrap="square">
            <a:spAutoFit/>
          </a:bodyPr>
          <a:lstStyle/>
          <a:p>
            <a:pPr marL="457200" lvl="0" indent="-387350" algn="l" rtl="0">
              <a:lnSpc>
                <a:spcPct val="115000"/>
              </a:lnSpc>
              <a:spcBef>
                <a:spcPts val="1200"/>
              </a:spcBef>
              <a:spcAft>
                <a:spcPts val="0"/>
              </a:spcAft>
              <a:buClr>
                <a:schemeClr val="lt1"/>
              </a:buClr>
              <a:buSzPts val="2500"/>
              <a:buChar char="●"/>
            </a:pPr>
            <a:r>
              <a:rPr lang="en-US" sz="2000" dirty="0"/>
              <a:t>Lipoteichoic acid consists of three structural components:</a:t>
            </a:r>
          </a:p>
          <a:p>
            <a:pPr marL="457200" lvl="0" indent="0" algn="l" rtl="0">
              <a:lnSpc>
                <a:spcPct val="115000"/>
              </a:lnSpc>
              <a:spcBef>
                <a:spcPts val="1200"/>
              </a:spcBef>
              <a:spcAft>
                <a:spcPts val="0"/>
              </a:spcAft>
              <a:buNone/>
            </a:pPr>
            <a:r>
              <a:rPr lang="en-US" sz="2000" dirty="0"/>
              <a:t> • </a:t>
            </a:r>
            <a:r>
              <a:rPr lang="en-US" sz="2000" b="1" dirty="0"/>
              <a:t>Glycolipid membrane anchor</a:t>
            </a:r>
            <a:br>
              <a:rPr lang="en-US" sz="2000" b="1" dirty="0"/>
            </a:br>
            <a:r>
              <a:rPr lang="en-US" sz="2000" dirty="0"/>
              <a:t> • </a:t>
            </a:r>
            <a:r>
              <a:rPr lang="en-US" sz="2000" b="1" dirty="0"/>
              <a:t>Poly(glycerol–phosphate) backbone</a:t>
            </a:r>
            <a:br>
              <a:rPr lang="en-US" sz="2000" b="1" dirty="0"/>
            </a:br>
            <a:r>
              <a:rPr lang="en-US" sz="2000" dirty="0"/>
              <a:t> • </a:t>
            </a:r>
            <a:r>
              <a:rPr lang="en-US" sz="2000" b="1" dirty="0"/>
              <a:t>Substituent groups</a:t>
            </a:r>
            <a:r>
              <a:rPr lang="en-US" sz="2000" dirty="0"/>
              <a:t> such as D-alanine residues or sugars</a:t>
            </a:r>
          </a:p>
        </p:txBody>
      </p:sp>
      <p:sp>
        <p:nvSpPr>
          <p:cNvPr id="16" name="TextBox 15">
            <a:extLst>
              <a:ext uri="{FF2B5EF4-FFF2-40B4-BE49-F238E27FC236}">
                <a16:creationId xmlns:a16="http://schemas.microsoft.com/office/drawing/2014/main" id="{8685B733-346C-8152-483B-EEF3E606DE2C}"/>
              </a:ext>
            </a:extLst>
          </p:cNvPr>
          <p:cNvSpPr txBox="1"/>
          <p:nvPr/>
        </p:nvSpPr>
        <p:spPr>
          <a:xfrm>
            <a:off x="316013" y="3970139"/>
            <a:ext cx="6094926" cy="461665"/>
          </a:xfrm>
          <a:prstGeom prst="rect">
            <a:avLst/>
          </a:prstGeom>
          <a:noFill/>
        </p:spPr>
        <p:txBody>
          <a:bodyPr wrap="square">
            <a:spAutoFit/>
          </a:bodyPr>
          <a:lstStyle/>
          <a:p>
            <a:pPr marL="0" marR="0" lvl="0" indent="0" algn="l" rtl="0">
              <a:spcBef>
                <a:spcPts val="0"/>
              </a:spcBef>
              <a:spcAft>
                <a:spcPts val="0"/>
              </a:spcAft>
              <a:buNone/>
            </a:pPr>
            <a:r>
              <a:rPr lang="en-US" sz="2400" b="1" dirty="0">
                <a:solidFill>
                  <a:srgbClr val="00B0F0"/>
                </a:solidFill>
                <a:latin typeface="Outfit SemiBold"/>
                <a:ea typeface="Outfit SemiBold"/>
                <a:cs typeface="Outfit SemiBold"/>
                <a:sym typeface="Outfit SemiBold"/>
              </a:rPr>
              <a:t>Structure of Lipoteichoic Acid</a:t>
            </a:r>
            <a:endParaRPr lang="en-US" sz="2400" b="1" dirty="0">
              <a:solidFill>
                <a:srgbClr val="00B0F0"/>
              </a:solidFill>
            </a:endParaRPr>
          </a:p>
        </p:txBody>
      </p:sp>
      <p:pic>
        <p:nvPicPr>
          <p:cNvPr id="17" name="Google Shape;273;p34" descr="image.png">
            <a:extLst>
              <a:ext uri="{FF2B5EF4-FFF2-40B4-BE49-F238E27FC236}">
                <a16:creationId xmlns:a16="http://schemas.microsoft.com/office/drawing/2014/main" id="{BCD34799-7721-4B3E-73EF-3D5AFD0773D7}"/>
              </a:ext>
            </a:extLst>
          </p:cNvPr>
          <p:cNvPicPr preferRelativeResize="0"/>
          <p:nvPr/>
        </p:nvPicPr>
        <p:blipFill rotWithShape="1">
          <a:blip r:embed="rId2">
            <a:alphaModFix/>
          </a:blip>
          <a:srcRect/>
          <a:stretch/>
        </p:blipFill>
        <p:spPr>
          <a:xfrm>
            <a:off x="8340580" y="812343"/>
            <a:ext cx="3484162" cy="2971310"/>
          </a:xfrm>
          <a:prstGeom prst="rect">
            <a:avLst/>
          </a:prstGeom>
          <a:noFill/>
          <a:ln>
            <a:noFill/>
          </a:ln>
        </p:spPr>
      </p:pic>
    </p:spTree>
    <p:extLst>
      <p:ext uri="{BB962C8B-B14F-4D97-AF65-F5344CB8AC3E}">
        <p14:creationId xmlns:p14="http://schemas.microsoft.com/office/powerpoint/2010/main" val="1837554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A7AF-2B1A-DB7A-1F9A-8CD200300F2A}"/>
            </a:ext>
          </a:extLst>
        </p:cNvPr>
        <p:cNvGrpSpPr/>
        <p:nvPr/>
      </p:nvGrpSpPr>
      <p:grpSpPr>
        <a:xfrm>
          <a:off x="0" y="0"/>
          <a:ext cx="0" cy="0"/>
          <a:chOff x="0" y="0"/>
          <a:chExt cx="0" cy="0"/>
        </a:xfrm>
      </p:grpSpPr>
      <p:sp>
        <p:nvSpPr>
          <p:cNvPr id="3" name="Google Shape;313;p39">
            <a:extLst>
              <a:ext uri="{FF2B5EF4-FFF2-40B4-BE49-F238E27FC236}">
                <a16:creationId xmlns:a16="http://schemas.microsoft.com/office/drawing/2014/main" id="{B7FAA55D-E1C8-BF14-DD29-5B68EC92B0EB}"/>
              </a:ext>
            </a:extLst>
          </p:cNvPr>
          <p:cNvSpPr txBox="1"/>
          <p:nvPr/>
        </p:nvSpPr>
        <p:spPr>
          <a:xfrm>
            <a:off x="733425" y="15717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dirty="0">
                <a:solidFill>
                  <a:srgbClr val="00B0F0"/>
                </a:solidFill>
                <a:latin typeface="Outfit SemiBold"/>
                <a:ea typeface="Outfit SemiBold"/>
                <a:cs typeface="Outfit SemiBold"/>
                <a:sym typeface="Outfit SemiBold"/>
              </a:rPr>
              <a:t> </a:t>
            </a:r>
            <a:r>
              <a:rPr lang="en-US" sz="3150" b="1" dirty="0" err="1">
                <a:solidFill>
                  <a:srgbClr val="00B0F0"/>
                </a:solidFill>
                <a:latin typeface="Outfit SemiBold"/>
                <a:ea typeface="Outfit SemiBold"/>
                <a:cs typeface="Outfit SemiBold"/>
                <a:sym typeface="Outfit SemiBold"/>
              </a:rPr>
              <a:t>DFT</a:t>
            </a:r>
            <a:r>
              <a:rPr lang="en-US" sz="3150" b="1" dirty="0">
                <a:solidFill>
                  <a:srgbClr val="00B0F0"/>
                </a:solidFill>
                <a:latin typeface="Outfit SemiBold"/>
                <a:ea typeface="Outfit SemiBold"/>
                <a:cs typeface="Outfit SemiBold"/>
                <a:sym typeface="Outfit SemiBold"/>
              </a:rPr>
              <a:t> Simulation Method</a:t>
            </a:r>
            <a:endParaRPr b="1" dirty="0">
              <a:solidFill>
                <a:srgbClr val="00B0F0"/>
              </a:solidFill>
            </a:endParaRPr>
          </a:p>
        </p:txBody>
      </p:sp>
      <p:sp>
        <p:nvSpPr>
          <p:cNvPr id="4" name="Google Shape;314;p39">
            <a:extLst>
              <a:ext uri="{FF2B5EF4-FFF2-40B4-BE49-F238E27FC236}">
                <a16:creationId xmlns:a16="http://schemas.microsoft.com/office/drawing/2014/main" id="{2494F835-F7F1-0F44-59DB-49E73C23620A}"/>
              </a:ext>
            </a:extLst>
          </p:cNvPr>
          <p:cNvSpPr txBox="1"/>
          <p:nvPr/>
        </p:nvSpPr>
        <p:spPr>
          <a:xfrm>
            <a:off x="694522" y="554891"/>
            <a:ext cx="8649300" cy="239293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t>Quantum-chemical calculations were performed using </a:t>
            </a:r>
            <a:r>
              <a:rPr lang="en-US" sz="1800" b="1" dirty="0"/>
              <a:t>Gaussian 16</a:t>
            </a:r>
            <a:r>
              <a:rPr lang="en-US" sz="1800" dirty="0"/>
              <a:t>.</a:t>
            </a:r>
            <a:endParaRPr sz="1800" dirty="0"/>
          </a:p>
          <a:p>
            <a:pPr marL="0" lvl="0" indent="0" algn="l" rtl="0">
              <a:lnSpc>
                <a:spcPct val="115000"/>
              </a:lnSpc>
              <a:spcBef>
                <a:spcPts val="1200"/>
              </a:spcBef>
              <a:spcAft>
                <a:spcPts val="0"/>
              </a:spcAft>
              <a:buNone/>
            </a:pPr>
            <a:r>
              <a:rPr lang="en-US" sz="1800" dirty="0"/>
              <a:t>The simulation included:</a:t>
            </a:r>
            <a:endParaRPr sz="1800" dirty="0"/>
          </a:p>
          <a:p>
            <a:pPr marL="0" lvl="0" indent="0" algn="l" rtl="0">
              <a:lnSpc>
                <a:spcPct val="115000"/>
              </a:lnSpc>
              <a:spcBef>
                <a:spcPts val="1200"/>
              </a:spcBef>
              <a:spcAft>
                <a:spcPts val="1200"/>
              </a:spcAft>
              <a:buNone/>
            </a:pPr>
            <a:r>
              <a:rPr lang="en-US" sz="1800" dirty="0"/>
              <a:t>• geometry optimization</a:t>
            </a:r>
            <a:br>
              <a:rPr lang="en-US" sz="1800" dirty="0"/>
            </a:br>
            <a:r>
              <a:rPr lang="en-US" sz="1800" dirty="0"/>
              <a:t> • vibrational frequency calculation</a:t>
            </a:r>
            <a:br>
              <a:rPr lang="en-US" sz="1800" dirty="0"/>
            </a:br>
            <a:r>
              <a:rPr lang="en-US" sz="1800" dirty="0"/>
              <a:t> • Raman activity calculation</a:t>
            </a:r>
            <a:endParaRPr sz="1800" dirty="0"/>
          </a:p>
        </p:txBody>
      </p:sp>
      <p:graphicFrame>
        <p:nvGraphicFramePr>
          <p:cNvPr id="6" name="Google Shape;315;p39">
            <a:extLst>
              <a:ext uri="{FF2B5EF4-FFF2-40B4-BE49-F238E27FC236}">
                <a16:creationId xmlns:a16="http://schemas.microsoft.com/office/drawing/2014/main" id="{0BC22871-8BC7-5578-E44E-5D035B9FF66A}"/>
              </a:ext>
            </a:extLst>
          </p:cNvPr>
          <p:cNvGraphicFramePr/>
          <p:nvPr>
            <p:extLst>
              <p:ext uri="{D42A27DB-BD31-4B8C-83A1-F6EECF244321}">
                <p14:modId xmlns:p14="http://schemas.microsoft.com/office/powerpoint/2010/main" val="3137446369"/>
              </p:ext>
            </p:extLst>
          </p:nvPr>
        </p:nvGraphicFramePr>
        <p:xfrm>
          <a:off x="5268683" y="1290825"/>
          <a:ext cx="5124400" cy="1759846"/>
        </p:xfrm>
        <a:graphic>
          <a:graphicData uri="http://schemas.openxmlformats.org/drawingml/2006/table">
            <a:tbl>
              <a:tblPr>
                <a:noFill/>
              </a:tblPr>
              <a:tblGrid>
                <a:gridCol w="2674825">
                  <a:extLst>
                    <a:ext uri="{9D8B030D-6E8A-4147-A177-3AD203B41FA5}">
                      <a16:colId xmlns:a16="http://schemas.microsoft.com/office/drawing/2014/main" val="20000"/>
                    </a:ext>
                  </a:extLst>
                </a:gridCol>
                <a:gridCol w="244957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US" sz="1800" b="1">
                          <a:solidFill>
                            <a:schemeClr val="tx1"/>
                          </a:solidFill>
                        </a:rPr>
                        <a:t>Parameter</a:t>
                      </a:r>
                      <a:endParaRPr sz="1800" b="1">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lnSpc>
                          <a:spcPct val="115000"/>
                        </a:lnSpc>
                        <a:spcBef>
                          <a:spcPts val="0"/>
                        </a:spcBef>
                        <a:spcAft>
                          <a:spcPts val="0"/>
                        </a:spcAft>
                        <a:buNone/>
                      </a:pPr>
                      <a:r>
                        <a:rPr lang="en-US" sz="1800" b="1">
                          <a:solidFill>
                            <a:schemeClr val="tx1"/>
                          </a:solidFill>
                        </a:rPr>
                        <a:t>Value</a:t>
                      </a:r>
                      <a:endParaRPr sz="1800" b="1">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600">
                          <a:solidFill>
                            <a:schemeClr val="tx1"/>
                          </a:solidFill>
                        </a:rPr>
                        <a:t>Functional</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600" dirty="0">
                          <a:solidFill>
                            <a:schemeClr val="tx1"/>
                          </a:solidFill>
                        </a:rPr>
                        <a:t>B3LYP</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600">
                          <a:solidFill>
                            <a:schemeClr val="tx1"/>
                          </a:solidFill>
                        </a:rPr>
                        <a:t>Basis set</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600" dirty="0">
                          <a:solidFill>
                            <a:schemeClr val="tx1"/>
                          </a:solidFill>
                        </a:rPr>
                        <a:t>6-31G(d)</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600">
                          <a:solidFill>
                            <a:schemeClr val="tx1"/>
                          </a:solidFill>
                        </a:rPr>
                        <a:t>Solvent model</a:t>
                      </a:r>
                      <a:endParaRPr sz="160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600" dirty="0">
                          <a:solidFill>
                            <a:schemeClr val="tx1"/>
                          </a:solidFill>
                        </a:rPr>
                        <a:t>SMD (water)</a:t>
                      </a:r>
                      <a:endParaRPr sz="1600" dirty="0">
                        <a:solidFill>
                          <a:schemeClr val="tx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Google Shape;316;p39">
            <a:extLst>
              <a:ext uri="{FF2B5EF4-FFF2-40B4-BE49-F238E27FC236}">
                <a16:creationId xmlns:a16="http://schemas.microsoft.com/office/drawing/2014/main" id="{D9E14B4B-FA1A-A6B7-E377-80110A283AEE}"/>
              </a:ext>
            </a:extLst>
          </p:cNvPr>
          <p:cNvSpPr txBox="1"/>
          <p:nvPr/>
        </p:nvSpPr>
        <p:spPr>
          <a:xfrm>
            <a:off x="370699" y="3074651"/>
            <a:ext cx="7472535" cy="381024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dirty="0"/>
              <a:t>Gaussian keywords used:</a:t>
            </a:r>
            <a:endParaRPr sz="1600" dirty="0"/>
          </a:p>
          <a:p>
            <a:pPr marL="0" lvl="0" indent="0" algn="l" rtl="0">
              <a:lnSpc>
                <a:spcPct val="115000"/>
              </a:lnSpc>
              <a:spcBef>
                <a:spcPts val="1200"/>
              </a:spcBef>
              <a:spcAft>
                <a:spcPts val="0"/>
              </a:spcAft>
              <a:buNone/>
            </a:pPr>
            <a:r>
              <a:rPr lang="en-US" sz="1600" dirty="0">
                <a:highlight>
                  <a:srgbClr val="00FFFF"/>
                </a:highlight>
              </a:rPr>
              <a:t># B3LYP/6-31G(d) </a:t>
            </a:r>
            <a:r>
              <a:rPr lang="en-US" sz="1600" dirty="0" err="1">
                <a:highlight>
                  <a:srgbClr val="00FFFF"/>
                </a:highlight>
              </a:rPr>
              <a:t>Opt</a:t>
            </a:r>
            <a:r>
              <a:rPr lang="en-US" sz="1600" dirty="0">
                <a:highlight>
                  <a:srgbClr val="00FFFF"/>
                </a:highlight>
              </a:rPr>
              <a:t> Freq Raman SCF=Tight Int=</a:t>
            </a:r>
            <a:r>
              <a:rPr lang="en-US" sz="1600" dirty="0" err="1">
                <a:highlight>
                  <a:srgbClr val="00FFFF"/>
                </a:highlight>
              </a:rPr>
              <a:t>UltraFine</a:t>
            </a:r>
            <a:r>
              <a:rPr lang="en-US" sz="1600" dirty="0">
                <a:highlight>
                  <a:srgbClr val="00FFFF"/>
                </a:highlight>
              </a:rPr>
              <a:t> SCRF=(</a:t>
            </a:r>
            <a:r>
              <a:rPr lang="en-US" sz="1600" dirty="0" err="1">
                <a:highlight>
                  <a:srgbClr val="00FFFF"/>
                </a:highlight>
              </a:rPr>
              <a:t>SMD,Solvent</a:t>
            </a:r>
            <a:r>
              <a:rPr lang="en-US" sz="1600" dirty="0">
                <a:highlight>
                  <a:srgbClr val="00FFFF"/>
                </a:highlight>
              </a:rPr>
              <a:t>=Water)</a:t>
            </a:r>
            <a:endParaRPr sz="1600" dirty="0">
              <a:highlight>
                <a:srgbClr val="00FFFF"/>
              </a:highlight>
            </a:endParaRPr>
          </a:p>
          <a:p>
            <a:pPr marL="0" lvl="0" indent="0" algn="l" rtl="0">
              <a:lnSpc>
                <a:spcPct val="115000"/>
              </a:lnSpc>
              <a:spcBef>
                <a:spcPts val="1200"/>
              </a:spcBef>
              <a:spcAft>
                <a:spcPts val="0"/>
              </a:spcAft>
              <a:buNone/>
            </a:pPr>
            <a:r>
              <a:rPr lang="en-US" sz="1600" dirty="0"/>
              <a:t>Explanation:</a:t>
            </a:r>
            <a:endParaRPr sz="1600" dirty="0"/>
          </a:p>
          <a:p>
            <a:pPr marL="457200" lvl="0" indent="-317500" algn="l" rtl="0">
              <a:lnSpc>
                <a:spcPct val="115000"/>
              </a:lnSpc>
              <a:spcBef>
                <a:spcPts val="1200"/>
              </a:spcBef>
              <a:spcAft>
                <a:spcPts val="0"/>
              </a:spcAft>
              <a:buClr>
                <a:schemeClr val="lt1"/>
              </a:buClr>
              <a:buSzPts val="1400"/>
              <a:buChar char="●"/>
            </a:pPr>
            <a:r>
              <a:rPr lang="en-US" sz="1600" b="1" dirty="0"/>
              <a:t>SCF=Tight</a:t>
            </a:r>
            <a:r>
              <a:rPr lang="en-US" sz="1600" dirty="0"/>
              <a:t> ensures strict electronic convergence</a:t>
            </a:r>
            <a:endParaRPr sz="1600" dirty="0"/>
          </a:p>
          <a:p>
            <a:pPr marL="457200" lvl="0" indent="-317500" algn="l" rtl="0">
              <a:lnSpc>
                <a:spcPct val="115000"/>
              </a:lnSpc>
              <a:spcBef>
                <a:spcPts val="0"/>
              </a:spcBef>
              <a:spcAft>
                <a:spcPts val="0"/>
              </a:spcAft>
              <a:buClr>
                <a:schemeClr val="lt1"/>
              </a:buClr>
              <a:buSzPts val="1400"/>
              <a:buChar char="●"/>
            </a:pPr>
            <a:r>
              <a:rPr lang="en-US" sz="1600" b="1" dirty="0"/>
              <a:t>Int=</a:t>
            </a:r>
            <a:r>
              <a:rPr lang="en-US" sz="1600" b="1" dirty="0" err="1"/>
              <a:t>UltraFine</a:t>
            </a:r>
            <a:r>
              <a:rPr lang="en-US" sz="1600" dirty="0"/>
              <a:t> improves numerical accuracy</a:t>
            </a:r>
            <a:endParaRPr sz="1600" dirty="0"/>
          </a:p>
          <a:p>
            <a:pPr marL="457200" lvl="0" indent="-317500" algn="l" rtl="0">
              <a:lnSpc>
                <a:spcPct val="115000"/>
              </a:lnSpc>
              <a:spcBef>
                <a:spcPts val="0"/>
              </a:spcBef>
              <a:spcAft>
                <a:spcPts val="0"/>
              </a:spcAft>
              <a:buClr>
                <a:schemeClr val="lt1"/>
              </a:buClr>
              <a:buSzPts val="1400"/>
              <a:buChar char="●"/>
            </a:pPr>
            <a:r>
              <a:rPr lang="en-US" sz="1600" b="1" dirty="0"/>
              <a:t>SCRF=SMD</a:t>
            </a:r>
            <a:r>
              <a:rPr lang="en-US" sz="1600" dirty="0"/>
              <a:t> models the aqueous environment in which LTA normally exists</a:t>
            </a:r>
            <a:endParaRPr sz="1600" dirty="0"/>
          </a:p>
          <a:p>
            <a:pPr marL="0" lvl="0" indent="0" algn="l" rtl="0">
              <a:lnSpc>
                <a:spcPct val="115000"/>
              </a:lnSpc>
              <a:spcBef>
                <a:spcPts val="1200"/>
              </a:spcBef>
              <a:spcAft>
                <a:spcPts val="0"/>
              </a:spcAft>
              <a:buNone/>
            </a:pPr>
            <a:r>
              <a:rPr lang="en-US" sz="1600" dirty="0"/>
              <a:t>DFT frequencies typically </a:t>
            </a:r>
            <a:r>
              <a:rPr lang="en-US" sz="1600" b="1" dirty="0"/>
              <a:t>overestimate vibrational frequencies</a:t>
            </a:r>
            <a:r>
              <a:rPr lang="en-US" sz="1600" dirty="0"/>
              <a:t>, so a scaling factor is applied.</a:t>
            </a:r>
            <a:endParaRPr sz="1600" dirty="0"/>
          </a:p>
          <a:p>
            <a:pPr marL="0" lvl="0" indent="0" algn="l" rtl="0">
              <a:lnSpc>
                <a:spcPct val="115000"/>
              </a:lnSpc>
              <a:spcBef>
                <a:spcPts val="1200"/>
              </a:spcBef>
              <a:spcAft>
                <a:spcPts val="1200"/>
              </a:spcAft>
              <a:buNone/>
            </a:pPr>
            <a:r>
              <a:rPr lang="en-US" sz="1600" dirty="0"/>
              <a:t>Scaled frequency = frequency × 0.96</a:t>
            </a:r>
            <a:endParaRPr sz="1600" dirty="0"/>
          </a:p>
        </p:txBody>
      </p:sp>
      <p:pic>
        <p:nvPicPr>
          <p:cNvPr id="11" name="Picture 10">
            <a:extLst>
              <a:ext uri="{FF2B5EF4-FFF2-40B4-BE49-F238E27FC236}">
                <a16:creationId xmlns:a16="http://schemas.microsoft.com/office/drawing/2014/main" id="{8EBE01CF-3AA7-08D9-2CAE-339BF548F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312" y="4198880"/>
            <a:ext cx="4481098" cy="2211882"/>
          </a:xfrm>
          <a:prstGeom prst="rect">
            <a:avLst/>
          </a:prstGeom>
        </p:spPr>
      </p:pic>
    </p:spTree>
    <p:extLst>
      <p:ext uri="{BB962C8B-B14F-4D97-AF65-F5344CB8AC3E}">
        <p14:creationId xmlns:p14="http://schemas.microsoft.com/office/powerpoint/2010/main" val="3460002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87E2EA-839B-22A2-B57C-CB16B648AAD6}"/>
              </a:ext>
            </a:extLst>
          </p:cNvPr>
          <p:cNvSpPr txBox="1"/>
          <p:nvPr/>
        </p:nvSpPr>
        <p:spPr>
          <a:xfrm>
            <a:off x="400856" y="355964"/>
            <a:ext cx="10552626" cy="2611228"/>
          </a:xfrm>
          <a:prstGeom prst="rect">
            <a:avLst/>
          </a:prstGeom>
          <a:noFill/>
        </p:spPr>
        <p:txBody>
          <a:bodyPr wrap="square">
            <a:spAutoFit/>
          </a:bodyPr>
          <a:lstStyle/>
          <a:p>
            <a:pPr marL="457200" lvl="0" indent="0" algn="l" rtl="0">
              <a:lnSpc>
                <a:spcPct val="115000"/>
              </a:lnSpc>
              <a:spcBef>
                <a:spcPts val="1200"/>
              </a:spcBef>
              <a:spcAft>
                <a:spcPts val="0"/>
              </a:spcAft>
              <a:buNone/>
            </a:pPr>
            <a:r>
              <a:rPr lang="en-US" sz="1800" dirty="0"/>
              <a:t>The backbone is composed of repeating units:</a:t>
            </a:r>
          </a:p>
          <a:p>
            <a:pPr marL="457200" lvl="0" indent="0" algn="l" rtl="0">
              <a:lnSpc>
                <a:spcPct val="115000"/>
              </a:lnSpc>
              <a:spcBef>
                <a:spcPts val="1200"/>
              </a:spcBef>
              <a:spcAft>
                <a:spcPts val="0"/>
              </a:spcAft>
              <a:buNone/>
            </a:pPr>
            <a:r>
              <a:rPr lang="en-US" sz="1800" dirty="0">
                <a:highlight>
                  <a:srgbClr val="808080"/>
                </a:highlight>
              </a:rPr>
              <a:t>glycerol – phosphate – glycerol – phosphate</a:t>
            </a:r>
          </a:p>
          <a:p>
            <a:pPr marL="457200" lvl="0" indent="-387350" algn="l" rtl="0">
              <a:lnSpc>
                <a:spcPct val="115000"/>
              </a:lnSpc>
              <a:spcBef>
                <a:spcPts val="1200"/>
              </a:spcBef>
              <a:spcAft>
                <a:spcPts val="0"/>
              </a:spcAft>
              <a:buClr>
                <a:schemeClr val="lt1"/>
              </a:buClr>
              <a:buSzPts val="2500"/>
              <a:buChar char="●"/>
            </a:pPr>
            <a:r>
              <a:rPr lang="en-US" sz="1800" dirty="0"/>
              <a:t>Typical LTA molecules contain </a:t>
            </a:r>
            <a:r>
              <a:rPr lang="en-US" sz="1800" b="1" dirty="0"/>
              <a:t>10–20 repeating glycerol–phosphate units</a:t>
            </a:r>
            <a:r>
              <a:rPr lang="en-US" sz="1800" dirty="0"/>
              <a:t>, producing large polymers with hundreds of atoms.</a:t>
            </a:r>
          </a:p>
          <a:p>
            <a:pPr marL="457200" lvl="0" indent="-387350" algn="l" rtl="0">
              <a:lnSpc>
                <a:spcPct val="115000"/>
              </a:lnSpc>
              <a:spcBef>
                <a:spcPts val="0"/>
              </a:spcBef>
              <a:spcAft>
                <a:spcPts val="0"/>
              </a:spcAft>
              <a:buClr>
                <a:schemeClr val="lt1"/>
              </a:buClr>
              <a:buSzPts val="2500"/>
              <a:buChar char="●"/>
            </a:pPr>
            <a:r>
              <a:rPr lang="en-US" sz="1800" dirty="0"/>
              <a:t>Because the full polymer is </a:t>
            </a:r>
            <a:r>
              <a:rPr lang="en-US" sz="1800" b="1" dirty="0"/>
              <a:t>computationally expensive for quantum simulations</a:t>
            </a:r>
            <a:r>
              <a:rPr lang="en-US" sz="1800" dirty="0"/>
              <a:t>, smaller molecular fragments are often used to represent the </a:t>
            </a:r>
            <a:r>
              <a:rPr lang="en-US" sz="1800" b="1" dirty="0"/>
              <a:t>local chemical environment responsible for Raman-active vibrations</a:t>
            </a:r>
            <a:r>
              <a:rPr lang="en-US" sz="1800" dirty="0"/>
              <a:t>.</a:t>
            </a:r>
            <a:endParaRPr lang="en-US" sz="2000" b="1" dirty="0"/>
          </a:p>
        </p:txBody>
      </p:sp>
      <p:sp>
        <p:nvSpPr>
          <p:cNvPr id="7" name="TextBox 6">
            <a:extLst>
              <a:ext uri="{FF2B5EF4-FFF2-40B4-BE49-F238E27FC236}">
                <a16:creationId xmlns:a16="http://schemas.microsoft.com/office/drawing/2014/main" id="{9B771B26-1FE1-FE2B-2B60-27AD24F0EBC0}"/>
              </a:ext>
            </a:extLst>
          </p:cNvPr>
          <p:cNvSpPr txBox="1"/>
          <p:nvPr/>
        </p:nvSpPr>
        <p:spPr>
          <a:xfrm>
            <a:off x="898839" y="3175143"/>
            <a:ext cx="9556660" cy="3237553"/>
          </a:xfrm>
          <a:prstGeom prst="rect">
            <a:avLst/>
          </a:prstGeom>
          <a:noFill/>
        </p:spPr>
        <p:txBody>
          <a:bodyPr wrap="square">
            <a:spAutoFit/>
          </a:bodyPr>
          <a:lstStyle/>
          <a:p>
            <a:pPr marL="0" lvl="0" indent="0" algn="l" rtl="0">
              <a:lnSpc>
                <a:spcPct val="115000"/>
              </a:lnSpc>
              <a:spcBef>
                <a:spcPts val="1200"/>
              </a:spcBef>
              <a:spcAft>
                <a:spcPts val="0"/>
              </a:spcAft>
              <a:buNone/>
            </a:pPr>
            <a:r>
              <a:rPr lang="en-GB" sz="1800" dirty="0"/>
              <a:t>General structure:</a:t>
            </a:r>
          </a:p>
          <a:p>
            <a:pPr marL="0" lvl="0" indent="0" algn="l" rtl="0">
              <a:lnSpc>
                <a:spcPct val="115000"/>
              </a:lnSpc>
              <a:spcBef>
                <a:spcPts val="1200"/>
              </a:spcBef>
              <a:spcAft>
                <a:spcPts val="0"/>
              </a:spcAft>
              <a:buNone/>
            </a:pPr>
            <a:r>
              <a:rPr lang="en-GB" sz="1800" b="1" dirty="0"/>
              <a:t>Lipid anchor – (Gro–P)ₙ</a:t>
            </a:r>
          </a:p>
          <a:p>
            <a:pPr marL="0" lvl="0" indent="0" algn="l" rtl="0">
              <a:lnSpc>
                <a:spcPct val="115000"/>
              </a:lnSpc>
              <a:spcBef>
                <a:spcPts val="1200"/>
              </a:spcBef>
              <a:spcAft>
                <a:spcPts val="0"/>
              </a:spcAft>
              <a:buNone/>
            </a:pPr>
            <a:r>
              <a:rPr lang="en-GB" sz="1800" dirty="0"/>
              <a:t>where: Gro = glycerol</a:t>
            </a:r>
            <a:br>
              <a:rPr lang="en-GB" sz="1800" dirty="0"/>
            </a:br>
            <a:r>
              <a:rPr lang="en-GB" sz="1800" dirty="0"/>
              <a:t>              P = phosphate</a:t>
            </a:r>
          </a:p>
          <a:p>
            <a:pPr marL="0" lvl="0" indent="0" algn="l" rtl="0">
              <a:lnSpc>
                <a:spcPct val="115000"/>
              </a:lnSpc>
              <a:spcBef>
                <a:spcPts val="1200"/>
              </a:spcBef>
              <a:spcAft>
                <a:spcPts val="0"/>
              </a:spcAft>
              <a:buNone/>
            </a:pPr>
            <a:r>
              <a:rPr lang="en-GB" sz="1800" dirty="0"/>
              <a:t>LTA contributes to:</a:t>
            </a:r>
          </a:p>
          <a:p>
            <a:pPr marL="400050" lvl="0" indent="-285750" algn="l" rtl="0">
              <a:lnSpc>
                <a:spcPct val="115000"/>
              </a:lnSpc>
              <a:spcBef>
                <a:spcPts val="1200"/>
              </a:spcBef>
              <a:spcAft>
                <a:spcPts val="0"/>
              </a:spcAft>
              <a:buClr>
                <a:schemeClr val="lt1"/>
              </a:buClr>
              <a:buSzPts val="1800"/>
              <a:buFont typeface="Arial" panose="020B0604020202020204" pitchFamily="34" charset="0"/>
              <a:buChar char="•"/>
            </a:pPr>
            <a:r>
              <a:rPr lang="en-GB" sz="1800" dirty="0"/>
              <a:t>bacterial adhesion</a:t>
            </a:r>
          </a:p>
          <a:p>
            <a:pPr marL="400050" lvl="0" indent="-285750" algn="l" rtl="0">
              <a:lnSpc>
                <a:spcPct val="115000"/>
              </a:lnSpc>
              <a:spcBef>
                <a:spcPts val="0"/>
              </a:spcBef>
              <a:spcAft>
                <a:spcPts val="0"/>
              </a:spcAft>
              <a:buClr>
                <a:schemeClr val="lt1"/>
              </a:buClr>
              <a:buSzPts val="1800"/>
              <a:buFont typeface="Arial" panose="020B0604020202020204" pitchFamily="34" charset="0"/>
              <a:buChar char="•"/>
            </a:pPr>
            <a:r>
              <a:rPr lang="en-GB" sz="1800" dirty="0"/>
              <a:t>cell wall maintenance</a:t>
            </a:r>
          </a:p>
          <a:p>
            <a:pPr marL="400050" lvl="0" indent="-285750" algn="l" rtl="0">
              <a:lnSpc>
                <a:spcPct val="115000"/>
              </a:lnSpc>
              <a:spcBef>
                <a:spcPts val="0"/>
              </a:spcBef>
              <a:spcAft>
                <a:spcPts val="0"/>
              </a:spcAft>
              <a:buClr>
                <a:schemeClr val="lt1"/>
              </a:buClr>
              <a:buSzPts val="1800"/>
              <a:buFont typeface="Arial" panose="020B0604020202020204" pitchFamily="34" charset="0"/>
              <a:buChar char="•"/>
            </a:pPr>
            <a:r>
              <a:rPr lang="en-GB" sz="1800" dirty="0"/>
              <a:t>activation of host immune responses through receptors such as </a:t>
            </a:r>
            <a:r>
              <a:rPr lang="en-GB" sz="1800" b="1" dirty="0"/>
              <a:t>Toll-like receptor 2</a:t>
            </a:r>
          </a:p>
        </p:txBody>
      </p:sp>
      <p:pic>
        <p:nvPicPr>
          <p:cNvPr id="8" name="Google Shape;284;p35">
            <a:extLst>
              <a:ext uri="{FF2B5EF4-FFF2-40B4-BE49-F238E27FC236}">
                <a16:creationId xmlns:a16="http://schemas.microsoft.com/office/drawing/2014/main" id="{3DE44207-9079-F61B-457B-FB32FB3A03D8}"/>
              </a:ext>
            </a:extLst>
          </p:cNvPr>
          <p:cNvPicPr preferRelativeResize="0"/>
          <p:nvPr/>
        </p:nvPicPr>
        <p:blipFill>
          <a:blip r:embed="rId2">
            <a:alphaModFix/>
          </a:blip>
          <a:stretch>
            <a:fillRect/>
          </a:stretch>
        </p:blipFill>
        <p:spPr>
          <a:xfrm>
            <a:off x="5167973" y="2818085"/>
            <a:ext cx="6125188" cy="2671625"/>
          </a:xfrm>
          <a:prstGeom prst="rect">
            <a:avLst/>
          </a:prstGeom>
          <a:noFill/>
          <a:ln>
            <a:solidFill>
              <a:schemeClr val="tx1"/>
            </a:solidFill>
          </a:ln>
        </p:spPr>
      </p:pic>
    </p:spTree>
    <p:extLst>
      <p:ext uri="{BB962C8B-B14F-4D97-AF65-F5344CB8AC3E}">
        <p14:creationId xmlns:p14="http://schemas.microsoft.com/office/powerpoint/2010/main" val="324769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C10D-1730-95B6-3D0B-002F351EBD70}"/>
            </a:ext>
          </a:extLst>
        </p:cNvPr>
        <p:cNvGrpSpPr/>
        <p:nvPr/>
      </p:nvGrpSpPr>
      <p:grpSpPr>
        <a:xfrm>
          <a:off x="0" y="0"/>
          <a:ext cx="0" cy="0"/>
          <a:chOff x="0" y="0"/>
          <a:chExt cx="0" cy="0"/>
        </a:xfrm>
      </p:grpSpPr>
      <p:sp>
        <p:nvSpPr>
          <p:cNvPr id="9" name="Google Shape;332;p41">
            <a:extLst>
              <a:ext uri="{FF2B5EF4-FFF2-40B4-BE49-F238E27FC236}">
                <a16:creationId xmlns:a16="http://schemas.microsoft.com/office/drawing/2014/main" id="{2F97C6C0-86B7-DB05-E205-EBB3FD11027C}"/>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D-Alanine</a:t>
            </a:r>
            <a:endParaRPr sz="2400" b="1" dirty="0">
              <a:solidFill>
                <a:srgbClr val="00B0F0"/>
              </a:solidFill>
            </a:endParaRPr>
          </a:p>
        </p:txBody>
      </p:sp>
      <p:sp>
        <p:nvSpPr>
          <p:cNvPr id="10" name="TextBox 9">
            <a:extLst>
              <a:ext uri="{FF2B5EF4-FFF2-40B4-BE49-F238E27FC236}">
                <a16:creationId xmlns:a16="http://schemas.microsoft.com/office/drawing/2014/main" id="{ADDDE0B2-70D8-4580-B956-8F700EE42BD0}"/>
              </a:ext>
            </a:extLst>
          </p:cNvPr>
          <p:cNvSpPr txBox="1"/>
          <p:nvPr/>
        </p:nvSpPr>
        <p:spPr>
          <a:xfrm>
            <a:off x="324570" y="1064399"/>
            <a:ext cx="1901674" cy="400110"/>
          </a:xfrm>
          <a:prstGeom prst="rect">
            <a:avLst/>
          </a:prstGeom>
          <a:noFill/>
        </p:spPr>
        <p:txBody>
          <a:bodyPr wrap="none" rtlCol="0">
            <a:spAutoFit/>
          </a:bodyPr>
          <a:lstStyle/>
          <a:p>
            <a:r>
              <a:rPr lang="en-IN" sz="2000" b="1" dirty="0"/>
              <a:t>Why D-Alanine?</a:t>
            </a:r>
          </a:p>
        </p:txBody>
      </p:sp>
      <p:sp>
        <p:nvSpPr>
          <p:cNvPr id="11" name="TextBox 10">
            <a:extLst>
              <a:ext uri="{FF2B5EF4-FFF2-40B4-BE49-F238E27FC236}">
                <a16:creationId xmlns:a16="http://schemas.microsoft.com/office/drawing/2014/main" id="{37BB0390-CE87-31CF-E39B-056F78302DB9}"/>
              </a:ext>
            </a:extLst>
          </p:cNvPr>
          <p:cNvSpPr txBox="1"/>
          <p:nvPr/>
        </p:nvSpPr>
        <p:spPr>
          <a:xfrm>
            <a:off x="1291489" y="1461007"/>
            <a:ext cx="5234382" cy="923330"/>
          </a:xfrm>
          <a:prstGeom prst="rect">
            <a:avLst/>
          </a:prstGeom>
          <a:noFill/>
        </p:spPr>
        <p:txBody>
          <a:bodyPr wrap="none" rtlCol="0">
            <a:spAutoFit/>
          </a:bodyPr>
          <a:lstStyle/>
          <a:p>
            <a:r>
              <a:rPr lang="en-IN" sz="1800" dirty="0"/>
              <a:t>• Represents </a:t>
            </a:r>
            <a:r>
              <a:rPr lang="en-IN" sz="1800" b="1" dirty="0"/>
              <a:t>amino substituent in LTA</a:t>
            </a:r>
            <a:br>
              <a:rPr lang="en-IN" sz="1800" dirty="0"/>
            </a:br>
            <a:r>
              <a:rPr lang="en-IN" sz="1800" dirty="0"/>
              <a:t>• Responsible for </a:t>
            </a:r>
            <a:r>
              <a:rPr lang="en-IN" sz="1800" b="1" dirty="0"/>
              <a:t>surface charge regulation</a:t>
            </a:r>
            <a:br>
              <a:rPr lang="en-IN" sz="1800" dirty="0"/>
            </a:br>
            <a:r>
              <a:rPr lang="en-IN" sz="1800" dirty="0"/>
              <a:t>• Important for </a:t>
            </a:r>
            <a:r>
              <a:rPr lang="en-IN" sz="1800" b="1" dirty="0"/>
              <a:t>Gram-positive bacterial identification</a:t>
            </a:r>
            <a:endParaRPr lang="en-IN" sz="1800" dirty="0"/>
          </a:p>
        </p:txBody>
      </p:sp>
      <p:sp>
        <p:nvSpPr>
          <p:cNvPr id="12" name="TextBox 11">
            <a:extLst>
              <a:ext uri="{FF2B5EF4-FFF2-40B4-BE49-F238E27FC236}">
                <a16:creationId xmlns:a16="http://schemas.microsoft.com/office/drawing/2014/main" id="{CF187C6A-F905-3E04-95D7-0355AC4B85E6}"/>
              </a:ext>
            </a:extLst>
          </p:cNvPr>
          <p:cNvSpPr txBox="1"/>
          <p:nvPr/>
        </p:nvSpPr>
        <p:spPr>
          <a:xfrm>
            <a:off x="324570" y="2703924"/>
            <a:ext cx="2872453" cy="400110"/>
          </a:xfrm>
          <a:prstGeom prst="rect">
            <a:avLst/>
          </a:prstGeom>
          <a:noFill/>
        </p:spPr>
        <p:txBody>
          <a:bodyPr wrap="none" rtlCol="0">
            <a:spAutoFit/>
          </a:bodyPr>
          <a:lstStyle/>
          <a:p>
            <a:r>
              <a:rPr lang="en-IN" sz="2000" b="1" dirty="0"/>
              <a:t>Molecular Characteristics</a:t>
            </a:r>
          </a:p>
        </p:txBody>
      </p:sp>
      <p:sp>
        <p:nvSpPr>
          <p:cNvPr id="13" name="TextBox 12">
            <a:extLst>
              <a:ext uri="{FF2B5EF4-FFF2-40B4-BE49-F238E27FC236}">
                <a16:creationId xmlns:a16="http://schemas.microsoft.com/office/drawing/2014/main" id="{A7F6A210-5246-0C94-0F45-946DED2935EE}"/>
              </a:ext>
            </a:extLst>
          </p:cNvPr>
          <p:cNvSpPr txBox="1"/>
          <p:nvPr/>
        </p:nvSpPr>
        <p:spPr>
          <a:xfrm>
            <a:off x="1291489" y="3178196"/>
            <a:ext cx="5203654" cy="1477328"/>
          </a:xfrm>
          <a:prstGeom prst="rect">
            <a:avLst/>
          </a:prstGeom>
          <a:noFill/>
        </p:spPr>
        <p:txBody>
          <a:bodyPr wrap="square" rtlCol="0">
            <a:spAutoFit/>
          </a:bodyPr>
          <a:lstStyle/>
          <a:p>
            <a:r>
              <a:rPr lang="en-IN" sz="1800" dirty="0"/>
              <a:t>• Exists in </a:t>
            </a:r>
            <a:r>
              <a:rPr lang="en-IN" sz="1800" b="1" dirty="0"/>
              <a:t>zwitterionic form</a:t>
            </a:r>
            <a:r>
              <a:rPr lang="en-IN" sz="1800" dirty="0"/>
              <a:t>: NH₃⁺ – COO⁻</a:t>
            </a:r>
            <a:br>
              <a:rPr lang="en-IN" sz="1800" dirty="0"/>
            </a:br>
            <a:r>
              <a:rPr lang="en-IN" sz="1800" dirty="0"/>
              <a:t>• Contains:</a:t>
            </a:r>
          </a:p>
          <a:p>
            <a:pPr lvl="4"/>
            <a:r>
              <a:rPr lang="en-IN" sz="1800" dirty="0"/>
              <a:t>	Amino group </a:t>
            </a:r>
          </a:p>
          <a:p>
            <a:pPr lvl="4"/>
            <a:r>
              <a:rPr lang="en-IN" sz="1800" dirty="0"/>
              <a:t>	Carboxylate group </a:t>
            </a:r>
          </a:p>
          <a:p>
            <a:pPr lvl="4"/>
            <a:r>
              <a:rPr lang="en-IN" sz="1800" dirty="0"/>
              <a:t>	Methyl group</a:t>
            </a:r>
          </a:p>
        </p:txBody>
      </p:sp>
      <p:sp>
        <p:nvSpPr>
          <p:cNvPr id="14" name="TextBox 13">
            <a:extLst>
              <a:ext uri="{FF2B5EF4-FFF2-40B4-BE49-F238E27FC236}">
                <a16:creationId xmlns:a16="http://schemas.microsoft.com/office/drawing/2014/main" id="{4603550C-7590-BC72-5549-5FBA0E2554C5}"/>
              </a:ext>
            </a:extLst>
          </p:cNvPr>
          <p:cNvSpPr txBox="1"/>
          <p:nvPr/>
        </p:nvSpPr>
        <p:spPr>
          <a:xfrm>
            <a:off x="324570" y="4780962"/>
            <a:ext cx="2703689" cy="400110"/>
          </a:xfrm>
          <a:prstGeom prst="rect">
            <a:avLst/>
          </a:prstGeom>
          <a:noFill/>
        </p:spPr>
        <p:txBody>
          <a:bodyPr wrap="none" rtlCol="0">
            <a:spAutoFit/>
          </a:bodyPr>
          <a:lstStyle/>
          <a:p>
            <a:r>
              <a:rPr lang="en-IN" sz="2000" b="1" dirty="0"/>
              <a:t>DFT Simulation Method</a:t>
            </a:r>
          </a:p>
        </p:txBody>
      </p:sp>
      <p:sp>
        <p:nvSpPr>
          <p:cNvPr id="15" name="TextBox 14">
            <a:extLst>
              <a:ext uri="{FF2B5EF4-FFF2-40B4-BE49-F238E27FC236}">
                <a16:creationId xmlns:a16="http://schemas.microsoft.com/office/drawing/2014/main" id="{0B59AAFA-DCF4-5D55-BEF6-0ADAD3750FF0}"/>
              </a:ext>
            </a:extLst>
          </p:cNvPr>
          <p:cNvSpPr txBox="1"/>
          <p:nvPr/>
        </p:nvSpPr>
        <p:spPr>
          <a:xfrm>
            <a:off x="1297892" y="5256132"/>
            <a:ext cx="4469622" cy="1200329"/>
          </a:xfrm>
          <a:prstGeom prst="rect">
            <a:avLst/>
          </a:prstGeom>
          <a:noFill/>
        </p:spPr>
        <p:txBody>
          <a:bodyPr wrap="none" rtlCol="0">
            <a:spAutoFit/>
          </a:bodyPr>
          <a:lstStyle/>
          <a:p>
            <a:r>
              <a:rPr lang="en-GB" sz="1800" dirty="0"/>
              <a:t>• Geometry optimization + Raman calculation</a:t>
            </a:r>
            <a:br>
              <a:rPr lang="en-GB" sz="1800" dirty="0"/>
            </a:br>
            <a:r>
              <a:rPr lang="en-GB" sz="1800" dirty="0"/>
              <a:t>• Functional: B3LYP</a:t>
            </a:r>
            <a:br>
              <a:rPr lang="en-GB" sz="1800" dirty="0"/>
            </a:br>
            <a:r>
              <a:rPr lang="en-GB" sz="1800" dirty="0"/>
              <a:t>• Basis set: 6-31G(d)</a:t>
            </a:r>
            <a:br>
              <a:rPr lang="en-GB" sz="1800" dirty="0"/>
            </a:br>
            <a:r>
              <a:rPr lang="en-GB" sz="1800" dirty="0"/>
              <a:t>• Solvent: SMD (water)</a:t>
            </a:r>
            <a:endParaRPr lang="en-IN" sz="1800" dirty="0"/>
          </a:p>
        </p:txBody>
      </p:sp>
      <p:pic>
        <p:nvPicPr>
          <p:cNvPr id="16" name="Picture 15">
            <a:extLst>
              <a:ext uri="{FF2B5EF4-FFF2-40B4-BE49-F238E27FC236}">
                <a16:creationId xmlns:a16="http://schemas.microsoft.com/office/drawing/2014/main" id="{0CFB0535-6839-24F0-5B18-62A211F5A543}"/>
              </a:ext>
            </a:extLst>
          </p:cNvPr>
          <p:cNvPicPr>
            <a:picLocks noChangeAspect="1"/>
          </p:cNvPicPr>
          <p:nvPr/>
        </p:nvPicPr>
        <p:blipFill>
          <a:blip r:embed="rId2"/>
          <a:stretch>
            <a:fillRect/>
          </a:stretch>
        </p:blipFill>
        <p:spPr>
          <a:xfrm>
            <a:off x="6509250" y="2981267"/>
            <a:ext cx="6294365" cy="3256879"/>
          </a:xfrm>
          <a:prstGeom prst="rect">
            <a:avLst/>
          </a:prstGeom>
        </p:spPr>
      </p:pic>
      <p:pic>
        <p:nvPicPr>
          <p:cNvPr id="17" name="Picture 16">
            <a:extLst>
              <a:ext uri="{FF2B5EF4-FFF2-40B4-BE49-F238E27FC236}">
                <a16:creationId xmlns:a16="http://schemas.microsoft.com/office/drawing/2014/main" id="{B027E853-A5B6-2047-646D-7CBB15819AAB}"/>
              </a:ext>
            </a:extLst>
          </p:cNvPr>
          <p:cNvPicPr>
            <a:picLocks noChangeAspect="1"/>
          </p:cNvPicPr>
          <p:nvPr/>
        </p:nvPicPr>
        <p:blipFill>
          <a:blip r:embed="rId3"/>
          <a:stretch>
            <a:fillRect/>
          </a:stretch>
        </p:blipFill>
        <p:spPr>
          <a:xfrm>
            <a:off x="8580657" y="378689"/>
            <a:ext cx="2151552" cy="2151552"/>
          </a:xfrm>
          <a:prstGeom prst="rect">
            <a:avLst/>
          </a:prstGeom>
        </p:spPr>
      </p:pic>
      <p:sp>
        <p:nvSpPr>
          <p:cNvPr id="18" name="TextBox 17">
            <a:extLst>
              <a:ext uri="{FF2B5EF4-FFF2-40B4-BE49-F238E27FC236}">
                <a16:creationId xmlns:a16="http://schemas.microsoft.com/office/drawing/2014/main" id="{A2888D59-AF90-FBC0-A14A-9F35ADE96858}"/>
              </a:ext>
            </a:extLst>
          </p:cNvPr>
          <p:cNvSpPr txBox="1"/>
          <p:nvPr/>
        </p:nvSpPr>
        <p:spPr>
          <a:xfrm>
            <a:off x="9145346" y="2673490"/>
            <a:ext cx="1371081" cy="369332"/>
          </a:xfrm>
          <a:prstGeom prst="rect">
            <a:avLst/>
          </a:prstGeom>
          <a:noFill/>
        </p:spPr>
        <p:txBody>
          <a:bodyPr wrap="none" rtlCol="0">
            <a:spAutoFit/>
          </a:bodyPr>
          <a:lstStyle/>
          <a:p>
            <a:r>
              <a:rPr lang="en-IN" dirty="0"/>
              <a:t>2D Structure</a:t>
            </a:r>
          </a:p>
        </p:txBody>
      </p:sp>
      <p:sp>
        <p:nvSpPr>
          <p:cNvPr id="19" name="TextBox 18">
            <a:extLst>
              <a:ext uri="{FF2B5EF4-FFF2-40B4-BE49-F238E27FC236}">
                <a16:creationId xmlns:a16="http://schemas.microsoft.com/office/drawing/2014/main" id="{D0122A31-1DCE-3582-DAD8-82FFC2FF413F}"/>
              </a:ext>
            </a:extLst>
          </p:cNvPr>
          <p:cNvSpPr txBox="1"/>
          <p:nvPr/>
        </p:nvSpPr>
        <p:spPr>
          <a:xfrm>
            <a:off x="9145346" y="5962534"/>
            <a:ext cx="1473411" cy="369332"/>
          </a:xfrm>
          <a:prstGeom prst="rect">
            <a:avLst/>
          </a:prstGeom>
          <a:noFill/>
        </p:spPr>
        <p:txBody>
          <a:bodyPr wrap="square">
            <a:spAutoFit/>
          </a:bodyPr>
          <a:lstStyle/>
          <a:p>
            <a:r>
              <a:rPr lang="en-IN" dirty="0"/>
              <a:t>3D Structure</a:t>
            </a:r>
          </a:p>
        </p:txBody>
      </p:sp>
    </p:spTree>
    <p:extLst>
      <p:ext uri="{BB962C8B-B14F-4D97-AF65-F5344CB8AC3E}">
        <p14:creationId xmlns:p14="http://schemas.microsoft.com/office/powerpoint/2010/main" val="2992497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067E4-0603-B796-6DA9-0AA2186093FD}"/>
            </a:ext>
          </a:extLst>
        </p:cNvPr>
        <p:cNvGrpSpPr/>
        <p:nvPr/>
      </p:nvGrpSpPr>
      <p:grpSpPr>
        <a:xfrm>
          <a:off x="0" y="0"/>
          <a:ext cx="0" cy="0"/>
          <a:chOff x="0" y="0"/>
          <a:chExt cx="0" cy="0"/>
        </a:xfrm>
      </p:grpSpPr>
      <p:sp>
        <p:nvSpPr>
          <p:cNvPr id="3" name="Google Shape;332;p41">
            <a:extLst>
              <a:ext uri="{FF2B5EF4-FFF2-40B4-BE49-F238E27FC236}">
                <a16:creationId xmlns:a16="http://schemas.microsoft.com/office/drawing/2014/main" id="{61F9E9AF-D7F1-1E31-7B98-8272EE6152D4}"/>
              </a:ext>
            </a:extLst>
          </p:cNvPr>
          <p:cNvSpPr txBox="1"/>
          <p:nvPr/>
        </p:nvSpPr>
        <p:spPr>
          <a:xfrm>
            <a:off x="324570" y="57781"/>
            <a:ext cx="11099400" cy="609367"/>
          </a:xfrm>
          <a:prstGeom prst="rect">
            <a:avLst/>
          </a:prstGeom>
          <a:noFill/>
          <a:ln>
            <a:noFill/>
          </a:ln>
        </p:spPr>
        <p:txBody>
          <a:bodyPr spcFirstLastPara="1" wrap="square" lIns="91425" tIns="91425" rIns="91425" bIns="91425" anchor="t" anchorCtr="0">
            <a:spAutoFit/>
          </a:bodyPr>
          <a:lstStyle/>
          <a:p>
            <a:pPr lvl="0">
              <a:lnSpc>
                <a:spcPct val="115000"/>
              </a:lnSpc>
            </a:pPr>
            <a:r>
              <a:rPr lang="en-GB" sz="2400" b="1" dirty="0" err="1">
                <a:solidFill>
                  <a:srgbClr val="00B0F0"/>
                </a:solidFill>
              </a:rPr>
              <a:t>Modeling</a:t>
            </a:r>
            <a:r>
              <a:rPr lang="en-GB" sz="2400" b="1" dirty="0">
                <a:solidFill>
                  <a:srgbClr val="00B0F0"/>
                </a:solidFill>
              </a:rPr>
              <a:t> the LTA Substituent: </a:t>
            </a:r>
            <a:r>
              <a:rPr lang="en-GB" sz="2400" b="1" dirty="0" err="1">
                <a:solidFill>
                  <a:srgbClr val="00B0F0"/>
                </a:solidFill>
              </a:rPr>
              <a:t>GlcNAc</a:t>
            </a:r>
            <a:endParaRPr sz="2400" b="1" dirty="0">
              <a:solidFill>
                <a:srgbClr val="00B0F0"/>
              </a:solidFill>
            </a:endParaRPr>
          </a:p>
        </p:txBody>
      </p:sp>
      <p:sp>
        <p:nvSpPr>
          <p:cNvPr id="4" name="TextBox 3">
            <a:extLst>
              <a:ext uri="{FF2B5EF4-FFF2-40B4-BE49-F238E27FC236}">
                <a16:creationId xmlns:a16="http://schemas.microsoft.com/office/drawing/2014/main" id="{9EE1A28D-527B-5AAC-7FB6-E25F651A3E98}"/>
              </a:ext>
            </a:extLst>
          </p:cNvPr>
          <p:cNvSpPr txBox="1"/>
          <p:nvPr/>
        </p:nvSpPr>
        <p:spPr>
          <a:xfrm>
            <a:off x="324570" y="1064399"/>
            <a:ext cx="1613134" cy="400110"/>
          </a:xfrm>
          <a:prstGeom prst="rect">
            <a:avLst/>
          </a:prstGeom>
          <a:noFill/>
        </p:spPr>
        <p:txBody>
          <a:bodyPr wrap="none" rtlCol="0">
            <a:spAutoFit/>
          </a:bodyPr>
          <a:lstStyle/>
          <a:p>
            <a:r>
              <a:rPr lang="en-IN" sz="2000" b="1" dirty="0"/>
              <a:t>Why </a:t>
            </a:r>
            <a:r>
              <a:rPr lang="en-IN" sz="2000" b="1" dirty="0" err="1"/>
              <a:t>GlcNAc</a:t>
            </a:r>
            <a:r>
              <a:rPr lang="en-IN" sz="2000" b="1" dirty="0"/>
              <a:t>?</a:t>
            </a:r>
          </a:p>
        </p:txBody>
      </p:sp>
      <p:sp>
        <p:nvSpPr>
          <p:cNvPr id="5" name="TextBox 4">
            <a:extLst>
              <a:ext uri="{FF2B5EF4-FFF2-40B4-BE49-F238E27FC236}">
                <a16:creationId xmlns:a16="http://schemas.microsoft.com/office/drawing/2014/main" id="{E912C702-FF66-A329-D914-DAC4F4379CE7}"/>
              </a:ext>
            </a:extLst>
          </p:cNvPr>
          <p:cNvSpPr txBox="1"/>
          <p:nvPr/>
        </p:nvSpPr>
        <p:spPr>
          <a:xfrm>
            <a:off x="1291489" y="1461007"/>
            <a:ext cx="4421916" cy="923330"/>
          </a:xfrm>
          <a:prstGeom prst="rect">
            <a:avLst/>
          </a:prstGeom>
          <a:noFill/>
        </p:spPr>
        <p:txBody>
          <a:bodyPr wrap="none" rtlCol="0">
            <a:spAutoFit/>
          </a:bodyPr>
          <a:lstStyle/>
          <a:p>
            <a:r>
              <a:rPr lang="en-GB" sz="1800" dirty="0"/>
              <a:t>• Represents </a:t>
            </a:r>
            <a:r>
              <a:rPr lang="en-GB" sz="1800" b="1" dirty="0"/>
              <a:t>carbohydrate component</a:t>
            </a:r>
            <a:br>
              <a:rPr lang="en-GB" sz="1800" dirty="0"/>
            </a:br>
            <a:r>
              <a:rPr lang="en-GB" sz="1800" dirty="0"/>
              <a:t>• Present in </a:t>
            </a:r>
            <a:r>
              <a:rPr lang="en-GB" sz="1800" b="1" dirty="0"/>
              <a:t>bacterial cell wall structures</a:t>
            </a:r>
            <a:br>
              <a:rPr lang="en-GB" sz="1800" dirty="0"/>
            </a:br>
            <a:r>
              <a:rPr lang="en-GB" sz="1800" dirty="0"/>
              <a:t>• Provides strong </a:t>
            </a:r>
            <a:r>
              <a:rPr lang="en-GB" sz="1800" b="1" dirty="0"/>
              <a:t>Raman-active sugar signals</a:t>
            </a:r>
            <a:endParaRPr lang="en-IN" sz="1800" dirty="0"/>
          </a:p>
        </p:txBody>
      </p:sp>
      <p:sp>
        <p:nvSpPr>
          <p:cNvPr id="6" name="TextBox 5">
            <a:extLst>
              <a:ext uri="{FF2B5EF4-FFF2-40B4-BE49-F238E27FC236}">
                <a16:creationId xmlns:a16="http://schemas.microsoft.com/office/drawing/2014/main" id="{7E1FF994-0A86-BF23-7ADF-6874B3F34F74}"/>
              </a:ext>
            </a:extLst>
          </p:cNvPr>
          <p:cNvSpPr txBox="1"/>
          <p:nvPr/>
        </p:nvSpPr>
        <p:spPr>
          <a:xfrm>
            <a:off x="324570" y="2703924"/>
            <a:ext cx="2872453" cy="400110"/>
          </a:xfrm>
          <a:prstGeom prst="rect">
            <a:avLst/>
          </a:prstGeom>
          <a:noFill/>
        </p:spPr>
        <p:txBody>
          <a:bodyPr wrap="none" rtlCol="0">
            <a:spAutoFit/>
          </a:bodyPr>
          <a:lstStyle/>
          <a:p>
            <a:r>
              <a:rPr lang="en-IN" sz="2000" b="1" dirty="0"/>
              <a:t>Molecular Characteristics</a:t>
            </a:r>
          </a:p>
        </p:txBody>
      </p:sp>
      <p:sp>
        <p:nvSpPr>
          <p:cNvPr id="7" name="TextBox 6">
            <a:extLst>
              <a:ext uri="{FF2B5EF4-FFF2-40B4-BE49-F238E27FC236}">
                <a16:creationId xmlns:a16="http://schemas.microsoft.com/office/drawing/2014/main" id="{EA005B7A-935C-784D-D1F9-22BDAB0833B1}"/>
              </a:ext>
            </a:extLst>
          </p:cNvPr>
          <p:cNvSpPr txBox="1"/>
          <p:nvPr/>
        </p:nvSpPr>
        <p:spPr>
          <a:xfrm>
            <a:off x="1291489" y="3178196"/>
            <a:ext cx="5203654" cy="1477328"/>
          </a:xfrm>
          <a:prstGeom prst="rect">
            <a:avLst/>
          </a:prstGeom>
          <a:noFill/>
        </p:spPr>
        <p:txBody>
          <a:bodyPr wrap="square" rtlCol="0">
            <a:spAutoFit/>
          </a:bodyPr>
          <a:lstStyle/>
          <a:p>
            <a:r>
              <a:rPr lang="en-IN" sz="1800" dirty="0"/>
              <a:t>• Pyranose ring structure</a:t>
            </a:r>
            <a:br>
              <a:rPr lang="en-IN" sz="1800" dirty="0"/>
            </a:br>
            <a:r>
              <a:rPr lang="en-IN" sz="1800" dirty="0"/>
              <a:t>• Contains:</a:t>
            </a:r>
          </a:p>
          <a:p>
            <a:pPr lvl="3"/>
            <a:r>
              <a:rPr lang="en-IN" sz="1800" dirty="0"/>
              <a:t>	Multiple hydroxyl groups (–OH) </a:t>
            </a:r>
          </a:p>
          <a:p>
            <a:pPr lvl="3"/>
            <a:r>
              <a:rPr lang="en-IN" sz="1800" dirty="0"/>
              <a:t>	Acetamide group (–</a:t>
            </a:r>
            <a:r>
              <a:rPr lang="en-IN" sz="1800" dirty="0" err="1"/>
              <a:t>NHCO</a:t>
            </a:r>
            <a:r>
              <a:rPr lang="en-IN" sz="1800" dirty="0"/>
              <a:t>–) </a:t>
            </a:r>
          </a:p>
          <a:p>
            <a:pPr lvl="3"/>
            <a:r>
              <a:rPr lang="en-IN" sz="1800" dirty="0"/>
              <a:t>	C–O–C linkages </a:t>
            </a:r>
          </a:p>
        </p:txBody>
      </p:sp>
      <p:sp>
        <p:nvSpPr>
          <p:cNvPr id="8" name="TextBox 7">
            <a:extLst>
              <a:ext uri="{FF2B5EF4-FFF2-40B4-BE49-F238E27FC236}">
                <a16:creationId xmlns:a16="http://schemas.microsoft.com/office/drawing/2014/main" id="{F709EBA4-F29C-ADC2-3232-9728E16AFC82}"/>
              </a:ext>
            </a:extLst>
          </p:cNvPr>
          <p:cNvSpPr txBox="1"/>
          <p:nvPr/>
        </p:nvSpPr>
        <p:spPr>
          <a:xfrm>
            <a:off x="324570" y="4780962"/>
            <a:ext cx="2703689" cy="400110"/>
          </a:xfrm>
          <a:prstGeom prst="rect">
            <a:avLst/>
          </a:prstGeom>
          <a:noFill/>
        </p:spPr>
        <p:txBody>
          <a:bodyPr wrap="none" rtlCol="0">
            <a:spAutoFit/>
          </a:bodyPr>
          <a:lstStyle/>
          <a:p>
            <a:r>
              <a:rPr lang="en-IN" sz="2000" b="1" dirty="0"/>
              <a:t>DFT Simulation Method</a:t>
            </a:r>
          </a:p>
        </p:txBody>
      </p:sp>
      <p:sp>
        <p:nvSpPr>
          <p:cNvPr id="9" name="TextBox 8">
            <a:extLst>
              <a:ext uri="{FF2B5EF4-FFF2-40B4-BE49-F238E27FC236}">
                <a16:creationId xmlns:a16="http://schemas.microsoft.com/office/drawing/2014/main" id="{321080DC-F164-AAF8-3300-07D9A6FEEBCC}"/>
              </a:ext>
            </a:extLst>
          </p:cNvPr>
          <p:cNvSpPr txBox="1"/>
          <p:nvPr/>
        </p:nvSpPr>
        <p:spPr>
          <a:xfrm>
            <a:off x="1297892" y="5256132"/>
            <a:ext cx="4469622" cy="1200329"/>
          </a:xfrm>
          <a:prstGeom prst="rect">
            <a:avLst/>
          </a:prstGeom>
          <a:noFill/>
        </p:spPr>
        <p:txBody>
          <a:bodyPr wrap="none" rtlCol="0">
            <a:spAutoFit/>
          </a:bodyPr>
          <a:lstStyle/>
          <a:p>
            <a:r>
              <a:rPr lang="en-GB" sz="1800" dirty="0"/>
              <a:t>• Geometry optimization + Raman calculation</a:t>
            </a:r>
            <a:br>
              <a:rPr lang="en-GB" sz="1800" dirty="0"/>
            </a:br>
            <a:r>
              <a:rPr lang="en-GB" sz="1800" dirty="0"/>
              <a:t>• Functional: B3LYP</a:t>
            </a:r>
            <a:br>
              <a:rPr lang="en-GB" sz="1800" dirty="0"/>
            </a:br>
            <a:r>
              <a:rPr lang="en-GB" sz="1800" dirty="0"/>
              <a:t>• Basis set: 6-31G(d)</a:t>
            </a:r>
            <a:br>
              <a:rPr lang="en-GB" sz="1800" dirty="0"/>
            </a:br>
            <a:r>
              <a:rPr lang="en-GB" sz="1800" dirty="0"/>
              <a:t>• Solvent: SMD (water)</a:t>
            </a:r>
            <a:endParaRPr lang="en-IN" sz="1800" dirty="0"/>
          </a:p>
        </p:txBody>
      </p:sp>
      <p:pic>
        <p:nvPicPr>
          <p:cNvPr id="10" name="Picture 9">
            <a:extLst>
              <a:ext uri="{FF2B5EF4-FFF2-40B4-BE49-F238E27FC236}">
                <a16:creationId xmlns:a16="http://schemas.microsoft.com/office/drawing/2014/main" id="{B59F8F31-25C9-5562-1C8C-7092B89CCA93}"/>
              </a:ext>
            </a:extLst>
          </p:cNvPr>
          <p:cNvPicPr>
            <a:picLocks noChangeAspect="1"/>
          </p:cNvPicPr>
          <p:nvPr/>
        </p:nvPicPr>
        <p:blipFill>
          <a:blip r:embed="rId2"/>
          <a:stretch>
            <a:fillRect/>
          </a:stretch>
        </p:blipFill>
        <p:spPr>
          <a:xfrm>
            <a:off x="8491941" y="455792"/>
            <a:ext cx="2321201" cy="2321201"/>
          </a:xfrm>
          <a:prstGeom prst="rect">
            <a:avLst/>
          </a:prstGeom>
        </p:spPr>
      </p:pic>
      <p:pic>
        <p:nvPicPr>
          <p:cNvPr id="11" name="Picture 10">
            <a:extLst>
              <a:ext uri="{FF2B5EF4-FFF2-40B4-BE49-F238E27FC236}">
                <a16:creationId xmlns:a16="http://schemas.microsoft.com/office/drawing/2014/main" id="{98A99667-1223-4055-45A5-2CDF424107E9}"/>
              </a:ext>
            </a:extLst>
          </p:cNvPr>
          <p:cNvPicPr>
            <a:picLocks noChangeAspect="1"/>
          </p:cNvPicPr>
          <p:nvPr/>
        </p:nvPicPr>
        <p:blipFill>
          <a:blip r:embed="rId3"/>
          <a:stretch>
            <a:fillRect/>
          </a:stretch>
        </p:blipFill>
        <p:spPr>
          <a:xfrm>
            <a:off x="6890430" y="3652279"/>
            <a:ext cx="5305425" cy="2657475"/>
          </a:xfrm>
          <a:prstGeom prst="rect">
            <a:avLst/>
          </a:prstGeom>
        </p:spPr>
      </p:pic>
      <p:sp>
        <p:nvSpPr>
          <p:cNvPr id="12" name="TextBox 11">
            <a:extLst>
              <a:ext uri="{FF2B5EF4-FFF2-40B4-BE49-F238E27FC236}">
                <a16:creationId xmlns:a16="http://schemas.microsoft.com/office/drawing/2014/main" id="{1A40ADE9-A428-5D2E-613A-3B4DDB79FBD9}"/>
              </a:ext>
            </a:extLst>
          </p:cNvPr>
          <p:cNvSpPr txBox="1"/>
          <p:nvPr/>
        </p:nvSpPr>
        <p:spPr>
          <a:xfrm>
            <a:off x="9150755" y="5856296"/>
            <a:ext cx="1371081" cy="369332"/>
          </a:xfrm>
          <a:prstGeom prst="rect">
            <a:avLst/>
          </a:prstGeom>
          <a:noFill/>
        </p:spPr>
        <p:txBody>
          <a:bodyPr wrap="none" rtlCol="0">
            <a:spAutoFit/>
          </a:bodyPr>
          <a:lstStyle/>
          <a:p>
            <a:r>
              <a:rPr lang="en-IN" dirty="0"/>
              <a:t>3D Structure</a:t>
            </a:r>
          </a:p>
        </p:txBody>
      </p:sp>
      <p:sp>
        <p:nvSpPr>
          <p:cNvPr id="13" name="TextBox 12">
            <a:extLst>
              <a:ext uri="{FF2B5EF4-FFF2-40B4-BE49-F238E27FC236}">
                <a16:creationId xmlns:a16="http://schemas.microsoft.com/office/drawing/2014/main" id="{DECD3B64-AE6A-4A4F-9B2A-173CCE81B159}"/>
              </a:ext>
            </a:extLst>
          </p:cNvPr>
          <p:cNvSpPr txBox="1"/>
          <p:nvPr/>
        </p:nvSpPr>
        <p:spPr>
          <a:xfrm>
            <a:off x="8998355" y="3013880"/>
            <a:ext cx="1371081" cy="369332"/>
          </a:xfrm>
          <a:prstGeom prst="rect">
            <a:avLst/>
          </a:prstGeom>
          <a:noFill/>
        </p:spPr>
        <p:txBody>
          <a:bodyPr wrap="none" rtlCol="0">
            <a:spAutoFit/>
          </a:bodyPr>
          <a:lstStyle/>
          <a:p>
            <a:r>
              <a:rPr lang="en-IN" dirty="0"/>
              <a:t>2D Structure</a:t>
            </a:r>
          </a:p>
        </p:txBody>
      </p:sp>
    </p:spTree>
    <p:extLst>
      <p:ext uri="{BB962C8B-B14F-4D97-AF65-F5344CB8AC3E}">
        <p14:creationId xmlns:p14="http://schemas.microsoft.com/office/powerpoint/2010/main" val="1116467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FC993-C12F-AAD6-8429-6E2DE24E7E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272786-DD77-A72C-843B-060612D838D6}"/>
              </a:ext>
            </a:extLst>
          </p:cNvPr>
          <p:cNvPicPr>
            <a:picLocks noChangeAspect="1"/>
          </p:cNvPicPr>
          <p:nvPr/>
        </p:nvPicPr>
        <p:blipFill>
          <a:blip r:embed="rId2">
            <a:extLst>
              <a:ext uri="{28A0092B-C50C-407E-A947-70E740481C1C}">
                <a14:useLocalDpi xmlns:a14="http://schemas.microsoft.com/office/drawing/2010/main" val="0"/>
              </a:ext>
            </a:extLst>
          </a:blip>
          <a:srcRect b="25584"/>
          <a:stretch>
            <a:fillRect/>
          </a:stretch>
        </p:blipFill>
        <p:spPr>
          <a:xfrm>
            <a:off x="218404" y="212502"/>
            <a:ext cx="5285704" cy="4720108"/>
          </a:xfrm>
          <a:prstGeom prst="rect">
            <a:avLst/>
          </a:prstGeom>
          <a:ln>
            <a:solidFill>
              <a:schemeClr val="tx1"/>
            </a:solidFill>
          </a:ln>
        </p:spPr>
      </p:pic>
      <p:pic>
        <p:nvPicPr>
          <p:cNvPr id="11" name="Picture 10">
            <a:extLst>
              <a:ext uri="{FF2B5EF4-FFF2-40B4-BE49-F238E27FC236}">
                <a16:creationId xmlns:a16="http://schemas.microsoft.com/office/drawing/2014/main" id="{7AD9D16C-15A4-D0DC-D60A-3602939EA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2664" y="4681746"/>
            <a:ext cx="5890090" cy="1924844"/>
          </a:xfrm>
          <a:prstGeom prst="rect">
            <a:avLst/>
          </a:prstGeom>
          <a:ln>
            <a:solidFill>
              <a:schemeClr val="tx1"/>
            </a:solidFill>
          </a:ln>
        </p:spPr>
      </p:pic>
      <p:pic>
        <p:nvPicPr>
          <p:cNvPr id="17" name="Picture 16">
            <a:extLst>
              <a:ext uri="{FF2B5EF4-FFF2-40B4-BE49-F238E27FC236}">
                <a16:creationId xmlns:a16="http://schemas.microsoft.com/office/drawing/2014/main" id="{003110CD-C12C-722B-3BF5-3F7FE686B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7050" y="1141825"/>
            <a:ext cx="5449125" cy="2694036"/>
          </a:xfrm>
          <a:prstGeom prst="rect">
            <a:avLst/>
          </a:prstGeom>
          <a:ln>
            <a:solidFill>
              <a:schemeClr val="tx1"/>
            </a:solidFill>
          </a:ln>
        </p:spPr>
      </p:pic>
      <p:sp>
        <p:nvSpPr>
          <p:cNvPr id="21" name="Arrow: Right 20">
            <a:extLst>
              <a:ext uri="{FF2B5EF4-FFF2-40B4-BE49-F238E27FC236}">
                <a16:creationId xmlns:a16="http://schemas.microsoft.com/office/drawing/2014/main" id="{798BCD3C-B5AF-12B4-8ED7-2FF7ABB96710}"/>
              </a:ext>
            </a:extLst>
          </p:cNvPr>
          <p:cNvSpPr/>
          <p:nvPr/>
        </p:nvSpPr>
        <p:spPr>
          <a:xfrm>
            <a:off x="5579847" y="1851340"/>
            <a:ext cx="761464" cy="72121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2B546ECA-6D15-BD59-4676-6BEA35FBB68B}"/>
              </a:ext>
            </a:extLst>
          </p:cNvPr>
          <p:cNvSpPr/>
          <p:nvPr/>
        </p:nvSpPr>
        <p:spPr>
          <a:xfrm>
            <a:off x="8635285" y="3902299"/>
            <a:ext cx="972354" cy="6632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65514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3F4B-EF49-3385-F73B-3AF915E8052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816418A-ED5D-6D25-85E3-6AAA23752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161" y="3367824"/>
            <a:ext cx="6746183" cy="3335276"/>
          </a:xfrm>
          <a:prstGeom prst="rect">
            <a:avLst/>
          </a:prstGeom>
        </p:spPr>
      </p:pic>
      <p:pic>
        <p:nvPicPr>
          <p:cNvPr id="9" name="Picture 8">
            <a:extLst>
              <a:ext uri="{FF2B5EF4-FFF2-40B4-BE49-F238E27FC236}">
                <a16:creationId xmlns:a16="http://schemas.microsoft.com/office/drawing/2014/main" id="{E53435DD-4BC2-6AA4-D080-BF259AC8A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17" y="65518"/>
            <a:ext cx="5009772" cy="2971899"/>
          </a:xfrm>
          <a:prstGeom prst="rect">
            <a:avLst/>
          </a:prstGeom>
        </p:spPr>
      </p:pic>
      <p:sp>
        <p:nvSpPr>
          <p:cNvPr id="10" name="Arrow: Right 9">
            <a:extLst>
              <a:ext uri="{FF2B5EF4-FFF2-40B4-BE49-F238E27FC236}">
                <a16:creationId xmlns:a16="http://schemas.microsoft.com/office/drawing/2014/main" id="{613F6FD6-215F-A639-4869-04A6B96C2842}"/>
              </a:ext>
            </a:extLst>
          </p:cNvPr>
          <p:cNvSpPr/>
          <p:nvPr/>
        </p:nvSpPr>
        <p:spPr>
          <a:xfrm>
            <a:off x="5566489" y="1396920"/>
            <a:ext cx="1059022" cy="79248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1" name="Arrow: Bent 10">
            <a:extLst>
              <a:ext uri="{FF2B5EF4-FFF2-40B4-BE49-F238E27FC236}">
                <a16:creationId xmlns:a16="http://schemas.microsoft.com/office/drawing/2014/main" id="{4018308A-C09F-67BE-0AB9-381C43356E1A}"/>
              </a:ext>
            </a:extLst>
          </p:cNvPr>
          <p:cNvSpPr/>
          <p:nvPr/>
        </p:nvSpPr>
        <p:spPr>
          <a:xfrm rot="10800000">
            <a:off x="7117187" y="3488179"/>
            <a:ext cx="2633729" cy="1266175"/>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pic>
        <p:nvPicPr>
          <p:cNvPr id="14" name="Picture 13">
            <a:extLst>
              <a:ext uri="{FF2B5EF4-FFF2-40B4-BE49-F238E27FC236}">
                <a16:creationId xmlns:a16="http://schemas.microsoft.com/office/drawing/2014/main" id="{B6863238-4C96-ECE1-988F-E9A615D008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1398" y="443747"/>
            <a:ext cx="4845685" cy="2874559"/>
          </a:xfrm>
          <a:prstGeom prst="rect">
            <a:avLst/>
          </a:prstGeom>
        </p:spPr>
      </p:pic>
    </p:spTree>
    <p:extLst>
      <p:ext uri="{BB962C8B-B14F-4D97-AF65-F5344CB8AC3E}">
        <p14:creationId xmlns:p14="http://schemas.microsoft.com/office/powerpoint/2010/main" val="3500626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4A7B-EDAD-B0A2-9A09-22B361255C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322AC8-54B5-A1BD-F5EA-CEB39F824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2137" y="494372"/>
            <a:ext cx="6970294" cy="3076296"/>
          </a:xfrm>
          <a:prstGeom prst="rect">
            <a:avLst/>
          </a:prstGeom>
        </p:spPr>
      </p:pic>
    </p:spTree>
    <p:extLst>
      <p:ext uri="{BB962C8B-B14F-4D97-AF65-F5344CB8AC3E}">
        <p14:creationId xmlns:p14="http://schemas.microsoft.com/office/powerpoint/2010/main" val="2635855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3009-3D69-D36F-C5C0-421114CDC186}"/>
            </a:ext>
          </a:extLst>
        </p:cNvPr>
        <p:cNvGrpSpPr/>
        <p:nvPr/>
      </p:nvGrpSpPr>
      <p:grpSpPr>
        <a:xfrm>
          <a:off x="0" y="0"/>
          <a:ext cx="0" cy="0"/>
          <a:chOff x="0" y="0"/>
          <a:chExt cx="0" cy="0"/>
        </a:xfrm>
      </p:grpSpPr>
    </p:spTree>
    <p:extLst>
      <p:ext uri="{BB962C8B-B14F-4D97-AF65-F5344CB8AC3E}">
        <p14:creationId xmlns:p14="http://schemas.microsoft.com/office/powerpoint/2010/main" val="453476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E71A-44E7-3E9D-EAAA-6FFBD77C4D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14305-4420-E770-93A9-16662B66C782}"/>
              </a:ext>
            </a:extLst>
          </p:cNvPr>
          <p:cNvPicPr>
            <a:picLocks noChangeAspect="1"/>
          </p:cNvPicPr>
          <p:nvPr/>
        </p:nvPicPr>
        <p:blipFill>
          <a:blip r:embed="rId2"/>
          <a:stretch>
            <a:fillRect/>
          </a:stretch>
        </p:blipFill>
        <p:spPr>
          <a:xfrm>
            <a:off x="393758" y="410033"/>
            <a:ext cx="6386969" cy="3653886"/>
          </a:xfrm>
          <a:prstGeom prst="rect">
            <a:avLst/>
          </a:prstGeom>
        </p:spPr>
      </p:pic>
      <p:pic>
        <p:nvPicPr>
          <p:cNvPr id="5" name="Picture 4">
            <a:extLst>
              <a:ext uri="{FF2B5EF4-FFF2-40B4-BE49-F238E27FC236}">
                <a16:creationId xmlns:a16="http://schemas.microsoft.com/office/drawing/2014/main" id="{E5AB75E2-D374-8AE6-F04B-2A45D5469C21}"/>
              </a:ext>
            </a:extLst>
          </p:cNvPr>
          <p:cNvPicPr>
            <a:picLocks noChangeAspect="1"/>
          </p:cNvPicPr>
          <p:nvPr/>
        </p:nvPicPr>
        <p:blipFill>
          <a:blip r:embed="rId3"/>
          <a:stretch>
            <a:fillRect/>
          </a:stretch>
        </p:blipFill>
        <p:spPr>
          <a:xfrm>
            <a:off x="393758" y="3761937"/>
            <a:ext cx="7728328" cy="2794701"/>
          </a:xfrm>
          <a:prstGeom prst="rect">
            <a:avLst/>
          </a:prstGeom>
        </p:spPr>
      </p:pic>
    </p:spTree>
    <p:extLst>
      <p:ext uri="{BB962C8B-B14F-4D97-AF65-F5344CB8AC3E}">
        <p14:creationId xmlns:p14="http://schemas.microsoft.com/office/powerpoint/2010/main" val="393588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6F52-6C79-1D08-BE59-30E6C1E8E0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54AC24-6B41-A2FA-6A09-12DB329AA119}"/>
              </a:ext>
            </a:extLst>
          </p:cNvPr>
          <p:cNvPicPr>
            <a:picLocks noChangeAspect="1"/>
          </p:cNvPicPr>
          <p:nvPr/>
        </p:nvPicPr>
        <p:blipFill>
          <a:blip r:embed="rId2"/>
          <a:stretch>
            <a:fillRect/>
          </a:stretch>
        </p:blipFill>
        <p:spPr>
          <a:xfrm>
            <a:off x="453544" y="663262"/>
            <a:ext cx="5082140" cy="5531476"/>
          </a:xfrm>
          <a:prstGeom prst="rect">
            <a:avLst/>
          </a:prstGeom>
        </p:spPr>
      </p:pic>
      <p:pic>
        <p:nvPicPr>
          <p:cNvPr id="5" name="Picture 4">
            <a:extLst>
              <a:ext uri="{FF2B5EF4-FFF2-40B4-BE49-F238E27FC236}">
                <a16:creationId xmlns:a16="http://schemas.microsoft.com/office/drawing/2014/main" id="{16FA8056-479F-1701-7253-C70909110336}"/>
              </a:ext>
            </a:extLst>
          </p:cNvPr>
          <p:cNvPicPr>
            <a:picLocks noChangeAspect="1"/>
          </p:cNvPicPr>
          <p:nvPr/>
        </p:nvPicPr>
        <p:blipFill>
          <a:blip r:embed="rId3"/>
          <a:srcRect l="36830"/>
          <a:stretch>
            <a:fillRect/>
          </a:stretch>
        </p:blipFill>
        <p:spPr>
          <a:xfrm>
            <a:off x="5106473" y="1803042"/>
            <a:ext cx="1384905" cy="4277363"/>
          </a:xfrm>
          <a:prstGeom prst="rect">
            <a:avLst/>
          </a:prstGeom>
        </p:spPr>
      </p:pic>
    </p:spTree>
    <p:extLst>
      <p:ext uri="{BB962C8B-B14F-4D97-AF65-F5344CB8AC3E}">
        <p14:creationId xmlns:p14="http://schemas.microsoft.com/office/powerpoint/2010/main" val="2708410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1212-A0CF-DBE4-B65A-D9938216C19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27CD5C9-D768-3861-0249-85AA8740BE0A}"/>
              </a:ext>
            </a:extLst>
          </p:cNvPr>
          <p:cNvPicPr>
            <a:picLocks noChangeAspect="1"/>
          </p:cNvPicPr>
          <p:nvPr/>
        </p:nvPicPr>
        <p:blipFill>
          <a:blip r:embed="rId2"/>
          <a:stretch>
            <a:fillRect/>
          </a:stretch>
        </p:blipFill>
        <p:spPr>
          <a:xfrm>
            <a:off x="468530" y="554734"/>
            <a:ext cx="6520154" cy="4001003"/>
          </a:xfrm>
          <a:prstGeom prst="rect">
            <a:avLst/>
          </a:prstGeom>
        </p:spPr>
      </p:pic>
    </p:spTree>
    <p:extLst>
      <p:ext uri="{BB962C8B-B14F-4D97-AF65-F5344CB8AC3E}">
        <p14:creationId xmlns:p14="http://schemas.microsoft.com/office/powerpoint/2010/main" val="2301977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CA751-8E34-2429-46AB-70D3877DC6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6088A4-4584-916B-9E79-DA607BF3CF35}"/>
              </a:ext>
            </a:extLst>
          </p:cNvPr>
          <p:cNvPicPr>
            <a:picLocks noChangeAspect="1"/>
          </p:cNvPicPr>
          <p:nvPr/>
        </p:nvPicPr>
        <p:blipFill>
          <a:blip r:embed="rId2"/>
          <a:srcRect r="13063" b="9677"/>
          <a:stretch>
            <a:fillRect/>
          </a:stretch>
        </p:blipFill>
        <p:spPr>
          <a:xfrm>
            <a:off x="185193" y="1300766"/>
            <a:ext cx="11821613" cy="5368406"/>
          </a:xfrm>
          <a:prstGeom prst="rect">
            <a:avLst/>
          </a:prstGeom>
        </p:spPr>
      </p:pic>
    </p:spTree>
    <p:extLst>
      <p:ext uri="{BB962C8B-B14F-4D97-AF65-F5344CB8AC3E}">
        <p14:creationId xmlns:p14="http://schemas.microsoft.com/office/powerpoint/2010/main" val="2654193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232BF-1672-3DAF-7773-78174D15FEC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19C7C6-E9A1-2B2C-CA96-D2DE5A1166D0}"/>
              </a:ext>
            </a:extLst>
          </p:cNvPr>
          <p:cNvPicPr>
            <a:picLocks noChangeAspect="1"/>
          </p:cNvPicPr>
          <p:nvPr/>
        </p:nvPicPr>
        <p:blipFill>
          <a:blip r:embed="rId2"/>
          <a:stretch>
            <a:fillRect/>
          </a:stretch>
        </p:blipFill>
        <p:spPr>
          <a:xfrm>
            <a:off x="165317" y="1339403"/>
            <a:ext cx="11771214" cy="5344733"/>
          </a:xfrm>
          <a:prstGeom prst="rect">
            <a:avLst/>
          </a:prstGeom>
        </p:spPr>
      </p:pic>
    </p:spTree>
    <p:extLst>
      <p:ext uri="{BB962C8B-B14F-4D97-AF65-F5344CB8AC3E}">
        <p14:creationId xmlns:p14="http://schemas.microsoft.com/office/powerpoint/2010/main" val="221953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98E5-0013-F9F3-13D5-C12832DE3C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B0F93E-E288-CEFD-3D33-B5CA6482EECD}"/>
              </a:ext>
            </a:extLst>
          </p:cNvPr>
          <p:cNvSpPr txBox="1"/>
          <p:nvPr/>
        </p:nvSpPr>
        <p:spPr>
          <a:xfrm>
            <a:off x="1010991" y="1079652"/>
            <a:ext cx="9665595" cy="3693319"/>
          </a:xfrm>
          <a:prstGeom prst="rect">
            <a:avLst/>
          </a:prstGeom>
          <a:noFill/>
        </p:spPr>
        <p:txBody>
          <a:bodyPr wrap="square">
            <a:spAutoFit/>
          </a:bodyPr>
          <a:lstStyle/>
          <a:p>
            <a:pPr>
              <a:buNone/>
            </a:pPr>
            <a:r>
              <a:rPr lang="en-GB" b="1" dirty="0"/>
              <a:t>Background</a:t>
            </a:r>
          </a:p>
          <a:p>
            <a:pPr marL="285750" indent="-285750">
              <a:buFont typeface="Arial" panose="020B0604020202020204" pitchFamily="34" charset="0"/>
              <a:buChar char="•"/>
            </a:pPr>
            <a:r>
              <a:rPr lang="en-GB" dirty="0"/>
              <a:t>Lipopolysaccharide (LPS) is a major component of Gram-negative bacterial outer membranes. </a:t>
            </a:r>
          </a:p>
          <a:p>
            <a:pPr marL="285750" indent="-285750">
              <a:buFont typeface="Arial" panose="020B0604020202020204" pitchFamily="34" charset="0"/>
              <a:buChar char="•"/>
            </a:pPr>
            <a:r>
              <a:rPr lang="en-GB" dirty="0"/>
              <a:t>It is strongly associated with inflammation, endotoxemia, and sepsis. </a:t>
            </a:r>
          </a:p>
          <a:p>
            <a:pPr marL="285750" indent="-285750">
              <a:buFont typeface="Arial" panose="020B0604020202020204" pitchFamily="34" charset="0"/>
              <a:buChar char="•"/>
            </a:pPr>
            <a:r>
              <a:rPr lang="en-GB" dirty="0"/>
              <a:t>Rapid identification of LPS-related spectral fingerprints can support diagnostic research. </a:t>
            </a:r>
          </a:p>
          <a:p>
            <a:pPr marL="285750" indent="-285750">
              <a:buFont typeface="Arial" panose="020B0604020202020204" pitchFamily="34" charset="0"/>
              <a:buChar char="•"/>
            </a:pPr>
            <a:r>
              <a:rPr lang="en-GB" dirty="0"/>
              <a:t>Raman spectroscopy provides label-free molecular fingerprinting. </a:t>
            </a:r>
          </a:p>
          <a:p>
            <a:pPr>
              <a:buNone/>
            </a:pPr>
            <a:r>
              <a:rPr lang="en-GB" b="1" dirty="0"/>
              <a:t>Problem Statement</a:t>
            </a:r>
          </a:p>
          <a:p>
            <a:pPr marL="285750" indent="-285750">
              <a:buFont typeface="Arial" panose="020B0604020202020204" pitchFamily="34" charset="0"/>
              <a:buChar char="•"/>
            </a:pPr>
            <a:r>
              <a:rPr lang="en-GB" dirty="0"/>
              <a:t>Full LPS is structurally large and complex. </a:t>
            </a:r>
          </a:p>
          <a:p>
            <a:pPr marL="285750" indent="-285750">
              <a:buFont typeface="Arial" panose="020B0604020202020204" pitchFamily="34" charset="0"/>
              <a:buChar char="•"/>
            </a:pPr>
            <a:r>
              <a:rPr lang="en-GB" dirty="0"/>
              <a:t>Direct spectral interpretation is difficult due to overlapping bands and multiple functional groups. </a:t>
            </a:r>
          </a:p>
          <a:p>
            <a:pPr>
              <a:buNone/>
            </a:pPr>
            <a:r>
              <a:rPr lang="en-GB" b="1" dirty="0"/>
              <a:t>Objective</a:t>
            </a:r>
          </a:p>
          <a:p>
            <a:pPr marL="285750" indent="-285750">
              <a:buFont typeface="Arial" panose="020B0604020202020204" pitchFamily="34" charset="0"/>
              <a:buChar char="•"/>
            </a:pPr>
            <a:r>
              <a:rPr lang="en-GB" dirty="0"/>
              <a:t>Acquire Raman spectra of LPS powder under optimized conditions. </a:t>
            </a:r>
          </a:p>
          <a:p>
            <a:pPr marL="285750" indent="-285750">
              <a:buFont typeface="Arial" panose="020B0604020202020204" pitchFamily="34" charset="0"/>
              <a:buChar char="•"/>
            </a:pPr>
            <a:r>
              <a:rPr lang="en-GB" dirty="0"/>
              <a:t>Build fragment-based computational models representing major LPS substructures. </a:t>
            </a:r>
          </a:p>
          <a:p>
            <a:pPr marL="285750" indent="-285750">
              <a:buFont typeface="Arial" panose="020B0604020202020204" pitchFamily="34" charset="0"/>
              <a:buChar char="•"/>
            </a:pPr>
            <a:r>
              <a:rPr lang="en-GB" dirty="0"/>
              <a:t>Compare simulated and experimental spectra. </a:t>
            </a:r>
          </a:p>
          <a:p>
            <a:pPr marL="285750" indent="-285750">
              <a:buFont typeface="Arial" panose="020B0604020202020204" pitchFamily="34" charset="0"/>
              <a:buChar char="•"/>
            </a:pPr>
            <a:r>
              <a:rPr lang="en-GB" dirty="0"/>
              <a:t>Identify dominant contributors and characteristic Raman bands. </a:t>
            </a:r>
          </a:p>
        </p:txBody>
      </p:sp>
    </p:spTree>
    <p:extLst>
      <p:ext uri="{BB962C8B-B14F-4D97-AF65-F5344CB8AC3E}">
        <p14:creationId xmlns:p14="http://schemas.microsoft.com/office/powerpoint/2010/main" val="2189322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33086-4484-3264-BB39-7242711059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3E9382-8633-7322-EB8F-290FFC76A449}"/>
              </a:ext>
            </a:extLst>
          </p:cNvPr>
          <p:cNvSpPr txBox="1"/>
          <p:nvPr/>
        </p:nvSpPr>
        <p:spPr>
          <a:xfrm>
            <a:off x="676141" y="612845"/>
            <a:ext cx="11004997" cy="5632311"/>
          </a:xfrm>
          <a:prstGeom prst="rect">
            <a:avLst/>
          </a:prstGeom>
          <a:noFill/>
        </p:spPr>
        <p:txBody>
          <a:bodyPr wrap="square">
            <a:spAutoFit/>
          </a:bodyPr>
          <a:lstStyle/>
          <a:p>
            <a:pPr>
              <a:buNone/>
            </a:pPr>
            <a:r>
              <a:rPr lang="en-IN" b="1" dirty="0"/>
              <a:t>Experimental Workflow</a:t>
            </a:r>
          </a:p>
          <a:p>
            <a:pPr marL="285750" indent="-285750">
              <a:buFont typeface="Arial" panose="020B0604020202020204" pitchFamily="34" charset="0"/>
              <a:buChar char="•"/>
            </a:pPr>
            <a:r>
              <a:rPr lang="en-IN" dirty="0"/>
              <a:t>Sample: LPS powder </a:t>
            </a:r>
          </a:p>
          <a:p>
            <a:pPr marL="285750" indent="-285750">
              <a:buFont typeface="Arial" panose="020B0604020202020204" pitchFamily="34" charset="0"/>
              <a:buChar char="•"/>
            </a:pPr>
            <a:r>
              <a:rPr lang="en-IN" dirty="0"/>
              <a:t>Raman measurements performed under multiple acquisition settings: </a:t>
            </a:r>
          </a:p>
          <a:p>
            <a:pPr marL="742950" lvl="1" indent="-285750">
              <a:buFont typeface="Arial" panose="020B0604020202020204" pitchFamily="34" charset="0"/>
              <a:buChar char="•"/>
            </a:pPr>
            <a:r>
              <a:rPr lang="en-IN" dirty="0"/>
              <a:t>Different integration times </a:t>
            </a:r>
          </a:p>
          <a:p>
            <a:pPr marL="742950" lvl="1" indent="-285750">
              <a:buFont typeface="Arial" panose="020B0604020202020204" pitchFamily="34" charset="0"/>
              <a:buChar char="•"/>
            </a:pPr>
            <a:r>
              <a:rPr lang="en-IN" dirty="0"/>
              <a:t>Different laser powers </a:t>
            </a:r>
          </a:p>
          <a:p>
            <a:pPr marL="742950" lvl="1" indent="-285750">
              <a:buFont typeface="Arial" panose="020B0604020202020204" pitchFamily="34" charset="0"/>
              <a:buChar char="•"/>
            </a:pPr>
            <a:r>
              <a:rPr lang="en-IN" dirty="0"/>
              <a:t>Different accumulations </a:t>
            </a:r>
          </a:p>
          <a:p>
            <a:pPr marL="285750" indent="-285750">
              <a:buFont typeface="Arial" panose="020B0604020202020204" pitchFamily="34" charset="0"/>
              <a:buChar char="•"/>
            </a:pPr>
            <a:r>
              <a:rPr lang="en-IN" dirty="0"/>
              <a:t>Best experimental condition selected based on signal quality and reproducibility. </a:t>
            </a:r>
          </a:p>
          <a:p>
            <a:pPr marL="285750" indent="-285750">
              <a:buFont typeface="Arial" panose="020B0604020202020204" pitchFamily="34" charset="0"/>
              <a:buChar char="•"/>
            </a:pPr>
            <a:endParaRPr lang="en-IN" dirty="0"/>
          </a:p>
          <a:p>
            <a:pPr>
              <a:buNone/>
            </a:pPr>
            <a:r>
              <a:rPr lang="en-IN" b="1" dirty="0"/>
              <a:t>Optimized Condition Chosen</a:t>
            </a:r>
          </a:p>
          <a:p>
            <a:pPr marL="285750" indent="-285750">
              <a:buFont typeface="Arial" panose="020B0604020202020204" pitchFamily="34" charset="0"/>
              <a:buChar char="•"/>
            </a:pPr>
            <a:r>
              <a:rPr lang="en-IN" dirty="0"/>
              <a:t>60 s integration </a:t>
            </a:r>
          </a:p>
          <a:p>
            <a:pPr marL="285750" indent="-285750">
              <a:buFont typeface="Arial" panose="020B0604020202020204" pitchFamily="34" charset="0"/>
              <a:buChar char="•"/>
            </a:pPr>
            <a:r>
              <a:rPr lang="en-IN" dirty="0"/>
              <a:t>20% laser power </a:t>
            </a:r>
          </a:p>
          <a:p>
            <a:pPr marL="285750" indent="-285750">
              <a:buFont typeface="Arial" panose="020B0604020202020204" pitchFamily="34" charset="0"/>
              <a:buChar char="•"/>
            </a:pPr>
            <a:r>
              <a:rPr lang="en-IN" dirty="0"/>
              <a:t>30 accumulations </a:t>
            </a:r>
          </a:p>
          <a:p>
            <a:pPr>
              <a:buFont typeface="Arial" panose="020B0604020202020204" pitchFamily="34" charset="0"/>
              <a:buChar char="•"/>
            </a:pPr>
            <a:endParaRPr lang="en-IN" dirty="0"/>
          </a:p>
          <a:p>
            <a:pPr>
              <a:buNone/>
            </a:pPr>
            <a:r>
              <a:rPr lang="en-IN" b="1" dirty="0"/>
              <a:t>Computational Workflow</a:t>
            </a:r>
          </a:p>
          <a:p>
            <a:pPr>
              <a:buNone/>
            </a:pPr>
            <a:r>
              <a:rPr lang="en-IN" dirty="0"/>
              <a:t>Representative fragments selected:</a:t>
            </a:r>
          </a:p>
          <a:p>
            <a:pPr marL="285750" indent="-285750">
              <a:buFont typeface="Arial" panose="020B0604020202020204" pitchFamily="34" charset="0"/>
              <a:buChar char="•"/>
            </a:pPr>
            <a:r>
              <a:rPr lang="en-IN" dirty="0" err="1"/>
              <a:t>KDO</a:t>
            </a:r>
            <a:r>
              <a:rPr lang="en-IN" dirty="0"/>
              <a:t> </a:t>
            </a:r>
          </a:p>
          <a:p>
            <a:pPr marL="285750" indent="-285750">
              <a:buFont typeface="Arial" panose="020B0604020202020204" pitchFamily="34" charset="0"/>
              <a:buChar char="•"/>
            </a:pPr>
            <a:r>
              <a:rPr lang="en-IN" dirty="0"/>
              <a:t>Heptose </a:t>
            </a:r>
          </a:p>
          <a:p>
            <a:pPr marL="285750" indent="-285750">
              <a:buFont typeface="Arial" panose="020B0604020202020204" pitchFamily="34" charset="0"/>
              <a:buChar char="•"/>
            </a:pPr>
            <a:r>
              <a:rPr lang="en-IN" dirty="0"/>
              <a:t>D-Glucosamine </a:t>
            </a:r>
          </a:p>
          <a:p>
            <a:pPr marL="285750" indent="-285750">
              <a:buFont typeface="Arial" panose="020B0604020202020204" pitchFamily="34" charset="0"/>
              <a:buChar char="•"/>
            </a:pPr>
            <a:r>
              <a:rPr lang="en-IN" dirty="0"/>
              <a:t>Myristic Acid </a:t>
            </a:r>
          </a:p>
          <a:p>
            <a:pPr marL="285750" indent="-285750">
              <a:buFont typeface="Arial" panose="020B0604020202020204" pitchFamily="34" charset="0"/>
              <a:buChar char="•"/>
            </a:pPr>
            <a:r>
              <a:rPr lang="en-IN" dirty="0"/>
              <a:t>Phosphoric Acid</a:t>
            </a:r>
          </a:p>
        </p:txBody>
      </p:sp>
      <p:pic>
        <p:nvPicPr>
          <p:cNvPr id="5" name="Picture 4">
            <a:extLst>
              <a:ext uri="{FF2B5EF4-FFF2-40B4-BE49-F238E27FC236}">
                <a16:creationId xmlns:a16="http://schemas.microsoft.com/office/drawing/2014/main" id="{A8A5EAD8-491E-5366-84A2-7E93955F96E3}"/>
              </a:ext>
            </a:extLst>
          </p:cNvPr>
          <p:cNvPicPr>
            <a:picLocks noChangeAspect="1"/>
          </p:cNvPicPr>
          <p:nvPr/>
        </p:nvPicPr>
        <p:blipFill>
          <a:blip r:embed="rId2">
            <a:extLst>
              <a:ext uri="{28A0092B-C50C-407E-A947-70E740481C1C}">
                <a14:useLocalDpi xmlns:a14="http://schemas.microsoft.com/office/drawing/2010/main" val="0"/>
              </a:ext>
            </a:extLst>
          </a:blip>
          <a:srcRect r="50000"/>
          <a:stretch>
            <a:fillRect/>
          </a:stretch>
        </p:blipFill>
        <p:spPr>
          <a:xfrm>
            <a:off x="5885644" y="3097567"/>
            <a:ext cx="4904471" cy="3444901"/>
          </a:xfrm>
          <a:prstGeom prst="rect">
            <a:avLst/>
          </a:prstGeom>
        </p:spPr>
      </p:pic>
      <p:pic>
        <p:nvPicPr>
          <p:cNvPr id="7" name="Picture 6">
            <a:extLst>
              <a:ext uri="{FF2B5EF4-FFF2-40B4-BE49-F238E27FC236}">
                <a16:creationId xmlns:a16="http://schemas.microsoft.com/office/drawing/2014/main" id="{327BC2BF-86E3-3926-E0A3-747CFD5E80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4101" y="441999"/>
            <a:ext cx="3110446" cy="1545934"/>
          </a:xfrm>
          <a:prstGeom prst="rect">
            <a:avLst/>
          </a:prstGeom>
        </p:spPr>
      </p:pic>
    </p:spTree>
    <p:extLst>
      <p:ext uri="{BB962C8B-B14F-4D97-AF65-F5344CB8AC3E}">
        <p14:creationId xmlns:p14="http://schemas.microsoft.com/office/powerpoint/2010/main" val="2205794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F0D3-8C07-54D5-1E1A-37AE7CE9F3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481709-A9EA-FE59-6D7E-59857905628B}"/>
              </a:ext>
            </a:extLst>
          </p:cNvPr>
          <p:cNvSpPr txBox="1"/>
          <p:nvPr/>
        </p:nvSpPr>
        <p:spPr>
          <a:xfrm>
            <a:off x="497447" y="355783"/>
            <a:ext cx="6094926" cy="2862322"/>
          </a:xfrm>
          <a:prstGeom prst="rect">
            <a:avLst/>
          </a:prstGeom>
          <a:noFill/>
        </p:spPr>
        <p:txBody>
          <a:bodyPr wrap="square">
            <a:spAutoFit/>
          </a:bodyPr>
          <a:lstStyle/>
          <a:p>
            <a:pPr>
              <a:buNone/>
            </a:pPr>
            <a:r>
              <a:rPr lang="en-IN" b="1" dirty="0"/>
              <a:t>Simulation Method</a:t>
            </a:r>
          </a:p>
          <a:p>
            <a:pPr marL="285750" indent="-285750">
              <a:buFont typeface="Arial" panose="020B0604020202020204" pitchFamily="34" charset="0"/>
              <a:buChar char="•"/>
            </a:pPr>
            <a:r>
              <a:rPr lang="en-IN" dirty="0"/>
              <a:t>Geometry optimization </a:t>
            </a:r>
          </a:p>
          <a:p>
            <a:pPr marL="285750" indent="-285750">
              <a:buFont typeface="Arial" panose="020B0604020202020204" pitchFamily="34" charset="0"/>
              <a:buChar char="•"/>
            </a:pPr>
            <a:r>
              <a:rPr lang="en-IN" dirty="0"/>
              <a:t>Frequency + Raman calculations </a:t>
            </a:r>
          </a:p>
          <a:p>
            <a:pPr marL="285750" indent="-285750">
              <a:buFont typeface="Arial" panose="020B0604020202020204" pitchFamily="34" charset="0"/>
              <a:buChar char="•"/>
            </a:pPr>
            <a:r>
              <a:rPr lang="en-IN" dirty="0"/>
              <a:t>DFT using B3LYP / 6-31G(d) </a:t>
            </a:r>
          </a:p>
          <a:p>
            <a:pPr>
              <a:buNone/>
            </a:pPr>
            <a:r>
              <a:rPr lang="en-IN" b="1" dirty="0"/>
              <a:t>Data Processing</a:t>
            </a:r>
          </a:p>
          <a:p>
            <a:pPr marL="285750" indent="-285750">
              <a:buFont typeface="Arial" panose="020B0604020202020204" pitchFamily="34" charset="0"/>
              <a:buChar char="•"/>
            </a:pPr>
            <a:r>
              <a:rPr lang="en-IN" dirty="0"/>
              <a:t>Interpolation to common Raman grid </a:t>
            </a:r>
          </a:p>
          <a:p>
            <a:pPr marL="285750" indent="-285750">
              <a:buFont typeface="Arial" panose="020B0604020202020204" pitchFamily="34" charset="0"/>
              <a:buChar char="•"/>
            </a:pPr>
            <a:r>
              <a:rPr lang="en-IN" dirty="0"/>
              <a:t>Normalization </a:t>
            </a:r>
          </a:p>
          <a:p>
            <a:pPr marL="285750" indent="-285750">
              <a:buFont typeface="Arial" panose="020B0604020202020204" pitchFamily="34" charset="0"/>
              <a:buChar char="•"/>
            </a:pPr>
            <a:r>
              <a:rPr lang="en-IN" dirty="0"/>
              <a:t>Composite model generation: </a:t>
            </a:r>
          </a:p>
          <a:p>
            <a:pPr marL="742950" lvl="1" indent="-285750">
              <a:buFont typeface="Arial" panose="020B0604020202020204" pitchFamily="34" charset="0"/>
              <a:buChar char="•"/>
            </a:pPr>
            <a:r>
              <a:rPr lang="en-IN" dirty="0"/>
              <a:t>Equal-weight model </a:t>
            </a:r>
          </a:p>
          <a:p>
            <a:pPr marL="742950" lvl="1" indent="-285750">
              <a:buFont typeface="Arial" panose="020B0604020202020204" pitchFamily="34" charset="0"/>
              <a:buChar char="•"/>
            </a:pPr>
            <a:r>
              <a:rPr lang="en-IN" dirty="0"/>
              <a:t>NNLS optimized model</a:t>
            </a:r>
          </a:p>
        </p:txBody>
      </p:sp>
      <p:pic>
        <p:nvPicPr>
          <p:cNvPr id="5" name="Picture 4">
            <a:extLst>
              <a:ext uri="{FF2B5EF4-FFF2-40B4-BE49-F238E27FC236}">
                <a16:creationId xmlns:a16="http://schemas.microsoft.com/office/drawing/2014/main" id="{1BE98F52-9897-4578-2222-095C37CF3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0171" y="252752"/>
            <a:ext cx="4608463" cy="4990563"/>
          </a:xfrm>
          <a:prstGeom prst="rect">
            <a:avLst/>
          </a:prstGeom>
        </p:spPr>
      </p:pic>
      <p:pic>
        <p:nvPicPr>
          <p:cNvPr id="7" name="Picture 6">
            <a:extLst>
              <a:ext uri="{FF2B5EF4-FFF2-40B4-BE49-F238E27FC236}">
                <a16:creationId xmlns:a16="http://schemas.microsoft.com/office/drawing/2014/main" id="{91BA91C0-DC89-A606-043C-14BE0611C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532" y="3845729"/>
            <a:ext cx="5202634" cy="2573571"/>
          </a:xfrm>
          <a:prstGeom prst="rect">
            <a:avLst/>
          </a:prstGeom>
        </p:spPr>
      </p:pic>
    </p:spTree>
    <p:extLst>
      <p:ext uri="{BB962C8B-B14F-4D97-AF65-F5344CB8AC3E}">
        <p14:creationId xmlns:p14="http://schemas.microsoft.com/office/powerpoint/2010/main" val="3932694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69A8-2B9C-1284-96C6-B665B642A641}"/>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8A38535-20E7-62F0-25C7-7B8200E6D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0403" y="253722"/>
            <a:ext cx="3808911" cy="1949076"/>
          </a:xfrm>
          <a:prstGeom prst="rect">
            <a:avLst/>
          </a:prstGeom>
        </p:spPr>
      </p:pic>
      <p:pic>
        <p:nvPicPr>
          <p:cNvPr id="18" name="Picture 17">
            <a:extLst>
              <a:ext uri="{FF2B5EF4-FFF2-40B4-BE49-F238E27FC236}">
                <a16:creationId xmlns:a16="http://schemas.microsoft.com/office/drawing/2014/main" id="{FAA4889D-83A5-50EB-5331-55FA48F6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365" y="148188"/>
            <a:ext cx="3627653" cy="1856324"/>
          </a:xfrm>
          <a:prstGeom prst="rect">
            <a:avLst/>
          </a:prstGeom>
        </p:spPr>
      </p:pic>
      <p:pic>
        <p:nvPicPr>
          <p:cNvPr id="20" name="Picture 19">
            <a:extLst>
              <a:ext uri="{FF2B5EF4-FFF2-40B4-BE49-F238E27FC236}">
                <a16:creationId xmlns:a16="http://schemas.microsoft.com/office/drawing/2014/main" id="{8D836540-F505-F531-31E6-4EB8B5FA7C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2871" y="2500838"/>
            <a:ext cx="3808911" cy="1949076"/>
          </a:xfrm>
          <a:prstGeom prst="rect">
            <a:avLst/>
          </a:prstGeom>
        </p:spPr>
      </p:pic>
      <p:pic>
        <p:nvPicPr>
          <p:cNvPr id="22" name="Picture 21">
            <a:extLst>
              <a:ext uri="{FF2B5EF4-FFF2-40B4-BE49-F238E27FC236}">
                <a16:creationId xmlns:a16="http://schemas.microsoft.com/office/drawing/2014/main" id="{DB5B5876-1352-6541-6044-950C90CEBC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8364" y="2500838"/>
            <a:ext cx="3627653" cy="1856324"/>
          </a:xfrm>
          <a:prstGeom prst="rect">
            <a:avLst/>
          </a:prstGeom>
        </p:spPr>
      </p:pic>
      <p:pic>
        <p:nvPicPr>
          <p:cNvPr id="24" name="Picture 23">
            <a:extLst>
              <a:ext uri="{FF2B5EF4-FFF2-40B4-BE49-F238E27FC236}">
                <a16:creationId xmlns:a16="http://schemas.microsoft.com/office/drawing/2014/main" id="{8A884416-E6B7-38E2-7748-7F35888BD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8365" y="4853489"/>
            <a:ext cx="3490686" cy="1786236"/>
          </a:xfrm>
          <a:prstGeom prst="rect">
            <a:avLst/>
          </a:prstGeom>
        </p:spPr>
      </p:pic>
      <p:pic>
        <p:nvPicPr>
          <p:cNvPr id="26" name="Picture 25">
            <a:extLst>
              <a:ext uri="{FF2B5EF4-FFF2-40B4-BE49-F238E27FC236}">
                <a16:creationId xmlns:a16="http://schemas.microsoft.com/office/drawing/2014/main" id="{D034D721-D5B2-2C91-973A-220A3ADDF5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42871" y="4531251"/>
            <a:ext cx="3756443" cy="2307530"/>
          </a:xfrm>
          <a:prstGeom prst="rect">
            <a:avLst/>
          </a:prstGeom>
        </p:spPr>
      </p:pic>
    </p:spTree>
    <p:extLst>
      <p:ext uri="{BB962C8B-B14F-4D97-AF65-F5344CB8AC3E}">
        <p14:creationId xmlns:p14="http://schemas.microsoft.com/office/powerpoint/2010/main" val="262844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7127C-A7B3-142D-3ED8-B82472A047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CE2241-8D94-8C17-3D7F-4339FEF53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600" y="760089"/>
            <a:ext cx="10796799" cy="5337821"/>
          </a:xfrm>
          <a:prstGeom prst="rect">
            <a:avLst/>
          </a:prstGeom>
        </p:spPr>
      </p:pic>
    </p:spTree>
    <p:extLst>
      <p:ext uri="{BB962C8B-B14F-4D97-AF65-F5344CB8AC3E}">
        <p14:creationId xmlns:p14="http://schemas.microsoft.com/office/powerpoint/2010/main" val="2477666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C516-96CE-53B4-8D81-28A48FB56C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E45673-1459-3B1B-395B-3C68783CA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608" y="852250"/>
            <a:ext cx="8295139" cy="4967558"/>
          </a:xfrm>
          <a:prstGeom prst="rect">
            <a:avLst/>
          </a:prstGeom>
        </p:spPr>
      </p:pic>
    </p:spTree>
    <p:extLst>
      <p:ext uri="{BB962C8B-B14F-4D97-AF65-F5344CB8AC3E}">
        <p14:creationId xmlns:p14="http://schemas.microsoft.com/office/powerpoint/2010/main" val="3370414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883B5-9C4E-6666-01AA-8787CE267109}"/>
            </a:ext>
          </a:extLst>
        </p:cNvPr>
        <p:cNvGrpSpPr/>
        <p:nvPr/>
      </p:nvGrpSpPr>
      <p:grpSpPr>
        <a:xfrm>
          <a:off x="0" y="0"/>
          <a:ext cx="0" cy="0"/>
          <a:chOff x="0" y="0"/>
          <a:chExt cx="0" cy="0"/>
        </a:xfrm>
      </p:grpSpPr>
    </p:spTree>
    <p:extLst>
      <p:ext uri="{BB962C8B-B14F-4D97-AF65-F5344CB8AC3E}">
        <p14:creationId xmlns:p14="http://schemas.microsoft.com/office/powerpoint/2010/main" val="2135259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429E2-5109-C1B4-F6F1-BB40A3B37AFC}"/>
            </a:ext>
          </a:extLst>
        </p:cNvPr>
        <p:cNvGrpSpPr/>
        <p:nvPr/>
      </p:nvGrpSpPr>
      <p:grpSpPr>
        <a:xfrm>
          <a:off x="0" y="0"/>
          <a:ext cx="0" cy="0"/>
          <a:chOff x="0" y="0"/>
          <a:chExt cx="0" cy="0"/>
        </a:xfrm>
      </p:grpSpPr>
    </p:spTree>
    <p:extLst>
      <p:ext uri="{BB962C8B-B14F-4D97-AF65-F5344CB8AC3E}">
        <p14:creationId xmlns:p14="http://schemas.microsoft.com/office/powerpoint/2010/main" val="1528437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1168</TotalTime>
  <Words>1394</Words>
  <Application>Microsoft Office PowerPoint</Application>
  <PresentationFormat>Widescreen</PresentationFormat>
  <Paragraphs>282</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Outfit SemiBold</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subash P</dc:creator>
  <cp:lastModifiedBy>subash P</cp:lastModifiedBy>
  <cp:revision>4</cp:revision>
  <dcterms:created xsi:type="dcterms:W3CDTF">2026-04-17T09:30:21Z</dcterms:created>
  <dcterms:modified xsi:type="dcterms:W3CDTF">2026-04-18T04:58:44Z</dcterms:modified>
</cp:coreProperties>
</file>