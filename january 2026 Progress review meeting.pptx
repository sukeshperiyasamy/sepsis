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Mohamed Zaki Hafeez (M24IM1002)"/>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71583C-07E4-4ED0-8FB5-0D16038DC427}">
  <a:tblStyle styleId="{9B71583C-07E4-4ED0-8FB5-0D16038DC42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D6118AF-4748-4A83-B1D8-7CE41E6CAE5D}"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1-07T14:55:44.367">
    <p:pos x="6000" y="0"/>
    <p:text>from this slide please add december updates and continue with your additions and modify accordingly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1-08T04:39:58.288">
    <p:pos x="6000" y="0"/>
    <p:text>Please add order placement and procurement of first consignment of biomarkers and one conclusion line from report before your literature review</p:text>
  </p:cm>
  <p:cm authorId="0" idx="3" dt="2026-01-08T04:39:55.014">
    <p:pos x="6000" y="0"/>
    <p:text>_Marked as resolved_</p:text>
  </p:cm>
  <p:cm authorId="0" idx="4" dt="2026-01-08T04:39:58.288">
    <p:pos x="6000" y="0"/>
    <p:text>_Re-opened_</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572e22394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572e22394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56eb2bf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56eb2bf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531f5c6a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531f5c6a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56a587ae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56a587ae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531f5c6a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531f5c6a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531f5c6a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531f5c6a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531f5c6a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531f5c6a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531f5c6a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531f5c6a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2cbf4202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2cbf4202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2cbf4202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2cbf4202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2cbf4202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2cbf4202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2cbf4202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2cbf4202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b2cbf4202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b2cbf4202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2cbf4202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b2cbf4202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2cbf4202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2cbf4202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2cbf4202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2cbf4202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2cbf4202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2cbf4202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2cbf42029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2cbf42029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2cbf4202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2cbf4202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2cbf4202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2cbf4202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2cbf4202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2cbf4202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2cbf42029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2cbf4202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comments" Target="../comments/commen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1" Type="http://schemas.openxmlformats.org/officeDocument/2006/relationships/hyperlink" Target="https://www.sigmaaldrich.com/IN/en/product/sigma/l5293?srsltid=AfmBOorYJpVa0gVxS5WNOjxahytW76fNyiwc10s1sbs2fp07uPhn5fqA&amp;utm_source=chatgpt.com" TargetMode="External"/><Relationship Id="rId10" Type="http://schemas.openxmlformats.org/officeDocument/2006/relationships/hyperlink" Target="https://www.sigmaaldrich.com/IN/en/product/sigma/l5293?srsltid=AfmBOorYJpVa0gVxS5WNOjxahytW76fNyiwc10s1sbs2fp07uPhn5fqA&amp;utm_source=chatgpt.com" TargetMode="External"/><Relationship Id="rId13" Type="http://schemas.openxmlformats.org/officeDocument/2006/relationships/hyperlink" Target="https://www.sigmaaldrich.com/IN/en/product/sigma/l5293?srsltid=AfmBOorYJpVa0gVxS5WNOjxahytW76fNyiwc10s1sbs2fp07uPhn5fqA&amp;utm_source=chatgpt.com" TargetMode="External"/><Relationship Id="rId12" Type="http://schemas.openxmlformats.org/officeDocument/2006/relationships/hyperlink" Target="https://www.sigmaaldrich.com/IN/en/product/sigma/l5293?srsltid=AfmBOorYJpVa0gVxS5WNOjxahytW76fNyiwc10s1sbs2fp07uPhn5fqA&amp;utm_source=chatgpt.com" TargetMode="External"/><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hyperlink" Target="https://www.sigmaaldrich.com/deepweb/assets/sigmaaldrich/product/documents/175/351/l2515pis.pdf?srsltid=AfmBOoog6BjwQ_sawG9x9_D6BtzHm8XEzXiRszrJ4YlVlF7y2gg0NSR8&amp;utm_source=chatgpt.com" TargetMode="External"/><Relationship Id="rId4" Type="http://schemas.openxmlformats.org/officeDocument/2006/relationships/hyperlink" Target="https://www.sigmaaldrich.com/IN/en/product/sigma/l2515?srsltid=AfmBOoqBCDsq_nJyrMmDJXfmLPZda8L29Zg07Q9-3w9a6kBJrdw0hvb-&amp;utm_source=chatgpt.com" TargetMode="External"/><Relationship Id="rId9" Type="http://schemas.openxmlformats.org/officeDocument/2006/relationships/hyperlink" Target="https://cdn.caymanchem.com/cdn/msds/31330m.pdf?utm_source=chatgpt.com" TargetMode="External"/><Relationship Id="rId5" Type="http://schemas.openxmlformats.org/officeDocument/2006/relationships/hyperlink" Target="https://www.sigmaaldrich.com/IN/en/product/sigma/l2515?srsltid=AfmBOoqBCDsq_nJyrMmDJXfmLPZda8L29Zg07Q9-3w9a6kBJrdw0hvb-&amp;utm_source=chatgpt.com" TargetMode="External"/><Relationship Id="rId6" Type="http://schemas.openxmlformats.org/officeDocument/2006/relationships/hyperlink" Target="https://www.chemicalbook.com/ChemicalProductProperty_EN_CB6313265.htm?utm_source=chatgpt.com" TargetMode="External"/><Relationship Id="rId7" Type="http://schemas.openxmlformats.org/officeDocument/2006/relationships/hyperlink" Target="https://cdn.caymanchem.com/cdn/msds/31330m.pdf?utm_source=chatgpt.com" TargetMode="External"/><Relationship Id="rId8" Type="http://schemas.openxmlformats.org/officeDocument/2006/relationships/hyperlink" Target="https://cdn.caymanchem.com/cdn/msds/31330m.pdf?utm_source=chatgpt.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173425" y="-66675"/>
            <a:ext cx="9317424" cy="5241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p:cNvPicPr preferRelativeResize="0"/>
          <p:nvPr/>
        </p:nvPicPr>
        <p:blipFill>
          <a:blip r:embed="rId3">
            <a:alphaModFix/>
          </a:blip>
          <a:stretch>
            <a:fillRect/>
          </a:stretch>
        </p:blipFill>
        <p:spPr>
          <a:xfrm>
            <a:off x="152400" y="152400"/>
            <a:ext cx="8602134" cy="483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p:cNvPicPr preferRelativeResize="0"/>
          <p:nvPr/>
        </p:nvPicPr>
        <p:blipFill>
          <a:blip r:embed="rId3">
            <a:alphaModFix/>
          </a:blip>
          <a:stretch>
            <a:fillRect/>
          </a:stretch>
        </p:blipFill>
        <p:spPr>
          <a:xfrm>
            <a:off x="152400" y="152400"/>
            <a:ext cx="8602134"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6"/>
          <p:cNvPicPr preferRelativeResize="0"/>
          <p:nvPr/>
        </p:nvPicPr>
        <p:blipFill>
          <a:blip r:embed="rId3">
            <a:alphaModFix/>
          </a:blip>
          <a:stretch>
            <a:fillRect/>
          </a:stretch>
        </p:blipFill>
        <p:spPr>
          <a:xfrm>
            <a:off x="152400" y="152400"/>
            <a:ext cx="8602134" cy="483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7"/>
          <p:cNvPicPr preferRelativeResize="0"/>
          <p:nvPr/>
        </p:nvPicPr>
        <p:blipFill>
          <a:blip r:embed="rId3">
            <a:alphaModFix/>
          </a:blip>
          <a:stretch>
            <a:fillRect/>
          </a:stretch>
        </p:blipFill>
        <p:spPr>
          <a:xfrm>
            <a:off x="152400" y="152400"/>
            <a:ext cx="8780424" cy="4991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nvSpPr>
        <p:spPr>
          <a:xfrm>
            <a:off x="110425" y="151100"/>
            <a:ext cx="8857200" cy="4829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0"/>
              </a:spcAft>
              <a:buClr>
                <a:schemeClr val="dk1"/>
              </a:buClr>
              <a:buSzPts val="1100"/>
              <a:buFont typeface="Arial"/>
              <a:buNone/>
            </a:pPr>
            <a:r>
              <a:rPr b="1" lang="en" sz="1800">
                <a:solidFill>
                  <a:schemeClr val="dk1"/>
                </a:solidFill>
                <a:latin typeface="Times New Roman"/>
                <a:ea typeface="Times New Roman"/>
                <a:cs typeface="Times New Roman"/>
                <a:sym typeface="Times New Roman"/>
              </a:rPr>
              <a:t>Initiation of Pure Biomarker Sample Procurement Procedures</a:t>
            </a:r>
            <a:endParaRPr b="1"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Initiation of procurement procedures for commercially available high-purity bacterial biomarker standards: Trying to establish purchase with quality control specifications ensuring received biomarkers meet analytical standards for SERS characterization and clinical validation studies.​​</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 </a:t>
            </a:r>
            <a:r>
              <a:rPr b="1" lang="en" sz="1800">
                <a:solidFill>
                  <a:schemeClr val="dk1"/>
                </a:solidFill>
                <a:latin typeface="Times New Roman"/>
                <a:ea typeface="Times New Roman"/>
                <a:cs typeface="Times New Roman"/>
                <a:sym typeface="Times New Roman"/>
              </a:rPr>
              <a:t>Planning and Strategy for Next Phase of Work</a:t>
            </a:r>
            <a:endParaRPr b="1"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Developing comprehensive roadmap for subsequent project phases, SERS substrate optimization with pure biomarker standards, reproducibility assessment across multiple substrate batches.</a:t>
            </a:r>
            <a:endParaRPr sz="18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nvSpPr>
        <p:spPr>
          <a:xfrm>
            <a:off x="180175" y="0"/>
            <a:ext cx="8770200" cy="49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85" name="Google Shape;85;p19"/>
          <p:cNvSpPr txBox="1"/>
          <p:nvPr/>
        </p:nvSpPr>
        <p:spPr>
          <a:xfrm>
            <a:off x="0" y="0"/>
            <a:ext cx="8950500" cy="589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800" u="sng">
                <a:solidFill>
                  <a:schemeClr val="dk1"/>
                </a:solidFill>
                <a:latin typeface="Times New Roman"/>
                <a:ea typeface="Times New Roman"/>
                <a:cs typeface="Times New Roman"/>
                <a:sym typeface="Times New Roman"/>
              </a:rPr>
              <a:t>Meetings and Review Sessions:</a:t>
            </a:r>
            <a:endParaRPr b="1" sz="1800" u="sng">
              <a:solidFill>
                <a:schemeClr val="dk1"/>
              </a:solidFill>
              <a:latin typeface="Times New Roman"/>
              <a:ea typeface="Times New Roman"/>
              <a:cs typeface="Times New Roman"/>
              <a:sym typeface="Times New Roman"/>
            </a:endParaRPr>
          </a:p>
          <a:p>
            <a:pPr indent="0" lvl="0" marL="0" rtl="0" algn="l">
              <a:lnSpc>
                <a:spcPct val="112000"/>
              </a:lnSpc>
              <a:spcBef>
                <a:spcPts val="1200"/>
              </a:spcBef>
              <a:spcAft>
                <a:spcPts val="0"/>
              </a:spcAft>
              <a:buNone/>
            </a:pPr>
            <a:r>
              <a:rPr lang="en" sz="1800">
                <a:solidFill>
                  <a:schemeClr val="dk1"/>
                </a:solidFill>
                <a:latin typeface="Times New Roman"/>
                <a:ea typeface="Times New Roman"/>
                <a:cs typeface="Times New Roman"/>
                <a:sym typeface="Times New Roman"/>
              </a:rPr>
              <a:t>Collaborative Review Meetings with project team</a:t>
            </a:r>
            <a:r>
              <a:rPr b="1" lang="en" sz="1800">
                <a:solidFill>
                  <a:schemeClr val="dk1"/>
                </a:solidFill>
                <a:latin typeface="Times New Roman"/>
                <a:ea typeface="Times New Roman"/>
                <a:cs typeface="Times New Roman"/>
                <a:sym typeface="Times New Roman"/>
              </a:rPr>
              <a:t> </a:t>
            </a:r>
            <a:r>
              <a:rPr lang="en" sz="1800">
                <a:solidFill>
                  <a:schemeClr val="dk1"/>
                </a:solidFill>
                <a:latin typeface="Times New Roman"/>
                <a:ea typeface="Times New Roman"/>
                <a:cs typeface="Times New Roman"/>
                <a:sym typeface="Times New Roman"/>
              </a:rPr>
              <a:t> throughout December 2025</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800">
                <a:solidFill>
                  <a:schemeClr val="dk1"/>
                </a:solidFill>
                <a:latin typeface="Times New Roman"/>
                <a:ea typeface="Times New Roman"/>
                <a:cs typeface="Times New Roman"/>
                <a:sym typeface="Times New Roman"/>
              </a:rPr>
              <a:t>Key Discussion Points</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 Strategic planning for next phase of project and translation roadmap.</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800">
                <a:solidFill>
                  <a:schemeClr val="dk1"/>
                </a:solidFill>
                <a:latin typeface="Times New Roman"/>
                <a:ea typeface="Times New Roman"/>
                <a:cs typeface="Times New Roman"/>
                <a:sym typeface="Times New Roman"/>
              </a:rPr>
              <a:t>Outcomes</a:t>
            </a:r>
            <a:r>
              <a:rPr lang="en" sz="1800">
                <a:solidFill>
                  <a:schemeClr val="dk1"/>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Following comprehensive evaluation of project requirements, analytical standards,  the research team finalized minimum order quantities for all three biomarker components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800">
                <a:solidFill>
                  <a:schemeClr val="dk1"/>
                </a:solidFill>
                <a:latin typeface="Times New Roman"/>
                <a:ea typeface="Times New Roman"/>
                <a:cs typeface="Times New Roman"/>
                <a:sym typeface="Times New Roman"/>
              </a:rPr>
              <a:t>MOQ (minimum order quantity) Rationale</a:t>
            </a:r>
            <a:r>
              <a:rPr b="1" lang="en" sz="1800">
                <a:solidFill>
                  <a:srgbClr val="005088"/>
                </a:solidFill>
                <a:latin typeface="Times New Roman"/>
                <a:ea typeface="Times New Roman"/>
                <a:cs typeface="Times New Roman"/>
                <a:sym typeface="Times New Roman"/>
              </a:rPr>
              <a:t>: </a:t>
            </a:r>
            <a:endParaRPr b="1" sz="1800">
              <a:solidFill>
                <a:srgbClr val="005088"/>
              </a:solidFill>
              <a:latin typeface="Times New Roman"/>
              <a:ea typeface="Times New Roman"/>
              <a:cs typeface="Times New Roman"/>
              <a:sym typeface="Times New Roman"/>
            </a:endParaRPr>
          </a:p>
          <a:p>
            <a:pPr indent="0" lvl="0" marL="0" rtl="0" algn="l">
              <a:lnSpc>
                <a:spcPct val="160000"/>
              </a:lnSpc>
              <a:spcBef>
                <a:spcPts val="1500"/>
              </a:spcBef>
              <a:spcAft>
                <a:spcPts val="0"/>
              </a:spcAft>
              <a:buNone/>
            </a:pPr>
            <a:r>
              <a:rPr lang="en" sz="1800">
                <a:solidFill>
                  <a:srgbClr val="334155"/>
                </a:solidFill>
                <a:latin typeface="Times New Roman"/>
                <a:ea typeface="Times New Roman"/>
                <a:cs typeface="Times New Roman"/>
                <a:sym typeface="Times New Roman"/>
              </a:rPr>
              <a:t>To ensure cost efficiency and experimental continuity, vendors were engaged for complete vials. The following quantities allow for ~100 experiments per marker.</a:t>
            </a:r>
            <a:endParaRPr sz="1800">
              <a:solidFill>
                <a:srgbClr val="334155"/>
              </a:solidFill>
              <a:latin typeface="Times New Roman"/>
              <a:ea typeface="Times New Roman"/>
              <a:cs typeface="Times New Roman"/>
              <a:sym typeface="Times New Roman"/>
            </a:endParaRPr>
          </a:p>
          <a:p>
            <a:pPr indent="0" lvl="0" marL="0" rtl="0" algn="l">
              <a:lnSpc>
                <a:spcPct val="160000"/>
              </a:lnSpc>
              <a:spcBef>
                <a:spcPts val="2300"/>
              </a:spcBef>
              <a:spcAft>
                <a:spcPts val="0"/>
              </a:spcAft>
              <a:buNone/>
            </a:pPr>
            <a:r>
              <a:t/>
            </a:r>
            <a:endParaRPr sz="1800">
              <a:solidFill>
                <a:srgbClr val="334155"/>
              </a:solidFill>
              <a:latin typeface="Times New Roman"/>
              <a:ea typeface="Times New Roman"/>
              <a:cs typeface="Times New Roman"/>
              <a:sym typeface="Times New Roman"/>
            </a:endParaRPr>
          </a:p>
          <a:p>
            <a:pPr indent="0" lvl="0" marL="241300" marR="241300" rtl="0" algn="l">
              <a:lnSpc>
                <a:spcPct val="160000"/>
              </a:lnSpc>
              <a:spcBef>
                <a:spcPts val="2300"/>
              </a:spcBef>
              <a:spcAft>
                <a:spcPts val="1100"/>
              </a:spcAft>
              <a:buNone/>
            </a:pPr>
            <a:r>
              <a:t/>
            </a:r>
            <a:endParaRPr sz="850">
              <a:solidFill>
                <a:srgbClr val="64748B"/>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0"/>
          <p:cNvSpPr txBox="1"/>
          <p:nvPr/>
        </p:nvSpPr>
        <p:spPr>
          <a:xfrm>
            <a:off x="180175" y="168550"/>
            <a:ext cx="8839800" cy="514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a:solidFill>
                  <a:schemeClr val="dk1"/>
                </a:solidFill>
                <a:latin typeface="Times New Roman"/>
                <a:ea typeface="Times New Roman"/>
                <a:cs typeface="Times New Roman"/>
                <a:sym typeface="Times New Roman"/>
              </a:rPr>
              <a:t>Justification for MOQ:</a:t>
            </a:r>
            <a:endParaRPr b="1" sz="1800">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NAM: 0.5-1 mg per experiment (100 mg = 100-200 experiments)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LPS: 0.1 mg per experiment (10 mg = 100 experiments)</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LTA: 0.05 mg per experiment (5 mg = 100 experiments)</a:t>
            </a:r>
            <a:endParaRPr sz="18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2"/>
              </a:solidFill>
              <a:latin typeface="Times New Roman"/>
              <a:ea typeface="Times New Roman"/>
              <a:cs typeface="Times New Roman"/>
              <a:sym typeface="Times New Roman"/>
            </a:endParaRPr>
          </a:p>
        </p:txBody>
      </p:sp>
      <p:graphicFrame>
        <p:nvGraphicFramePr>
          <p:cNvPr id="91" name="Google Shape;91;p20"/>
          <p:cNvGraphicFramePr/>
          <p:nvPr/>
        </p:nvGraphicFramePr>
        <p:xfrm>
          <a:off x="180175" y="1778750"/>
          <a:ext cx="3000000" cy="3000000"/>
        </p:xfrm>
        <a:graphic>
          <a:graphicData uri="http://schemas.openxmlformats.org/drawingml/2006/table">
            <a:tbl>
              <a:tblPr>
                <a:noFill/>
                <a:tableStyleId>{9B71583C-07E4-4ED0-8FB5-0D16038DC427}</a:tableStyleId>
              </a:tblPr>
              <a:tblGrid>
                <a:gridCol w="2160825"/>
                <a:gridCol w="3655125"/>
                <a:gridCol w="656225"/>
                <a:gridCol w="813150"/>
                <a:gridCol w="1554475"/>
              </a:tblGrid>
              <a:tr h="381000">
                <a:tc>
                  <a:txBody>
                    <a:bodyPr/>
                    <a:lstStyle/>
                    <a:p>
                      <a:pPr indent="0" lvl="0" marL="0" rtl="0" algn="l">
                        <a:lnSpc>
                          <a:spcPct val="115000"/>
                        </a:lnSpc>
                        <a:spcBef>
                          <a:spcPts val="1200"/>
                        </a:spcBef>
                        <a:spcAft>
                          <a:spcPts val="0"/>
                        </a:spcAft>
                        <a:buNone/>
                      </a:pPr>
                      <a:r>
                        <a:rPr b="1" lang="en" sz="1100"/>
                        <a:t>Biomarker</a:t>
                      </a:r>
                      <a:endParaRPr b="1" sz="11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b="1" lang="en" sz="1100"/>
                        <a:t>Supplier Form</a:t>
                      </a:r>
                      <a:endParaRPr b="1" sz="11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b="1" lang="en" sz="1100"/>
                        <a:t>MOQ</a:t>
                      </a:r>
                      <a:endParaRPr b="1" sz="11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b="1" lang="en" sz="1100"/>
                        <a:t>Unit</a:t>
                      </a:r>
                      <a:endParaRPr b="1" sz="11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b="1" lang="en" sz="1100"/>
                        <a:t>Est. Cost (INR)</a:t>
                      </a:r>
                      <a:endParaRPr b="1" sz="11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0"/>
                        </a:spcAft>
                        <a:buNone/>
                      </a:pPr>
                      <a:r>
                        <a:rPr lang="en" sz="1000"/>
                        <a:t>N-Acetylmuramic Acid (NAM)</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444500" rtl="0" algn="l">
                        <a:lnSpc>
                          <a:spcPct val="115000"/>
                        </a:lnSpc>
                        <a:spcBef>
                          <a:spcPts val="400"/>
                        </a:spcBef>
                        <a:spcAft>
                          <a:spcPts val="0"/>
                        </a:spcAft>
                        <a:buNone/>
                      </a:pPr>
                      <a:r>
                        <a:rPr lang="en" sz="1000"/>
                        <a:t>Analytical standard, lyophilized</a:t>
                      </a:r>
                      <a:endParaRPr sz="1000"/>
                    </a:p>
                    <a:p>
                      <a:pPr indent="0" lvl="0" marL="0" rtl="0" algn="l">
                        <a:lnSpc>
                          <a:spcPct val="115000"/>
                        </a:lnSpc>
                        <a:spcBef>
                          <a:spcPts val="1200"/>
                        </a:spcBef>
                        <a:spcAft>
                          <a:spcPts val="0"/>
                        </a:spcAft>
                        <a:buNone/>
                      </a:pPr>
                      <a:r>
                        <a:rPr lang="en" sz="1000"/>
                        <a:t>Purity: </a:t>
                      </a:r>
                      <a:r>
                        <a:rPr lang="en" sz="1000">
                          <a:latin typeface="Calibri"/>
                          <a:ea typeface="Calibri"/>
                          <a:cs typeface="Calibri"/>
                          <a:sym typeface="Calibri"/>
                        </a:rPr>
                        <a:t>≥</a:t>
                      </a:r>
                      <a:r>
                        <a:rPr lang="en" sz="1000"/>
                        <a:t>98% (HPLC)</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100</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mg</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latin typeface="Calibri"/>
                          <a:ea typeface="Calibri"/>
                          <a:cs typeface="Calibri"/>
                          <a:sym typeface="Calibri"/>
                        </a:rPr>
                        <a:t>₹</a:t>
                      </a:r>
                      <a:r>
                        <a:rPr lang="en" sz="1000"/>
                        <a:t>12,000-20,000</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0"/>
                        </a:spcAft>
                        <a:buNone/>
                      </a:pPr>
                      <a:r>
                        <a:rPr lang="en" sz="1000"/>
                        <a:t>Lipopolysaccharide (LPS, E. coli O111:B4)</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Phenol extracted, Lyophilized powder Purity: </a:t>
                      </a:r>
                      <a:r>
                        <a:rPr lang="en" sz="1000">
                          <a:latin typeface="Calibri"/>
                          <a:ea typeface="Calibri"/>
                          <a:cs typeface="Calibri"/>
                          <a:sym typeface="Calibri"/>
                        </a:rPr>
                        <a:t>≥</a:t>
                      </a:r>
                      <a:r>
                        <a:rPr lang="en" sz="1000"/>
                        <a:t>90-95%</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10</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mg</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latin typeface="Calibri"/>
                          <a:ea typeface="Calibri"/>
                          <a:cs typeface="Calibri"/>
                          <a:sym typeface="Calibri"/>
                        </a:rPr>
                        <a:t>₹</a:t>
                      </a:r>
                      <a:r>
                        <a:rPr lang="en" sz="1000"/>
                        <a:t>12,000-18,000</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1200"/>
                        </a:spcAft>
                        <a:buNone/>
                      </a:pPr>
                      <a:r>
                        <a:rPr lang="en" sz="1000"/>
                        <a:t>Lipoteichoic Acid(LTA, S. aureus, Gram-positive extract)</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444500" rtl="0" algn="l">
                        <a:lnSpc>
                          <a:spcPct val="115000"/>
                        </a:lnSpc>
                        <a:spcBef>
                          <a:spcPts val="400"/>
                        </a:spcBef>
                        <a:spcAft>
                          <a:spcPts val="0"/>
                        </a:spcAft>
                        <a:buNone/>
                      </a:pPr>
                      <a:r>
                        <a:rPr lang="en" sz="1000"/>
                        <a:t>Purified antigen, solution/lyophilized powder Purity: &gt;95%</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10</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t>mg</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0"/>
                        </a:spcAft>
                        <a:buNone/>
                      </a:pPr>
                      <a:r>
                        <a:rPr lang="en" sz="1000">
                          <a:latin typeface="Calibri"/>
                          <a:ea typeface="Calibri"/>
                          <a:cs typeface="Calibri"/>
                          <a:sym typeface="Calibri"/>
                        </a:rPr>
                        <a:t>₹</a:t>
                      </a:r>
                      <a:r>
                        <a:rPr lang="en" sz="1000"/>
                        <a:t>30,000-40,000</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lnSpc>
                          <a:spcPct val="115000"/>
                        </a:lnSpc>
                        <a:spcBef>
                          <a:spcPts val="1200"/>
                        </a:spcBef>
                        <a:spcAft>
                          <a:spcPts val="0"/>
                        </a:spcAft>
                        <a:buNone/>
                      </a:pPr>
                      <a:r>
                        <a:rPr lang="en" sz="1000"/>
                        <a:t>Total MOQ Procurement</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4">
                  <a:txBody>
                    <a:bodyPr/>
                    <a:lstStyle/>
                    <a:p>
                      <a:pPr indent="0" lvl="0" marL="0" rtl="0" algn="ctr">
                        <a:lnSpc>
                          <a:spcPct val="115000"/>
                        </a:lnSpc>
                        <a:spcBef>
                          <a:spcPts val="1200"/>
                        </a:spcBef>
                        <a:spcAft>
                          <a:spcPts val="0"/>
                        </a:spcAft>
                        <a:buNone/>
                      </a:pPr>
                      <a:r>
                        <a:rPr lang="en" sz="1000">
                          <a:latin typeface="Calibri"/>
                          <a:ea typeface="Calibri"/>
                          <a:cs typeface="Calibri"/>
                          <a:sym typeface="Calibri"/>
                        </a:rPr>
                        <a:t>₹</a:t>
                      </a:r>
                      <a:r>
                        <a:rPr lang="en" sz="1000"/>
                        <a:t>54,000-78,000</a:t>
                      </a:r>
                      <a:endParaRPr sz="1000"/>
                    </a:p>
                  </a:txBody>
                  <a:tcPr marT="91425" marB="91425" marR="68575" marL="68575">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r h="381000">
                <a:tc>
                  <a:txBody>
                    <a:bodyPr/>
                    <a:lstStyle/>
                    <a:p>
                      <a:pPr indent="0" lvl="0" marL="0" rtl="0" algn="l">
                        <a:lnSpc>
                          <a:spcPct val="115000"/>
                        </a:lnSpc>
                        <a:spcBef>
                          <a:spcPts val="1200"/>
                        </a:spcBef>
                        <a:spcAft>
                          <a:spcPts val="0"/>
                        </a:spcAft>
                        <a:buNone/>
                      </a:pPr>
                      <a:r>
                        <a:rPr lang="en" sz="1000"/>
                        <a:t>Contingency (15%)</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4">
                  <a:txBody>
                    <a:bodyPr/>
                    <a:lstStyle/>
                    <a:p>
                      <a:pPr indent="0" lvl="0" marL="0" rtl="0" algn="ctr">
                        <a:lnSpc>
                          <a:spcPct val="115000"/>
                        </a:lnSpc>
                        <a:spcBef>
                          <a:spcPts val="1200"/>
                        </a:spcBef>
                        <a:spcAft>
                          <a:spcPts val="0"/>
                        </a:spcAft>
                        <a:buNone/>
                      </a:pPr>
                      <a:r>
                        <a:rPr lang="en" sz="1000">
                          <a:latin typeface="Calibri"/>
                          <a:ea typeface="Calibri"/>
                          <a:cs typeface="Calibri"/>
                          <a:sym typeface="Calibri"/>
                        </a:rPr>
                        <a:t>₹</a:t>
                      </a:r>
                      <a:r>
                        <a:rPr lang="en" sz="1000"/>
                        <a:t>12,000-20,000</a:t>
                      </a:r>
                      <a:endParaRPr sz="1000"/>
                    </a:p>
                  </a:txBody>
                  <a:tcPr marT="91425" marB="91425" marR="68575" marL="68575">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r h="100000">
                <a:tc>
                  <a:txBody>
                    <a:bodyPr/>
                    <a:lstStyle/>
                    <a:p>
                      <a:pPr indent="0" lvl="0" marL="0" rtl="0" algn="l">
                        <a:lnSpc>
                          <a:spcPct val="115000"/>
                        </a:lnSpc>
                        <a:spcBef>
                          <a:spcPts val="1200"/>
                        </a:spcBef>
                        <a:spcAft>
                          <a:spcPts val="0"/>
                        </a:spcAft>
                        <a:buNone/>
                      </a:pPr>
                      <a:r>
                        <a:rPr lang="en" sz="1000"/>
                        <a:t>Total Recommended Budget</a:t>
                      </a:r>
                      <a:endParaRPr sz="1000"/>
                    </a:p>
                  </a:txBody>
                  <a:tcPr marT="91425" marB="91425"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4">
                  <a:txBody>
                    <a:bodyPr/>
                    <a:lstStyle/>
                    <a:p>
                      <a:pPr indent="0" lvl="0" marL="0" rtl="0" algn="ctr">
                        <a:lnSpc>
                          <a:spcPct val="115000"/>
                        </a:lnSpc>
                        <a:spcBef>
                          <a:spcPts val="1200"/>
                        </a:spcBef>
                        <a:spcAft>
                          <a:spcPts val="0"/>
                        </a:spcAft>
                        <a:buNone/>
                      </a:pPr>
                      <a:r>
                        <a:rPr lang="en" sz="1000">
                          <a:latin typeface="Calibri"/>
                          <a:ea typeface="Calibri"/>
                          <a:cs typeface="Calibri"/>
                          <a:sym typeface="Calibri"/>
                        </a:rPr>
                        <a:t>₹</a:t>
                      </a:r>
                      <a:r>
                        <a:rPr lang="en" sz="1000"/>
                        <a:t>66,000-98,000</a:t>
                      </a:r>
                      <a:endParaRPr sz="1000"/>
                    </a:p>
                  </a:txBody>
                  <a:tcPr marT="91425" marB="91425" marR="68575" marL="68575">
                    <a:lnL cap="flat" cmpd="sng" w="12700">
                      <a:solidFill>
                        <a:srgbClr val="000000"/>
                      </a:solidFill>
                      <a:prstDash val="solid"/>
                      <a:round/>
                      <a:headEnd len="sm" w="sm" type="none"/>
                      <a:tailEnd len="sm" w="sm" type="none"/>
                    </a:lnL>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c hMerge="1"/>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1"/>
          <p:cNvSpPr txBox="1"/>
          <p:nvPr/>
        </p:nvSpPr>
        <p:spPr>
          <a:xfrm>
            <a:off x="162725" y="95925"/>
            <a:ext cx="8892300" cy="504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800" u="sng">
                <a:solidFill>
                  <a:schemeClr val="dk1"/>
                </a:solidFill>
                <a:latin typeface="Times New Roman"/>
                <a:ea typeface="Times New Roman"/>
                <a:cs typeface="Times New Roman"/>
                <a:sym typeface="Times New Roman"/>
              </a:rPr>
              <a:t>Order Placement and Procurement</a:t>
            </a:r>
            <a:endParaRPr b="1" sz="1800" u="sng">
              <a:solidFill>
                <a:schemeClr val="dk1"/>
              </a:solidFill>
              <a:latin typeface="Times New Roman"/>
              <a:ea typeface="Times New Roman"/>
              <a:cs typeface="Times New Roman"/>
              <a:sym typeface="Times New Roman"/>
            </a:endParaRPr>
          </a:p>
          <a:p>
            <a:pPr indent="-342900" lvl="0" marL="457200" rtl="0" algn="l">
              <a:lnSpc>
                <a:spcPct val="115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Vendor Engagement: Successfully sourced multiple qualified suppliers through quotation process and placed order accordingly following administrative process of the institute.</a:t>
            </a:r>
            <a:endParaRPr sz="1800">
              <a:solidFill>
                <a:schemeClr val="dk1"/>
              </a:solidFill>
              <a:latin typeface="Times New Roman"/>
              <a:ea typeface="Times New Roman"/>
              <a:cs typeface="Times New Roman"/>
              <a:sym typeface="Times New Roman"/>
            </a:endParaRPr>
          </a:p>
          <a:p>
            <a:pPr indent="-342900" lvl="0" marL="457200" rtl="0" algn="l">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Receipt of the first contingent of bacterial biomarker standards and awaiting the second one.</a:t>
            </a:r>
            <a:endParaRPr sz="1800">
              <a:solidFill>
                <a:schemeClr val="dk1"/>
              </a:solidFill>
              <a:latin typeface="Times New Roman"/>
              <a:ea typeface="Times New Roman"/>
              <a:cs typeface="Times New Roman"/>
              <a:sym typeface="Times New Roman"/>
            </a:endParaRPr>
          </a:p>
          <a:p>
            <a:pPr indent="0" lvl="0" marL="0" rtl="0" algn="l">
              <a:lnSpc>
                <a:spcPct val="112000"/>
              </a:lnSpc>
              <a:spcBef>
                <a:spcPts val="1200"/>
              </a:spcBef>
              <a:spcAft>
                <a:spcPts val="0"/>
              </a:spcAft>
              <a:buNone/>
            </a:pPr>
            <a:r>
              <a:rPr lang="en" sz="1800" u="sng">
                <a:solidFill>
                  <a:schemeClr val="dk1"/>
                </a:solidFill>
                <a:latin typeface="Times New Roman"/>
                <a:ea typeface="Times New Roman"/>
                <a:cs typeface="Times New Roman"/>
                <a:sym typeface="Times New Roman"/>
              </a:rPr>
              <a:t>Literature review of optimal SERS configuration for experimental phase:  </a:t>
            </a:r>
            <a:endParaRPr sz="1800" u="sng">
              <a:solidFill>
                <a:schemeClr val="dk1"/>
              </a:solidFill>
              <a:latin typeface="Times New Roman"/>
              <a:ea typeface="Times New Roman"/>
              <a:cs typeface="Times New Roman"/>
              <a:sym typeface="Times New Roman"/>
            </a:endParaRPr>
          </a:p>
          <a:p>
            <a:pPr indent="-342900" lvl="0" marL="457200" rtl="0" algn="l">
              <a:lnSpc>
                <a:spcPct val="112000"/>
              </a:lnSpc>
              <a:spcBef>
                <a:spcPts val="12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Literature review of biomarkers limits, solvents, capture probes and existing studies of NAM based on SERS technique.</a:t>
            </a:r>
            <a:endParaRPr sz="1800">
              <a:solidFill>
                <a:schemeClr val="dk1"/>
              </a:solidFill>
              <a:latin typeface="Times New Roman"/>
              <a:ea typeface="Times New Roman"/>
              <a:cs typeface="Times New Roman"/>
              <a:sym typeface="Times New Roman"/>
            </a:endParaRPr>
          </a:p>
          <a:p>
            <a:pPr indent="-342900" lvl="0" marL="457200" rtl="0" algn="l">
              <a:lnSpc>
                <a:spcPct val="112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comprehensive review of recent scientific literature to establish the theoretical foundation for experimental work.</a:t>
            </a:r>
            <a:endParaRPr sz="1800">
              <a:solidFill>
                <a:schemeClr val="dk1"/>
              </a:solidFill>
              <a:latin typeface="Times New Roman"/>
              <a:ea typeface="Times New Roman"/>
              <a:cs typeface="Times New Roman"/>
              <a:sym typeface="Times New Roman"/>
            </a:endParaRPr>
          </a:p>
          <a:p>
            <a:pPr indent="0" lvl="0" marL="0" rtl="0" algn="l">
              <a:lnSpc>
                <a:spcPct val="112000"/>
              </a:lnSpc>
              <a:spcBef>
                <a:spcPts val="120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The project progress  represents a critical transition point from planning and preparation to active experimental work. With procurement milestones and technical preparation, the research team is looking forward to execute the planned experimental work with confidence and efficiency.</a:t>
            </a:r>
            <a:endParaRPr sz="18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2" title="Screenshot 2026-01-08 002343.png"/>
          <p:cNvPicPr preferRelativeResize="0"/>
          <p:nvPr/>
        </p:nvPicPr>
        <p:blipFill>
          <a:blip r:embed="rId3">
            <a:alphaModFix/>
          </a:blip>
          <a:stretch>
            <a:fillRect/>
          </a:stretch>
        </p:blipFill>
        <p:spPr>
          <a:xfrm>
            <a:off x="552350" y="1361175"/>
            <a:ext cx="5385074" cy="1509425"/>
          </a:xfrm>
          <a:prstGeom prst="rect">
            <a:avLst/>
          </a:prstGeom>
          <a:noFill/>
          <a:ln>
            <a:noFill/>
          </a:ln>
        </p:spPr>
      </p:pic>
      <p:sp>
        <p:nvSpPr>
          <p:cNvPr id="102" name="Google Shape;102;p22"/>
          <p:cNvSpPr txBox="1"/>
          <p:nvPr/>
        </p:nvSpPr>
        <p:spPr>
          <a:xfrm>
            <a:off x="552350" y="2944900"/>
            <a:ext cx="7768200" cy="6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3" name="Google Shape;103;p22"/>
          <p:cNvSpPr txBox="1"/>
          <p:nvPr/>
        </p:nvSpPr>
        <p:spPr>
          <a:xfrm>
            <a:off x="409050" y="2944900"/>
            <a:ext cx="8213100" cy="216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EAA outperforms LAL for clinical endotoxin detection</a:t>
            </a:r>
            <a:br>
              <a:rPr b="1" lang="en" sz="1100">
                <a:solidFill>
                  <a:schemeClr val="dk1"/>
                </a:solidFill>
              </a:rPr>
            </a:br>
            <a:r>
              <a:rPr lang="en" sz="1100">
                <a:solidFill>
                  <a:schemeClr val="dk1"/>
                </a:solidFill>
              </a:rPr>
              <a:t> The Endotoxin Activity Assay (EAA) enables rapid (&lt;30 min), whole-blood detection of endotoxemia using &lt;100 µL sample volume and shows high specificity for LPS (validated by polymyxin B inhibition), overcoming major limitations of the conventional LAL assay caused by circulating inhibitors and non-specific fungal interference.</a:t>
            </a:r>
            <a:br>
              <a:rPr lang="en" sz="1100">
                <a:solidFill>
                  <a:schemeClr val="dk1"/>
                </a:solidFill>
              </a:rPr>
            </a:br>
            <a:endParaRPr sz="1100">
              <a:solidFill>
                <a:schemeClr val="dk1"/>
              </a:solidFill>
            </a:endParaRPr>
          </a:p>
          <a:p>
            <a:pPr indent="0" lvl="0" marL="0" rtl="0" algn="l">
              <a:spcBef>
                <a:spcPts val="0"/>
              </a:spcBef>
              <a:spcAft>
                <a:spcPts val="0"/>
              </a:spcAft>
              <a:buNone/>
            </a:pPr>
            <a:r>
              <a:rPr b="1" lang="en" sz="1100">
                <a:solidFill>
                  <a:schemeClr val="dk1"/>
                </a:solidFill>
              </a:rPr>
              <a:t>Endotoxemia is a reliable diagnostic marker of Gram-negative sepsis</a:t>
            </a:r>
            <a:br>
              <a:rPr b="1" lang="en" sz="1100">
                <a:solidFill>
                  <a:schemeClr val="dk1"/>
                </a:solidFill>
              </a:rPr>
            </a:br>
            <a:r>
              <a:rPr lang="en" sz="1100">
                <a:solidFill>
                  <a:schemeClr val="dk1"/>
                </a:solidFill>
              </a:rPr>
              <a:t> All patients with culture-proven Gram-negative infections exhibited endotoxin levels &gt;50 pg/mL (100% sensitivity in this cohort), with significantly higher levels in sepsis compared to non-sepsis patients; endotoxemia correlated with leukocytosis but not mortality, indicating strong diagnostic value rather than prognostic significance.</a:t>
            </a:r>
            <a:endParaRPr sz="1800">
              <a:solidFill>
                <a:schemeClr val="dk2"/>
              </a:solidFill>
            </a:endParaRPr>
          </a:p>
        </p:txBody>
      </p:sp>
      <p:sp>
        <p:nvSpPr>
          <p:cNvPr id="104" name="Google Shape;104;p22"/>
          <p:cNvSpPr txBox="1"/>
          <p:nvPr/>
        </p:nvSpPr>
        <p:spPr>
          <a:xfrm>
            <a:off x="518250" y="804175"/>
            <a:ext cx="8107500" cy="48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2100">
                <a:solidFill>
                  <a:schemeClr val="dk1"/>
                </a:solidFill>
                <a:latin typeface="Calibri"/>
                <a:ea typeface="Calibri"/>
                <a:cs typeface="Calibri"/>
                <a:sym typeface="Calibri"/>
              </a:rPr>
              <a:t>LPS / endotoxin</a:t>
            </a:r>
            <a:endParaRPr b="1" sz="21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
        <p:nvSpPr>
          <p:cNvPr id="105" name="Google Shape;105;p22"/>
          <p:cNvSpPr txBox="1"/>
          <p:nvPr/>
        </p:nvSpPr>
        <p:spPr>
          <a:xfrm>
            <a:off x="401600" y="146875"/>
            <a:ext cx="80697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500">
                <a:solidFill>
                  <a:srgbClr val="0A0A0A"/>
                </a:solidFill>
                <a:highlight>
                  <a:srgbClr val="FFFFFF"/>
                </a:highlight>
              </a:rPr>
              <a:t>Literature Review</a:t>
            </a:r>
            <a:endParaRPr b="1" sz="31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3"/>
          <p:cNvPicPr preferRelativeResize="0"/>
          <p:nvPr/>
        </p:nvPicPr>
        <p:blipFill>
          <a:blip r:embed="rId3">
            <a:alphaModFix/>
          </a:blip>
          <a:stretch>
            <a:fillRect/>
          </a:stretch>
        </p:blipFill>
        <p:spPr>
          <a:xfrm>
            <a:off x="152400" y="152400"/>
            <a:ext cx="5701826" cy="1933800"/>
          </a:xfrm>
          <a:prstGeom prst="rect">
            <a:avLst/>
          </a:prstGeom>
          <a:noFill/>
          <a:ln>
            <a:noFill/>
          </a:ln>
        </p:spPr>
      </p:pic>
      <p:sp>
        <p:nvSpPr>
          <p:cNvPr id="111" name="Google Shape;111;p23"/>
          <p:cNvSpPr txBox="1"/>
          <p:nvPr/>
        </p:nvSpPr>
        <p:spPr>
          <a:xfrm>
            <a:off x="280850" y="2726175"/>
            <a:ext cx="8695800" cy="26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Endotoxin (LPS) levels correlate with sepsis severity and mortality</a:t>
            </a:r>
            <a:br>
              <a:rPr b="1" lang="en" sz="1100">
                <a:solidFill>
                  <a:schemeClr val="dk1"/>
                </a:solidFill>
              </a:rPr>
            </a:br>
            <a:r>
              <a:rPr lang="en" sz="1100">
                <a:solidFill>
                  <a:schemeClr val="dk1"/>
                </a:solidFill>
              </a:rPr>
              <a:t> Healthy: </a:t>
            </a:r>
            <a:r>
              <a:rPr b="1" lang="en" sz="1100">
                <a:solidFill>
                  <a:schemeClr val="dk1"/>
                </a:solidFill>
              </a:rPr>
              <a:t>&lt;10 pg/mL</a:t>
            </a:r>
            <a:r>
              <a:rPr lang="en" sz="1100">
                <a:solidFill>
                  <a:schemeClr val="dk1"/>
                </a:solidFill>
              </a:rPr>
              <a:t> → Severe sepsis: </a:t>
            </a:r>
            <a:r>
              <a:rPr b="1" lang="en" sz="1100">
                <a:solidFill>
                  <a:schemeClr val="dk1"/>
                </a:solidFill>
              </a:rPr>
              <a:t>110–726 pg/mL (median ~300 pg/mL)</a:t>
            </a:r>
            <a:r>
              <a:rPr lang="en" sz="1100">
                <a:solidFill>
                  <a:schemeClr val="dk1"/>
                </a:solidFill>
              </a:rPr>
              <a:t> → Non-survivors: </a:t>
            </a:r>
            <a:r>
              <a:rPr b="1" lang="en" sz="1100">
                <a:solidFill>
                  <a:schemeClr val="dk1"/>
                </a:solidFill>
              </a:rPr>
              <a:t>~515 pg/mL</a:t>
            </a:r>
            <a:r>
              <a:rPr lang="en" sz="1100">
                <a:solidFill>
                  <a:schemeClr val="dk1"/>
                </a:solidFill>
              </a:rPr>
              <a:t>; endotoxemia present in </a:t>
            </a:r>
            <a:r>
              <a:rPr b="1" lang="en" sz="1100">
                <a:solidFill>
                  <a:schemeClr val="dk1"/>
                </a:solidFill>
              </a:rPr>
              <a:t>~78%</a:t>
            </a:r>
            <a:r>
              <a:rPr lang="en" sz="1100">
                <a:solidFill>
                  <a:schemeClr val="dk1"/>
                </a:solidFill>
              </a:rPr>
              <a:t> of severe sepsis cases, with levels </a:t>
            </a:r>
            <a:r>
              <a:rPr b="1" lang="en" sz="1100">
                <a:solidFill>
                  <a:schemeClr val="dk1"/>
                </a:solidFill>
              </a:rPr>
              <a:t>&gt;50 pg/mL</a:t>
            </a:r>
            <a:r>
              <a:rPr lang="en" sz="1100">
                <a:solidFill>
                  <a:schemeClr val="dk1"/>
                </a:solidFill>
              </a:rPr>
              <a:t> indicating high-risk infection and increased mortality, especially in elderly and septic shock patients.</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LBP reflects host inflammatory capacity, not endotoxin burden</a:t>
            </a:r>
            <a:br>
              <a:rPr b="1" lang="en" sz="1100">
                <a:solidFill>
                  <a:schemeClr val="dk1"/>
                </a:solidFill>
              </a:rPr>
            </a:br>
            <a:r>
              <a:rPr lang="en" sz="1100">
                <a:solidFill>
                  <a:schemeClr val="dk1"/>
                </a:solidFill>
              </a:rPr>
              <a:t> Healthy: </a:t>
            </a:r>
            <a:r>
              <a:rPr b="1" lang="en" sz="1100">
                <a:solidFill>
                  <a:schemeClr val="dk1"/>
                </a:solidFill>
              </a:rPr>
              <a:t>~2–6 µg/mL</a:t>
            </a:r>
            <a:r>
              <a:rPr lang="en" sz="1100">
                <a:solidFill>
                  <a:schemeClr val="dk1"/>
                </a:solidFill>
              </a:rPr>
              <a:t> → Sepsis: </a:t>
            </a:r>
            <a:r>
              <a:rPr b="1" lang="en" sz="1100">
                <a:solidFill>
                  <a:schemeClr val="dk1"/>
                </a:solidFill>
              </a:rPr>
              <a:t>~10–60 µg/mL (median ~31 µg/mL)</a:t>
            </a:r>
            <a:r>
              <a:rPr lang="en" sz="1100">
                <a:solidFill>
                  <a:schemeClr val="dk1"/>
                </a:solidFill>
              </a:rPr>
              <a:t>; survivors show higher LBP (</a:t>
            </a:r>
            <a:r>
              <a:rPr b="1" lang="en" sz="1100">
                <a:solidFill>
                  <a:schemeClr val="dk1"/>
                </a:solidFill>
              </a:rPr>
              <a:t>~33 µg/mL</a:t>
            </a:r>
            <a:r>
              <a:rPr lang="en" sz="1100">
                <a:solidFill>
                  <a:schemeClr val="dk1"/>
                </a:solidFill>
              </a:rPr>
              <a:t>) than non-survivors (</a:t>
            </a:r>
            <a:r>
              <a:rPr b="1" lang="en" sz="1100">
                <a:solidFill>
                  <a:schemeClr val="dk1"/>
                </a:solidFill>
              </a:rPr>
              <a:t>~28 µg/mL</a:t>
            </a:r>
            <a:r>
              <a:rPr lang="en" sz="1100">
                <a:solidFill>
                  <a:schemeClr val="dk1"/>
                </a:solidFill>
              </a:rPr>
              <a:t>), indicating preserved hepatic acute-phase response; LBP and endotoxin levels are uncorrelated, representing independent biological axes.</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4"/>
          <p:cNvPicPr preferRelativeResize="0"/>
          <p:nvPr/>
        </p:nvPicPr>
        <p:blipFill>
          <a:blip r:embed="rId3">
            <a:alphaModFix/>
          </a:blip>
          <a:stretch>
            <a:fillRect/>
          </a:stretch>
        </p:blipFill>
        <p:spPr>
          <a:xfrm>
            <a:off x="152400" y="152400"/>
            <a:ext cx="8839201" cy="1466040"/>
          </a:xfrm>
          <a:prstGeom prst="rect">
            <a:avLst/>
          </a:prstGeom>
          <a:noFill/>
          <a:ln>
            <a:noFill/>
          </a:ln>
        </p:spPr>
      </p:pic>
      <p:sp>
        <p:nvSpPr>
          <p:cNvPr id="117" name="Google Shape;117;p24"/>
          <p:cNvSpPr txBox="1"/>
          <p:nvPr/>
        </p:nvSpPr>
        <p:spPr>
          <a:xfrm>
            <a:off x="250675" y="1783450"/>
            <a:ext cx="8740800" cy="303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LBP and sCD14 are significantly elevated at birth in neonatal sepsis and persist beyond 24 h</a:t>
            </a:r>
            <a:br>
              <a:rPr b="1" lang="en" sz="1100">
                <a:solidFill>
                  <a:schemeClr val="dk1"/>
                </a:solidFill>
              </a:rPr>
            </a:br>
            <a:r>
              <a:rPr lang="en" sz="1100">
                <a:solidFill>
                  <a:schemeClr val="dk1"/>
                </a:solidFill>
              </a:rPr>
              <a:t> Septic neonates showed markedly higher plasma </a:t>
            </a:r>
            <a:r>
              <a:rPr b="1" lang="en" sz="1100">
                <a:solidFill>
                  <a:schemeClr val="dk1"/>
                </a:solidFill>
              </a:rPr>
              <a:t>LBP</a:t>
            </a:r>
            <a:r>
              <a:rPr lang="en" sz="1100">
                <a:solidFill>
                  <a:schemeClr val="dk1"/>
                </a:solidFill>
              </a:rPr>
              <a:t> (</a:t>
            </a:r>
            <a:r>
              <a:rPr b="1" lang="en" sz="1100">
                <a:solidFill>
                  <a:schemeClr val="dk1"/>
                </a:solidFill>
              </a:rPr>
              <a:t>median 36.6 µg/mL; IQR ~10.6–50.4 µg/mL</a:t>
            </a:r>
            <a:r>
              <a:rPr lang="en" sz="1100">
                <a:solidFill>
                  <a:schemeClr val="dk1"/>
                </a:solidFill>
              </a:rPr>
              <a:t>) compared to healthy controls (</a:t>
            </a:r>
            <a:r>
              <a:rPr b="1" lang="en" sz="1100">
                <a:solidFill>
                  <a:schemeClr val="dk1"/>
                </a:solidFill>
              </a:rPr>
              <a:t>median 7.8 µg/mL; IQR ~6.1–10.6 µg/mL; P &lt; 0.001</a:t>
            </a:r>
            <a:r>
              <a:rPr lang="en" sz="1100">
                <a:solidFill>
                  <a:schemeClr val="dk1"/>
                </a:solidFill>
              </a:rPr>
              <a:t>), with levels further increasing at 24–48 h (</a:t>
            </a:r>
            <a:r>
              <a:rPr b="1" lang="en" sz="1100">
                <a:solidFill>
                  <a:schemeClr val="dk1"/>
                </a:solidFill>
              </a:rPr>
              <a:t>median ~60 µg/mL</a:t>
            </a:r>
            <a:r>
              <a:rPr lang="en" sz="1100">
                <a:solidFill>
                  <a:schemeClr val="dk1"/>
                </a:solidFill>
              </a:rPr>
              <a:t>); </a:t>
            </a:r>
            <a:r>
              <a:rPr b="1" lang="en" sz="1100">
                <a:solidFill>
                  <a:schemeClr val="dk1"/>
                </a:solidFill>
              </a:rPr>
              <a:t>sCD14</a:t>
            </a:r>
            <a:r>
              <a:rPr lang="en" sz="1100">
                <a:solidFill>
                  <a:schemeClr val="dk1"/>
                </a:solidFill>
              </a:rPr>
              <a:t> was also elevated (</a:t>
            </a:r>
            <a:r>
              <a:rPr b="1" lang="en" sz="1100">
                <a:solidFill>
                  <a:schemeClr val="dk1"/>
                </a:solidFill>
              </a:rPr>
              <a:t>median ~0.42 µg/mL vs 0.28 µg/mL in controls; P &lt; 0.001</a:t>
            </a:r>
            <a:r>
              <a:rPr lang="en" sz="1100">
                <a:solidFill>
                  <a:schemeClr val="dk1"/>
                </a:solidFill>
              </a:rPr>
              <a:t>) but remained stable over time.</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LBP and sCD14 reflect innate immune activation independent of pathogen type</a:t>
            </a:r>
            <a:br>
              <a:rPr b="1" lang="en" sz="1100">
                <a:solidFill>
                  <a:schemeClr val="dk1"/>
                </a:solidFill>
              </a:rPr>
            </a:br>
            <a:r>
              <a:rPr lang="en" sz="1100">
                <a:solidFill>
                  <a:schemeClr val="dk1"/>
                </a:solidFill>
              </a:rPr>
              <a:t> Elevated </a:t>
            </a:r>
            <a:r>
              <a:rPr b="1" lang="en" sz="1100">
                <a:solidFill>
                  <a:schemeClr val="dk1"/>
                </a:solidFill>
              </a:rPr>
              <a:t>LBP (~20–60 µg/mL)</a:t>
            </a:r>
            <a:r>
              <a:rPr lang="en" sz="1100">
                <a:solidFill>
                  <a:schemeClr val="dk1"/>
                </a:solidFill>
              </a:rPr>
              <a:t> and </a:t>
            </a:r>
            <a:r>
              <a:rPr b="1" lang="en" sz="1100">
                <a:solidFill>
                  <a:schemeClr val="dk1"/>
                </a:solidFill>
              </a:rPr>
              <a:t>sCD14 (~0.35–0.65 µg/mL)</a:t>
            </a:r>
            <a:r>
              <a:rPr lang="en" sz="1100">
                <a:solidFill>
                  <a:schemeClr val="dk1"/>
                </a:solidFill>
              </a:rPr>
              <a:t> were observed regardless of blood culture positivity or Gram status (including </a:t>
            </a:r>
            <a:r>
              <a:rPr i="1" lang="en" sz="1100">
                <a:solidFill>
                  <a:schemeClr val="dk1"/>
                </a:solidFill>
              </a:rPr>
              <a:t>Streptococcus agalactiae</a:t>
            </a:r>
            <a:r>
              <a:rPr lang="en" sz="1100">
                <a:solidFill>
                  <a:schemeClr val="dk1"/>
                </a:solidFill>
              </a:rPr>
              <a:t>), and strongly correlated with pro-inflammatory cytokines (IL-6, IL-8, IL-1β, G-CSF), indicating activation of the neonatal innate immune response rather than Gram-negative–specific endotoxemia.</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5"/>
          <p:cNvPicPr preferRelativeResize="0"/>
          <p:nvPr/>
        </p:nvPicPr>
        <p:blipFill>
          <a:blip r:embed="rId3">
            <a:alphaModFix/>
          </a:blip>
          <a:stretch>
            <a:fillRect/>
          </a:stretch>
        </p:blipFill>
        <p:spPr>
          <a:xfrm>
            <a:off x="152400" y="152400"/>
            <a:ext cx="5445401" cy="2241150"/>
          </a:xfrm>
          <a:prstGeom prst="rect">
            <a:avLst/>
          </a:prstGeom>
          <a:noFill/>
          <a:ln>
            <a:noFill/>
          </a:ln>
        </p:spPr>
      </p:pic>
      <p:sp>
        <p:nvSpPr>
          <p:cNvPr id="123" name="Google Shape;123;p25"/>
          <p:cNvSpPr txBox="1"/>
          <p:nvPr/>
        </p:nvSpPr>
        <p:spPr>
          <a:xfrm>
            <a:off x="258225" y="2515000"/>
            <a:ext cx="8718300" cy="24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LBP and sCD14 are significantly elevated at birth in neonatal sepsis and persist beyond 24 h</a:t>
            </a:r>
            <a:br>
              <a:rPr b="1" lang="en" sz="1100">
                <a:solidFill>
                  <a:schemeClr val="dk1"/>
                </a:solidFill>
              </a:rPr>
            </a:br>
            <a:r>
              <a:rPr lang="en" sz="1100">
                <a:solidFill>
                  <a:schemeClr val="dk1"/>
                </a:solidFill>
              </a:rPr>
              <a:t> Septic neonates showed markedly higher plasma </a:t>
            </a:r>
            <a:r>
              <a:rPr b="1" lang="en" sz="1100">
                <a:solidFill>
                  <a:schemeClr val="dk1"/>
                </a:solidFill>
              </a:rPr>
              <a:t>LBP</a:t>
            </a:r>
            <a:r>
              <a:rPr lang="en" sz="1100">
                <a:solidFill>
                  <a:schemeClr val="dk1"/>
                </a:solidFill>
              </a:rPr>
              <a:t> (</a:t>
            </a:r>
            <a:r>
              <a:rPr b="1" lang="en" sz="1100">
                <a:solidFill>
                  <a:schemeClr val="dk1"/>
                </a:solidFill>
              </a:rPr>
              <a:t>median 36.6 µg/mL; IQR ~10.6–50.4 µg/mL</a:t>
            </a:r>
            <a:r>
              <a:rPr lang="en" sz="1100">
                <a:solidFill>
                  <a:schemeClr val="dk1"/>
                </a:solidFill>
              </a:rPr>
              <a:t>) compared to healthy controls (</a:t>
            </a:r>
            <a:r>
              <a:rPr b="1" lang="en" sz="1100">
                <a:solidFill>
                  <a:schemeClr val="dk1"/>
                </a:solidFill>
              </a:rPr>
              <a:t>median 7.8 µg/mL; IQR ~6.1–10.6 µg/mL; P &lt; 0.001</a:t>
            </a:r>
            <a:r>
              <a:rPr lang="en" sz="1100">
                <a:solidFill>
                  <a:schemeClr val="dk1"/>
                </a:solidFill>
              </a:rPr>
              <a:t>), with levels further increasing at 24–48 h (</a:t>
            </a:r>
            <a:r>
              <a:rPr b="1" lang="en" sz="1100">
                <a:solidFill>
                  <a:schemeClr val="dk1"/>
                </a:solidFill>
              </a:rPr>
              <a:t>median ~60 µg/mL</a:t>
            </a:r>
            <a:r>
              <a:rPr lang="en" sz="1100">
                <a:solidFill>
                  <a:schemeClr val="dk1"/>
                </a:solidFill>
              </a:rPr>
              <a:t>); </a:t>
            </a:r>
            <a:r>
              <a:rPr b="1" lang="en" sz="1100">
                <a:solidFill>
                  <a:schemeClr val="dk1"/>
                </a:solidFill>
              </a:rPr>
              <a:t>sCD14</a:t>
            </a:r>
            <a:r>
              <a:rPr lang="en" sz="1100">
                <a:solidFill>
                  <a:schemeClr val="dk1"/>
                </a:solidFill>
              </a:rPr>
              <a:t> was also elevated (</a:t>
            </a:r>
            <a:r>
              <a:rPr b="1" lang="en" sz="1100">
                <a:solidFill>
                  <a:schemeClr val="dk1"/>
                </a:solidFill>
              </a:rPr>
              <a:t>median ~0.42 µg/mL vs 0.28 µg/mL in controls; P &lt; 0.001</a:t>
            </a:r>
            <a:r>
              <a:rPr lang="en" sz="1100">
                <a:solidFill>
                  <a:schemeClr val="dk1"/>
                </a:solidFill>
              </a:rPr>
              <a:t>) but remained stable over time.</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LBP and sCD14 reflect innate immune activation independent of pathogen type</a:t>
            </a:r>
            <a:br>
              <a:rPr b="1" lang="en" sz="1100">
                <a:solidFill>
                  <a:schemeClr val="dk1"/>
                </a:solidFill>
              </a:rPr>
            </a:br>
            <a:r>
              <a:rPr lang="en" sz="1100">
                <a:solidFill>
                  <a:schemeClr val="dk1"/>
                </a:solidFill>
              </a:rPr>
              <a:t> Elevated </a:t>
            </a:r>
            <a:r>
              <a:rPr b="1" lang="en" sz="1100">
                <a:solidFill>
                  <a:schemeClr val="dk1"/>
                </a:solidFill>
              </a:rPr>
              <a:t>LBP (~20–60 µg/mL)</a:t>
            </a:r>
            <a:r>
              <a:rPr lang="en" sz="1100">
                <a:solidFill>
                  <a:schemeClr val="dk1"/>
                </a:solidFill>
              </a:rPr>
              <a:t> and </a:t>
            </a:r>
            <a:r>
              <a:rPr b="1" lang="en" sz="1100">
                <a:solidFill>
                  <a:schemeClr val="dk1"/>
                </a:solidFill>
              </a:rPr>
              <a:t>sCD14 (~0.35–0.65 µg/mL)</a:t>
            </a:r>
            <a:r>
              <a:rPr lang="en" sz="1100">
                <a:solidFill>
                  <a:schemeClr val="dk1"/>
                </a:solidFill>
              </a:rPr>
              <a:t> were observed regardless of blood culture positivity or Gram status (including </a:t>
            </a:r>
            <a:r>
              <a:rPr i="1" lang="en" sz="1100">
                <a:solidFill>
                  <a:schemeClr val="dk1"/>
                </a:solidFill>
              </a:rPr>
              <a:t>Streptococcus agalactiae</a:t>
            </a:r>
            <a:r>
              <a:rPr lang="en" sz="1100">
                <a:solidFill>
                  <a:schemeClr val="dk1"/>
                </a:solidFill>
              </a:rPr>
              <a:t>), and strongly correlated with pro-inflammatory cytokines (IL-6, IL-8, IL-1β, G-CSF), indicating activation of the neonatal innate immune response rather than Gram-negative–specific endotoxemia.</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6"/>
          <p:cNvPicPr preferRelativeResize="0"/>
          <p:nvPr/>
        </p:nvPicPr>
        <p:blipFill>
          <a:blip r:embed="rId3">
            <a:alphaModFix/>
          </a:blip>
          <a:stretch>
            <a:fillRect/>
          </a:stretch>
        </p:blipFill>
        <p:spPr>
          <a:xfrm>
            <a:off x="152400" y="152400"/>
            <a:ext cx="5581150" cy="2187025"/>
          </a:xfrm>
          <a:prstGeom prst="rect">
            <a:avLst/>
          </a:prstGeom>
          <a:noFill/>
          <a:ln>
            <a:noFill/>
          </a:ln>
        </p:spPr>
      </p:pic>
      <p:sp>
        <p:nvSpPr>
          <p:cNvPr id="129" name="Google Shape;129;p26"/>
          <p:cNvSpPr txBox="1"/>
          <p:nvPr/>
        </p:nvSpPr>
        <p:spPr>
          <a:xfrm>
            <a:off x="205425" y="2515000"/>
            <a:ext cx="8703300" cy="24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(abstract-derived information)</a:t>
            </a:r>
            <a:br>
              <a:rPr b="1" lang="en" sz="1100">
                <a:solidFill>
                  <a:schemeClr val="dk1"/>
                </a:solidFill>
              </a:rPr>
            </a:br>
            <a:r>
              <a:rPr b="1" lang="en" sz="1100">
                <a:solidFill>
                  <a:schemeClr val="dk1"/>
                </a:solidFill>
              </a:rPr>
              <a:t>Defined upper limit of normal endotoxin in children</a:t>
            </a:r>
            <a:br>
              <a:rPr b="1" lang="en" sz="1100">
                <a:solidFill>
                  <a:schemeClr val="dk1"/>
                </a:solidFill>
              </a:rPr>
            </a:br>
            <a:r>
              <a:rPr lang="en" sz="1100">
                <a:solidFill>
                  <a:schemeClr val="dk1"/>
                </a:solidFill>
              </a:rPr>
              <a:t> Plasma endotoxin levels in healthy and convalescent children were </a:t>
            </a:r>
            <a:r>
              <a:rPr b="1" lang="en" sz="1100">
                <a:solidFill>
                  <a:schemeClr val="dk1"/>
                </a:solidFill>
              </a:rPr>
              <a:t>≤35 pg/mL (0.10 EU/mL)</a:t>
            </a:r>
            <a:r>
              <a:rPr lang="en" sz="1100">
                <a:solidFill>
                  <a:schemeClr val="dk1"/>
                </a:solidFill>
              </a:rPr>
              <a:t>, establishing </a:t>
            </a:r>
            <a:r>
              <a:rPr b="1" lang="en" sz="1100">
                <a:solidFill>
                  <a:schemeClr val="dk1"/>
                </a:solidFill>
              </a:rPr>
              <a:t>35 pg/mL as the pediatric upper normal threshold</a:t>
            </a:r>
            <a:r>
              <a:rPr lang="en" sz="1100">
                <a:solidFill>
                  <a:schemeClr val="dk1"/>
                </a:solidFill>
              </a:rPr>
              <a:t> for endotoxemia.</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Endotoxemia contributes to unexplained fever without bacteremia</a:t>
            </a:r>
            <a:br>
              <a:rPr b="1" lang="en" sz="1100">
                <a:solidFill>
                  <a:schemeClr val="dk1"/>
                </a:solidFill>
              </a:rPr>
            </a:br>
            <a:r>
              <a:rPr lang="en" sz="1100">
                <a:solidFill>
                  <a:schemeClr val="dk1"/>
                </a:solidFill>
              </a:rPr>
              <a:t> </a:t>
            </a:r>
            <a:r>
              <a:rPr b="1" lang="en" sz="1100">
                <a:solidFill>
                  <a:schemeClr val="dk1"/>
                </a:solidFill>
              </a:rPr>
              <a:t>14% (5/36)</a:t>
            </a:r>
            <a:r>
              <a:rPr lang="en" sz="1100">
                <a:solidFill>
                  <a:schemeClr val="dk1"/>
                </a:solidFill>
              </a:rPr>
              <a:t> of immunocompromised children with febrile episodes showed </a:t>
            </a:r>
            <a:r>
              <a:rPr b="1" lang="en" sz="1100">
                <a:solidFill>
                  <a:schemeClr val="dk1"/>
                </a:solidFill>
              </a:rPr>
              <a:t>elevated endotoxin levels &gt;35 pg/mL</a:t>
            </a:r>
            <a:r>
              <a:rPr lang="en" sz="1100">
                <a:solidFill>
                  <a:schemeClr val="dk1"/>
                </a:solidFill>
              </a:rPr>
              <a:t> despite absence of bacteremia or clinically diagnosed infection; endotoxin levels normalized during convalescence, implicating transient endotoxemia as a </a:t>
            </a:r>
            <a:r>
              <a:rPr b="1" lang="en" sz="1100">
                <a:solidFill>
                  <a:schemeClr val="dk1"/>
                </a:solidFill>
              </a:rPr>
              <a:t>potential pyrogenic mechanism</a:t>
            </a:r>
            <a:r>
              <a:rPr lang="en" sz="1100">
                <a:solidFill>
                  <a:schemeClr val="dk1"/>
                </a:solidFill>
              </a:rPr>
              <a:t> in unexplained pediatric fever.</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7"/>
          <p:cNvSpPr txBox="1"/>
          <p:nvPr/>
        </p:nvSpPr>
        <p:spPr>
          <a:xfrm>
            <a:off x="228050" y="2145450"/>
            <a:ext cx="8544900" cy="26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Physiological endotoxin levels are very low in normal pregnancy, neonates, and children</a:t>
            </a:r>
            <a:endParaRPr b="1" sz="1100">
              <a:solidFill>
                <a:schemeClr val="dk1"/>
              </a:solidFill>
            </a:endParaRPr>
          </a:p>
          <a:p>
            <a:pPr indent="0" lvl="0" marL="0" rtl="0" algn="l">
              <a:spcBef>
                <a:spcPts val="0"/>
              </a:spcBef>
              <a:spcAft>
                <a:spcPts val="0"/>
              </a:spcAft>
              <a:buNone/>
            </a:pPr>
            <a:r>
              <a:rPr lang="en" sz="1100">
                <a:solidFill>
                  <a:schemeClr val="dk1"/>
                </a:solidFill>
              </a:rPr>
              <a:t>Using an endotoxin-specific chromogenic assay (Endospecy), endotoxin levels were </a:t>
            </a:r>
            <a:r>
              <a:rPr b="1" lang="en" sz="1100">
                <a:solidFill>
                  <a:schemeClr val="dk1"/>
                </a:solidFill>
              </a:rPr>
              <a:t>0.8 ± 0.4 pg/mL</a:t>
            </a:r>
            <a:r>
              <a:rPr lang="en" sz="1100">
                <a:solidFill>
                  <a:schemeClr val="dk1"/>
                </a:solidFill>
              </a:rPr>
              <a:t> in maternal blood and </a:t>
            </a:r>
            <a:r>
              <a:rPr b="1" lang="en" sz="1100">
                <a:solidFill>
                  <a:schemeClr val="dk1"/>
                </a:solidFill>
              </a:rPr>
              <a:t>1.3 ± 0.6 pg/mL</a:t>
            </a:r>
            <a:r>
              <a:rPr lang="en" sz="1100">
                <a:solidFill>
                  <a:schemeClr val="dk1"/>
                </a:solidFill>
              </a:rPr>
              <a:t> in umbilical cord blood after normal delivery; non-infectious neonates showed </a:t>
            </a:r>
            <a:r>
              <a:rPr b="1" lang="en" sz="1100">
                <a:solidFill>
                  <a:schemeClr val="dk1"/>
                </a:solidFill>
              </a:rPr>
              <a:t>~6.7 ± 5.1 pg/mL</a:t>
            </a:r>
            <a:r>
              <a:rPr lang="en" sz="1100">
                <a:solidFill>
                  <a:schemeClr val="dk1"/>
                </a:solidFill>
              </a:rPr>
              <a:t>, and healthy children had levels </a:t>
            </a:r>
            <a:r>
              <a:rPr b="1" lang="en" sz="1100">
                <a:solidFill>
                  <a:schemeClr val="dk1"/>
                </a:solidFill>
              </a:rPr>
              <a:t>&lt;10 pg/mL</a:t>
            </a:r>
            <a:r>
              <a:rPr lang="en" sz="1100">
                <a:solidFill>
                  <a:schemeClr val="dk1"/>
                </a:solidFill>
              </a:rPr>
              <a:t>, defining a low baseline endotoxin range in pediatric populations.</a:t>
            </a:r>
            <a:endParaRPr sz="1800">
              <a:solidFill>
                <a:schemeClr val="dk2"/>
              </a:solidFill>
            </a:endParaRPr>
          </a:p>
        </p:txBody>
      </p:sp>
      <p:pic>
        <p:nvPicPr>
          <p:cNvPr id="135" name="Google Shape;135;p27"/>
          <p:cNvPicPr preferRelativeResize="0"/>
          <p:nvPr/>
        </p:nvPicPr>
        <p:blipFill>
          <a:blip r:embed="rId3">
            <a:alphaModFix/>
          </a:blip>
          <a:stretch>
            <a:fillRect/>
          </a:stretch>
        </p:blipFill>
        <p:spPr>
          <a:xfrm>
            <a:off x="152400" y="152400"/>
            <a:ext cx="3926280" cy="18406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8"/>
          <p:cNvPicPr preferRelativeResize="0"/>
          <p:nvPr/>
        </p:nvPicPr>
        <p:blipFill>
          <a:blip r:embed="rId3">
            <a:alphaModFix/>
          </a:blip>
          <a:stretch>
            <a:fillRect/>
          </a:stretch>
        </p:blipFill>
        <p:spPr>
          <a:xfrm>
            <a:off x="152400" y="152400"/>
            <a:ext cx="6694225" cy="2196700"/>
          </a:xfrm>
          <a:prstGeom prst="rect">
            <a:avLst/>
          </a:prstGeom>
          <a:noFill/>
          <a:ln>
            <a:noFill/>
          </a:ln>
        </p:spPr>
      </p:pic>
      <p:sp>
        <p:nvSpPr>
          <p:cNvPr id="141" name="Google Shape;141;p28"/>
          <p:cNvSpPr txBox="1"/>
          <p:nvPr/>
        </p:nvSpPr>
        <p:spPr>
          <a:xfrm>
            <a:off x="235600" y="2537625"/>
            <a:ext cx="8658000" cy="237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LPS and LTA are validated, pathogen-proximal biomarkers ideally suited for SERS detection</a:t>
            </a:r>
            <a:endParaRPr b="1" sz="1100">
              <a:solidFill>
                <a:schemeClr val="dk1"/>
              </a:solidFill>
            </a:endParaRPr>
          </a:p>
          <a:p>
            <a:pPr indent="0" lvl="0" marL="0" rtl="0" algn="l">
              <a:spcBef>
                <a:spcPts val="0"/>
              </a:spcBef>
              <a:spcAft>
                <a:spcPts val="0"/>
              </a:spcAft>
              <a:buNone/>
            </a:pPr>
            <a:r>
              <a:rPr lang="en" sz="1100">
                <a:solidFill>
                  <a:schemeClr val="dk1"/>
                </a:solidFill>
              </a:rPr>
              <a:t>Direct detection of </a:t>
            </a:r>
            <a:r>
              <a:rPr b="1" lang="en" sz="1100">
                <a:solidFill>
                  <a:schemeClr val="dk1"/>
                </a:solidFill>
              </a:rPr>
              <a:t>lipopolysaccharide (LPS)</a:t>
            </a:r>
            <a:r>
              <a:rPr lang="en" sz="1100">
                <a:solidFill>
                  <a:schemeClr val="dk1"/>
                </a:solidFill>
              </a:rPr>
              <a:t> and </a:t>
            </a:r>
            <a:r>
              <a:rPr b="1" lang="en" sz="1100">
                <a:solidFill>
                  <a:schemeClr val="dk1"/>
                </a:solidFill>
              </a:rPr>
              <a:t>lipoteichoic acid (LTA)</a:t>
            </a:r>
            <a:r>
              <a:rPr lang="en" sz="1100">
                <a:solidFill>
                  <a:schemeClr val="dk1"/>
                </a:solidFill>
              </a:rPr>
              <a:t> captures conserved bacterial </a:t>
            </a:r>
            <a:r>
              <a:rPr b="1" lang="en" sz="1100">
                <a:solidFill>
                  <a:schemeClr val="dk1"/>
                </a:solidFill>
              </a:rPr>
              <a:t>PAMPs</a:t>
            </a:r>
            <a:r>
              <a:rPr lang="en" sz="1100">
                <a:solidFill>
                  <a:schemeClr val="dk1"/>
                </a:solidFill>
              </a:rPr>
              <a:t> that circulate in blood during bacteremia even at </a:t>
            </a:r>
            <a:r>
              <a:rPr b="1" lang="en" sz="1100">
                <a:solidFill>
                  <a:schemeClr val="dk1"/>
                </a:solidFill>
              </a:rPr>
              <a:t>very low bacterial loads (~1 CFU/mL)</a:t>
            </a:r>
            <a:r>
              <a:rPr lang="en" sz="1100">
                <a:solidFill>
                  <a:schemeClr val="dk1"/>
                </a:solidFill>
              </a:rPr>
              <a:t>; this supports </a:t>
            </a:r>
            <a:r>
              <a:rPr b="1" lang="en" sz="1100">
                <a:solidFill>
                  <a:schemeClr val="dk1"/>
                </a:solidFill>
              </a:rPr>
              <a:t>SERS-based, label-free detection</a:t>
            </a:r>
            <a:r>
              <a:rPr lang="en" sz="1100">
                <a:solidFill>
                  <a:schemeClr val="dk1"/>
                </a:solidFill>
              </a:rPr>
              <a:t> of molecular fingerprints rather than indirect host response markers or activity-dependent endotoxin assays.</a:t>
            </a: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9"/>
          <p:cNvSpPr txBox="1"/>
          <p:nvPr/>
        </p:nvSpPr>
        <p:spPr>
          <a:xfrm>
            <a:off x="288375" y="2696000"/>
            <a:ext cx="8552400" cy="214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LTA is quantifiable systemically and reflects Gram-positive biofilm burden beyond culture detection</a:t>
            </a:r>
            <a:endParaRPr b="1" sz="1100">
              <a:solidFill>
                <a:schemeClr val="dk1"/>
              </a:solidFill>
            </a:endParaRPr>
          </a:p>
          <a:p>
            <a:pPr indent="0" lvl="0" marL="0" rtl="0" algn="l">
              <a:spcBef>
                <a:spcPts val="0"/>
              </a:spcBef>
              <a:spcAft>
                <a:spcPts val="0"/>
              </a:spcAft>
              <a:buNone/>
            </a:pPr>
            <a:r>
              <a:rPr lang="en" sz="1100">
                <a:solidFill>
                  <a:schemeClr val="dk1"/>
                </a:solidFill>
              </a:rPr>
              <a:t>Lipoteichoic acid (LTA), a Gram-positive cell wall component, was detected in both catheter aspirate and plasma of hemodialysis patients with central venous catheters, with </a:t>
            </a:r>
            <a:r>
              <a:rPr b="1" lang="en" sz="1100">
                <a:solidFill>
                  <a:schemeClr val="dk1"/>
                </a:solidFill>
              </a:rPr>
              <a:t>plasma LTA 3.93 ng/mL (0.25–15)</a:t>
            </a:r>
            <a:r>
              <a:rPr lang="en" sz="1100">
                <a:solidFill>
                  <a:schemeClr val="dk1"/>
                </a:solidFill>
              </a:rPr>
              <a:t> exceeding </a:t>
            </a:r>
            <a:r>
              <a:rPr b="1" lang="en" sz="1100">
                <a:solidFill>
                  <a:schemeClr val="dk1"/>
                </a:solidFill>
              </a:rPr>
              <a:t>catheter aspirate LTA 2.38 ng/mL (0.1–8.1)</a:t>
            </a:r>
            <a:r>
              <a:rPr lang="en" sz="1100">
                <a:solidFill>
                  <a:schemeClr val="dk1"/>
                </a:solidFill>
              </a:rPr>
              <a:t> in </a:t>
            </a:r>
            <a:r>
              <a:rPr b="1" lang="en" sz="1100">
                <a:solidFill>
                  <a:schemeClr val="dk1"/>
                </a:solidFill>
              </a:rPr>
              <a:t>70% of patients (p = 0.01)</a:t>
            </a:r>
            <a:r>
              <a:rPr lang="en" sz="1100">
                <a:solidFill>
                  <a:schemeClr val="dk1"/>
                </a:solidFill>
              </a:rPr>
              <a:t>, demonstrating continuous biofilm shedding and systemic dissemination not captured by routine culture.</a:t>
            </a:r>
            <a:endParaRPr sz="1800">
              <a:solidFill>
                <a:schemeClr val="dk2"/>
              </a:solidFill>
            </a:endParaRPr>
          </a:p>
        </p:txBody>
      </p:sp>
      <p:pic>
        <p:nvPicPr>
          <p:cNvPr id="147" name="Google Shape;147;p29"/>
          <p:cNvPicPr preferRelativeResize="0"/>
          <p:nvPr/>
        </p:nvPicPr>
        <p:blipFill>
          <a:blip r:embed="rId3">
            <a:alphaModFix/>
          </a:blip>
          <a:stretch>
            <a:fillRect/>
          </a:stretch>
        </p:blipFill>
        <p:spPr>
          <a:xfrm>
            <a:off x="152400" y="152400"/>
            <a:ext cx="8004796" cy="2391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id="152" name="Google Shape;152;p30"/>
          <p:cNvPicPr preferRelativeResize="0"/>
          <p:nvPr/>
        </p:nvPicPr>
        <p:blipFill>
          <a:blip r:embed="rId3">
            <a:alphaModFix/>
          </a:blip>
          <a:stretch>
            <a:fillRect/>
          </a:stretch>
        </p:blipFill>
        <p:spPr>
          <a:xfrm>
            <a:off x="152400" y="152400"/>
            <a:ext cx="7100374" cy="2309825"/>
          </a:xfrm>
          <a:prstGeom prst="rect">
            <a:avLst/>
          </a:prstGeom>
          <a:noFill/>
          <a:ln>
            <a:noFill/>
          </a:ln>
        </p:spPr>
      </p:pic>
      <p:sp>
        <p:nvSpPr>
          <p:cNvPr id="153" name="Google Shape;153;p30"/>
          <p:cNvSpPr txBox="1"/>
          <p:nvPr/>
        </p:nvSpPr>
        <p:spPr>
          <a:xfrm>
            <a:off x="235500" y="2635675"/>
            <a:ext cx="8673000" cy="215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Vancomycin-functionalized SERS substrates enable culture-free capture and direct Raman detection of whole bacteria from blood</a:t>
            </a:r>
            <a:br>
              <a:rPr b="1" lang="en" sz="1100">
                <a:solidFill>
                  <a:schemeClr val="dk1"/>
                </a:solidFill>
              </a:rPr>
            </a:br>
            <a:r>
              <a:rPr lang="en" sz="1100">
                <a:solidFill>
                  <a:schemeClr val="dk1"/>
                </a:solidFill>
              </a:rPr>
              <a:t> Vancomycin-coated Ag nanoparticle arrays exploit specific hydrogen bonding with bacterial peptidoglycan, achieving up to </a:t>
            </a:r>
            <a:r>
              <a:rPr b="1" lang="en" sz="1100">
                <a:solidFill>
                  <a:schemeClr val="dk1"/>
                </a:solidFill>
              </a:rPr>
              <a:t>~1,000-fold enhancement in bacterial capture</a:t>
            </a:r>
            <a:r>
              <a:rPr lang="en" sz="1100">
                <a:solidFill>
                  <a:schemeClr val="dk1"/>
                </a:solidFill>
              </a:rPr>
              <a:t> while </a:t>
            </a:r>
            <a:r>
              <a:rPr b="1" lang="en" sz="1100">
                <a:solidFill>
                  <a:schemeClr val="dk1"/>
                </a:solidFill>
              </a:rPr>
              <a:t>excluding blood cells</a:t>
            </a:r>
            <a:r>
              <a:rPr lang="en" sz="1100">
                <a:solidFill>
                  <a:schemeClr val="dk1"/>
                </a:solidFill>
              </a:rPr>
              <a:t>, enabling </a:t>
            </a:r>
            <a:r>
              <a:rPr b="1" lang="en" sz="1100">
                <a:solidFill>
                  <a:schemeClr val="dk1"/>
                </a:solidFill>
              </a:rPr>
              <a:t>label-free, rapid SERS analysis directly from complex matrices like human blood</a:t>
            </a:r>
            <a:r>
              <a:rPr lang="en" sz="1100">
                <a:solidFill>
                  <a:schemeClr val="dk1"/>
                </a:solidFill>
              </a:rPr>
              <a:t>.</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Chemical functionalization enhances SERS sensitivity and enables phenotypic discrimination</a:t>
            </a:r>
            <a:br>
              <a:rPr b="1" lang="en" sz="1100">
                <a:solidFill>
                  <a:schemeClr val="dk1"/>
                </a:solidFill>
              </a:rPr>
            </a:br>
            <a:r>
              <a:rPr lang="en" sz="1100">
                <a:solidFill>
                  <a:schemeClr val="dk1"/>
                </a:solidFill>
              </a:rPr>
              <a:t> Vancomycin coating not only increases bacterial adhesion but also pulls bacterial cell walls into SERS “hot spots,” resulting in </a:t>
            </a:r>
            <a:r>
              <a:rPr b="1" lang="en" sz="1100">
                <a:solidFill>
                  <a:schemeClr val="dk1"/>
                </a:solidFill>
              </a:rPr>
              <a:t>400–500% higher Raman signal</a:t>
            </a:r>
            <a:r>
              <a:rPr lang="en" sz="1100">
                <a:solidFill>
                  <a:schemeClr val="dk1"/>
                </a:solidFill>
              </a:rPr>
              <a:t> and allowing </a:t>
            </a:r>
            <a:r>
              <a:rPr b="1" lang="en" sz="1100">
                <a:solidFill>
                  <a:schemeClr val="dk1"/>
                </a:solidFill>
              </a:rPr>
              <a:t>spectral differentiation between vancomycin-susceptible and resistant strains</a:t>
            </a:r>
            <a:r>
              <a:rPr lang="en" sz="1100">
                <a:solidFill>
                  <a:schemeClr val="dk1"/>
                </a:solidFill>
              </a:rPr>
              <a:t>, demonstrating SERS as a powerful platform for </a:t>
            </a:r>
            <a:r>
              <a:rPr b="1" lang="en" sz="1100">
                <a:solidFill>
                  <a:schemeClr val="dk1"/>
                </a:solidFill>
              </a:rPr>
              <a:t>rapid diagnostics and antimicrobial susceptibility assessment without culture</a:t>
            </a:r>
            <a:r>
              <a:rPr lang="en" sz="1100">
                <a:solidFill>
                  <a:schemeClr val="dk1"/>
                </a:solidFill>
              </a:rPr>
              <a:t>.</a:t>
            </a:r>
            <a:endParaRPr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1"/>
          <p:cNvSpPr txBox="1"/>
          <p:nvPr/>
        </p:nvSpPr>
        <p:spPr>
          <a:xfrm>
            <a:off x="273300" y="2341550"/>
            <a:ext cx="8635500" cy="25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chemeClr val="dk1"/>
                </a:solidFill>
              </a:rPr>
              <a:t>Bacterial SERS signals originate from extracellular purine metabolites, not cell-wall components</a:t>
            </a:r>
            <a:br>
              <a:rPr b="1" lang="en" sz="1100">
                <a:solidFill>
                  <a:schemeClr val="dk1"/>
                </a:solidFill>
              </a:rPr>
            </a:br>
            <a:r>
              <a:rPr lang="en" sz="1100">
                <a:solidFill>
                  <a:schemeClr val="dk1"/>
                </a:solidFill>
              </a:rPr>
              <a:t> At 785 nm excitation, SERS spectra of whole bacteria are dominated by </a:t>
            </a:r>
            <a:r>
              <a:rPr b="1" lang="en" sz="1100">
                <a:solidFill>
                  <a:schemeClr val="dk1"/>
                </a:solidFill>
              </a:rPr>
              <a:t>purine degradation products</a:t>
            </a:r>
            <a:r>
              <a:rPr lang="en" sz="1100">
                <a:solidFill>
                  <a:schemeClr val="dk1"/>
                </a:solidFill>
              </a:rPr>
              <a:t>—adenine, hypoxanthine, xanthine, guanine, uric acid, and AMP—released during </a:t>
            </a:r>
            <a:r>
              <a:rPr b="1" lang="en" sz="1100">
                <a:solidFill>
                  <a:schemeClr val="dk1"/>
                </a:solidFill>
              </a:rPr>
              <a:t>starvation induced by water washing</a:t>
            </a:r>
            <a:r>
              <a:rPr lang="en" sz="1100">
                <a:solidFill>
                  <a:schemeClr val="dk1"/>
                </a:solidFill>
              </a:rPr>
              <a:t>. Identical SERS fingerprints from whole cells and cell-free supernatants confirm that </a:t>
            </a:r>
            <a:r>
              <a:rPr b="1" lang="en" sz="1100">
                <a:solidFill>
                  <a:schemeClr val="dk1"/>
                </a:solidFill>
              </a:rPr>
              <a:t>peptidoglycan (NAG/NAM), lipids, proteins, or LPS do not contribute significantly</a:t>
            </a:r>
            <a:r>
              <a:rPr lang="en" sz="1100">
                <a:solidFill>
                  <a:schemeClr val="dk1"/>
                </a:solidFill>
              </a:rPr>
              <a:t> to these spectra.</a:t>
            </a:r>
            <a:br>
              <a:rPr lang="en" sz="1100">
                <a:solidFill>
                  <a:schemeClr val="dk1"/>
                </a:solidFill>
              </a:rPr>
            </a:b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785 nm SERS functions as a metabolic stress readout rather than a structural biomarker</a:t>
            </a:r>
            <a:br>
              <a:rPr b="1" lang="en" sz="1100">
                <a:solidFill>
                  <a:schemeClr val="dk1"/>
                </a:solidFill>
              </a:rPr>
            </a:br>
            <a:r>
              <a:rPr lang="en" sz="1100">
                <a:solidFill>
                  <a:schemeClr val="dk1"/>
                </a:solidFill>
              </a:rPr>
              <a:t> The bacterial SERS fingerprint reflects </a:t>
            </a:r>
            <a:r>
              <a:rPr b="1" lang="en" sz="1100">
                <a:solidFill>
                  <a:schemeClr val="dk1"/>
                </a:solidFill>
              </a:rPr>
              <a:t>species-specific purine metabolism and enzyme availability</a:t>
            </a:r>
            <a:r>
              <a:rPr lang="en" sz="1100">
                <a:solidFill>
                  <a:schemeClr val="dk1"/>
                </a:solidFill>
              </a:rPr>
              <a:t>, not Gram type or cell-envelope architecture. Signal intensity and composition are strongly influenced by </a:t>
            </a:r>
            <a:r>
              <a:rPr b="1" lang="en" sz="1100">
                <a:solidFill>
                  <a:schemeClr val="dk1"/>
                </a:solidFill>
              </a:rPr>
              <a:t>sample preparation, washing buffer, and starvation duration</a:t>
            </a:r>
            <a:r>
              <a:rPr lang="en" sz="1100">
                <a:solidFill>
                  <a:schemeClr val="dk1"/>
                </a:solidFill>
              </a:rPr>
              <a:t>, establishing SERS as a </a:t>
            </a:r>
            <a:r>
              <a:rPr b="1" lang="en" sz="1100">
                <a:solidFill>
                  <a:schemeClr val="dk1"/>
                </a:solidFill>
              </a:rPr>
              <a:t>metabolic biomarker platform sensitive to bacterial stress state</a:t>
            </a:r>
            <a:r>
              <a:rPr lang="en" sz="1100">
                <a:solidFill>
                  <a:schemeClr val="dk1"/>
                </a:solidFill>
              </a:rPr>
              <a:t>, rather than a direct detector of surface antigens or cell-wall molecules.</a:t>
            </a:r>
            <a:endParaRPr sz="11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159" name="Google Shape;159;p31"/>
          <p:cNvPicPr preferRelativeResize="0"/>
          <p:nvPr/>
        </p:nvPicPr>
        <p:blipFill>
          <a:blip r:embed="rId3">
            <a:alphaModFix/>
          </a:blip>
          <a:stretch>
            <a:fillRect/>
          </a:stretch>
        </p:blipFill>
        <p:spPr>
          <a:xfrm>
            <a:off x="152400" y="152400"/>
            <a:ext cx="7264593" cy="2036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nvSpPr>
        <p:spPr>
          <a:xfrm>
            <a:off x="329700" y="2537625"/>
            <a:ext cx="8484600" cy="246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 Raman/SERS signal origin is mechanistically linked to bacterial cell-wall chemistry</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Raman/SERS signatures of </a:t>
            </a:r>
            <a:r>
              <a:rPr i="1" lang="en" sz="1100">
                <a:solidFill>
                  <a:schemeClr val="dk1"/>
                </a:solidFill>
              </a:rPr>
              <a:t>E. coli</a:t>
            </a:r>
            <a:r>
              <a:rPr lang="en" sz="1100">
                <a:solidFill>
                  <a:schemeClr val="dk1"/>
                </a:solidFill>
              </a:rPr>
              <a:t> can be </a:t>
            </a:r>
            <a:r>
              <a:rPr b="1" lang="en" sz="1100">
                <a:solidFill>
                  <a:schemeClr val="dk1"/>
                </a:solidFill>
              </a:rPr>
              <a:t>physically and biologically anchored to peptidoglycan biomarkers</a:t>
            </a:r>
            <a:r>
              <a:rPr lang="en" sz="1100">
                <a:solidFill>
                  <a:schemeClr val="dk1"/>
                </a:solidFill>
              </a:rPr>
              <a:t>, as Density Functional Theory (DFT)–validated vibrational modes of </a:t>
            </a:r>
            <a:r>
              <a:rPr b="1" lang="en" sz="1100">
                <a:solidFill>
                  <a:schemeClr val="dk1"/>
                </a:solidFill>
              </a:rPr>
              <a:t>N-acetylmuramic acid (MurNAc) and N-acetylglucosamine (GlcNAc)</a:t>
            </a:r>
            <a:r>
              <a:rPr lang="en" sz="1100">
                <a:solidFill>
                  <a:schemeClr val="dk1"/>
                </a:solidFill>
              </a:rPr>
              <a:t> directly explain the origin of diagnostic Raman bands, enabling </a:t>
            </a:r>
            <a:r>
              <a:rPr b="1" lang="en" sz="1100">
                <a:solidFill>
                  <a:schemeClr val="dk1"/>
                </a:solidFill>
              </a:rPr>
              <a:t>mechanism-based interpretation rather than empirical fingerprinting</a:t>
            </a:r>
            <a:r>
              <a:rPr lang="en" sz="1100">
                <a:solidFill>
                  <a:schemeClr val="dk1"/>
                </a:solidFill>
              </a:rPr>
              <a: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300">
                <a:solidFill>
                  <a:schemeClr val="dk1"/>
                </a:solidFill>
              </a:rPr>
              <a:t>Key Finding 2 — Mechanism-informed feature selection significantly enhances diagnostic accuracy</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Incorporating </a:t>
            </a:r>
            <a:r>
              <a:rPr b="1" lang="en" sz="1100">
                <a:solidFill>
                  <a:schemeClr val="dk1"/>
                </a:solidFill>
              </a:rPr>
              <a:t>DFT-certified MurNAc/GlcNAc Raman peaks (3010–3029 cm⁻¹)</a:t>
            </a:r>
            <a:r>
              <a:rPr lang="en" sz="1100">
                <a:solidFill>
                  <a:schemeClr val="dk1"/>
                </a:solidFill>
              </a:rPr>
              <a:t> with chemometric selection (SPA) and machine learning (Random Forest) </a:t>
            </a:r>
            <a:r>
              <a:rPr b="1" lang="en" sz="1100">
                <a:solidFill>
                  <a:schemeClr val="dk1"/>
                </a:solidFill>
              </a:rPr>
              <a:t>substantially reduces misdiagnosis</a:t>
            </a:r>
            <a:r>
              <a:rPr lang="en" sz="1100">
                <a:solidFill>
                  <a:schemeClr val="dk1"/>
                </a:solidFill>
              </a:rPr>
              <a:t> and achieves </a:t>
            </a:r>
            <a:r>
              <a:rPr b="1" lang="en" sz="1100">
                <a:solidFill>
                  <a:schemeClr val="dk1"/>
                </a:solidFill>
              </a:rPr>
              <a:t>near-clinical performance (~98% accuracy, AUC ≈ 1)</a:t>
            </a:r>
            <a:r>
              <a:rPr lang="en" sz="1100">
                <a:solidFill>
                  <a:schemeClr val="dk1"/>
                </a:solidFill>
              </a:rPr>
              <a:t>, demonstrating that </a:t>
            </a:r>
            <a:r>
              <a:rPr b="1" lang="en" sz="1100">
                <a:solidFill>
                  <a:schemeClr val="dk1"/>
                </a:solidFill>
              </a:rPr>
              <a:t>biomarker-guided Raman/SERS models outperform untargeted spectral classification</a:t>
            </a: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pic>
        <p:nvPicPr>
          <p:cNvPr id="165" name="Google Shape;165;p32"/>
          <p:cNvPicPr preferRelativeResize="0"/>
          <p:nvPr/>
        </p:nvPicPr>
        <p:blipFill>
          <a:blip r:embed="rId3">
            <a:alphaModFix/>
          </a:blip>
          <a:stretch>
            <a:fillRect/>
          </a:stretch>
        </p:blipFill>
        <p:spPr>
          <a:xfrm>
            <a:off x="446550" y="144850"/>
            <a:ext cx="4796288" cy="22328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aphicFrame>
        <p:nvGraphicFramePr>
          <p:cNvPr id="170" name="Google Shape;170;p33"/>
          <p:cNvGraphicFramePr/>
          <p:nvPr/>
        </p:nvGraphicFramePr>
        <p:xfrm>
          <a:off x="348450" y="823625"/>
          <a:ext cx="3000000" cy="3000000"/>
        </p:xfrm>
        <a:graphic>
          <a:graphicData uri="http://schemas.openxmlformats.org/drawingml/2006/table">
            <a:tbl>
              <a:tblPr>
                <a:noFill/>
                <a:tableStyleId>{6D6118AF-4748-4A83-B1D8-7CE41E6CAE5D}</a:tableStyleId>
              </a:tblPr>
              <a:tblGrid>
                <a:gridCol w="949275"/>
                <a:gridCol w="1285925"/>
                <a:gridCol w="2134950"/>
                <a:gridCol w="1020150"/>
                <a:gridCol w="1067825"/>
                <a:gridCol w="1624525"/>
              </a:tblGrid>
              <a:tr h="651175">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Biomarker / Solvent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Water</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PBS (pH 7.2–7.4)</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DMSO</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DMF</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Ethanol</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r>
              <a:tr h="651175">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LTA (Staph. aureus)</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5 mg/mL (hazy) (</a:t>
                      </a:r>
                      <a:r>
                        <a:rPr b="1" lang="en" sz="1100" u="sng">
                          <a:solidFill>
                            <a:schemeClr val="hlink"/>
                          </a:solidFill>
                          <a:latin typeface="Calibri"/>
                          <a:ea typeface="Calibri"/>
                          <a:cs typeface="Calibri"/>
                          <a:sym typeface="Calibri"/>
                          <a:hlinkClick r:id="rId3"/>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Moderate (hazy; comparable to water), </a:t>
                      </a:r>
                      <a:r>
                        <a:rPr b="1" i="1" lang="en" sz="1100">
                          <a:latin typeface="Calibri"/>
                          <a:ea typeface="Calibri"/>
                          <a:cs typeface="Calibri"/>
                          <a:sym typeface="Calibri"/>
                        </a:rPr>
                        <a:t>qualitative</a:t>
                      </a:r>
                      <a:r>
                        <a:rPr b="1" lang="en" sz="1100">
                          <a:latin typeface="Calibri"/>
                          <a:ea typeface="Calibri"/>
                          <a:cs typeface="Calibri"/>
                          <a:sym typeface="Calibri"/>
                        </a:rPr>
                        <a:t> (</a:t>
                      </a:r>
                      <a:r>
                        <a:rPr b="1" lang="en" sz="1100" u="sng">
                          <a:solidFill>
                            <a:schemeClr val="hlink"/>
                          </a:solidFill>
                          <a:latin typeface="Calibri"/>
                          <a:ea typeface="Calibri"/>
                          <a:cs typeface="Calibri"/>
                          <a:sym typeface="Calibri"/>
                          <a:hlinkClick r:id="rId4"/>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Unknown</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Unknown</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Moderate (</a:t>
                      </a:r>
                      <a:r>
                        <a:rPr b="1" lang="en" sz="1100" u="sng">
                          <a:solidFill>
                            <a:schemeClr val="hlink"/>
                          </a:solidFill>
                          <a:latin typeface="Calibri"/>
                          <a:ea typeface="Calibri"/>
                          <a:cs typeface="Calibri"/>
                          <a:sym typeface="Calibri"/>
                          <a:hlinkClick r:id="rId5"/>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r>
              <a:tr h="827175">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MurNAc</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~50 mg/mL (clear) (</a:t>
                      </a:r>
                      <a:r>
                        <a:rPr b="1" lang="en" sz="1100" u="sng">
                          <a:solidFill>
                            <a:schemeClr val="hlink"/>
                          </a:solidFill>
                          <a:latin typeface="Calibri"/>
                          <a:ea typeface="Calibri"/>
                          <a:cs typeface="Calibri"/>
                          <a:sym typeface="Calibri"/>
                          <a:hlinkClick r:id="rId6"/>
                        </a:rPr>
                        <a:t>ChemicalBook</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~10 mg/mL (</a:t>
                      </a:r>
                      <a:r>
                        <a:rPr lang="en" sz="1100" u="sng">
                          <a:solidFill>
                            <a:schemeClr val="hlink"/>
                          </a:solidFill>
                          <a:latin typeface="Calibri"/>
                          <a:ea typeface="Calibri"/>
                          <a:cs typeface="Calibri"/>
                          <a:sym typeface="Calibri"/>
                          <a:hlinkClick r:id="rId7"/>
                        </a:rPr>
                        <a:t>Cayman Chemical</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~30 mg/mL (</a:t>
                      </a:r>
                      <a:r>
                        <a:rPr lang="en" sz="1100" u="sng">
                          <a:solidFill>
                            <a:schemeClr val="hlink"/>
                          </a:solidFill>
                          <a:latin typeface="Calibri"/>
                          <a:ea typeface="Calibri"/>
                          <a:cs typeface="Calibri"/>
                          <a:sym typeface="Calibri"/>
                          <a:hlinkClick r:id="rId8"/>
                        </a:rPr>
                        <a:t>Cayman Chemical</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~2.5 mg/mL (</a:t>
                      </a:r>
                      <a:r>
                        <a:rPr lang="en" sz="1100" u="sng">
                          <a:solidFill>
                            <a:schemeClr val="hlink"/>
                          </a:solidFill>
                          <a:latin typeface="Calibri"/>
                          <a:ea typeface="Calibri"/>
                          <a:cs typeface="Calibri"/>
                          <a:sym typeface="Calibri"/>
                          <a:hlinkClick r:id="rId9"/>
                        </a:rPr>
                        <a:t>Cayman Chemical</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Unknown</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r>
              <a:tr h="1531175">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LPS (E. coli O111:B4)</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~5 mg/mL (hazy; up to ~20 mg/mL with heat) (</a:t>
                      </a:r>
                      <a:r>
                        <a:rPr b="1" lang="en" sz="1100" u="sng">
                          <a:solidFill>
                            <a:schemeClr val="hlink"/>
                          </a:solidFill>
                          <a:latin typeface="Calibri"/>
                          <a:ea typeface="Calibri"/>
                          <a:cs typeface="Calibri"/>
                          <a:sym typeface="Calibri"/>
                          <a:hlinkClick r:id="rId10"/>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Moderate (hazy solutions in PBS; similar to water) (</a:t>
                      </a:r>
                      <a:r>
                        <a:rPr b="1" lang="en" sz="1100" u="sng">
                          <a:solidFill>
                            <a:schemeClr val="hlink"/>
                          </a:solidFill>
                          <a:latin typeface="Calibri"/>
                          <a:ea typeface="Calibri"/>
                          <a:cs typeface="Calibri"/>
                          <a:sym typeface="Calibri"/>
                          <a:hlinkClick r:id="rId11"/>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Poor / Not reported (organic solvents do not yield clearer solutions) (</a:t>
                      </a:r>
                      <a:r>
                        <a:rPr b="1" lang="en" sz="1100" u="sng">
                          <a:solidFill>
                            <a:schemeClr val="hlink"/>
                          </a:solidFill>
                          <a:latin typeface="Calibri"/>
                          <a:ea typeface="Calibri"/>
                          <a:cs typeface="Calibri"/>
                          <a:sym typeface="Calibri"/>
                          <a:hlinkClick r:id="rId12"/>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Unknown</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latin typeface="Calibri"/>
                          <a:ea typeface="Calibri"/>
                          <a:cs typeface="Calibri"/>
                          <a:sym typeface="Calibri"/>
                        </a:rPr>
                        <a:t>Poor (methanol/ethanol produce turbid suspensions with precipitates) (</a:t>
                      </a:r>
                      <a:r>
                        <a:rPr b="1" lang="en" sz="1100" u="sng">
                          <a:solidFill>
                            <a:schemeClr val="hlink"/>
                          </a:solidFill>
                          <a:latin typeface="Calibri"/>
                          <a:ea typeface="Calibri"/>
                          <a:cs typeface="Calibri"/>
                          <a:sym typeface="Calibri"/>
                          <a:hlinkClick r:id="rId13"/>
                        </a:rPr>
                        <a:t>MilliporeSigma</a:t>
                      </a:r>
                      <a:r>
                        <a:rPr b="1" lang="en" sz="1100">
                          <a:latin typeface="Calibri"/>
                          <a:ea typeface="Calibri"/>
                          <a:cs typeface="Calibri"/>
                          <a:sym typeface="Calibri"/>
                        </a:rPr>
                        <a:t>)</a:t>
                      </a:r>
                      <a:endParaRPr b="1" sz="1100">
                        <a:latin typeface="Calibri"/>
                        <a:ea typeface="Calibri"/>
                        <a:cs typeface="Calibri"/>
                        <a:sym typeface="Calibri"/>
                      </a:endParaRPr>
                    </a:p>
                  </a:txBody>
                  <a:tcPr marT="9525" marB="9525" marR="9525" marL="9525">
                    <a:lnL cap="flat" cmpd="sng" w="7250">
                      <a:solidFill>
                        <a:srgbClr val="000000"/>
                      </a:solidFill>
                      <a:prstDash val="solid"/>
                      <a:round/>
                      <a:headEnd len="sm" w="sm" type="none"/>
                      <a:tailEnd len="sm" w="sm" type="none"/>
                    </a:lnL>
                    <a:lnR cap="flat" cmpd="sng" w="7250">
                      <a:solidFill>
                        <a:srgbClr val="000000"/>
                      </a:solidFill>
                      <a:prstDash val="solid"/>
                      <a:round/>
                      <a:headEnd len="sm" w="sm" type="none"/>
                      <a:tailEnd len="sm" w="sm" type="none"/>
                    </a:lnR>
                    <a:lnT cap="flat" cmpd="sng" w="7250">
                      <a:solidFill>
                        <a:srgbClr val="000000"/>
                      </a:solidFill>
                      <a:prstDash val="solid"/>
                      <a:round/>
                      <a:headEnd len="sm" w="sm" type="none"/>
                      <a:tailEnd len="sm" w="sm" type="none"/>
                    </a:lnT>
                    <a:lnB cap="flat" cmpd="sng" w="7250">
                      <a:solidFill>
                        <a:srgbClr val="000000"/>
                      </a:solidFill>
                      <a:prstDash val="solid"/>
                      <a:round/>
                      <a:headEnd len="sm" w="sm" type="none"/>
                      <a:tailEnd len="sm" w="sm" type="none"/>
                    </a:lnB>
                  </a:tcPr>
                </a:tc>
              </a:tr>
            </a:tbl>
          </a:graphicData>
        </a:graphic>
      </p:graphicFrame>
      <p:sp>
        <p:nvSpPr>
          <p:cNvPr id="171" name="Google Shape;171;p33"/>
          <p:cNvSpPr txBox="1"/>
          <p:nvPr/>
        </p:nvSpPr>
        <p:spPr>
          <a:xfrm>
            <a:off x="341175" y="192125"/>
            <a:ext cx="8145000" cy="437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latin typeface="Calibri"/>
                <a:ea typeface="Calibri"/>
                <a:cs typeface="Calibri"/>
                <a:sym typeface="Calibri"/>
              </a:rPr>
              <a:t>Comparison table for Which Solvent Has the </a:t>
            </a:r>
            <a:r>
              <a:rPr b="1" i="1" lang="en" sz="1100">
                <a:solidFill>
                  <a:schemeClr val="dk1"/>
                </a:solidFill>
                <a:latin typeface="Calibri"/>
                <a:ea typeface="Calibri"/>
                <a:cs typeface="Calibri"/>
                <a:sym typeface="Calibri"/>
              </a:rPr>
              <a:t>Highest Overall Solubility?</a:t>
            </a:r>
            <a:endParaRPr b="1" i="1" sz="1100">
              <a:solidFill>
                <a:schemeClr val="dk1"/>
              </a:solidFill>
              <a:latin typeface="Calibri"/>
              <a:ea typeface="Calibri"/>
              <a:cs typeface="Calibri"/>
              <a:sym typeface="Calibri"/>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nvSpPr>
        <p:spPr>
          <a:xfrm>
            <a:off x="235600" y="244925"/>
            <a:ext cx="5475300" cy="573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Best Solvent for Each Biomarker</a:t>
            </a:r>
            <a:endParaRPr sz="1800">
              <a:solidFill>
                <a:schemeClr val="dk2"/>
              </a:solidFill>
            </a:endParaRPr>
          </a:p>
        </p:txBody>
      </p:sp>
      <p:graphicFrame>
        <p:nvGraphicFramePr>
          <p:cNvPr id="177" name="Google Shape;177;p34"/>
          <p:cNvGraphicFramePr/>
          <p:nvPr/>
        </p:nvGraphicFramePr>
        <p:xfrm>
          <a:off x="786575" y="735250"/>
          <a:ext cx="3000000" cy="3000000"/>
        </p:xfrm>
        <a:graphic>
          <a:graphicData uri="http://schemas.openxmlformats.org/drawingml/2006/table">
            <a:tbl>
              <a:tblPr>
                <a:noFill/>
                <a:tableStyleId>{9B71583C-07E4-4ED0-8FB5-0D16038DC427}</a:tableStyleId>
              </a:tblPr>
              <a:tblGrid>
                <a:gridCol w="829050"/>
                <a:gridCol w="2163950"/>
              </a:tblGrid>
              <a:tr h="370950">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Biomarker</a:t>
                      </a:r>
                      <a:endParaRPr/>
                    </a:p>
                  </a:txBody>
                  <a:tcPr marT="91425" marB="91425" marR="91425" marL="91425"/>
                </a:tc>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Best Solvent /Highest Solubility</a:t>
                      </a:r>
                      <a:endParaRPr/>
                    </a:p>
                  </a:txBody>
                  <a:tcPr marT="91425" marB="91425" marR="91425" marL="91425"/>
                </a:tc>
              </a:tr>
              <a:tr h="356725">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LTA</a:t>
                      </a:r>
                      <a:endParaRPr/>
                    </a:p>
                  </a:txBody>
                  <a:tcPr marT="91425" marB="91425" marR="91425" marL="91425"/>
                </a:tc>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Water (5 mg/mL) </a:t>
                      </a:r>
                      <a:endParaRPr/>
                    </a:p>
                  </a:txBody>
                  <a:tcPr marT="91425" marB="91425" marR="91425" marL="91425"/>
                </a:tc>
              </a:tr>
              <a:tr h="356725">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MurNAc</a:t>
                      </a:r>
                      <a:endParaRPr/>
                    </a:p>
                  </a:txBody>
                  <a:tcPr marT="91425" marB="91425" marR="91425" marL="91425"/>
                </a:tc>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Water (~50 mg/mL) </a:t>
                      </a:r>
                      <a:endParaRPr/>
                    </a:p>
                  </a:txBody>
                  <a:tcPr marT="91425" marB="91425" marR="91425" marL="91425"/>
                </a:tc>
              </a:tr>
              <a:tr h="356725">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LPS</a:t>
                      </a:r>
                      <a:endParaRPr/>
                    </a:p>
                  </a:txBody>
                  <a:tcPr marT="91425" marB="91425" marR="91425" marL="91425"/>
                </a:tc>
                <a:tc>
                  <a:txBody>
                    <a:bodyPr/>
                    <a:lstStyle/>
                    <a:p>
                      <a:pPr indent="0" lvl="0" marL="0" rtl="0" algn="l">
                        <a:lnSpc>
                          <a:spcPct val="115000"/>
                        </a:lnSpc>
                        <a:spcBef>
                          <a:spcPts val="1200"/>
                        </a:spcBef>
                        <a:spcAft>
                          <a:spcPts val="1200"/>
                        </a:spcAft>
                        <a:buNone/>
                      </a:pPr>
                      <a:r>
                        <a:rPr b="1" lang="en" sz="1100">
                          <a:solidFill>
                            <a:schemeClr val="dk1"/>
                          </a:solidFill>
                          <a:latin typeface="Calibri"/>
                          <a:ea typeface="Calibri"/>
                          <a:cs typeface="Calibri"/>
                          <a:sym typeface="Calibri"/>
                        </a:rPr>
                        <a:t>Water (~5 mg/mL)  </a:t>
                      </a:r>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