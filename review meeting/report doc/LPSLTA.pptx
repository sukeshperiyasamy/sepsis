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8" r:id="rId3"/>
    <p:sldId id="267" r:id="rId4"/>
    <p:sldId id="270" r:id="rId5"/>
    <p:sldId id="274" r:id="rId6"/>
    <p:sldId id="269" r:id="rId7"/>
    <p:sldId id="272" r:id="rId8"/>
    <p:sldId id="271" r:id="rId9"/>
    <p:sldId id="273" r:id="rId10"/>
    <p:sldId id="284" r:id="rId11"/>
    <p:sldId id="286" r:id="rId12"/>
    <p:sldId id="285" r:id="rId13"/>
    <p:sldId id="288" r:id="rId14"/>
    <p:sldId id="287" r:id="rId15"/>
    <p:sldId id="276" r:id="rId16"/>
    <p:sldId id="277" r:id="rId17"/>
    <p:sldId id="275" r:id="rId18"/>
    <p:sldId id="278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29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A504-56A9-41BA-157A-6E6362D8B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F997D-0725-A5B0-661B-E34E0C83E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CDFEA-24A9-9E3B-A3D5-7A92A3B62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4C8ED-BA8E-EC9E-0DCF-F029FCF50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07C5F-BD2E-A97B-1C17-CD137060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03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A780-BED1-9D21-675F-A399E5E6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270CB-7251-3CEA-5964-6631AAE49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CEA1F-F230-91F8-D2D6-484D780A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721BE-2289-5A23-5BAA-13930A60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B2FF8-FE79-5C26-EE98-10C7772F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79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B12FE-53F7-0BFE-A155-80FE5EDF4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F3D1A-CB98-9313-67D8-7093E889E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C546A-808B-320E-D9B7-4236CB53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791D5-FDF3-3953-C690-E6D2A464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696B0-56AC-DCAD-EC52-D368BBD6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407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0181-3CED-7A3E-2792-91E947B4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B4947-D2E8-31EE-5214-179FC234E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90CF5-EE5A-386F-92D1-DA5E636FF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9CA4F-6698-0335-1724-E81342B0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33187-74A2-57F9-D2A1-EF887D43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A67F5-2E20-4FD8-805C-4C07AB9B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731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832C-632C-979B-EF13-CE8772D3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97ECA-0B8A-CA1D-9053-69838AC1A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178BC-10C2-E071-F490-0B9B39016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8069BB-96CB-2748-4995-62943250C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42183-2550-895E-D837-688BA5BFD2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B4CCD-23B8-8B70-3262-AF7CE809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2F84DB-4099-CB7C-E2AC-BF4D8AC6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76279E-D0DF-57B5-CA86-4FE3AA0C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16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12B6-BE13-3089-B455-B9DB7B34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700D55-FA8C-A318-6573-3D0B5DDD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808B9-6807-C3A3-8FC1-66D95D478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8484F-3975-20C2-0AC1-8255E427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170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AE339-B609-B264-7343-D454B0E9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D75076-B613-89E9-D51D-42169ED66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78FEC-89EB-933D-1757-2D933295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7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2769-0530-3D0D-5BD8-19CC1509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88375-B74B-F2E8-DA5D-1D277A832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BE5AF-6D8C-8DBC-D94B-00F6DA4D9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47AB1-479A-5CC4-EFE6-D42AEF34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B68E6-A469-5029-C301-F5CAF686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81330-4913-F0C9-DC7B-C6C830CA4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72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D422-22E5-B97A-8AF7-93BE2D62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362DF-AF57-7C42-8F38-7AEBCE289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E7862-63F0-C08D-DEB8-19590AB74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3F2C9-DB1F-39D1-1785-A131A3F4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B8F46-211C-6814-D09B-22274C806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2B15A-4A2A-0A9D-1AB3-E9889C79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778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65F9-68E5-EB32-1EA3-E037CB9D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B76FA-4C5F-41F4-C8C0-0C3403E64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95F45-1CEF-5270-8756-C8195FA5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63754-9C7F-23E7-8504-AF8B839D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41DB9-CC50-1312-4314-E454D228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54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E2C89-C4E0-68CC-5659-087A280D1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C0D6E-AA1F-219F-D0F6-89E812410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45E71-7243-6C68-1519-A8FAF8CE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5018A-6498-85DA-5C25-59B498CC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C392E-712F-9321-4A0D-F0C56CAB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82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B0A102-7191-76BC-9633-FE853E0D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349DC-DD61-574F-A639-655F56D53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B50BA-43F2-40F2-9FB9-1284F18CB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4FAD4-6841-4A80-9FB2-5897F34ABCE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160AF-FC95-0CEC-27B0-57F5AA573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BD558-9E71-3FBC-2311-F99EF28BF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A86FE-9660-47F9-B64F-0BB82FE2C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B509-E5B7-8927-E6F4-1C77331A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1;p33">
            <a:extLst>
              <a:ext uri="{FF2B5EF4-FFF2-40B4-BE49-F238E27FC236}">
                <a16:creationId xmlns:a16="http://schemas.microsoft.com/office/drawing/2014/main" id="{113AB111-D4C7-3419-6A4B-0AFC144C81E8}"/>
              </a:ext>
            </a:extLst>
          </p:cNvPr>
          <p:cNvSpPr txBox="1"/>
          <p:nvPr/>
        </p:nvSpPr>
        <p:spPr>
          <a:xfrm>
            <a:off x="2040284" y="0"/>
            <a:ext cx="799099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0B0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Lipoteichoic Acid</a:t>
            </a:r>
            <a:endParaRPr b="1" dirty="0">
              <a:solidFill>
                <a:srgbClr val="00B0F0"/>
              </a:solidFill>
            </a:endParaRPr>
          </a:p>
        </p:txBody>
      </p:sp>
      <p:sp>
        <p:nvSpPr>
          <p:cNvPr id="7" name="Google Shape;262;p33">
            <a:extLst>
              <a:ext uri="{FF2B5EF4-FFF2-40B4-BE49-F238E27FC236}">
                <a16:creationId xmlns:a16="http://schemas.microsoft.com/office/drawing/2014/main" id="{B3740A1A-9505-8D0F-F8FD-F1790824153D}"/>
              </a:ext>
            </a:extLst>
          </p:cNvPr>
          <p:cNvSpPr txBox="1"/>
          <p:nvPr/>
        </p:nvSpPr>
        <p:spPr>
          <a:xfrm>
            <a:off x="316013" y="687187"/>
            <a:ext cx="11033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52"/>
              </a:lnSpc>
            </a:pPr>
            <a:r>
              <a:rPr lang="en-IN" sz="2400" b="1" dirty="0">
                <a:solidFill>
                  <a:srgbClr val="00B0F0"/>
                </a:solidFill>
              </a:rPr>
              <a:t>Challenge in LTA Simulation</a:t>
            </a:r>
            <a:endParaRPr sz="1600" b="1" dirty="0">
              <a:solidFill>
                <a:srgbClr val="00B0F0"/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FD96AEF-2276-917A-39A2-D54B73F34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8343" y="1111988"/>
            <a:ext cx="654057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LTA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large polymeric biomolecule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Full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DFT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simulation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computationally impractical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Need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scientifically valid alternative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" name="Google Shape;262;p33">
            <a:extLst>
              <a:ext uri="{FF2B5EF4-FFF2-40B4-BE49-F238E27FC236}">
                <a16:creationId xmlns:a16="http://schemas.microsoft.com/office/drawing/2014/main" id="{37173BE1-DAD7-9214-DF28-97B8E7D0CA6C}"/>
              </a:ext>
            </a:extLst>
          </p:cNvPr>
          <p:cNvSpPr txBox="1"/>
          <p:nvPr/>
        </p:nvSpPr>
        <p:spPr>
          <a:xfrm>
            <a:off x="316013" y="2373872"/>
            <a:ext cx="11033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52"/>
              </a:lnSpc>
            </a:pPr>
            <a:r>
              <a:rPr lang="en-IN" sz="2400" b="1" dirty="0">
                <a:solidFill>
                  <a:srgbClr val="00B0F0"/>
                </a:solidFill>
              </a:rPr>
              <a:t>Component-Based </a:t>
            </a:r>
            <a:r>
              <a:rPr lang="en-IN" sz="2400" b="1" dirty="0" err="1">
                <a:solidFill>
                  <a:srgbClr val="00B0F0"/>
                </a:solidFill>
              </a:rPr>
              <a:t>Modeling</a:t>
            </a:r>
            <a:r>
              <a:rPr lang="en-IN" sz="2400" b="1" dirty="0">
                <a:solidFill>
                  <a:srgbClr val="00B0F0"/>
                </a:solidFill>
              </a:rPr>
              <a:t> Strategy</a:t>
            </a:r>
            <a:endParaRPr sz="1600" b="1" dirty="0">
              <a:solidFill>
                <a:srgbClr val="00B0F0"/>
              </a:solidFill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72C71CA-6A23-1009-1CD9-0FEA7EBC7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812" y="6319488"/>
            <a:ext cx="9446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2400" dirty="0"/>
              <a:t>“Fragment-based </a:t>
            </a:r>
            <a:r>
              <a:rPr lang="en-GB" sz="2400" dirty="0" err="1"/>
              <a:t>modeling</a:t>
            </a:r>
            <a:r>
              <a:rPr lang="en-GB" sz="2400" dirty="0"/>
              <a:t> is a standard approach for large biomolecules”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F1CDD80-6ABC-C8B7-3514-D0285C305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8343" y="2964803"/>
            <a:ext cx="7436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Decompose LTA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representative molecular units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Simulate each component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DFT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Combine spectral contributions to reconstruct LTA fingerprint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371890-7EBA-3C8E-F3C8-056B0CE0EFE5}"/>
              </a:ext>
            </a:extLst>
          </p:cNvPr>
          <p:cNvSpPr txBox="1"/>
          <p:nvPr/>
        </p:nvSpPr>
        <p:spPr>
          <a:xfrm>
            <a:off x="1286503" y="4431804"/>
            <a:ext cx="8100330" cy="1641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2000" dirty="0"/>
              <a:t>Lipoteichoic acid consists of three structural components: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/>
              <a:t> • </a:t>
            </a:r>
            <a:r>
              <a:rPr lang="en-US" sz="2000" b="1" dirty="0"/>
              <a:t>Glycolipid membrane anchor</a:t>
            </a:r>
            <a:br>
              <a:rPr lang="en-US" sz="2000" b="1" dirty="0"/>
            </a:br>
            <a:r>
              <a:rPr lang="en-US" sz="2000" dirty="0"/>
              <a:t> • </a:t>
            </a:r>
            <a:r>
              <a:rPr lang="en-US" sz="2000" b="1" dirty="0"/>
              <a:t>Poly(glycerol–phosphate) backbone</a:t>
            </a:r>
            <a:br>
              <a:rPr lang="en-US" sz="2000" b="1" dirty="0"/>
            </a:br>
            <a:r>
              <a:rPr lang="en-US" sz="2000" dirty="0"/>
              <a:t> • </a:t>
            </a:r>
            <a:r>
              <a:rPr lang="en-US" sz="2000" b="1" dirty="0"/>
              <a:t>Substituent groups</a:t>
            </a:r>
            <a:r>
              <a:rPr lang="en-US" sz="2000" dirty="0"/>
              <a:t> such as D-alanine residues or sugars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85B733-346C-8152-483B-EEF3E606DE2C}"/>
              </a:ext>
            </a:extLst>
          </p:cNvPr>
          <p:cNvSpPr txBox="1"/>
          <p:nvPr/>
        </p:nvSpPr>
        <p:spPr>
          <a:xfrm>
            <a:off x="316013" y="3970139"/>
            <a:ext cx="6094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B0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Structure of Lipoteichoic Acid</a:t>
            </a:r>
            <a:endParaRPr lang="en-US" sz="2400" b="1" dirty="0">
              <a:solidFill>
                <a:srgbClr val="00B0F0"/>
              </a:solidFill>
            </a:endParaRPr>
          </a:p>
        </p:txBody>
      </p:sp>
      <p:pic>
        <p:nvPicPr>
          <p:cNvPr id="17" name="Google Shape;273;p34" descr="image.png">
            <a:extLst>
              <a:ext uri="{FF2B5EF4-FFF2-40B4-BE49-F238E27FC236}">
                <a16:creationId xmlns:a16="http://schemas.microsoft.com/office/drawing/2014/main" id="{BCD34799-7721-4B3E-73EF-3D5AFD0773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40580" y="812343"/>
            <a:ext cx="3484162" cy="2971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7554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AA7AF-2B1A-DB7A-1F9A-8CD200300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13;p39">
            <a:extLst>
              <a:ext uri="{FF2B5EF4-FFF2-40B4-BE49-F238E27FC236}">
                <a16:creationId xmlns:a16="http://schemas.microsoft.com/office/drawing/2014/main" id="{B7FAA55D-E1C8-BF14-DD29-5B68EC92B0EB}"/>
              </a:ext>
            </a:extLst>
          </p:cNvPr>
          <p:cNvSpPr txBox="1"/>
          <p:nvPr/>
        </p:nvSpPr>
        <p:spPr>
          <a:xfrm>
            <a:off x="733425" y="1571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B0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3150" b="1" dirty="0" err="1">
                <a:solidFill>
                  <a:srgbClr val="00B0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DFT</a:t>
            </a:r>
            <a:r>
              <a:rPr lang="en-US" sz="3150" b="1" dirty="0">
                <a:solidFill>
                  <a:srgbClr val="00B0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Simulation Method</a:t>
            </a:r>
            <a:endParaRPr b="1" dirty="0">
              <a:solidFill>
                <a:srgbClr val="00B0F0"/>
              </a:solidFill>
            </a:endParaRPr>
          </a:p>
        </p:txBody>
      </p:sp>
      <p:sp>
        <p:nvSpPr>
          <p:cNvPr id="4" name="Google Shape;314;p39">
            <a:extLst>
              <a:ext uri="{FF2B5EF4-FFF2-40B4-BE49-F238E27FC236}">
                <a16:creationId xmlns:a16="http://schemas.microsoft.com/office/drawing/2014/main" id="{2494F835-F7F1-0F44-59DB-49E73C23620A}"/>
              </a:ext>
            </a:extLst>
          </p:cNvPr>
          <p:cNvSpPr txBox="1"/>
          <p:nvPr/>
        </p:nvSpPr>
        <p:spPr>
          <a:xfrm>
            <a:off x="694522" y="554891"/>
            <a:ext cx="8649300" cy="239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/>
              <a:t>Quantum-chemical calculations were performed using </a:t>
            </a:r>
            <a:r>
              <a:rPr lang="en-US" sz="1800" b="1" dirty="0"/>
              <a:t>Gaussian 16</a:t>
            </a:r>
            <a:r>
              <a:rPr lang="en-US" sz="1800" dirty="0"/>
              <a:t>.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/>
              <a:t>The simulation included: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dirty="0"/>
              <a:t>• geometry optimization</a:t>
            </a:r>
            <a:br>
              <a:rPr lang="en-US" sz="1800" dirty="0"/>
            </a:br>
            <a:r>
              <a:rPr lang="en-US" sz="1800" dirty="0"/>
              <a:t> • vibrational frequency calculation</a:t>
            </a:r>
            <a:br>
              <a:rPr lang="en-US" sz="1800" dirty="0"/>
            </a:br>
            <a:r>
              <a:rPr lang="en-US" sz="1800" dirty="0"/>
              <a:t> • Raman activity calculation</a:t>
            </a:r>
            <a:endParaRPr sz="1800" dirty="0"/>
          </a:p>
        </p:txBody>
      </p:sp>
      <p:graphicFrame>
        <p:nvGraphicFramePr>
          <p:cNvPr id="6" name="Google Shape;315;p39">
            <a:extLst>
              <a:ext uri="{FF2B5EF4-FFF2-40B4-BE49-F238E27FC236}">
                <a16:creationId xmlns:a16="http://schemas.microsoft.com/office/drawing/2014/main" id="{0BC22871-8BC7-5578-E44E-5D035B9FF66A}"/>
              </a:ext>
            </a:extLst>
          </p:cNvPr>
          <p:cNvGraphicFramePr/>
          <p:nvPr/>
        </p:nvGraphicFramePr>
        <p:xfrm>
          <a:off x="5268683" y="1290825"/>
          <a:ext cx="5124400" cy="17598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7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Parameter</a:t>
                      </a:r>
                      <a:endParaRPr sz="18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Value</a:t>
                      </a:r>
                      <a:endParaRPr sz="18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Functional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B3LYP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Basis set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6-31G(d)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Solvent model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SMD (water)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316;p39">
            <a:extLst>
              <a:ext uri="{FF2B5EF4-FFF2-40B4-BE49-F238E27FC236}">
                <a16:creationId xmlns:a16="http://schemas.microsoft.com/office/drawing/2014/main" id="{D9E14B4B-FA1A-A6B7-E377-80110A283AEE}"/>
              </a:ext>
            </a:extLst>
          </p:cNvPr>
          <p:cNvSpPr txBox="1"/>
          <p:nvPr/>
        </p:nvSpPr>
        <p:spPr>
          <a:xfrm>
            <a:off x="370699" y="3074651"/>
            <a:ext cx="7472535" cy="381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/>
              <a:t>Gaussian keywords used: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>
                <a:highlight>
                  <a:srgbClr val="00FFFF"/>
                </a:highlight>
              </a:rPr>
              <a:t># B3LYP/6-31G(d) </a:t>
            </a:r>
            <a:r>
              <a:rPr lang="en-US" sz="1600" dirty="0" err="1">
                <a:highlight>
                  <a:srgbClr val="00FFFF"/>
                </a:highlight>
              </a:rPr>
              <a:t>Opt</a:t>
            </a:r>
            <a:r>
              <a:rPr lang="en-US" sz="1600" dirty="0">
                <a:highlight>
                  <a:srgbClr val="00FFFF"/>
                </a:highlight>
              </a:rPr>
              <a:t> Freq Raman SCF=Tight Int=</a:t>
            </a:r>
            <a:r>
              <a:rPr lang="en-US" sz="1600" dirty="0" err="1">
                <a:highlight>
                  <a:srgbClr val="00FFFF"/>
                </a:highlight>
              </a:rPr>
              <a:t>UltraFine</a:t>
            </a:r>
            <a:r>
              <a:rPr lang="en-US" sz="1600" dirty="0">
                <a:highlight>
                  <a:srgbClr val="00FFFF"/>
                </a:highlight>
              </a:rPr>
              <a:t> SCRF=(</a:t>
            </a:r>
            <a:r>
              <a:rPr lang="en-US" sz="1600" dirty="0" err="1">
                <a:highlight>
                  <a:srgbClr val="00FFFF"/>
                </a:highlight>
              </a:rPr>
              <a:t>SMD,Solvent</a:t>
            </a:r>
            <a:r>
              <a:rPr lang="en-US" sz="1600" dirty="0">
                <a:highlight>
                  <a:srgbClr val="00FFFF"/>
                </a:highlight>
              </a:rPr>
              <a:t>=Water)</a:t>
            </a:r>
            <a:endParaRPr sz="1600" dirty="0">
              <a:highlight>
                <a:srgbClr val="00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/>
              <a:t>Explanation:</a:t>
            </a:r>
            <a:endParaRPr sz="1600" dirty="0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 sz="1600" b="1" dirty="0"/>
              <a:t>SCF=Tight</a:t>
            </a:r>
            <a:r>
              <a:rPr lang="en-US" sz="1600" dirty="0"/>
              <a:t> ensures strict electronic convergence</a:t>
            </a:r>
            <a:endParaRPr sz="16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 sz="1600" b="1" dirty="0"/>
              <a:t>Int=</a:t>
            </a:r>
            <a:r>
              <a:rPr lang="en-US" sz="1600" b="1" dirty="0" err="1"/>
              <a:t>UltraFine</a:t>
            </a:r>
            <a:r>
              <a:rPr lang="en-US" sz="1600" dirty="0"/>
              <a:t> improves numerical accuracy</a:t>
            </a:r>
            <a:endParaRPr sz="16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 sz="1600" b="1" dirty="0"/>
              <a:t>SCRF=SMD</a:t>
            </a:r>
            <a:r>
              <a:rPr lang="en-US" sz="1600" dirty="0"/>
              <a:t> models the aqueous environment in which LTA normally exists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/>
              <a:t>DFT frequencies typically </a:t>
            </a:r>
            <a:r>
              <a:rPr lang="en-US" sz="1600" b="1" dirty="0"/>
              <a:t>overestimate vibrational frequencies</a:t>
            </a:r>
            <a:r>
              <a:rPr lang="en-US" sz="1600" dirty="0"/>
              <a:t>, so a scaling factor is applied.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/>
              <a:t>Scaled frequency = frequency × 0.96</a:t>
            </a:r>
            <a:endParaRPr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BE01CF-3AA7-08D9-2CAE-339BF548F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12" y="4198880"/>
            <a:ext cx="4481098" cy="221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0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87E2EA-839B-22A2-B57C-CB16B648AAD6}"/>
              </a:ext>
            </a:extLst>
          </p:cNvPr>
          <p:cNvSpPr txBox="1"/>
          <p:nvPr/>
        </p:nvSpPr>
        <p:spPr>
          <a:xfrm>
            <a:off x="400856" y="355964"/>
            <a:ext cx="10552626" cy="261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/>
              <a:t>The backbone is composed of repeating units: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>
                <a:highlight>
                  <a:srgbClr val="808080"/>
                </a:highlight>
              </a:rPr>
              <a:t>glycerol – phosphate – glycerol – phosphate</a:t>
            </a:r>
          </a:p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1800" dirty="0"/>
              <a:t>Typical LTA molecules contain </a:t>
            </a:r>
            <a:r>
              <a:rPr lang="en-US" sz="1800" b="1" dirty="0"/>
              <a:t>10–20 repeating glycerol–phosphate units</a:t>
            </a:r>
            <a:r>
              <a:rPr lang="en-US" sz="1800" dirty="0"/>
              <a:t>, producing large polymers with hundreds of atoms.</a:t>
            </a: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1800" dirty="0"/>
              <a:t>Because the full polymer is </a:t>
            </a:r>
            <a:r>
              <a:rPr lang="en-US" sz="1800" b="1" dirty="0"/>
              <a:t>computationally expensive for quantum simulations</a:t>
            </a:r>
            <a:r>
              <a:rPr lang="en-US" sz="1800" dirty="0"/>
              <a:t>, smaller molecular fragments are often used to represent the </a:t>
            </a:r>
            <a:r>
              <a:rPr lang="en-US" sz="1800" b="1" dirty="0"/>
              <a:t>local chemical environment responsible for Raman-active vibrations</a:t>
            </a:r>
            <a:r>
              <a:rPr lang="en-US" sz="1800" dirty="0"/>
              <a:t>.</a:t>
            </a:r>
            <a:endParaRPr 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71B26-1FE1-FE2B-2B60-27AD24F0EBC0}"/>
              </a:ext>
            </a:extLst>
          </p:cNvPr>
          <p:cNvSpPr txBox="1"/>
          <p:nvPr/>
        </p:nvSpPr>
        <p:spPr>
          <a:xfrm>
            <a:off x="898839" y="3175143"/>
            <a:ext cx="9556660" cy="3237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General structure: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/>
              <a:t>Lipid anchor – (Gro–P)ₙ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where: Gro = glycerol</a:t>
            </a:r>
            <a:br>
              <a:rPr lang="en-GB" sz="1800" dirty="0"/>
            </a:br>
            <a:r>
              <a:rPr lang="en-GB" sz="1800" dirty="0"/>
              <a:t>              P = phosphate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LTA contributes to:</a:t>
            </a:r>
          </a:p>
          <a:p>
            <a:pPr marL="4000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dirty="0"/>
              <a:t>bacterial adhesion</a:t>
            </a: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dirty="0"/>
              <a:t>cell wall maintenance</a:t>
            </a: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dirty="0"/>
              <a:t>activation of host immune responses through receptors such as </a:t>
            </a:r>
            <a:r>
              <a:rPr lang="en-GB" sz="1800" b="1" dirty="0"/>
              <a:t>Toll-like receptor 2</a:t>
            </a:r>
          </a:p>
        </p:txBody>
      </p:sp>
      <p:pic>
        <p:nvPicPr>
          <p:cNvPr id="8" name="Google Shape;284;p35">
            <a:extLst>
              <a:ext uri="{FF2B5EF4-FFF2-40B4-BE49-F238E27FC236}">
                <a16:creationId xmlns:a16="http://schemas.microsoft.com/office/drawing/2014/main" id="{3DE44207-9079-F61B-457B-FB32FB3A03D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67973" y="2818085"/>
            <a:ext cx="6125188" cy="2671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76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0C10D-1730-95B6-3D0B-002F351E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32;p41">
            <a:extLst>
              <a:ext uri="{FF2B5EF4-FFF2-40B4-BE49-F238E27FC236}">
                <a16:creationId xmlns:a16="http://schemas.microsoft.com/office/drawing/2014/main" id="{2F97C6C0-86B7-DB05-E205-EBB3FD11027C}"/>
              </a:ext>
            </a:extLst>
          </p:cNvPr>
          <p:cNvSpPr txBox="1"/>
          <p:nvPr/>
        </p:nvSpPr>
        <p:spPr>
          <a:xfrm>
            <a:off x="324570" y="57781"/>
            <a:ext cx="110994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2400" b="1" dirty="0" err="1">
                <a:solidFill>
                  <a:srgbClr val="00B0F0"/>
                </a:solidFill>
              </a:rPr>
              <a:t>Modeling</a:t>
            </a:r>
            <a:r>
              <a:rPr lang="en-GB" sz="2400" b="1" dirty="0">
                <a:solidFill>
                  <a:srgbClr val="00B0F0"/>
                </a:solidFill>
              </a:rPr>
              <a:t> the LTA Substituent: D-Alanine</a:t>
            </a:r>
            <a:endParaRPr sz="2400" b="1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DE0B2-70D8-4580-B956-8F700EE42BD0}"/>
              </a:ext>
            </a:extLst>
          </p:cNvPr>
          <p:cNvSpPr txBox="1"/>
          <p:nvPr/>
        </p:nvSpPr>
        <p:spPr>
          <a:xfrm>
            <a:off x="324570" y="1064399"/>
            <a:ext cx="1901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Why D-Alanine?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BB0390-CE87-31CF-E39B-056F78302DB9}"/>
              </a:ext>
            </a:extLst>
          </p:cNvPr>
          <p:cNvSpPr txBox="1"/>
          <p:nvPr/>
        </p:nvSpPr>
        <p:spPr>
          <a:xfrm>
            <a:off x="1291489" y="1461007"/>
            <a:ext cx="52343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• Represents </a:t>
            </a:r>
            <a:r>
              <a:rPr lang="en-IN" sz="1800" b="1" dirty="0"/>
              <a:t>amino substituent in LTA</a:t>
            </a:r>
            <a:br>
              <a:rPr lang="en-IN" sz="1800" dirty="0"/>
            </a:br>
            <a:r>
              <a:rPr lang="en-IN" sz="1800" dirty="0"/>
              <a:t>• Responsible for </a:t>
            </a:r>
            <a:r>
              <a:rPr lang="en-IN" sz="1800" b="1" dirty="0"/>
              <a:t>surface charge regulation</a:t>
            </a:r>
            <a:br>
              <a:rPr lang="en-IN" sz="1800" dirty="0"/>
            </a:br>
            <a:r>
              <a:rPr lang="en-IN" sz="1800" dirty="0"/>
              <a:t>• Important for </a:t>
            </a:r>
            <a:r>
              <a:rPr lang="en-IN" sz="1800" b="1" dirty="0"/>
              <a:t>Gram-positive bacterial identification</a:t>
            </a:r>
            <a:endParaRPr lang="en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187C6A-F905-3E04-95D7-0355AC4B85E6}"/>
              </a:ext>
            </a:extLst>
          </p:cNvPr>
          <p:cNvSpPr txBox="1"/>
          <p:nvPr/>
        </p:nvSpPr>
        <p:spPr>
          <a:xfrm>
            <a:off x="324570" y="2703924"/>
            <a:ext cx="2872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Molecular Characteristics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F6A210-5246-0C94-0F45-946DED2935EE}"/>
              </a:ext>
            </a:extLst>
          </p:cNvPr>
          <p:cNvSpPr txBox="1"/>
          <p:nvPr/>
        </p:nvSpPr>
        <p:spPr>
          <a:xfrm>
            <a:off x="1291489" y="3178196"/>
            <a:ext cx="5203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• Exists in </a:t>
            </a:r>
            <a:r>
              <a:rPr lang="en-IN" sz="1800" b="1" dirty="0"/>
              <a:t>zwitterionic form</a:t>
            </a:r>
            <a:r>
              <a:rPr lang="en-IN" sz="1800" dirty="0"/>
              <a:t>: NH₃⁺ – COO⁻</a:t>
            </a:r>
            <a:br>
              <a:rPr lang="en-IN" sz="1800" dirty="0"/>
            </a:br>
            <a:r>
              <a:rPr lang="en-IN" sz="1800" dirty="0"/>
              <a:t>• Contains:</a:t>
            </a:r>
          </a:p>
          <a:p>
            <a:pPr lvl="4"/>
            <a:r>
              <a:rPr lang="en-IN" sz="1800" dirty="0"/>
              <a:t>	Amino group </a:t>
            </a:r>
          </a:p>
          <a:p>
            <a:pPr lvl="4"/>
            <a:r>
              <a:rPr lang="en-IN" sz="1800" dirty="0"/>
              <a:t>	Carboxylate group </a:t>
            </a:r>
          </a:p>
          <a:p>
            <a:pPr lvl="4"/>
            <a:r>
              <a:rPr lang="en-IN" sz="1800" dirty="0"/>
              <a:t>	Methyl group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3550C-7590-BC72-5549-5FBA0E2554C5}"/>
              </a:ext>
            </a:extLst>
          </p:cNvPr>
          <p:cNvSpPr txBox="1"/>
          <p:nvPr/>
        </p:nvSpPr>
        <p:spPr>
          <a:xfrm>
            <a:off x="324570" y="4780962"/>
            <a:ext cx="27036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DFT Simulation Method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59AAFA-DCF4-5D55-BEF6-0ADAD3750FF0}"/>
              </a:ext>
            </a:extLst>
          </p:cNvPr>
          <p:cNvSpPr txBox="1"/>
          <p:nvPr/>
        </p:nvSpPr>
        <p:spPr>
          <a:xfrm>
            <a:off x="1297892" y="5256132"/>
            <a:ext cx="4469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/>
              <a:t>• Geometry optimization + Raman calculation</a:t>
            </a:r>
            <a:br>
              <a:rPr lang="en-GB" sz="1800" dirty="0"/>
            </a:br>
            <a:r>
              <a:rPr lang="en-GB" sz="1800" dirty="0"/>
              <a:t>• Functional: B3LYP</a:t>
            </a:r>
            <a:br>
              <a:rPr lang="en-GB" sz="1800" dirty="0"/>
            </a:br>
            <a:r>
              <a:rPr lang="en-GB" sz="1800" dirty="0"/>
              <a:t>• Basis set: 6-31G(d)</a:t>
            </a:r>
            <a:br>
              <a:rPr lang="en-GB" sz="1800" dirty="0"/>
            </a:br>
            <a:r>
              <a:rPr lang="en-GB" sz="1800" dirty="0"/>
              <a:t>• Solvent: SMD (water)</a:t>
            </a:r>
            <a:endParaRPr lang="en-IN" sz="1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CFB0535-6839-24F0-5B18-62A211F5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250" y="2981267"/>
            <a:ext cx="6294365" cy="32568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27E853-A5B6-2047-646D-7CBB15819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657" y="378689"/>
            <a:ext cx="2151552" cy="21515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888D59-AF90-FBC0-A14A-9F35ADE96858}"/>
              </a:ext>
            </a:extLst>
          </p:cNvPr>
          <p:cNvSpPr txBox="1"/>
          <p:nvPr/>
        </p:nvSpPr>
        <p:spPr>
          <a:xfrm>
            <a:off x="9145346" y="2673490"/>
            <a:ext cx="13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2D 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122A31-1DCE-3582-DAD8-82FFC2FF413F}"/>
              </a:ext>
            </a:extLst>
          </p:cNvPr>
          <p:cNvSpPr txBox="1"/>
          <p:nvPr/>
        </p:nvSpPr>
        <p:spPr>
          <a:xfrm>
            <a:off x="9145346" y="5962534"/>
            <a:ext cx="1473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3D Structure</a:t>
            </a:r>
          </a:p>
        </p:txBody>
      </p:sp>
    </p:spTree>
    <p:extLst>
      <p:ext uri="{BB962C8B-B14F-4D97-AF65-F5344CB8AC3E}">
        <p14:creationId xmlns:p14="http://schemas.microsoft.com/office/powerpoint/2010/main" val="2992497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067E4-0603-B796-6DA9-0AA21860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2;p41">
            <a:extLst>
              <a:ext uri="{FF2B5EF4-FFF2-40B4-BE49-F238E27FC236}">
                <a16:creationId xmlns:a16="http://schemas.microsoft.com/office/drawing/2014/main" id="{61F9E9AF-D7F1-1E31-7B98-8272EE6152D4}"/>
              </a:ext>
            </a:extLst>
          </p:cNvPr>
          <p:cNvSpPr txBox="1"/>
          <p:nvPr/>
        </p:nvSpPr>
        <p:spPr>
          <a:xfrm>
            <a:off x="324570" y="57781"/>
            <a:ext cx="110994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2400" b="1" dirty="0" err="1">
                <a:solidFill>
                  <a:srgbClr val="00B0F0"/>
                </a:solidFill>
              </a:rPr>
              <a:t>Modeling</a:t>
            </a:r>
            <a:r>
              <a:rPr lang="en-GB" sz="2400" b="1" dirty="0">
                <a:solidFill>
                  <a:srgbClr val="00B0F0"/>
                </a:solidFill>
              </a:rPr>
              <a:t> the LTA Substituent: </a:t>
            </a:r>
            <a:r>
              <a:rPr lang="en-GB" sz="2400" b="1" dirty="0" err="1">
                <a:solidFill>
                  <a:srgbClr val="00B0F0"/>
                </a:solidFill>
              </a:rPr>
              <a:t>GlcNAc</a:t>
            </a:r>
            <a:endParaRPr sz="24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1A28D-527B-5AAC-7FB6-E25F651A3E98}"/>
              </a:ext>
            </a:extLst>
          </p:cNvPr>
          <p:cNvSpPr txBox="1"/>
          <p:nvPr/>
        </p:nvSpPr>
        <p:spPr>
          <a:xfrm>
            <a:off x="324570" y="1064399"/>
            <a:ext cx="1613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Why </a:t>
            </a:r>
            <a:r>
              <a:rPr lang="en-IN" sz="2000" b="1" dirty="0" err="1"/>
              <a:t>GlcNAc</a:t>
            </a:r>
            <a:r>
              <a:rPr lang="en-IN" sz="2000" b="1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12C702-FF66-A329-D914-DAC4F4379CE7}"/>
              </a:ext>
            </a:extLst>
          </p:cNvPr>
          <p:cNvSpPr txBox="1"/>
          <p:nvPr/>
        </p:nvSpPr>
        <p:spPr>
          <a:xfrm>
            <a:off x="1291489" y="1461007"/>
            <a:ext cx="44219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/>
              <a:t>• Represents </a:t>
            </a:r>
            <a:r>
              <a:rPr lang="en-GB" sz="1800" b="1" dirty="0"/>
              <a:t>carbohydrate component</a:t>
            </a:r>
            <a:br>
              <a:rPr lang="en-GB" sz="1800" dirty="0"/>
            </a:br>
            <a:r>
              <a:rPr lang="en-GB" sz="1800" dirty="0"/>
              <a:t>• Present in </a:t>
            </a:r>
            <a:r>
              <a:rPr lang="en-GB" sz="1800" b="1" dirty="0"/>
              <a:t>bacterial cell wall structures</a:t>
            </a:r>
            <a:br>
              <a:rPr lang="en-GB" sz="1800" dirty="0"/>
            </a:br>
            <a:r>
              <a:rPr lang="en-GB" sz="1800" dirty="0"/>
              <a:t>• Provides strong </a:t>
            </a:r>
            <a:r>
              <a:rPr lang="en-GB" sz="1800" b="1" dirty="0"/>
              <a:t>Raman-active sugar signals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1FF994-0A86-BF23-7ADF-6874B3F34F74}"/>
              </a:ext>
            </a:extLst>
          </p:cNvPr>
          <p:cNvSpPr txBox="1"/>
          <p:nvPr/>
        </p:nvSpPr>
        <p:spPr>
          <a:xfrm>
            <a:off x="324570" y="2703924"/>
            <a:ext cx="2872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Molecular Characteristics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05B7A-935C-784D-D1F9-22BDAB0833B1}"/>
              </a:ext>
            </a:extLst>
          </p:cNvPr>
          <p:cNvSpPr txBox="1"/>
          <p:nvPr/>
        </p:nvSpPr>
        <p:spPr>
          <a:xfrm>
            <a:off x="1291489" y="3178196"/>
            <a:ext cx="5203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• Pyranose ring structure</a:t>
            </a:r>
            <a:br>
              <a:rPr lang="en-IN" sz="1800" dirty="0"/>
            </a:br>
            <a:r>
              <a:rPr lang="en-IN" sz="1800" dirty="0"/>
              <a:t>• Contains:</a:t>
            </a:r>
          </a:p>
          <a:p>
            <a:pPr lvl="3"/>
            <a:r>
              <a:rPr lang="en-IN" sz="1800" dirty="0"/>
              <a:t>	Multiple hydroxyl groups (–OH) </a:t>
            </a:r>
          </a:p>
          <a:p>
            <a:pPr lvl="3"/>
            <a:r>
              <a:rPr lang="en-IN" sz="1800" dirty="0"/>
              <a:t>	Acetamide group (–</a:t>
            </a:r>
            <a:r>
              <a:rPr lang="en-IN" sz="1800" dirty="0" err="1"/>
              <a:t>NHCO</a:t>
            </a:r>
            <a:r>
              <a:rPr lang="en-IN" sz="1800" dirty="0"/>
              <a:t>–) </a:t>
            </a:r>
          </a:p>
          <a:p>
            <a:pPr lvl="3"/>
            <a:r>
              <a:rPr lang="en-IN" sz="1800" dirty="0"/>
              <a:t>	C–O–C linkages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09EBA4-F29C-ADC2-3232-9728E16AFC82}"/>
              </a:ext>
            </a:extLst>
          </p:cNvPr>
          <p:cNvSpPr txBox="1"/>
          <p:nvPr/>
        </p:nvSpPr>
        <p:spPr>
          <a:xfrm>
            <a:off x="324570" y="4780962"/>
            <a:ext cx="27036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DFT Simulation 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1080DC-F164-AAF8-3300-07D9A6FEEBCC}"/>
              </a:ext>
            </a:extLst>
          </p:cNvPr>
          <p:cNvSpPr txBox="1"/>
          <p:nvPr/>
        </p:nvSpPr>
        <p:spPr>
          <a:xfrm>
            <a:off x="1297892" y="5256132"/>
            <a:ext cx="4469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/>
              <a:t>• Geometry optimization + Raman calculation</a:t>
            </a:r>
            <a:br>
              <a:rPr lang="en-GB" sz="1800" dirty="0"/>
            </a:br>
            <a:r>
              <a:rPr lang="en-GB" sz="1800" dirty="0"/>
              <a:t>• Functional: B3LYP</a:t>
            </a:r>
            <a:br>
              <a:rPr lang="en-GB" sz="1800" dirty="0"/>
            </a:br>
            <a:r>
              <a:rPr lang="en-GB" sz="1800" dirty="0"/>
              <a:t>• Basis set: 6-31G(d)</a:t>
            </a:r>
            <a:br>
              <a:rPr lang="en-GB" sz="1800" dirty="0"/>
            </a:br>
            <a:r>
              <a:rPr lang="en-GB" sz="1800" dirty="0"/>
              <a:t>• Solvent: SMD (water)</a:t>
            </a:r>
            <a:endParaRPr lang="en-IN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9F8F31-25C9-5562-1C8C-7092B89CC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941" y="455792"/>
            <a:ext cx="2321201" cy="2321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A99667-1223-4055-45A5-2CDF42410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430" y="3652279"/>
            <a:ext cx="5305425" cy="26574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40ADE9-A428-5D2E-613A-3B4DDB79FBD9}"/>
              </a:ext>
            </a:extLst>
          </p:cNvPr>
          <p:cNvSpPr txBox="1"/>
          <p:nvPr/>
        </p:nvSpPr>
        <p:spPr>
          <a:xfrm>
            <a:off x="9150755" y="5856296"/>
            <a:ext cx="13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3D Structure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D3B64-AE6A-4A4F-9B2A-173CCE81B159}"/>
              </a:ext>
            </a:extLst>
          </p:cNvPr>
          <p:cNvSpPr txBox="1"/>
          <p:nvPr/>
        </p:nvSpPr>
        <p:spPr>
          <a:xfrm>
            <a:off x="8998355" y="3013880"/>
            <a:ext cx="13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2D Structure</a:t>
            </a:r>
          </a:p>
        </p:txBody>
      </p:sp>
    </p:spTree>
    <p:extLst>
      <p:ext uri="{BB962C8B-B14F-4D97-AF65-F5344CB8AC3E}">
        <p14:creationId xmlns:p14="http://schemas.microsoft.com/office/powerpoint/2010/main" val="111646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FC993-C12F-AAD6-8429-6E2DE24E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272786-DD77-A72C-843B-060612D83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4"/>
          <a:stretch>
            <a:fillRect/>
          </a:stretch>
        </p:blipFill>
        <p:spPr>
          <a:xfrm>
            <a:off x="218404" y="212502"/>
            <a:ext cx="5285704" cy="47201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D9D16C-15A4-D0DC-D60A-3602939EA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664" y="4681746"/>
            <a:ext cx="5890090" cy="19248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3110CD-C12C-722B-3BF5-3F7FE686BC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050" y="1141825"/>
            <a:ext cx="5449125" cy="26940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798BCD3C-B5AF-12B4-8ED7-2FF7ABB96710}"/>
              </a:ext>
            </a:extLst>
          </p:cNvPr>
          <p:cNvSpPr/>
          <p:nvPr/>
        </p:nvSpPr>
        <p:spPr>
          <a:xfrm>
            <a:off x="5579847" y="1851340"/>
            <a:ext cx="761464" cy="72121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2B546ECA-6D15-BD59-4676-6BEA35FBB68B}"/>
              </a:ext>
            </a:extLst>
          </p:cNvPr>
          <p:cNvSpPr/>
          <p:nvPr/>
        </p:nvSpPr>
        <p:spPr>
          <a:xfrm>
            <a:off x="8635285" y="3902299"/>
            <a:ext cx="972354" cy="66326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1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3F4B-EF49-3385-F73B-3AF915E8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816418A-ED5D-6D25-85E3-6AAA23752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61" y="3367824"/>
            <a:ext cx="6746183" cy="3335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3435DD-4BC2-6AA4-D080-BF259AC8A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17" y="65518"/>
            <a:ext cx="5009772" cy="297189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13F6FD6-215F-A639-4869-04A6B96C2842}"/>
              </a:ext>
            </a:extLst>
          </p:cNvPr>
          <p:cNvSpPr/>
          <p:nvPr/>
        </p:nvSpPr>
        <p:spPr>
          <a:xfrm>
            <a:off x="5566489" y="1396920"/>
            <a:ext cx="1059022" cy="7924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4018308A-C09F-67BE-0AB9-381C43356E1A}"/>
              </a:ext>
            </a:extLst>
          </p:cNvPr>
          <p:cNvSpPr/>
          <p:nvPr/>
        </p:nvSpPr>
        <p:spPr>
          <a:xfrm rot="10800000">
            <a:off x="7117187" y="3488179"/>
            <a:ext cx="2633729" cy="1266175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863238-4C96-ECE1-988F-E9A615D00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98" y="443747"/>
            <a:ext cx="4845685" cy="287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26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4A7B-EDAD-B0A2-9A09-22B361255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322AC8-54B5-A1BD-F5EA-CEB39F824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137" y="494372"/>
            <a:ext cx="6970294" cy="307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5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F3009-3D69-D36F-C5C0-421114CDC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476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E71A-44E7-3E9D-EAAA-6FFBD77C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714305-4420-E770-93A9-16662B66C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58" y="410033"/>
            <a:ext cx="6386969" cy="3653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AB75E2-D374-8AE6-F04B-2A45D5469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58" y="3761937"/>
            <a:ext cx="7728328" cy="279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8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6F52-6C79-1D08-BE59-30E6C1E8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54AC24-6B41-A2FA-6A09-12DB329AA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4" y="663262"/>
            <a:ext cx="5082140" cy="5531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FA8056-479F-1701-7253-C709091103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30"/>
          <a:stretch>
            <a:fillRect/>
          </a:stretch>
        </p:blipFill>
        <p:spPr>
          <a:xfrm>
            <a:off x="5106473" y="1803042"/>
            <a:ext cx="1384905" cy="42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10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1212-A0CF-DBE4-B65A-D9938216C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7CD5C9-D768-3861-0249-85AA8740B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0" y="554734"/>
            <a:ext cx="6520154" cy="400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77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CA751-8E34-2429-46AB-70D3877D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088A4-4584-916B-9E79-DA607BF3CF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063" b="9677"/>
          <a:stretch>
            <a:fillRect/>
          </a:stretch>
        </p:blipFill>
        <p:spPr>
          <a:xfrm>
            <a:off x="185193" y="1300766"/>
            <a:ext cx="11821613" cy="536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3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232BF-1672-3DAF-7773-78174D15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9C7C6-E9A1-2B2C-CA96-D2DE5A11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17" y="1339403"/>
            <a:ext cx="11771214" cy="534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3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798E5-0013-F9F3-13D5-C12832DE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B0F93E-E288-CEFD-3D33-B5CA6482EECD}"/>
              </a:ext>
            </a:extLst>
          </p:cNvPr>
          <p:cNvSpPr txBox="1"/>
          <p:nvPr/>
        </p:nvSpPr>
        <p:spPr>
          <a:xfrm>
            <a:off x="1010991" y="1079652"/>
            <a:ext cx="96655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Lipopolysaccharide (LPS) is a major component of Gram-negative bacterial outer membranes.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is strongly associated with inflammation, endotoxemia, and sepsis.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Rapid identification of LPS-related spectral fingerprints can support diagnostic research.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Raman spectroscopy provides label-free molecular fingerprinting. </a:t>
            </a:r>
          </a:p>
          <a:p>
            <a:pPr>
              <a:buNone/>
            </a:pPr>
            <a:r>
              <a:rPr lang="en-GB" b="1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Full LPS is structurally large and complex.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Direct spectral interpretation is difficult due to overlapping bands and multiple functional groups. </a:t>
            </a:r>
          </a:p>
          <a:p>
            <a:pPr>
              <a:buNone/>
            </a:pPr>
            <a:r>
              <a:rPr lang="en-GB" b="1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Acquire Raman spectra of LPS powder under optimized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fragment-based computational models representing major LPS substructures.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Compare simulated and experimental spectra.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Identify dominant contributors and characteristic Raman bands. </a:t>
            </a:r>
          </a:p>
        </p:txBody>
      </p:sp>
    </p:spTree>
    <p:extLst>
      <p:ext uri="{BB962C8B-B14F-4D97-AF65-F5344CB8AC3E}">
        <p14:creationId xmlns:p14="http://schemas.microsoft.com/office/powerpoint/2010/main" val="2189322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3086-4484-3264-BB39-72427110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3E9382-8633-7322-EB8F-290FFC76A449}"/>
              </a:ext>
            </a:extLst>
          </p:cNvPr>
          <p:cNvSpPr txBox="1"/>
          <p:nvPr/>
        </p:nvSpPr>
        <p:spPr>
          <a:xfrm>
            <a:off x="676141" y="612845"/>
            <a:ext cx="1100499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Experimental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Sample: LPS powder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Raman measurements performed under multiple acquisition settings: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Different integration times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Different laser powers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Different accumulations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Best experimental condition selected based on signal quality and reproducibility.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Optimized Condition Chosen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60 s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20% laser power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30 accumulations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Computational Workflow</a:t>
            </a:r>
          </a:p>
          <a:p>
            <a:pPr>
              <a:buNone/>
            </a:pPr>
            <a:r>
              <a:rPr lang="en-IN" dirty="0"/>
              <a:t>Representative fragments selected: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KDO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Heptose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D-Glucosamine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Myristic Acid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Phosphoric Acid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5EAD8-491E-5366-84A2-7E93955F9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5885644" y="3097567"/>
            <a:ext cx="4904471" cy="3444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BC2BF-86E3-3926-E0A3-747CFD5E8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101" y="441999"/>
            <a:ext cx="3110446" cy="154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94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2F0D3-8C07-54D5-1E1A-37AE7CE9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481709-A9EA-FE59-6D7E-59857905628B}"/>
              </a:ext>
            </a:extLst>
          </p:cNvPr>
          <p:cNvSpPr txBox="1"/>
          <p:nvPr/>
        </p:nvSpPr>
        <p:spPr>
          <a:xfrm>
            <a:off x="497447" y="355783"/>
            <a:ext cx="60949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Simulation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Geometry optimization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Frequency + Raman calculations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DFT using B3LYP / 6-31G(d) </a:t>
            </a:r>
          </a:p>
          <a:p>
            <a:pPr>
              <a:buNone/>
            </a:pPr>
            <a:r>
              <a:rPr lang="en-IN" b="1" dirty="0"/>
              <a:t>Data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Interpolation to common Raman grid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Normalization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Composite model generation: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Equal-weight model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NNLS optimized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98F52-9897-4578-2222-095C37CF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171" y="252752"/>
            <a:ext cx="4608463" cy="4990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BA91C0-DC89-A606-043C-14BE0611C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32" y="3845729"/>
            <a:ext cx="5202634" cy="257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94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169A8-2B9C-1284-96C6-B665B642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8A38535-20E7-62F0-25C7-7B8200E6D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403" y="253722"/>
            <a:ext cx="3808911" cy="19490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A4889D-83A5-50EB-5331-55FA48F64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65" y="148188"/>
            <a:ext cx="3627653" cy="18563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836540-F505-F531-31E6-4EB8B5FA7C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871" y="2500838"/>
            <a:ext cx="3808911" cy="19490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B5B5876-1352-6541-6044-950C90CEBC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64" y="2500838"/>
            <a:ext cx="3627653" cy="18563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A884416-E6B7-38E2-7748-7F35888BDE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65" y="4853489"/>
            <a:ext cx="3490686" cy="1786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034D721-D5B2-2C91-973A-220A3ADDF5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871" y="4531251"/>
            <a:ext cx="3756443" cy="230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445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7127C-A7B3-142D-3ED8-B82472A0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CE2241-8D94-8C17-3D7F-4339FEF53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00" y="760089"/>
            <a:ext cx="10796799" cy="533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66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AC516-96CE-53B4-8D81-28A48FB5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45673-1459-3B1B-395B-3C68783CA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608" y="852250"/>
            <a:ext cx="8295139" cy="496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1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Microsoft Office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subash P</dc:creator>
  <cp:lastModifiedBy>subash P</cp:lastModifiedBy>
  <cp:revision>1</cp:revision>
  <dcterms:created xsi:type="dcterms:W3CDTF">2026-04-17T13:02:05Z</dcterms:created>
  <dcterms:modified xsi:type="dcterms:W3CDTF">2026-04-17T13:02:19Z</dcterms:modified>
</cp:coreProperties>
</file>