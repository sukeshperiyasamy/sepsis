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74" r:id="rId4"/>
    <p:sldId id="269" r:id="rId5"/>
    <p:sldId id="272" r:id="rId6"/>
    <p:sldId id="271" r:id="rId7"/>
    <p:sldId id="273" r:id="rId8"/>
    <p:sldId id="284" r:id="rId9"/>
    <p:sldId id="286" r:id="rId10"/>
    <p:sldId id="285" r:id="rId11"/>
    <p:sldId id="288" r:id="rId12"/>
    <p:sldId id="287" r:id="rId13"/>
    <p:sldId id="276" r:id="rId14"/>
    <p:sldId id="277" r:id="rId15"/>
    <p:sldId id="275" r:id="rId16"/>
    <p:sldId id="278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95" y="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1DA6D-E5C7-FCA4-F211-7D0667F63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0DB81-EA7E-8781-D65A-B2FB29731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4AB2-5F5D-1153-1F87-01F09A32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32BF3-E049-4271-8C85-FA731B4F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7FB4D-62A4-784A-A42C-6B123D09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4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D21C-E75A-AB8A-8124-9E164D75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0398-4E28-0B33-764D-27B5EC68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43EFB-0FFE-4B4D-19A6-2D5415B0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34C02-C269-BBF5-7137-670782B2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06868-A181-DF8F-A702-92A077AB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8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ACAF-6BC4-EDCD-2D3F-89ADEF1A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5E932-2C9F-26FF-A63D-17AA056DE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E6364-ED21-5C8A-AF83-638941BC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B1DC-2300-7001-3982-A7850F20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F9B84-0FEA-3482-E9D0-035E312B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7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0667-3B52-6AD9-4A82-7713C0E8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5C88C-F240-2524-F98C-2D979647B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0D67C-687F-1F23-965E-8F22E45AD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B0744-1412-E323-7900-854401BB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593D9-05FD-9C1C-C652-A8DBB92E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47DC7-6697-88E3-66CF-1555C572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75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E6AF-32B7-D965-427D-C75993BE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BF7CE-66BF-8681-B9E5-5E79908A9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E9B52-3F3D-B312-985C-409CF0906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9AD20-05E2-0E0B-F528-411D4258D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FF1E2-DB81-169D-EB78-203DC3097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53EB5-C3AA-DBCA-4F9E-8D7B1682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37257-195D-615D-7113-6A7E1413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568EAA-D6F8-9467-60DC-8F17989F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8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A9CC-C6B4-3CDE-71D8-40E87FD5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33CEE-5674-38C1-4F54-CFA46331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C503E-C810-E3DF-660B-D988E0F1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CB86C-5343-3187-62C0-0E7D63BF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20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E304A-4728-320B-7AC4-73147BD7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48663-FCC1-DF8F-3816-7FA270F9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F2397-80EF-187D-22DC-C661277C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09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3E58-95D8-466B-B809-8648506C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92348-7D5C-698C-C861-82EF8713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50399-7726-F574-2EF0-3C6C81912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58C84-7598-7147-AD22-89D2D105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EE2AE-0C5E-32EE-487E-BDD48051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EE089-7275-E149-C96F-17A2A812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42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12D4-DCF6-5DE7-FFFF-29808573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1A5C5-29B0-0F6A-FA6F-A3CCAA69E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D50CC-4CED-7755-D7A3-151428296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0015C-3AB3-F53C-3F3D-60E6D59B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FA5A3-3899-E0CA-A0F7-8CB2A26D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2262E-A5AE-A326-9664-5619CD64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68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0657-ABA8-7AE4-15F6-D65D4189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EE354-8385-4345-92F4-B61DB6C1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F9AA-D043-2E40-642B-7EDA2255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A4E1-7B2F-C0EB-451C-3AFDDA9B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917F-2D64-EE3A-D77E-FED1A1BA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72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A1103-8D52-0E3B-497F-153714531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DB4F0-2989-5A56-4A8F-82678C539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B6EC8-049F-7E85-2435-42C30C674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FAA56-688E-BE15-6565-DB6BF2F6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1B400-72B8-D94C-9C8F-84EC818D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C7C0F-430E-ED9C-D962-46E5A70C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B2E66-9AB9-E548-690D-BD7164A2D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A6BD8-B925-B247-8BF3-1FE3C1C89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0AE2A-FAE8-43C8-A7B8-459C41D9304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2CDD4-7750-A4A1-499A-725715907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D61B-23DE-4DFC-51B9-0A575510E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9FA8F-D66D-44DB-BE3C-3A15265AA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93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87E2EA-839B-22A2-B57C-CB16B648AAD6}"/>
              </a:ext>
            </a:extLst>
          </p:cNvPr>
          <p:cNvSpPr txBox="1"/>
          <p:nvPr/>
        </p:nvSpPr>
        <p:spPr>
          <a:xfrm>
            <a:off x="400856" y="355964"/>
            <a:ext cx="10552626" cy="261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/>
              <a:t>The backbone is composed of repeating units: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highlight>
                  <a:srgbClr val="808080"/>
                </a:highlight>
              </a:rPr>
              <a:t>glycerol – phosphate – glycerol – phosphate</a:t>
            </a: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1800" dirty="0"/>
              <a:t>Typical LTA molecules contain </a:t>
            </a:r>
            <a:r>
              <a:rPr lang="en-US" sz="1800" b="1" dirty="0"/>
              <a:t>10–20 repeating glycerol–phosphate units</a:t>
            </a:r>
            <a:r>
              <a:rPr lang="en-US" sz="1800" dirty="0"/>
              <a:t>, producing large polymers with hundreds of atoms.</a:t>
            </a: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1800" dirty="0"/>
              <a:t>Because the full polymer is </a:t>
            </a:r>
            <a:r>
              <a:rPr lang="en-US" sz="1800" b="1" dirty="0"/>
              <a:t>computationally expensive for quantum simulations</a:t>
            </a:r>
            <a:r>
              <a:rPr lang="en-US" sz="1800" dirty="0"/>
              <a:t>, smaller molecular fragments are often used to represent the </a:t>
            </a:r>
            <a:r>
              <a:rPr lang="en-US" sz="1800" b="1" dirty="0"/>
              <a:t>local chemical environment responsible for Raman-active vibrations</a:t>
            </a:r>
            <a:r>
              <a:rPr lang="en-US" sz="1800" dirty="0"/>
              <a:t>.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71B26-1FE1-FE2B-2B60-27AD24F0EBC0}"/>
              </a:ext>
            </a:extLst>
          </p:cNvPr>
          <p:cNvSpPr txBox="1"/>
          <p:nvPr/>
        </p:nvSpPr>
        <p:spPr>
          <a:xfrm>
            <a:off x="898839" y="3175143"/>
            <a:ext cx="9556660" cy="32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General structure: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/>
              <a:t>Lipid anchor – (Gro–P)ₙ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where: Gro = glycerol</a:t>
            </a:r>
            <a:br>
              <a:rPr lang="en-GB" sz="1800" dirty="0"/>
            </a:br>
            <a:r>
              <a:rPr lang="en-GB" sz="1800" dirty="0"/>
              <a:t>              P = phosphate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LTA contributes to: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bacterial adhesion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cell wall maintenance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GB" sz="1800" dirty="0"/>
              <a:t>activation of host immune responses through receptors such as </a:t>
            </a:r>
            <a:r>
              <a:rPr lang="en-GB" sz="1800" b="1" dirty="0"/>
              <a:t>Toll-like receptor 2</a:t>
            </a:r>
          </a:p>
        </p:txBody>
      </p:sp>
      <p:pic>
        <p:nvPicPr>
          <p:cNvPr id="8" name="Google Shape;284;p35">
            <a:extLst>
              <a:ext uri="{FF2B5EF4-FFF2-40B4-BE49-F238E27FC236}">
                <a16:creationId xmlns:a16="http://schemas.microsoft.com/office/drawing/2014/main" id="{3DE44207-9079-F61B-457B-FB32FB3A03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67973" y="2818085"/>
            <a:ext cx="6125188" cy="2671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76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0C10D-1730-95B6-3D0B-002F351E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32;p41">
            <a:extLst>
              <a:ext uri="{FF2B5EF4-FFF2-40B4-BE49-F238E27FC236}">
                <a16:creationId xmlns:a16="http://schemas.microsoft.com/office/drawing/2014/main" id="{2F97C6C0-86B7-DB05-E205-EBB3FD11027C}"/>
              </a:ext>
            </a:extLst>
          </p:cNvPr>
          <p:cNvSpPr txBox="1"/>
          <p:nvPr/>
        </p:nvSpPr>
        <p:spPr>
          <a:xfrm>
            <a:off x="324570" y="57781"/>
            <a:ext cx="110994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2400" b="1" dirty="0" err="1">
                <a:solidFill>
                  <a:srgbClr val="00B0F0"/>
                </a:solidFill>
              </a:rPr>
              <a:t>Modeling</a:t>
            </a:r>
            <a:r>
              <a:rPr lang="en-GB" sz="2400" b="1" dirty="0">
                <a:solidFill>
                  <a:srgbClr val="00B0F0"/>
                </a:solidFill>
              </a:rPr>
              <a:t> the LTA Substituent: D-Alanine</a:t>
            </a:r>
            <a:endParaRPr sz="24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DE0B2-70D8-4580-B956-8F700EE42BD0}"/>
              </a:ext>
            </a:extLst>
          </p:cNvPr>
          <p:cNvSpPr txBox="1"/>
          <p:nvPr/>
        </p:nvSpPr>
        <p:spPr>
          <a:xfrm>
            <a:off x="324570" y="1064399"/>
            <a:ext cx="1901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Why D-Alanine?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B0390-CE87-31CF-E39B-056F78302DB9}"/>
              </a:ext>
            </a:extLst>
          </p:cNvPr>
          <p:cNvSpPr txBox="1"/>
          <p:nvPr/>
        </p:nvSpPr>
        <p:spPr>
          <a:xfrm>
            <a:off x="1291489" y="1461007"/>
            <a:ext cx="523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• Represents </a:t>
            </a:r>
            <a:r>
              <a:rPr lang="en-IN" sz="1800" b="1" dirty="0"/>
              <a:t>amino substituent in LTA</a:t>
            </a:r>
            <a:br>
              <a:rPr lang="en-IN" sz="1800" dirty="0"/>
            </a:br>
            <a:r>
              <a:rPr lang="en-IN" sz="1800" dirty="0"/>
              <a:t>• Responsible for </a:t>
            </a:r>
            <a:r>
              <a:rPr lang="en-IN" sz="1800" b="1" dirty="0"/>
              <a:t>surface charge regulation</a:t>
            </a:r>
            <a:br>
              <a:rPr lang="en-IN" sz="1800" dirty="0"/>
            </a:br>
            <a:r>
              <a:rPr lang="en-IN" sz="1800" dirty="0"/>
              <a:t>• Important for </a:t>
            </a:r>
            <a:r>
              <a:rPr lang="en-IN" sz="1800" b="1" dirty="0"/>
              <a:t>Gram-positive bacterial identification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187C6A-F905-3E04-95D7-0355AC4B85E6}"/>
              </a:ext>
            </a:extLst>
          </p:cNvPr>
          <p:cNvSpPr txBox="1"/>
          <p:nvPr/>
        </p:nvSpPr>
        <p:spPr>
          <a:xfrm>
            <a:off x="324570" y="2703924"/>
            <a:ext cx="2872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Molecular Characteristics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6A210-5246-0C94-0F45-946DED2935EE}"/>
              </a:ext>
            </a:extLst>
          </p:cNvPr>
          <p:cNvSpPr txBox="1"/>
          <p:nvPr/>
        </p:nvSpPr>
        <p:spPr>
          <a:xfrm>
            <a:off x="1291489" y="3178196"/>
            <a:ext cx="5203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Exists in </a:t>
            </a:r>
            <a:r>
              <a:rPr lang="en-IN" sz="1800" b="1" dirty="0"/>
              <a:t>zwitterionic form</a:t>
            </a:r>
            <a:r>
              <a:rPr lang="en-IN" sz="1800" dirty="0"/>
              <a:t>: NH₃⁺ – COO⁻</a:t>
            </a:r>
            <a:br>
              <a:rPr lang="en-IN" sz="1800" dirty="0"/>
            </a:br>
            <a:r>
              <a:rPr lang="en-IN" sz="1800" dirty="0"/>
              <a:t>• Contains:</a:t>
            </a:r>
          </a:p>
          <a:p>
            <a:pPr lvl="4"/>
            <a:r>
              <a:rPr lang="en-IN" sz="1800" dirty="0"/>
              <a:t>	Amino group </a:t>
            </a:r>
          </a:p>
          <a:p>
            <a:pPr lvl="4"/>
            <a:r>
              <a:rPr lang="en-IN" sz="1800" dirty="0"/>
              <a:t>	Carboxylate group </a:t>
            </a:r>
          </a:p>
          <a:p>
            <a:pPr lvl="4"/>
            <a:r>
              <a:rPr lang="en-IN" sz="1800" dirty="0"/>
              <a:t>	Methyl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3550C-7590-BC72-5549-5FBA0E2554C5}"/>
              </a:ext>
            </a:extLst>
          </p:cNvPr>
          <p:cNvSpPr txBox="1"/>
          <p:nvPr/>
        </p:nvSpPr>
        <p:spPr>
          <a:xfrm>
            <a:off x="324570" y="4780962"/>
            <a:ext cx="2703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DFT Simulation Method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9AAFA-DCF4-5D55-BEF6-0ADAD3750FF0}"/>
              </a:ext>
            </a:extLst>
          </p:cNvPr>
          <p:cNvSpPr txBox="1"/>
          <p:nvPr/>
        </p:nvSpPr>
        <p:spPr>
          <a:xfrm>
            <a:off x="1297892" y="5256132"/>
            <a:ext cx="4469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Geometry optimization + Raman calculation</a:t>
            </a:r>
            <a:br>
              <a:rPr lang="en-GB" sz="1800" dirty="0"/>
            </a:br>
            <a:r>
              <a:rPr lang="en-GB" sz="1800" dirty="0"/>
              <a:t>• Functional: B3LYP</a:t>
            </a:r>
            <a:br>
              <a:rPr lang="en-GB" sz="1800" dirty="0"/>
            </a:br>
            <a:r>
              <a:rPr lang="en-GB" sz="1800" dirty="0"/>
              <a:t>• Basis set: 6-31G(d)</a:t>
            </a:r>
            <a:br>
              <a:rPr lang="en-GB" sz="1800" dirty="0"/>
            </a:br>
            <a:r>
              <a:rPr lang="en-GB" sz="1800" dirty="0"/>
              <a:t>• Solvent: SMD (water)</a:t>
            </a:r>
            <a:endParaRPr lang="en-IN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FB0535-6839-24F0-5B18-62A211F5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250" y="2981267"/>
            <a:ext cx="6294365" cy="32568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27E853-A5B6-2047-646D-7CBB1581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57" y="378689"/>
            <a:ext cx="2151552" cy="21515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888D59-AF90-FBC0-A14A-9F35ADE96858}"/>
              </a:ext>
            </a:extLst>
          </p:cNvPr>
          <p:cNvSpPr txBox="1"/>
          <p:nvPr/>
        </p:nvSpPr>
        <p:spPr>
          <a:xfrm>
            <a:off x="9145346" y="2673490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2D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22A31-1DCE-3582-DAD8-82FFC2FF413F}"/>
              </a:ext>
            </a:extLst>
          </p:cNvPr>
          <p:cNvSpPr txBox="1"/>
          <p:nvPr/>
        </p:nvSpPr>
        <p:spPr>
          <a:xfrm>
            <a:off x="9145346" y="5962534"/>
            <a:ext cx="147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3D Structure</a:t>
            </a:r>
          </a:p>
        </p:txBody>
      </p:sp>
    </p:spTree>
    <p:extLst>
      <p:ext uri="{BB962C8B-B14F-4D97-AF65-F5344CB8AC3E}">
        <p14:creationId xmlns:p14="http://schemas.microsoft.com/office/powerpoint/2010/main" val="299249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67E4-0603-B796-6DA9-0AA2186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2;p41">
            <a:extLst>
              <a:ext uri="{FF2B5EF4-FFF2-40B4-BE49-F238E27FC236}">
                <a16:creationId xmlns:a16="http://schemas.microsoft.com/office/drawing/2014/main" id="{61F9E9AF-D7F1-1E31-7B98-8272EE6152D4}"/>
              </a:ext>
            </a:extLst>
          </p:cNvPr>
          <p:cNvSpPr txBox="1"/>
          <p:nvPr/>
        </p:nvSpPr>
        <p:spPr>
          <a:xfrm>
            <a:off x="324570" y="57781"/>
            <a:ext cx="110994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2400" b="1" dirty="0" err="1">
                <a:solidFill>
                  <a:srgbClr val="00B0F0"/>
                </a:solidFill>
              </a:rPr>
              <a:t>Modeling</a:t>
            </a:r>
            <a:r>
              <a:rPr lang="en-GB" sz="2400" b="1" dirty="0">
                <a:solidFill>
                  <a:srgbClr val="00B0F0"/>
                </a:solidFill>
              </a:rPr>
              <a:t> the LTA Substituent: </a:t>
            </a:r>
            <a:r>
              <a:rPr lang="en-GB" sz="2400" b="1" dirty="0" err="1">
                <a:solidFill>
                  <a:srgbClr val="00B0F0"/>
                </a:solidFill>
              </a:rPr>
              <a:t>GlcNAc</a:t>
            </a:r>
            <a:endParaRPr sz="24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1A28D-527B-5AAC-7FB6-E25F651A3E98}"/>
              </a:ext>
            </a:extLst>
          </p:cNvPr>
          <p:cNvSpPr txBox="1"/>
          <p:nvPr/>
        </p:nvSpPr>
        <p:spPr>
          <a:xfrm>
            <a:off x="324570" y="1064399"/>
            <a:ext cx="161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Why </a:t>
            </a:r>
            <a:r>
              <a:rPr lang="en-IN" sz="2000" b="1" dirty="0" err="1"/>
              <a:t>GlcNAc</a:t>
            </a:r>
            <a:r>
              <a:rPr lang="en-IN" sz="2000" b="1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2C702-FF66-A329-D914-DAC4F4379CE7}"/>
              </a:ext>
            </a:extLst>
          </p:cNvPr>
          <p:cNvSpPr txBox="1"/>
          <p:nvPr/>
        </p:nvSpPr>
        <p:spPr>
          <a:xfrm>
            <a:off x="1291489" y="1461007"/>
            <a:ext cx="4421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Represents </a:t>
            </a:r>
            <a:r>
              <a:rPr lang="en-GB" sz="1800" b="1" dirty="0"/>
              <a:t>carbohydrate component</a:t>
            </a:r>
            <a:br>
              <a:rPr lang="en-GB" sz="1800" dirty="0"/>
            </a:br>
            <a:r>
              <a:rPr lang="en-GB" sz="1800" dirty="0"/>
              <a:t>• Present in </a:t>
            </a:r>
            <a:r>
              <a:rPr lang="en-GB" sz="1800" b="1" dirty="0"/>
              <a:t>bacterial cell wall structures</a:t>
            </a:r>
            <a:br>
              <a:rPr lang="en-GB" sz="1800" dirty="0"/>
            </a:br>
            <a:r>
              <a:rPr lang="en-GB" sz="1800" dirty="0"/>
              <a:t>• Provides strong </a:t>
            </a:r>
            <a:r>
              <a:rPr lang="en-GB" sz="1800" b="1" dirty="0"/>
              <a:t>Raman-active sugar signals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FF994-0A86-BF23-7ADF-6874B3F34F74}"/>
              </a:ext>
            </a:extLst>
          </p:cNvPr>
          <p:cNvSpPr txBox="1"/>
          <p:nvPr/>
        </p:nvSpPr>
        <p:spPr>
          <a:xfrm>
            <a:off x="324570" y="2703924"/>
            <a:ext cx="2872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Molecular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05B7A-935C-784D-D1F9-22BDAB0833B1}"/>
              </a:ext>
            </a:extLst>
          </p:cNvPr>
          <p:cNvSpPr txBox="1"/>
          <p:nvPr/>
        </p:nvSpPr>
        <p:spPr>
          <a:xfrm>
            <a:off x="1291489" y="3178196"/>
            <a:ext cx="5203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Pyranose ring structure</a:t>
            </a:r>
            <a:br>
              <a:rPr lang="en-IN" sz="1800" dirty="0"/>
            </a:br>
            <a:r>
              <a:rPr lang="en-IN" sz="1800" dirty="0"/>
              <a:t>• Contains:</a:t>
            </a:r>
          </a:p>
          <a:p>
            <a:pPr lvl="3"/>
            <a:r>
              <a:rPr lang="en-IN" sz="1800" dirty="0"/>
              <a:t>	Multiple hydroxyl groups (–OH) </a:t>
            </a:r>
          </a:p>
          <a:p>
            <a:pPr lvl="3"/>
            <a:r>
              <a:rPr lang="en-IN" sz="1800" dirty="0"/>
              <a:t>	Acetamide group (–</a:t>
            </a:r>
            <a:r>
              <a:rPr lang="en-IN" sz="1800" dirty="0" err="1"/>
              <a:t>NHCO</a:t>
            </a:r>
            <a:r>
              <a:rPr lang="en-IN" sz="1800" dirty="0"/>
              <a:t>–) </a:t>
            </a:r>
          </a:p>
          <a:p>
            <a:pPr lvl="3"/>
            <a:r>
              <a:rPr lang="en-IN" sz="1800" dirty="0"/>
              <a:t>	C–O–C linkages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9EBA4-F29C-ADC2-3232-9728E16AFC82}"/>
              </a:ext>
            </a:extLst>
          </p:cNvPr>
          <p:cNvSpPr txBox="1"/>
          <p:nvPr/>
        </p:nvSpPr>
        <p:spPr>
          <a:xfrm>
            <a:off x="324570" y="4780962"/>
            <a:ext cx="2703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DFT Simulation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080DC-F164-AAF8-3300-07D9A6FEEBCC}"/>
              </a:ext>
            </a:extLst>
          </p:cNvPr>
          <p:cNvSpPr txBox="1"/>
          <p:nvPr/>
        </p:nvSpPr>
        <p:spPr>
          <a:xfrm>
            <a:off x="1297892" y="5256132"/>
            <a:ext cx="4469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/>
              <a:t>• Geometry optimization + Raman calculation</a:t>
            </a:r>
            <a:br>
              <a:rPr lang="en-GB" sz="1800" dirty="0"/>
            </a:br>
            <a:r>
              <a:rPr lang="en-GB" sz="1800" dirty="0"/>
              <a:t>• Functional: B3LYP</a:t>
            </a:r>
            <a:br>
              <a:rPr lang="en-GB" sz="1800" dirty="0"/>
            </a:br>
            <a:r>
              <a:rPr lang="en-GB" sz="1800" dirty="0"/>
              <a:t>• Basis set: 6-31G(d)</a:t>
            </a:r>
            <a:br>
              <a:rPr lang="en-GB" sz="1800" dirty="0"/>
            </a:br>
            <a:r>
              <a:rPr lang="en-GB" sz="1800" dirty="0"/>
              <a:t>• Solvent: SMD (water)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9F8F31-25C9-5562-1C8C-7092B89C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941" y="455792"/>
            <a:ext cx="2321201" cy="2321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A99667-1223-4055-45A5-2CDF42410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430" y="3652279"/>
            <a:ext cx="5305425" cy="2657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0ADE9-A428-5D2E-613A-3B4DDB79FBD9}"/>
              </a:ext>
            </a:extLst>
          </p:cNvPr>
          <p:cNvSpPr txBox="1"/>
          <p:nvPr/>
        </p:nvSpPr>
        <p:spPr>
          <a:xfrm>
            <a:off x="9150755" y="5856296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3D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D3B64-AE6A-4A4F-9B2A-173CCE81B159}"/>
              </a:ext>
            </a:extLst>
          </p:cNvPr>
          <p:cNvSpPr txBox="1"/>
          <p:nvPr/>
        </p:nvSpPr>
        <p:spPr>
          <a:xfrm>
            <a:off x="8998355" y="3013880"/>
            <a:ext cx="13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2D Structure</a:t>
            </a:r>
          </a:p>
        </p:txBody>
      </p:sp>
    </p:spTree>
    <p:extLst>
      <p:ext uri="{BB962C8B-B14F-4D97-AF65-F5344CB8AC3E}">
        <p14:creationId xmlns:p14="http://schemas.microsoft.com/office/powerpoint/2010/main" val="1116467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C993-C12F-AAD6-8429-6E2DE24E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272786-DD77-A72C-843B-060612D83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4"/>
          <a:stretch>
            <a:fillRect/>
          </a:stretch>
        </p:blipFill>
        <p:spPr>
          <a:xfrm>
            <a:off x="218404" y="212502"/>
            <a:ext cx="5285704" cy="4720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D9D16C-15A4-D0DC-D60A-3602939EA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664" y="4681746"/>
            <a:ext cx="5890090" cy="19248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3110CD-C12C-722B-3BF5-3F7FE686B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50" y="1141825"/>
            <a:ext cx="5449125" cy="2694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798BCD3C-B5AF-12B4-8ED7-2FF7ABB96710}"/>
              </a:ext>
            </a:extLst>
          </p:cNvPr>
          <p:cNvSpPr/>
          <p:nvPr/>
        </p:nvSpPr>
        <p:spPr>
          <a:xfrm>
            <a:off x="5579847" y="1851340"/>
            <a:ext cx="761464" cy="72121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B546ECA-6D15-BD59-4676-6BEA35FBB68B}"/>
              </a:ext>
            </a:extLst>
          </p:cNvPr>
          <p:cNvSpPr/>
          <p:nvPr/>
        </p:nvSpPr>
        <p:spPr>
          <a:xfrm>
            <a:off x="8635285" y="3902299"/>
            <a:ext cx="972354" cy="66326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1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3F4B-EF49-3385-F73B-3AF915E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16418A-ED5D-6D25-85E3-6AAA23752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61" y="3367824"/>
            <a:ext cx="6746183" cy="3335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435DD-4BC2-6AA4-D080-BF259AC8A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7" y="65518"/>
            <a:ext cx="5009772" cy="297189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13F6FD6-215F-A639-4869-04A6B96C2842}"/>
              </a:ext>
            </a:extLst>
          </p:cNvPr>
          <p:cNvSpPr/>
          <p:nvPr/>
        </p:nvSpPr>
        <p:spPr>
          <a:xfrm>
            <a:off x="5566489" y="1396920"/>
            <a:ext cx="1059022" cy="7924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4018308A-C09F-67BE-0AB9-381C43356E1A}"/>
              </a:ext>
            </a:extLst>
          </p:cNvPr>
          <p:cNvSpPr/>
          <p:nvPr/>
        </p:nvSpPr>
        <p:spPr>
          <a:xfrm rot="10800000">
            <a:off x="7117187" y="3488179"/>
            <a:ext cx="2633729" cy="1266175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863238-4C96-ECE1-988F-E9A615D00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98" y="443747"/>
            <a:ext cx="4845685" cy="28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2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4A7B-EDAD-B0A2-9A09-22B36125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322AC8-54B5-A1BD-F5EA-CEB39F824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166" y="1949684"/>
            <a:ext cx="5912481" cy="2609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ACF39-31A9-9646-F1F5-86CA690F8A59}"/>
              </a:ext>
            </a:extLst>
          </p:cNvPr>
          <p:cNvSpPr txBox="1"/>
          <p:nvPr/>
        </p:nvSpPr>
        <p:spPr>
          <a:xfrm>
            <a:off x="201234" y="252075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Findings on Lipoteichoic Acid (LTA) with Research Evidence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3585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3009-3D69-D36F-C5C0-421114CD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47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E71A-44E7-3E9D-EAAA-6FFBD77C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14305-4420-E770-93A9-16662B66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58" y="410033"/>
            <a:ext cx="6386969" cy="3653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B75E2-D374-8AE6-F04B-2A45D546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58" y="3761937"/>
            <a:ext cx="7728328" cy="27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8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6F52-6C79-1D08-BE59-30E6C1E8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4AC24-6B41-A2FA-6A09-12DB329A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4" y="663262"/>
            <a:ext cx="5082140" cy="5531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A8056-479F-1701-7253-C7090911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30"/>
          <a:stretch>
            <a:fillRect/>
          </a:stretch>
        </p:blipFill>
        <p:spPr>
          <a:xfrm>
            <a:off x="5106473" y="1803042"/>
            <a:ext cx="1384905" cy="42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1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1212-A0CF-DBE4-B65A-D9938216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7CD5C9-D768-3861-0249-85AA8740B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0" y="554734"/>
            <a:ext cx="6520154" cy="40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7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CA751-8E34-2429-46AB-70D3877D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088A4-4584-916B-9E79-DA607BF3C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63" b="9677"/>
          <a:stretch>
            <a:fillRect/>
          </a:stretch>
        </p:blipFill>
        <p:spPr>
          <a:xfrm>
            <a:off x="185193" y="1300766"/>
            <a:ext cx="11821613" cy="536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32BF-1672-3DAF-7773-78174D15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9C7C6-E9A1-2B2C-CA96-D2DE5A11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7" y="1339403"/>
            <a:ext cx="11771214" cy="534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3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98E5-0013-F9F3-13D5-C12832DE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0F93E-E288-CEFD-3D33-B5CA6482EECD}"/>
              </a:ext>
            </a:extLst>
          </p:cNvPr>
          <p:cNvSpPr txBox="1"/>
          <p:nvPr/>
        </p:nvSpPr>
        <p:spPr>
          <a:xfrm>
            <a:off x="1010991" y="1079652"/>
            <a:ext cx="96655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Lipopolysaccharide (LPS) is a major component of Gram-negative bacterial outer membranes.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is strongly associated with inflammation, endotoxemia, and sepsis.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Rapid identification of LPS-related spectral fingerprints can support diagnostic research.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Raman spectroscopy provides label-free molecular fingerprinting. </a:t>
            </a:r>
          </a:p>
          <a:p>
            <a:pPr>
              <a:buNone/>
            </a:pPr>
            <a:r>
              <a:rPr lang="en-GB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Full LPS is structurally large and complex.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Direct spectral interpretation is difficult due to overlapping bands and multiple functional groups. </a:t>
            </a:r>
          </a:p>
          <a:p>
            <a:pPr>
              <a:buNone/>
            </a:pPr>
            <a:r>
              <a:rPr lang="en-GB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Acquire Raman spectra of LPS powder under optimized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fragment-based computational models representing major LPS substructures.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Compare simulated and experimental spectra.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Identify dominant contributors and characteristic Raman bands. </a:t>
            </a:r>
          </a:p>
        </p:txBody>
      </p:sp>
    </p:spTree>
    <p:extLst>
      <p:ext uri="{BB962C8B-B14F-4D97-AF65-F5344CB8AC3E}">
        <p14:creationId xmlns:p14="http://schemas.microsoft.com/office/powerpoint/2010/main" val="218932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3086-4484-3264-BB39-72427110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E9382-8633-7322-EB8F-290FFC76A449}"/>
              </a:ext>
            </a:extLst>
          </p:cNvPr>
          <p:cNvSpPr txBox="1"/>
          <p:nvPr/>
        </p:nvSpPr>
        <p:spPr>
          <a:xfrm>
            <a:off x="676141" y="612845"/>
            <a:ext cx="110049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Experimental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Sample: LPS powder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Raman measurements performed under multiple acquisition settings: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integration times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laser powers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accumulations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Best experimental condition selected based on signal quality and reproducibility.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Optimized Condition Chosen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60 s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20% laser power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30 accumulations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Computational Workflow</a:t>
            </a:r>
          </a:p>
          <a:p>
            <a:pPr>
              <a:buNone/>
            </a:pPr>
            <a:r>
              <a:rPr lang="en-IN" dirty="0"/>
              <a:t>Representative fragments selected: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KDO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Heptose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D-Glucosamine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Myristic Acid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Phosphoric Acid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5EAD8-491E-5366-84A2-7E93955F9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5885644" y="3097567"/>
            <a:ext cx="4904471" cy="3444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BC2BF-86E3-3926-E0A3-747CFD5E8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01" y="441999"/>
            <a:ext cx="3110446" cy="15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94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F0D3-8C07-54D5-1E1A-37AE7CE9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481709-A9EA-FE59-6D7E-59857905628B}"/>
              </a:ext>
            </a:extLst>
          </p:cNvPr>
          <p:cNvSpPr txBox="1"/>
          <p:nvPr/>
        </p:nvSpPr>
        <p:spPr>
          <a:xfrm>
            <a:off x="497447" y="355783"/>
            <a:ext cx="60949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Simulation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Geometry optimization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Frequency + Raman calculations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DFT using B3LYP / 6-31G(d) </a:t>
            </a:r>
          </a:p>
          <a:p>
            <a:pPr>
              <a:buNone/>
            </a:pPr>
            <a:r>
              <a:rPr lang="en-IN" b="1" dirty="0"/>
              <a:t>Data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Interpolation to common Raman grid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Normalization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Composite model generation: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Equal-weight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NNLS optimized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98F52-9897-4578-2222-095C37CF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171" y="252752"/>
            <a:ext cx="4608463" cy="4990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A91C0-DC89-A606-043C-14BE0611C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32" y="3845729"/>
            <a:ext cx="5202634" cy="257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94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69A8-2B9C-1284-96C6-B665B642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8A38535-20E7-62F0-25C7-7B8200E6D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03" y="253722"/>
            <a:ext cx="3808911" cy="19490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A4889D-83A5-50EB-5331-55FA48F64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5" y="148188"/>
            <a:ext cx="3627653" cy="18563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836540-F505-F531-31E6-4EB8B5FA7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71" y="2500838"/>
            <a:ext cx="3808911" cy="19490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5B5876-1352-6541-6044-950C90CEBC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4" y="2500838"/>
            <a:ext cx="3627653" cy="18563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884416-E6B7-38E2-7748-7F35888BD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65" y="4853489"/>
            <a:ext cx="3490686" cy="1786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034D721-D5B2-2C91-973A-220A3ADDF5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71" y="4531251"/>
            <a:ext cx="3756443" cy="230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4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7127C-A7B3-142D-3ED8-B82472A0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E2241-8D94-8C17-3D7F-4339FEF53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0" y="760089"/>
            <a:ext cx="10796799" cy="533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6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C516-96CE-53B4-8D81-28A48FB5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45673-1459-3B1B-395B-3C68783CA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608" y="852250"/>
            <a:ext cx="8295139" cy="49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493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P</dc:creator>
  <cp:lastModifiedBy>subash P</cp:lastModifiedBy>
  <cp:revision>2</cp:revision>
  <dcterms:created xsi:type="dcterms:W3CDTF">2026-04-17T12:58:57Z</dcterms:created>
  <dcterms:modified xsi:type="dcterms:W3CDTF">2026-04-18T04:58:36Z</dcterms:modified>
</cp:coreProperties>
</file>