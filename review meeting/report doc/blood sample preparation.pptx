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7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5080-E76B-8DF8-DFC3-C9584BCF9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53CC4-62CE-5586-AFE7-AADB1AB5A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0E119-51EA-4996-680C-46EC3347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8AA3-DEAC-30A9-E8A3-BC42AEA6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B963-3A9A-6B94-5603-6E5D16F3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5841-96C1-3419-8FA6-082FCA86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6EBB8-95FE-633C-E3E4-137005D0D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F02B-9DEC-B9A1-5EC1-D82C7410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24E10-078A-4C37-1FC7-B1E8BB0F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636B2-49E6-8D4F-96A3-7BD47DE1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431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DED6-A4DD-D26B-EB26-F2EBA230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5449A-CBC5-36B8-6702-38E45A1FB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71964-755F-CDB8-D91A-695CFA32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36F28-676D-490B-632E-00CDC1D8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E0893-8D8E-9BE0-EB21-2CA399EF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23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8AD12-8870-38BE-D6D0-DD79A8B8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4CCDA-AA74-2639-29E0-8130CF7D9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66A7D-4AB1-0B49-A322-775F19B01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55835-3035-6A4E-C95C-E61A6045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F5A80-6EC7-7C98-0ABF-C5893F41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2B4D8-B80C-CEAE-13A1-B31DDE7E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490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356A-8931-72C5-EE1E-08A6898D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CBA52-F2FF-F3D1-357F-E6961C5A1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F3B69-F39B-E88F-1C34-2D599A15D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E76DD-C4BF-9922-7881-70BAB11A7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D3005-EBED-86F1-A077-562618CA8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E2E1E6-0F8B-33B1-1904-81DB5FF8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7BB8C-762D-785E-8622-D093C772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043011-E21F-B46B-A06C-F83517D3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18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33E9-1B3B-8400-C900-430816C2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540CF-EC6E-A9FF-DD6E-0FC909C3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AEACA-719A-911A-C394-385D256BD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59D648-8A80-D4B0-449E-3BA4A825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067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86306-D925-D53E-35CB-84B93C9C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CD29C-5C1D-3FAD-FDAB-1FB7767D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DE5A9-AEC8-149E-32D1-72E34A05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8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646C-4BFD-924B-2B38-D42B2E42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DD6B4-C128-8A4C-BDA3-0853B37DE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E7EF0-2F8B-E06F-6160-4CFFC5A83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AE6C0-F949-8E06-19E1-2135539F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E0066-1F6A-788E-A413-713D2442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20C5B-5F3C-60A2-85C9-06F93676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48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900D1-9674-0CB5-2100-EFF4A5F4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80FA4-5EFB-87CC-FD43-3C5ACC56E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5F56E-A571-3D64-1CDA-FBFA3DC64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2AB28-8769-E0A0-FA3C-D625CDBD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C1E85-C699-578D-12CE-EF36AFF61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34885-A968-95D2-3CAD-89054494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53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8C04-B265-F206-5827-677B35E3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4C25C-E70B-4AF5-BBB9-F3BD3B3E4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91735-0B5E-654D-DF41-3D98C2DE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983AC-42DD-EAB3-D436-009745E9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19669-89D3-E9DA-BB60-3FBFABB6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52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E20EFB-6D36-3813-A857-02DCBEF13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F3FD2-AC95-13E3-2E16-A945472D8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691D4-8EBA-92AD-C1B5-7CC3E050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1F89B-D8F6-2E89-2F0A-7C32F87F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3EBD8-CBDA-2EF6-F030-77EDC9D5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998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32EF8F-D92F-24FD-9767-F7651A72E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118F9-18FD-20BF-AD51-8B30ED493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8B5F5-7934-3601-608C-15B4C3650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58A24-13DD-4AE9-B6FA-BBAA218AE4A3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14C0E-DB75-A01A-44DE-CA7AC9CE4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C00B3-0A19-EEE7-579B-B3CF71044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E0AB4-A539-49CA-B845-CE99BA15D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09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27065-330A-7B16-333D-4FF578C4A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273530"/>
            <a:ext cx="10515600" cy="95023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Rapid Extraction of Bacterial Cell-Wall Biomarkers from Human Blood for SERS-Based Sepsis Detection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B5219-1D50-2B7A-9B7D-FFF8633D40DB}"/>
              </a:ext>
            </a:extLst>
          </p:cNvPr>
          <p:cNvSpPr txBox="1"/>
          <p:nvPr/>
        </p:nvSpPr>
        <p:spPr>
          <a:xfrm>
            <a:off x="1229033" y="1223762"/>
            <a:ext cx="6027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Targets: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LPS (Gram-negative marker)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LTA (Gram-positive marker)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NAM (Universal bacterial cell-wall marker)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91303E-38C9-00BE-DE8B-393B27726155}"/>
              </a:ext>
            </a:extLst>
          </p:cNvPr>
          <p:cNvSpPr txBox="1">
            <a:spLocks/>
          </p:cNvSpPr>
          <p:nvPr/>
        </p:nvSpPr>
        <p:spPr>
          <a:xfrm>
            <a:off x="749709" y="2478768"/>
            <a:ext cx="10515600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Clinical Need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7B539E-4BC1-5AD5-245D-5F76A179CF0F}"/>
              </a:ext>
            </a:extLst>
          </p:cNvPr>
          <p:cNvSpPr txBox="1"/>
          <p:nvPr/>
        </p:nvSpPr>
        <p:spPr>
          <a:xfrm>
            <a:off x="1229033" y="2953884"/>
            <a:ext cx="6980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Blood culture requires 12–72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Early sepsis treatment needs faster identification.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Direct biomarker detection from blood can reduce diagnostic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SERS offers rapid and sensitive molecular fingerprinting.</a:t>
            </a:r>
            <a:endParaRPr lang="en-IN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9724CE0-6282-6A91-0017-DF78F887F909}"/>
              </a:ext>
            </a:extLst>
          </p:cNvPr>
          <p:cNvSpPr txBox="1">
            <a:spLocks/>
          </p:cNvSpPr>
          <p:nvPr/>
        </p:nvSpPr>
        <p:spPr>
          <a:xfrm>
            <a:off x="749709" y="4208890"/>
            <a:ext cx="10515600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Project Objective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639542-9A96-EF69-B21D-506606157EB2}"/>
              </a:ext>
            </a:extLst>
          </p:cNvPr>
          <p:cNvSpPr txBox="1"/>
          <p:nvPr/>
        </p:nvSpPr>
        <p:spPr>
          <a:xfrm>
            <a:off x="1229033" y="4668183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To develop a rapid workflow for:</a:t>
            </a:r>
          </a:p>
          <a:p>
            <a:pPr>
              <a:buFont typeface="+mj-lt"/>
              <a:buAutoNum type="arabicPeriod"/>
            </a:pPr>
            <a:r>
              <a:rPr lang="en-GB" dirty="0"/>
              <a:t>Blood sample preprocessing</a:t>
            </a:r>
          </a:p>
          <a:p>
            <a:pPr>
              <a:buFont typeface="+mj-lt"/>
              <a:buAutoNum type="arabicPeriod"/>
            </a:pPr>
            <a:r>
              <a:rPr lang="en-GB" dirty="0"/>
              <a:t>Extraction/enrichment of LPS, LTA and NAM</a:t>
            </a:r>
          </a:p>
          <a:p>
            <a:pPr>
              <a:buFont typeface="+mj-lt"/>
              <a:buAutoNum type="arabicPeriod"/>
            </a:pPr>
            <a:r>
              <a:rPr lang="en-GB" dirty="0"/>
              <a:t>SERS-based detection</a:t>
            </a:r>
          </a:p>
          <a:p>
            <a:pPr>
              <a:buFont typeface="+mj-lt"/>
              <a:buAutoNum type="arabicPeriod"/>
            </a:pPr>
            <a:r>
              <a:rPr lang="en-GB" dirty="0"/>
              <a:t>Future AI-assisted classification</a:t>
            </a:r>
          </a:p>
          <a:p>
            <a:pPr>
              <a:buNone/>
            </a:pPr>
            <a:r>
              <a:rPr lang="en-GB" dirty="0"/>
              <a:t>Target turnaround time: less than 1 hour.</a:t>
            </a:r>
          </a:p>
        </p:txBody>
      </p:sp>
    </p:spTree>
    <p:extLst>
      <p:ext uri="{BB962C8B-B14F-4D97-AF65-F5344CB8AC3E}">
        <p14:creationId xmlns:p14="http://schemas.microsoft.com/office/powerpoint/2010/main" val="1145449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F61E-DC30-CE52-D598-D7B34DD1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C0E45-7825-6B49-A4B2-31FC94C15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04" y="223720"/>
            <a:ext cx="10515600" cy="95023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Overall Workflow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F05BCE8-30AE-A503-5A43-98C500072EC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92968" y="881717"/>
            <a:ext cx="819607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Blood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Plasma separation / RBC 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Debris removal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Target-specific enrichment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cleanup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SERS measurement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64379A-5B1F-ED53-D948-35B7D525FC66}"/>
              </a:ext>
            </a:extLst>
          </p:cNvPr>
          <p:cNvSpPr txBox="1">
            <a:spLocks/>
          </p:cNvSpPr>
          <p:nvPr/>
        </p:nvSpPr>
        <p:spPr>
          <a:xfrm>
            <a:off x="533204" y="3095922"/>
            <a:ext cx="10515600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Blood Collection and Primary Processing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4B32EE-D60E-79ED-F239-0E01FDEA9C97}"/>
              </a:ext>
            </a:extLst>
          </p:cNvPr>
          <p:cNvSpPr txBox="1"/>
          <p:nvPr/>
        </p:nvSpPr>
        <p:spPr>
          <a:xfrm>
            <a:off x="1143196" y="3801886"/>
            <a:ext cx="82385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Sample: 5–10 mL venous blood Preferred tube: K2-EDTA / Heparin (assay dependent)</a:t>
            </a:r>
          </a:p>
          <a:p>
            <a:pPr>
              <a:buNone/>
            </a:pPr>
            <a:endParaRPr lang="en-IN" dirty="0"/>
          </a:p>
          <a:p>
            <a:pPr lvl="1"/>
            <a:r>
              <a:rPr lang="en-IN" dirty="0"/>
              <a:t>Why important: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Prevents clotting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Preserves biomarkers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Minimizes degradation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Pre-analytical conditions affect recovery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Processing time: 5 minutes</a:t>
            </a:r>
          </a:p>
        </p:txBody>
      </p:sp>
    </p:spTree>
    <p:extLst>
      <p:ext uri="{BB962C8B-B14F-4D97-AF65-F5344CB8AC3E}">
        <p14:creationId xmlns:p14="http://schemas.microsoft.com/office/powerpoint/2010/main" val="3533080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CB1EA-B192-485E-5BD4-DDB58F2C0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22DB-3168-D4C8-BB0E-9B992BF9A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04" y="223720"/>
            <a:ext cx="10515600" cy="95023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Plasma Separation / RBC Lysis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4B9153-6385-D710-6D36-3B5D4EBF6E1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82656" y="698836"/>
            <a:ext cx="819607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Option A: Plasma Separation</a:t>
            </a:r>
          </a:p>
          <a:p>
            <a:r>
              <a:rPr lang="en-IN" dirty="0"/>
              <a:t>Centrifuge: 2000 g, 10 minutes</a:t>
            </a:r>
          </a:p>
          <a:p>
            <a:r>
              <a:rPr lang="en-IN" dirty="0"/>
              <a:t>Collect plasma for soluble biomarkers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209E8A-C080-0483-7554-EE16D3E457E5}"/>
              </a:ext>
            </a:extLst>
          </p:cNvPr>
          <p:cNvSpPr txBox="1">
            <a:spLocks/>
          </p:cNvSpPr>
          <p:nvPr/>
        </p:nvSpPr>
        <p:spPr>
          <a:xfrm>
            <a:off x="533204" y="3095922"/>
            <a:ext cx="10515600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Debris Removal and Cleanup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B5BE9-9CA0-EA0B-8466-99A162616234}"/>
              </a:ext>
            </a:extLst>
          </p:cNvPr>
          <p:cNvSpPr txBox="1"/>
          <p:nvPr/>
        </p:nvSpPr>
        <p:spPr>
          <a:xfrm>
            <a:off x="1482656" y="3794794"/>
            <a:ext cx="82385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Secondary centrifugation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0.22–0.45 µm filtration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Washing with saline / DI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Protein reduction by dilution or protease treatment</a:t>
            </a:r>
          </a:p>
          <a:p>
            <a:r>
              <a:rPr lang="en-GB" dirty="0"/>
              <a:t>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Remove cells and debris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Reduce </a:t>
            </a:r>
            <a:r>
              <a:rPr lang="en-GB" dirty="0" err="1"/>
              <a:t>hemoglobin</a:t>
            </a:r>
            <a:r>
              <a:rPr lang="en-GB" dirty="0"/>
              <a:t> and protein interference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Improve SERS signal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959777B-E248-E2ED-251B-253056432CE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82656" y="1585878"/>
            <a:ext cx="81960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Option B: RBC Lysis</a:t>
            </a:r>
          </a:p>
          <a:p>
            <a:r>
              <a:rPr lang="en-IN" dirty="0"/>
              <a:t>Dilute blood 1:10 with sterile water</a:t>
            </a:r>
          </a:p>
          <a:p>
            <a:r>
              <a:rPr lang="en-IN" dirty="0"/>
              <a:t>Hypotonic shock lyses RBCs</a:t>
            </a:r>
          </a:p>
          <a:p>
            <a:r>
              <a:rPr lang="en-IN" dirty="0"/>
              <a:t>Releases trapped bacteria/biomarkers</a:t>
            </a:r>
          </a:p>
        </p:txBody>
      </p:sp>
    </p:spTree>
    <p:extLst>
      <p:ext uri="{BB962C8B-B14F-4D97-AF65-F5344CB8AC3E}">
        <p14:creationId xmlns:p14="http://schemas.microsoft.com/office/powerpoint/2010/main" val="166464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A2B8-00CA-99F3-09EB-CB18FFE9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AC41D-E72C-3791-9A24-5A7EA46AA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04" y="117937"/>
            <a:ext cx="10515600" cy="95023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LPS Extraction Strategy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391667D-7928-AF99-4863-3128B647A7D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99008" y="173012"/>
            <a:ext cx="81960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Target: Lipopolysaccharide (Gram-negative)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099068-C50C-5DCC-7CE2-94AD69BF7F92}"/>
              </a:ext>
            </a:extLst>
          </p:cNvPr>
          <p:cNvSpPr txBox="1">
            <a:spLocks/>
          </p:cNvSpPr>
          <p:nvPr/>
        </p:nvSpPr>
        <p:spPr>
          <a:xfrm>
            <a:off x="533204" y="3330326"/>
            <a:ext cx="10515600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LTA Extraction 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77E4E2-36B1-F6E7-E4DC-5FA182BBA5E6}"/>
              </a:ext>
            </a:extLst>
          </p:cNvPr>
          <p:cNvSpPr txBox="1"/>
          <p:nvPr/>
        </p:nvSpPr>
        <p:spPr>
          <a:xfrm>
            <a:off x="1143196" y="3801886"/>
            <a:ext cx="82385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Method:</a:t>
            </a:r>
          </a:p>
          <a:p>
            <a:r>
              <a:rPr lang="en-GB" dirty="0"/>
              <a:t>	Anti-LTA antibody functionalized beads/substrate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Workflow: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Add capture beads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Incubate 10 minutes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Magnetic separation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Wash and resuspend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Transfer for SERS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F210564-8F5C-F90D-28D4-91A807DF24A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15016" y="593053"/>
            <a:ext cx="819607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Method:</a:t>
            </a:r>
          </a:p>
          <a:p>
            <a:r>
              <a:rPr lang="en-GB" dirty="0"/>
              <a:t>Polymyxin B or anti-Lipid A functionalized magnetic beads</a:t>
            </a:r>
          </a:p>
          <a:p>
            <a:endParaRPr lang="en-GB" dirty="0"/>
          </a:p>
          <a:p>
            <a:pPr lvl="1"/>
            <a:r>
              <a:rPr lang="en-GB" dirty="0"/>
              <a:t>Workflow: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Add capture beads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Incubate 10 minutes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Magnetic separation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Wash and resuspend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Transfer for SERS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F7A48B6-95BF-B4F5-1DCA-742BA4448B4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60552" y="3381440"/>
            <a:ext cx="81960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Target: Lipoteichoic Acid (Gram-positive)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737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7EEE8-4835-0D2A-8F92-7D952C0F4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357D6-1E49-95DD-D5E8-5B72ABA33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04" y="117937"/>
            <a:ext cx="10515600" cy="95023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NAM Extraction Strategy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E57C92-C9F1-FB51-2212-59EE57ADACD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99008" y="173012"/>
            <a:ext cx="81960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Target: N-Acetylmuramic Acid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3024247-F462-6E50-4134-A865A518F61C}"/>
              </a:ext>
            </a:extLst>
          </p:cNvPr>
          <p:cNvSpPr txBox="1">
            <a:spLocks/>
          </p:cNvSpPr>
          <p:nvPr/>
        </p:nvSpPr>
        <p:spPr>
          <a:xfrm>
            <a:off x="533204" y="3990543"/>
            <a:ext cx="10515600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Key Matrix Challenges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2EAC4-07E0-4E52-74BF-B932D12C1C4E}"/>
              </a:ext>
            </a:extLst>
          </p:cNvPr>
          <p:cNvSpPr txBox="1"/>
          <p:nvPr/>
        </p:nvSpPr>
        <p:spPr>
          <a:xfrm>
            <a:off x="1143196" y="4603725"/>
            <a:ext cx="74978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Blood interferents: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Albumin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Lipoproteins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Hemoglobin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Host </a:t>
            </a:r>
            <a:r>
              <a:rPr lang="en-IN" dirty="0" err="1"/>
              <a:t>defense</a:t>
            </a:r>
            <a:r>
              <a:rPr lang="en-IN" dirty="0"/>
              <a:t> peptides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512B10-9692-C3A2-C22C-DDAA95C466B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05589" y="514171"/>
            <a:ext cx="819607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Method 1:</a:t>
            </a:r>
          </a:p>
          <a:p>
            <a:r>
              <a:rPr lang="en-IN" dirty="0"/>
              <a:t>Protein removal + direct detection</a:t>
            </a:r>
          </a:p>
          <a:p>
            <a:endParaRPr lang="en-IN" dirty="0"/>
          </a:p>
          <a:p>
            <a:r>
              <a:rPr lang="en-IN" dirty="0"/>
              <a:t>Method 2:</a:t>
            </a:r>
          </a:p>
          <a:p>
            <a:r>
              <a:rPr lang="en-IN" dirty="0"/>
              <a:t>Mild hydrolysis of peptidoglycan fragments to release NAM-related species</a:t>
            </a:r>
          </a:p>
          <a:p>
            <a:endParaRPr lang="en-IN" dirty="0"/>
          </a:p>
          <a:p>
            <a:pPr lvl="1"/>
            <a:r>
              <a:rPr lang="en-IN" dirty="0"/>
              <a:t>Workflow: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Protease treatment or hydrolysis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Centrifuge cleanup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Collect supernatant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Transfer for SERS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C4888-A718-DE1C-987A-3559589711D3}"/>
              </a:ext>
            </a:extLst>
          </p:cNvPr>
          <p:cNvSpPr txBox="1"/>
          <p:nvPr/>
        </p:nvSpPr>
        <p:spPr>
          <a:xfrm>
            <a:off x="4997196" y="4741096"/>
            <a:ext cx="7497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Target masking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recovery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Signal variability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9B8A0-E51E-BFCF-1302-0E4D685ABD2B}"/>
              </a:ext>
            </a:extLst>
          </p:cNvPr>
          <p:cNvSpPr txBox="1"/>
          <p:nvPr/>
        </p:nvSpPr>
        <p:spPr>
          <a:xfrm>
            <a:off x="8851196" y="4741095"/>
            <a:ext cx="7497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Rapid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Cleanup chemistry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Affinity enrichment</a:t>
            </a:r>
          </a:p>
        </p:txBody>
      </p:sp>
    </p:spTree>
    <p:extLst>
      <p:ext uri="{BB962C8B-B14F-4D97-AF65-F5344CB8AC3E}">
        <p14:creationId xmlns:p14="http://schemas.microsoft.com/office/powerpoint/2010/main" val="2224832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393D2-B5FA-0C5F-DE0C-B517F909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9ED49-C579-BB7A-9F61-051D8F213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04" y="223720"/>
            <a:ext cx="10515600" cy="95023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SERS Detection Step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D2AC1A2-AC21-D4DD-2CF1-9BF608CFFFD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92968" y="755672"/>
            <a:ext cx="819607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Sample preparation: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Mix extracted analyte with Au/Ag nanostructures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Incubate 2–5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Deposit on substrate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Typical measurement: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Laser: 785 nm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Integration: 10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Range: 500–2000 cm^-1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Output: Unique Raman fingerprint of biomarker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A7808B-7216-C3C4-036F-E211532741A8}"/>
              </a:ext>
            </a:extLst>
          </p:cNvPr>
          <p:cNvSpPr txBox="1">
            <a:spLocks/>
          </p:cNvSpPr>
          <p:nvPr/>
        </p:nvSpPr>
        <p:spPr>
          <a:xfrm>
            <a:off x="533204" y="3946314"/>
            <a:ext cx="10515600" cy="950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Estimated Total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0D1D64-D715-6878-F7C7-954840B18CEC}"/>
              </a:ext>
            </a:extLst>
          </p:cNvPr>
          <p:cNvSpPr txBox="1"/>
          <p:nvPr/>
        </p:nvSpPr>
        <p:spPr>
          <a:xfrm>
            <a:off x="1088332" y="4602955"/>
            <a:ext cx="82385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Collection: 5 min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Separation/Lysis: 10–15 min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Cleanup: 10 min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Enrichment: 15–20 min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SERS Prep + Scan: 10 min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Total: 45–60 minutes</a:t>
            </a:r>
          </a:p>
          <a:p>
            <a:r>
              <a:rPr lang="en-IN" dirty="0"/>
              <a:t>Compared with blood culture: 12–72 hours</a:t>
            </a:r>
          </a:p>
        </p:txBody>
      </p:sp>
    </p:spTree>
    <p:extLst>
      <p:ext uri="{BB962C8B-B14F-4D97-AF65-F5344CB8AC3E}">
        <p14:creationId xmlns:p14="http://schemas.microsoft.com/office/powerpoint/2010/main" val="2773523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95F58-24C7-65A5-F280-AECB6D14E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F6328-AABD-F91D-DD08-C1898D12F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04" y="225543"/>
            <a:ext cx="10515600" cy="95023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Novel Findings from Literature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B00AB7-B28B-A4A5-8F28-71DD228E5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359" y="899342"/>
            <a:ext cx="661591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Anticoagulant choice changes measurable biomarker levels.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 processing reduces detectable endotoxin.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Surfactant + heat improves LPS recovery.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Protease + low pH reduces matrix interference.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Extracellular vesicles may carry LPS/LTA.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NAM detection remains underdeveloped.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EB126-485D-41B4-DCBA-4017B55A5EC8}"/>
              </a:ext>
            </a:extLst>
          </p:cNvPr>
          <p:cNvSpPr txBox="1"/>
          <p:nvPr/>
        </p:nvSpPr>
        <p:spPr>
          <a:xfrm>
            <a:off x="572388" y="3748425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Research Significance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2B59618-0ECF-95C1-FFB8-28A742397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415" y="4481330"/>
            <a:ext cx="64578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sepsis screening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Differentiation of Gram-negative vs Gram-positive infection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Universal bacterial detection using NAM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Compatible with portable diagnostics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 for ICU and neonatal care </a:t>
            </a:r>
          </a:p>
        </p:txBody>
      </p:sp>
    </p:spTree>
    <p:extLst>
      <p:ext uri="{BB962C8B-B14F-4D97-AF65-F5344CB8AC3E}">
        <p14:creationId xmlns:p14="http://schemas.microsoft.com/office/powerpoint/2010/main" val="1503481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DB682-DDE5-D64D-68D1-B6CB0FD4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8914D-35AE-87BC-96E2-4945F6554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04" y="40992"/>
            <a:ext cx="10515600" cy="95023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Future 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10283-C3D6-5AD2-FC17-97D1E9739032}"/>
              </a:ext>
            </a:extLst>
          </p:cNvPr>
          <p:cNvSpPr txBox="1"/>
          <p:nvPr/>
        </p:nvSpPr>
        <p:spPr>
          <a:xfrm>
            <a:off x="533204" y="2340249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Conclusion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90D418E-DC59-1863-85E0-8EF9CC617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359" y="2934655"/>
            <a:ext cx="755713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dirty="0"/>
              <a:t>A successful blood biomarker biosensor requires: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Robust sample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Efficient target enrichment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Strong SERS substrate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Reliable spectral analysis</a:t>
            </a:r>
          </a:p>
          <a:p>
            <a:r>
              <a:rPr lang="en-IN" dirty="0"/>
              <a:t>Combining these steps can enable rapid and clinically useful sepsis diagnostics.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4F7A6A-8349-E540-DF6C-20CDFFD6E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359" y="559784"/>
            <a:ext cx="455554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microfluidic cartridge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Multiplex detection of LPS + LTA + NAM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spectral classification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Point-of-care handheld device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 validation with patient samples </a:t>
            </a:r>
          </a:p>
        </p:txBody>
      </p:sp>
    </p:spTree>
    <p:extLst>
      <p:ext uri="{BB962C8B-B14F-4D97-AF65-F5344CB8AC3E}">
        <p14:creationId xmlns:p14="http://schemas.microsoft.com/office/powerpoint/2010/main" val="2991718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AF37B-1640-264F-5EA9-BC879C8B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9DB2C-54BF-292A-7141-FE8578E34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04" y="40992"/>
            <a:ext cx="10515600" cy="4751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8693F4-8045-F60A-3F99-1C3E6C3A4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04" y="516108"/>
            <a:ext cx="12207712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200" b="1" dirty="0"/>
              <a:t>1. Boardman AK et al. (2016)</a:t>
            </a:r>
          </a:p>
          <a:p>
            <a:r>
              <a:rPr lang="en-IN" sz="1200" b="1" dirty="0"/>
              <a:t>Rapid Detection of Bacteria from Blood with Surface-Enhanced Raman Spectroscopy</a:t>
            </a:r>
            <a:br>
              <a:rPr lang="en-IN" sz="1200" dirty="0"/>
            </a:br>
            <a:r>
              <a:rPr lang="en-IN" sz="1200" b="1" dirty="0"/>
              <a:t>Key Highlight:</a:t>
            </a:r>
            <a:r>
              <a:rPr lang="en-IN" sz="1200" dirty="0"/>
              <a:t> Demonstrated direct recovery of bacteria from blood followed by SERS identification without waiting for blood culture. Showed feasibility of rapid bloodstream infection detection.</a:t>
            </a:r>
          </a:p>
          <a:p>
            <a:endParaRPr lang="en-IN" sz="1200" dirty="0"/>
          </a:p>
          <a:p>
            <a:r>
              <a:rPr lang="en-IN" sz="1200" b="1" dirty="0"/>
              <a:t>2. Hassan M. et al. (2024)</a:t>
            </a:r>
          </a:p>
          <a:p>
            <a:r>
              <a:rPr lang="en-IN" sz="1200" b="1" dirty="0"/>
              <a:t>Recent Advances in Bacterial Detection Using Surface-Enhanced Raman Scattering</a:t>
            </a:r>
            <a:br>
              <a:rPr lang="en-IN" sz="1200" dirty="0"/>
            </a:br>
            <a:r>
              <a:rPr lang="en-IN" sz="1200" b="1" dirty="0"/>
              <a:t>Key Highlight:</a:t>
            </a:r>
            <a:r>
              <a:rPr lang="en-IN" sz="1200" dirty="0"/>
              <a:t> Comprehensive review of modern SERS platforms for bacterial sensing, substrate design, machine learning integration, and clinical challenges.</a:t>
            </a:r>
          </a:p>
          <a:p>
            <a:endParaRPr lang="en-IN" sz="1200" dirty="0"/>
          </a:p>
          <a:p>
            <a:r>
              <a:rPr lang="en-IN" sz="1200" b="1" dirty="0"/>
              <a:t>3. Verde A. et al. (2021)</a:t>
            </a:r>
          </a:p>
          <a:p>
            <a:r>
              <a:rPr lang="en-IN" sz="1200" b="1" dirty="0"/>
              <a:t>SERS Sensing of Bacterial Endotoxin on Gold Nanoparticles</a:t>
            </a:r>
            <a:br>
              <a:rPr lang="en-IN" sz="1200" dirty="0"/>
            </a:br>
            <a:r>
              <a:rPr lang="en-IN" sz="1200" b="1" dirty="0"/>
              <a:t>Key Highlight:</a:t>
            </a:r>
            <a:r>
              <a:rPr lang="en-IN" sz="1200" dirty="0"/>
              <a:t> Label-free detection of LPS using gold nanostructures. Validated that endotoxin can be directly sensed using plasmonic platforms.</a:t>
            </a:r>
          </a:p>
          <a:p>
            <a:endParaRPr lang="en-IN" sz="1200" dirty="0"/>
          </a:p>
          <a:p>
            <a:r>
              <a:rPr lang="en-IN" sz="1200" b="1" dirty="0"/>
              <a:t>4. Liu L. et al. (2023)</a:t>
            </a:r>
          </a:p>
          <a:p>
            <a:r>
              <a:rPr lang="en-IN" sz="1200" b="1" dirty="0"/>
              <a:t>Recent Progress of Surface-Enhanced Raman Spectroscopy for Bacteria Detection</a:t>
            </a:r>
            <a:br>
              <a:rPr lang="en-IN" sz="1200" dirty="0"/>
            </a:br>
            <a:r>
              <a:rPr lang="en-IN" sz="1200" b="1" dirty="0"/>
              <a:t>Key Highlight:</a:t>
            </a:r>
            <a:r>
              <a:rPr lang="en-IN" sz="1200" dirty="0"/>
              <a:t> Summarized recent progress in bacterial detection, portable Raman systems, microfluidics, and signal enhancement strategies.</a:t>
            </a:r>
          </a:p>
          <a:p>
            <a:endParaRPr lang="en-IN" sz="1200" dirty="0"/>
          </a:p>
          <a:p>
            <a:r>
              <a:rPr lang="en-IN" sz="1200" b="1" dirty="0"/>
              <a:t>5. Rapid Microbial Sample Preparation from Blood Using a Novel Concentration Device</a:t>
            </a:r>
          </a:p>
          <a:p>
            <a:r>
              <a:rPr lang="en-IN" sz="1200" b="1" dirty="0"/>
              <a:t>Key Highlight:</a:t>
            </a:r>
            <a:r>
              <a:rPr lang="en-IN" sz="1200" dirty="0"/>
              <a:t> Developed selective lysis and concentration workflow to isolate microorganisms from large blood volumes into a small final sample volume.</a:t>
            </a:r>
          </a:p>
          <a:p>
            <a:endParaRPr lang="en-IN" sz="1200" dirty="0"/>
          </a:p>
          <a:p>
            <a:r>
              <a:rPr lang="en-IN" sz="1200" b="1" dirty="0"/>
              <a:t>6. Simple Dual Filter Workflow for Facilitating Blood Culture-Free Detection</a:t>
            </a:r>
          </a:p>
          <a:p>
            <a:r>
              <a:rPr lang="en-IN" sz="1200" b="1" dirty="0"/>
              <a:t>Key Highlight:</a:t>
            </a:r>
            <a:r>
              <a:rPr lang="en-IN" sz="1200" dirty="0"/>
              <a:t> Introduced dual filtration strategy to remove blood debris and capture bacteria for downstream analysis.</a:t>
            </a:r>
          </a:p>
          <a:p>
            <a:endParaRPr lang="en-IN" sz="1200" dirty="0"/>
          </a:p>
          <a:p>
            <a:r>
              <a:rPr lang="en-IN" sz="1200" b="1" dirty="0"/>
              <a:t>7. Rapid Separation of Bacteria from Blood—Review and Outlook</a:t>
            </a:r>
          </a:p>
          <a:p>
            <a:r>
              <a:rPr lang="en-IN" sz="1200" b="1" dirty="0"/>
              <a:t>Key Highlight:</a:t>
            </a:r>
            <a:r>
              <a:rPr lang="en-IN" sz="1200" dirty="0"/>
              <a:t> Compared multiple blood preprocessing methods including lysis, centrifugation, filtration, and microfluidic separation.</a:t>
            </a:r>
          </a:p>
          <a:p>
            <a:endParaRPr lang="en-IN" sz="1200" dirty="0"/>
          </a:p>
          <a:p>
            <a:r>
              <a:rPr lang="en-IN" sz="1200" b="1" dirty="0"/>
              <a:t>8. Interferences from Blood Collection Tube Components on Clinical Chemistry Assays</a:t>
            </a:r>
          </a:p>
          <a:p>
            <a:r>
              <a:rPr lang="en-IN" sz="1200" b="1" dirty="0"/>
              <a:t>Key Highlight:</a:t>
            </a:r>
            <a:r>
              <a:rPr lang="en-IN" sz="1200" dirty="0"/>
              <a:t> Showed that anticoagulant and tube additives affect analytical results, emphasizing importance of sample collection conditions.</a:t>
            </a:r>
          </a:p>
          <a:p>
            <a:endParaRPr lang="en-IN" sz="1200" dirty="0"/>
          </a:p>
          <a:p>
            <a:r>
              <a:rPr lang="en-IN" sz="1200" b="1" dirty="0"/>
              <a:t>9. Dynamic Profiling of Lipoteichoic Acid (LTA) and/or Lipopolysaccharide (LPS) Positive Extracellular Vesicles in Plasma as Diagnostic and Prognostic Biomarkers for Bacterial Infection</a:t>
            </a:r>
          </a:p>
          <a:p>
            <a:r>
              <a:rPr lang="en-IN" sz="1200" b="1" dirty="0"/>
              <a:t>Key Highlight:</a:t>
            </a:r>
            <a:r>
              <a:rPr lang="en-IN" sz="1200" dirty="0"/>
              <a:t> Demonstrated that bacterial extracellular vesicles carrying LPS/LTA can act as diagnostic and prognostic biomarkers in plasma.</a:t>
            </a:r>
          </a:p>
          <a:p>
            <a:endParaRPr lang="en-IN" sz="1200" dirty="0"/>
          </a:p>
          <a:p>
            <a:r>
              <a:rPr lang="en-IN" sz="1200" b="1" dirty="0"/>
              <a:t>10. Peptidoglycan and Lipoteichoic Acid from Staphylococcus aureus Induce TNF-</a:t>
            </a:r>
            <a:r>
              <a:rPr lang="el-GR" sz="1200" b="1" dirty="0"/>
              <a:t>α, </a:t>
            </a:r>
            <a:r>
              <a:rPr lang="en-IN" sz="1200" b="1" dirty="0"/>
              <a:t>IL-6, and IL-10 Production</a:t>
            </a:r>
          </a:p>
          <a:p>
            <a:r>
              <a:rPr lang="en-IN" sz="1200" b="1" dirty="0"/>
              <a:t>Key Highlight:</a:t>
            </a:r>
            <a:r>
              <a:rPr lang="en-IN" sz="1200" dirty="0"/>
              <a:t> Established the biological inflammatory significance of LTA and peptidoglycan in host immune activation.</a:t>
            </a:r>
          </a:p>
        </p:txBody>
      </p:sp>
    </p:spTree>
    <p:extLst>
      <p:ext uri="{BB962C8B-B14F-4D97-AF65-F5344CB8AC3E}">
        <p14:creationId xmlns:p14="http://schemas.microsoft.com/office/powerpoint/2010/main" val="255509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2C5AA-6387-2DC1-EA77-BE817693F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1C49AA-F025-0C2C-31A4-4E362FCF6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866" y="86340"/>
            <a:ext cx="10677339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400" b="1" dirty="0"/>
              <a:t>11. A Detailed Guide for Metabolic Incorporation of N-Acetyl Muramic Acid Probes into Bacterial Peptidoglycan</a:t>
            </a:r>
          </a:p>
          <a:p>
            <a:r>
              <a:rPr lang="en-IN" sz="1400" b="1" dirty="0"/>
              <a:t>Key Highlight:</a:t>
            </a:r>
            <a:r>
              <a:rPr lang="en-IN" sz="1400" dirty="0"/>
              <a:t> Validated NAM as a specific bacterial cell-wall target and described methods to track it in bacterial systems.</a:t>
            </a:r>
          </a:p>
          <a:p>
            <a:endParaRPr lang="en-IN" sz="1400" dirty="0"/>
          </a:p>
          <a:p>
            <a:r>
              <a:rPr lang="en-IN" sz="1400" b="1" dirty="0"/>
              <a:t>12. Protected N-Acetyl Muramic Acid Probes Improve Bacterial Peptidoglycan Incorporation via Metabolic </a:t>
            </a:r>
            <a:r>
              <a:rPr lang="en-IN" sz="1400" b="1" dirty="0" err="1"/>
              <a:t>Labeling</a:t>
            </a:r>
            <a:endParaRPr lang="en-IN" sz="1400" b="1" dirty="0"/>
          </a:p>
          <a:p>
            <a:r>
              <a:rPr lang="en-IN" sz="1400" b="1" dirty="0"/>
              <a:t>Key Highlight:</a:t>
            </a:r>
            <a:r>
              <a:rPr lang="en-IN" sz="1400" dirty="0"/>
              <a:t> Improved NAM probe incorporation efficiency, supporting NAM-targeted diagnostics.</a:t>
            </a:r>
          </a:p>
          <a:p>
            <a:endParaRPr lang="en-IN" sz="1400" dirty="0"/>
          </a:p>
          <a:p>
            <a:r>
              <a:rPr lang="en-IN" sz="1400" b="1" dirty="0"/>
              <a:t>13. Imaging the Bacterial Cell Wall Using N-Acetyl Muramic Acid-Derived PET Radiotracers</a:t>
            </a:r>
          </a:p>
          <a:p>
            <a:r>
              <a:rPr lang="en-IN" sz="1400" b="1" dirty="0"/>
              <a:t>Key Highlight:</a:t>
            </a:r>
            <a:r>
              <a:rPr lang="en-IN" sz="1400" dirty="0"/>
              <a:t> Demonstrated diagnostic value of NAM-derived molecules for bacterial imaging.</a:t>
            </a:r>
          </a:p>
          <a:p>
            <a:endParaRPr lang="en-IN" sz="1400" dirty="0"/>
          </a:p>
          <a:p>
            <a:r>
              <a:rPr lang="en-IN" sz="1400" b="1" dirty="0"/>
              <a:t>14. Charge-Engineered LPS-Targeting Magnetic Nano-adsorbents with Anti-Fouling Properties</a:t>
            </a:r>
          </a:p>
          <a:p>
            <a:r>
              <a:rPr lang="en-IN" sz="1400" b="1" dirty="0"/>
              <a:t>Key Highlight:</a:t>
            </a:r>
            <a:r>
              <a:rPr lang="en-IN" sz="1400" dirty="0"/>
              <a:t> Designed anti-fouling magnetic materials that selectively capture LPS even in protein-rich samples like plasma.</a:t>
            </a:r>
            <a:br>
              <a:rPr lang="en-IN" sz="1400" dirty="0"/>
            </a:br>
            <a:endParaRPr lang="en-IN" sz="1400" dirty="0"/>
          </a:p>
          <a:p>
            <a:r>
              <a:rPr lang="en-IN" sz="1400" b="1" dirty="0"/>
              <a:t>15. Rapid Magneto-Enzyme-Linked Immunosorbent Assay for Ultrasensitive Protein Detection</a:t>
            </a:r>
          </a:p>
          <a:p>
            <a:r>
              <a:rPr lang="en-IN" sz="1400" b="1" dirty="0"/>
              <a:t>Key Highlight:</a:t>
            </a:r>
            <a:r>
              <a:rPr lang="en-IN" sz="1400" dirty="0"/>
              <a:t> Showed magnetic bead-based immunocapture can accelerate and improve sensitivity of biomarker assays.</a:t>
            </a:r>
          </a:p>
          <a:p>
            <a:endParaRPr lang="en-IN" sz="1400" dirty="0"/>
          </a:p>
          <a:p>
            <a:r>
              <a:rPr lang="en-IN" sz="1400" b="1" dirty="0"/>
              <a:t>16. Microfluidic SERS Devices: Brightening the Future of Bioanalysis</a:t>
            </a:r>
          </a:p>
          <a:p>
            <a:r>
              <a:rPr lang="en-IN" sz="1400" b="1" dirty="0"/>
              <a:t>Key Highlight:</a:t>
            </a:r>
            <a:r>
              <a:rPr lang="en-IN" sz="1400" dirty="0"/>
              <a:t> Reviewed integration of SERS with lab-on-chip systems for automated and portable diagnostics.</a:t>
            </a:r>
          </a:p>
          <a:p>
            <a:endParaRPr lang="en-IN" sz="1400" dirty="0"/>
          </a:p>
          <a:p>
            <a:r>
              <a:rPr lang="en-IN" sz="1400" b="1" dirty="0"/>
              <a:t>17. Recent Developments in SERS Microfluidic Chips: From Fundamentals to Biosensing Applications</a:t>
            </a:r>
          </a:p>
          <a:p>
            <a:r>
              <a:rPr lang="en-IN" sz="1400" b="1" dirty="0"/>
              <a:t>Key Highlight:</a:t>
            </a:r>
            <a:r>
              <a:rPr lang="en-IN" sz="1400" dirty="0"/>
              <a:t> Covered recent microfluidic chip designs for biosensing and rapid sample handling.</a:t>
            </a:r>
          </a:p>
          <a:p>
            <a:endParaRPr lang="en-IN" sz="1400" dirty="0"/>
          </a:p>
          <a:p>
            <a:r>
              <a:rPr lang="en-IN" sz="1400" b="1" dirty="0"/>
              <a:t>18. Rapid (&lt;5 min) Identification of Pathogen in Human Blood by Electrokinetic Concentration and SERS</a:t>
            </a:r>
          </a:p>
          <a:p>
            <a:r>
              <a:rPr lang="en-IN" sz="1400" b="1" dirty="0"/>
              <a:t>Key Highlight:</a:t>
            </a:r>
            <a:r>
              <a:rPr lang="en-IN" sz="1400" dirty="0"/>
              <a:t> Achieved very fast pathogen concentration and detection from blood using electrokinetic microfluidics combined with SERS.</a:t>
            </a:r>
          </a:p>
          <a:p>
            <a:endParaRPr lang="en-IN" sz="1400" dirty="0"/>
          </a:p>
          <a:p>
            <a:r>
              <a:rPr lang="en-IN" sz="1400" b="1" dirty="0"/>
              <a:t>19. SERS-Based Biosensors Combined with Machine Learning for Medical Application</a:t>
            </a:r>
          </a:p>
          <a:p>
            <a:r>
              <a:rPr lang="en-IN" sz="1400" b="1" dirty="0"/>
              <a:t>Key Highlight:</a:t>
            </a:r>
            <a:r>
              <a:rPr lang="en-IN" sz="1400" dirty="0"/>
              <a:t> Demonstrated how </a:t>
            </a:r>
            <a:r>
              <a:rPr lang="en-IN" sz="1400" dirty="0" err="1"/>
              <a:t>PCA</a:t>
            </a:r>
            <a:r>
              <a:rPr lang="en-IN" sz="1400" dirty="0"/>
              <a:t>, </a:t>
            </a:r>
            <a:r>
              <a:rPr lang="en-IN" sz="1400" dirty="0" err="1"/>
              <a:t>LDA</a:t>
            </a:r>
            <a:r>
              <a:rPr lang="en-IN" sz="1400" dirty="0"/>
              <a:t>, and machine learning improve interpretation and classification of Raman biosensing data.</a:t>
            </a:r>
          </a:p>
          <a:p>
            <a:endParaRPr lang="en-IN" sz="1400" dirty="0"/>
          </a:p>
          <a:p>
            <a:r>
              <a:rPr lang="en-IN" sz="1400" b="1" dirty="0"/>
              <a:t>20. A Surface-Enhanced Raman Spectroscopy-Based Biosensor for the Detection of Biological Macromolecules: The Case of Lipopolysaccharide Endotoxin Molecules</a:t>
            </a:r>
          </a:p>
          <a:p>
            <a:r>
              <a:rPr lang="en-IN" sz="1400" b="1" dirty="0"/>
              <a:t>Key Highlight:</a:t>
            </a:r>
            <a:r>
              <a:rPr lang="en-IN" sz="1400" dirty="0"/>
              <a:t> Specific case study of LPS detection using SERS biosensor architecture with quantitative</a:t>
            </a:r>
          </a:p>
        </p:txBody>
      </p:sp>
    </p:spTree>
    <p:extLst>
      <p:ext uri="{BB962C8B-B14F-4D97-AF65-F5344CB8AC3E}">
        <p14:creationId xmlns:p14="http://schemas.microsoft.com/office/powerpoint/2010/main" val="609025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2208</TotalTime>
  <Words>1289</Words>
  <Application>Microsoft Office PowerPoint</Application>
  <PresentationFormat>Widescreen</PresentationFormat>
  <Paragraphs>206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subash P</dc:creator>
  <cp:lastModifiedBy>subash P</cp:lastModifiedBy>
  <cp:revision>1</cp:revision>
  <dcterms:created xsi:type="dcterms:W3CDTF">2026-04-13T21:21:13Z</dcterms:created>
  <dcterms:modified xsi:type="dcterms:W3CDTF">2026-04-15T10:10:09Z</dcterms:modified>
</cp:coreProperties>
</file>