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370961-6CEF-4F3F-8A64-7F814DC94183}">
  <a:tblStyle styleId="{26370961-6CEF-4F3F-8A64-7F814DC941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3f2f03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3f2f03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3f2f035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3f2f035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93f2f035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93f2f035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93f2f035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93f2f035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3f2f0350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3f2f035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93f2f035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93f2f035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93f2f035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93f2f035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93f2f035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93f2f035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93f2f035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93f2f035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93f2f0350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93f2f0350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93f2f0350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93f2f0350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93f2f0350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93f2f0350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b5346d6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b5346d6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b5346d62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b5346d62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b6cc6ac5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b6cc6ac5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b6cc6ac5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b6cc6ac5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6cc6ac5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b6cc6ac5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b6cc6ac5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b6cc6ac5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93f2f0350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93f2f0350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93f2f0350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93f2f0350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93f2f0350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93f2f0350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93f2f0350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93f2f0350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93f2f0350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93f2f0350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93f2f0350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93f2f0350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93f2f0350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93f2f0350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16908" y="2040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Nano-technology enhanced biosensor for early bacterial sepsis </a:t>
            </a:r>
            <a:r>
              <a:rPr b="1" lang="en" sz="3200"/>
              <a:t>detection</a:t>
            </a:r>
            <a:r>
              <a:rPr b="1" lang="en" sz="3200"/>
              <a:t> /                                   	Sepsis biomarker analysis using SERS                  	based sensor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84775" y="2400300"/>
            <a:ext cx="8855400" cy="24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Masters Project Report – 3rd Semester</a:t>
            </a:r>
            <a:endParaRPr b="1"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Mohamed Zaki Hafeez                                  	                         Sukesh P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M24IM1002                                                                                        M24IM1007 </a:t>
            </a:r>
            <a:r>
              <a:rPr b="1" lang="en" sz="2600">
                <a:solidFill>
                  <a:schemeClr val="dk1"/>
                </a:solidFill>
              </a:rPr>
              <a:t>                                                                                                                                                                     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91">
                <a:solidFill>
                  <a:schemeClr val="dk1"/>
                </a:solidFill>
              </a:rPr>
              <a:t>Masters in Medical Technologies</a:t>
            </a:r>
            <a:endParaRPr b="1" sz="169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91">
                <a:solidFill>
                  <a:schemeClr val="dk1"/>
                </a:solidFill>
              </a:rPr>
              <a:t>IIT Jodhpur &amp; AIIMS Jodhpur</a:t>
            </a:r>
            <a:endParaRPr b="1" sz="169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91">
                <a:solidFill>
                  <a:schemeClr val="dk1"/>
                </a:solidFill>
              </a:rPr>
              <a:t>November 2025</a:t>
            </a:r>
            <a:endParaRPr sz="269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Clinical Urgency of Sepsis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• </a:t>
            </a: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49M cases, 11M deaths annually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85% of deaths in low-resource settings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Delayed diagnosis increases mortality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Empirical antibiotics prescribed without pathogen knowledge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Contributing to antimicrobial resistance crisis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Critical Need: Rapid, bacterial-specific point-of-care diagnostic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98875" y="131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Diagnostic Gap – Problem Statement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778800"/>
            <a:ext cx="9336000" cy="4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•</a:t>
            </a: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Blood Culture: 24–72 hrs, bacterial-specific, slow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PCT/CRP Biomarkers: 1–2 hrs, non-specific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PCR Methods: 1–6 hrs, target-dependent, expensive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SERS Solution: &lt;30 min, bacterial-specific, novel approach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limitations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650" y="2719100"/>
            <a:ext cx="4467602" cy="206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Diagnostic Methods &amp; Limitations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Blood culture delays ? antibiotic overuse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Biomarkers cannot distinguish bacterial vs viral/fungal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PCR requires pre-selected targets, expensive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 Need for novel diagnostic approach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96300"/>
            <a:ext cx="8520600" cy="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9009"/>
              <a:buNone/>
            </a:pPr>
            <a:r>
              <a:rPr b="1" lang="en" sz="2020">
                <a:solidFill>
                  <a:srgbClr val="5FCB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b="1" sz="2020">
              <a:solidFill>
                <a:srgbClr val="5FCB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25" y="482400"/>
            <a:ext cx="8613176" cy="439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241950" y="166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Emerging Biosensor Technologies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900850"/>
            <a:ext cx="8520600" cy="4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58003" lvl="0" marL="45720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Times New Roman"/>
              <a:buChar char="●"/>
            </a:pPr>
            <a:r>
              <a:rPr lang="en" sz="262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Electrochemical biosensors: rapid but limited validation</a:t>
            </a:r>
            <a:endParaRPr sz="2629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003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Times New Roman"/>
              <a:buChar char="●"/>
            </a:pPr>
            <a:r>
              <a:rPr lang="en" sz="262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Optical biosensors (SPR): label-free but complex instrumentation</a:t>
            </a:r>
            <a:endParaRPr sz="2629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003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ct val="100000"/>
              <a:buFont typeface="Times New Roman"/>
              <a:buChar char="●"/>
            </a:pPr>
            <a:r>
              <a:rPr lang="en" sz="262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SERS </a:t>
            </a:r>
            <a:endParaRPr sz="2629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2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SERS? – Scientific Rationale</a:t>
            </a:r>
            <a:endParaRPr sz="24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Enhancement factor: 10^6–10^14; ~100x better than alternatives</a:t>
            </a:r>
            <a:endParaRPr sz="255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Plasmonic enhancement mechanism amplifies Raman signals</a:t>
            </a:r>
            <a:endParaRPr sz="255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Molecular fingerprinting without labels or amplification</a:t>
            </a:r>
            <a:endParaRPr sz="255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Clinical feasibility with Au–Ag nanostructures</a:t>
            </a:r>
            <a:endParaRPr sz="255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Literature support: publications validating  SERS</a:t>
            </a:r>
            <a:endParaRPr sz="255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rgbClr val="5FCB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Objectives 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Times New Roman"/>
              <a:buChar char="★"/>
            </a:pPr>
            <a:r>
              <a:rPr lang="en" sz="19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Ag/Au bimetallic SERS substrates (target EF &gt; 10^8; size 10–100 nm)</a:t>
            </a:r>
            <a:endParaRPr sz="19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Times New Roman"/>
              <a:buChar char="★"/>
            </a:pPr>
            <a:r>
              <a:rPr lang="en" sz="19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Raman signatures: PGN (universal), LPS (Gram–), LTA (Gram+)</a:t>
            </a:r>
            <a:endParaRPr sz="19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Times New Roman"/>
              <a:buChar char="★"/>
            </a:pPr>
            <a:r>
              <a:rPr lang="en" sz="19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Rapid, label-free detection: 50–100 µL plasma; femtomolar sensitivity; total workflow 25–35 minutes</a:t>
            </a:r>
            <a:endParaRPr sz="19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900"/>
              <a:buFont typeface="Times New Roman"/>
              <a:buChar char="★"/>
            </a:pPr>
            <a:r>
              <a:rPr lang="en" sz="19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POC feasibility: portable instrumentation; &lt;30 min turnaround; USD 2–5 per test; automated analysis</a:t>
            </a:r>
            <a:endParaRPr sz="19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Methodology – Workflow 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Literature review and biomarker selection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Fabrication of SERS substrates on silicon with Ag/Au nanostructures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Standardization of sample deposition techniques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Raman spectral acquisition using bench-top Raman system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Preprocessing: baseline correction, normalization, noise filtering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Feature extraction and peak assignment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Machine learning–assisted spectral classification (future phase)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Comparative analysis with traditional biomarker assays (planned)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832302" cy="4968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183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>
                <a:solidFill>
                  <a:srgbClr val="5FCB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completed </a:t>
            </a:r>
            <a:endParaRPr b="1" sz="2620">
              <a:solidFill>
                <a:srgbClr val="5FCB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155850" y="756200"/>
            <a:ext cx="8832300" cy="41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on Bacterial-Specific Biomarkers for SERS-Based Sepsis Detection: </a:t>
            </a:r>
            <a:endParaRPr b="1"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Conducted comprehensive systematic review of research  publications , analyzing bacterial-specific surface biomarkers with established Raman spectroscopic signatures and demonstrated SERS detectability. Critical evaluation of biomarkers superior to traditional host-response markers (PCT, CRP) for enabling rapid, bacterial-specific sepsis diagnosis.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r>
              <a:rPr b="1"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Collaborative Review Meetings with Principal Investigators and Research Team</a:t>
            </a:r>
            <a: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Conducted multiple strategic review meetings with project supervisors and research collaborators to discuss preliminary findings, obtain expert input on biomarker selection rationale, and identify optimization priorities. 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Meetings resulted in: Confirmation of biomarker panel selection aligning with clinical sepsis diagnostic needs. Molecular simulations suggestions with optimization and frequency analysis and  strategic planning for next phase approach​es.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145300" y="0"/>
            <a:ext cx="87003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 u="sng">
                <a:solidFill>
                  <a:schemeClr val="dk1"/>
                </a:solidFill>
              </a:rPr>
              <a:t>    </a:t>
            </a:r>
            <a:r>
              <a:rPr b="1"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Finalization of Bacterial Biomarker Panel:</a:t>
            </a:r>
            <a:endParaRPr b="1"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Area</a:t>
            </a:r>
            <a:endParaRPr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Markers specific to the surface of bacteria and not overlapping with other pathogens / Readily available or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expressible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markers only in bacteria.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 healthcare professionals with confirmation of a bacterial infection and subsequent gram classification for early diagnosis and treatment and SERS based detection compatibility.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Rationale for biomarkers selection:                                             </a:t>
            </a:r>
            <a:endParaRPr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.Universal Bacterial Detection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:N-acetylmuramic acid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Exclusivity: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 in ALL bacteria, absent in viruses/fungi/parasites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bacterial confirmation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to bacterial peptidoglycan only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3650" y="2435200"/>
            <a:ext cx="3016350" cy="258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/>
        </p:nvSpPr>
        <p:spPr>
          <a:xfrm>
            <a:off x="40675" y="98800"/>
            <a:ext cx="9144000" cy="4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 Gram classification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2.a 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Gram-Positive–Specific Markers 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 Lipoteichoic Acid (LTA)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Uniqueness: </a:t>
            </a:r>
            <a:endParaRPr sz="1800" u="sng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Only in Gram-positive bacteria , surface accessibility 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2b. 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Gram Negative specific marker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:Lipopolysaccharides (Lipid A , O antigen)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Uniqueness: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Only in Gram-negative bacteria, absent in all other organisms 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Strong enhancement, endotoxin correlation 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Established optimized three-component biomarker panel: (1)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N-acetylmuramic acid 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(PGN) - universal bacterial detection marker present in all (2) Lipopolysaccharide (LPS) - Gram-negative specific marker (3) Lipoteichoic Acid (LTA) - Gram-positive specific marker.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Panel selected based on biomarker exclusivity to bacteria, surface accessibility for SERS detection, and Gram classification capability.​​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These markers can be supplemented with bacterial-specific components to enhance detection sensitivity in complex cases where signals might be obscured.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/>
        </p:nvSpPr>
        <p:spPr>
          <a:xfrm>
            <a:off x="75550" y="168550"/>
            <a:ext cx="8961900" cy="4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and Preliminary SERS Characterization with Test Molecules:</a:t>
            </a:r>
            <a:endParaRPr b="1"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Initiated experimental optimization of SERS and Raman Spectral Acquisition and Preliminary Preprocessing. Reviewing of Raman Peaks Assignment and Biomarker Signature Identification for reliable biomarker discrimination using software simulation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2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Simulations pertaining to Raman optimization and frequency using basic molecules using Gaussian.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6" name="Google Shape;156;p29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75" y="2304450"/>
            <a:ext cx="2776499" cy="277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9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0200" y="2364301"/>
            <a:ext cx="2656799" cy="265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9" title="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2500" y="2364312"/>
            <a:ext cx="2720123" cy="2720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/>
        </p:nvSpPr>
        <p:spPr>
          <a:xfrm>
            <a:off x="108450" y="122100"/>
            <a:ext cx="8927100" cy="48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Groundwork for Interpretation and analysis of  raman spectrum using libraries and comparative analysis with literature along with preliminary wavelength assessment review</a:t>
            </a:r>
            <a:endParaRPr sz="182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Library-Based Matching: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open molecular Raman libraries (e.g.,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Raman Open Database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RamanKit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SpectraBase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 measured peaks with standard fingerprint regions for biomolecules (proteins, lipids, bacterial cell-wall components).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Literature Analysis: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Verification of identified peaks with published spectra for sepsis biomarkers (PGN, LPS, LTA, CRP, IL-6, etc.).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 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structured base to validate SERS spectral peaks against known molecular vibrational signatures.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Preliminary Wavelength Assessment &amp; Replication of Literature Spectrum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are currently replicating the Raman acquisition protocol used in the selected reference study.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Preliminary measurements at 785 nm are ongoing, and our goal is to achieve comparable peak positions and intensities for validating our SERS substrate performance.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/>
        </p:nvSpPr>
        <p:spPr>
          <a:xfrm>
            <a:off x="40675" y="98800"/>
            <a:ext cx="9103200" cy="49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Initiation of Pure Biomarker Sample Procurement Procedures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of procurement procedures for commercially available high-purity bacterial biomarker standards: Trying to establish purchase with quality control specifications ensuring received biomarkers meet analytical standards for SERS characterization and clinical validation studies.​​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Planning and Strategy for Next Phase of Work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comprehensive roadmap for subsequent project phases: completion of SERS substrate optimization with pure biomarker standards, establishment of calibration curves, reproducibility assessment across multiple substrate batches; - prospective validation with clinical samples, exploring machine learning model development.​​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Exploring Feasibility of Portable, Low-Cost POC Raman Device suitable for clinical deployment. automated spectral analysis algorithms for rapid biomarker identification without requiring specialized operator training; integration into emergency department and ICU workflows enabling true point-of-care deployment.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311700" y="235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5FCB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</a:t>
            </a:r>
            <a:endParaRPr sz="3200">
              <a:solidFill>
                <a:srgbClr val="5FCBE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❖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identical patent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❖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 use of PGN + LPS + LTA with SERS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❖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POC SERS workflow = patentable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Competitive Advantage &amp; Market Differentiation</a:t>
            </a:r>
            <a:endParaRPr b="1" sz="24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5" name="Google Shape;175;p32"/>
          <p:cNvGraphicFramePr/>
          <p:nvPr/>
        </p:nvGraphicFramePr>
        <p:xfrm>
          <a:off x="952500" y="249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{26370961-6CEF-4F3F-8A64-7F814DC94183}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 </a:t>
                      </a:r>
                      <a:endParaRPr sz="1100"/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Feature</a:t>
                      </a:r>
                      <a:endParaRPr b="1"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Blood Culture</a:t>
                      </a:r>
                      <a:endParaRPr b="1"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PCT/CRP Tests</a:t>
                      </a:r>
                      <a:endParaRPr b="1"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SERS Biosensor</a:t>
                      </a:r>
                      <a:endParaRPr b="1"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Time-to-Result</a:t>
                      </a:r>
                      <a:endParaRPr b="1"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24-72 hours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~1 hour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&lt; 30 MINUTES *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Pathogen Specificity</a:t>
                      </a:r>
                      <a:endParaRPr b="1"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Yes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No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YES (Bacterial &amp; Gram-Type)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AMR Guidance</a:t>
                      </a:r>
                      <a:endParaRPr b="1"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Delayed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No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IMMEDIATE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Platform</a:t>
                      </a:r>
                      <a:endParaRPr b="1"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Central Lab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Point-of-Care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</a:rPr>
                        <a:t>POINT-OF-CARE</a:t>
                      </a:r>
                      <a:endParaRPr sz="1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68575" marL="685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&amp; Societal Impact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targeted therapy = reduced mortality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Narrow-spectrum antibiotics reduce AMR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Affordable point-of-care solution and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savings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opportunity </a:t>
            </a:r>
            <a:endParaRPr b="1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Sepsis diagnostics: $1.14B ? $2.5B (2030)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SERS biosensors: $412M ? $1.38B (2033)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 revenue potential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type="title"/>
          </p:nvPr>
        </p:nvSpPr>
        <p:spPr>
          <a:xfrm>
            <a:off x="311700" y="166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FCBEF"/>
                </a:solidFill>
              </a:rPr>
              <a:t>Challenges</a:t>
            </a:r>
            <a:endParaRPr>
              <a:solidFill>
                <a:srgbClr val="5FCBEF"/>
              </a:solidFill>
            </a:endParaRPr>
          </a:p>
        </p:txBody>
      </p:sp>
      <p:sp>
        <p:nvSpPr>
          <p:cNvPr id="187" name="Google Shape;187;p34"/>
          <p:cNvSpPr txBox="1"/>
          <p:nvPr>
            <p:ph idx="1" type="body"/>
          </p:nvPr>
        </p:nvSpPr>
        <p:spPr>
          <a:xfrm>
            <a:off x="311700" y="865975"/>
            <a:ext cx="8520600" cy="3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4445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Reproducibility of SERS substrates across batches with Batch-to-batch nanoparticle variation affecting enhancement factors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4445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 Interference: Blood components cause non-specific signals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4445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 variability in plasma samples and Noise/interference in real patient samples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4445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 Achievement: Detecting clinically relevant biomarker concentrations requires optimization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4445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Raman hardware into a compact POC system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4445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large-scale clinical validation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4445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Regulatory approval challenges for medical diagnostics and devices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4445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Adoption: Overcoming clinical practice inertia and technology skepticism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44450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5FCBE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/>
          </a:p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SERS nano-biosensor offers rapid, bacterial-specific sepsis diagnostics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Novel integrated workflow with Gram classification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Potential to transform sepsis management globally.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preliminary project phase has successfully established the scientific and technical foundation for developing a SERS-based nano-biosensor platform for rapid bacterial-specific sepsis diagnostics.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r>
              <a:rPr lang="en"/>
              <a:t> </a:t>
            </a:r>
            <a:endParaRPr/>
          </a:p>
        </p:txBody>
      </p:sp>
      <p:sp>
        <p:nvSpPr>
          <p:cNvPr id="199" name="Google Shape;199;p36"/>
          <p:cNvSpPr txBox="1"/>
          <p:nvPr>
            <p:ph idx="1" type="body"/>
          </p:nvPr>
        </p:nvSpPr>
        <p:spPr>
          <a:xfrm>
            <a:off x="127850" y="482375"/>
            <a:ext cx="8909700" cy="45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Schultz et al., "Sepsis," Nat. Rev. Dis. Primers, vol. 6, p. 60, 2020.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Singer et al., "The Third International Consensus Definitions for Sepsis and Septic Shock (Sepsis-3)," JAMA, vol.315, no. 8,pp. 801–810, 2016.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L. Evans et al., "Surviving Sepsis Campaign: International Guidelines for Management of Sepsis and Septic Shock 2021," Crit. Care Med., vol. 49, no. 11, pp. e1063–e1143, 2021.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J. Langer et al., "Present and Future of Surface-Enhanced Raman Scattering," ACS Nano, vol. 14, no. 1, pp. 28–117, 2019.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Zhou et al., "Recent advances and prospects in nanomaterials for bacterial sepsis management," J. Mater. Chem. B, vol. 11, no. 45, pp. 10778–10792, 2023.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Hassan et al., "Recent Advances in Bacterial Detection Using Surface-Enhanced Raman Scattering," Biosensors (Basel), vol. 14, no. 8, p. 375, 2024.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Derichsweiler et al., "Optical Bionanosensors for Sepsis Diagnostics," Small Methods, vol. 9, no. 1, p. 2301234, 2025.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Bonini et al., "Emerging Biosensing Technologies towards Early Sepsis Diagnosis and Management," Biosensors (Basel), vol. 12, no. 10, p. 894, 2022.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 Sondhi et al., "Nanomaterials for Biosensing Lipopolysaccharide," Biosensors (Basel), vol. 10, no. 1, p. 2, 2019.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Mobed et al., "Environmental protection based on the nanobiosensing of bacterial lipopolysaccharides: material and method overview," Environ. Sci. Pollut. Res., vol. 29, pp. 24202–24223, 2022.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Nine et al., "SERS-based antibiotic susceptibility testing: Towards point-of-care clinical diagnostics," Biosens. Bioelectron., vol. 219, p. 114830, 2023.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Weinstein et al., "Controlled Optimized Broth Media Improves Detection of Bloodstream Infections," J. Clin. Microbiol., vol. 42, no. 10, pp. 4627–4631, 2004.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Iredell et al., "Pathogenic Neisseria meningitidis capsular group W135 emerge," Emerg. Infect. Dis., vol. 8, no. 1, pp. 98–102, 2002.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O. Schneewind and D. Missiakas, "Lipoteichoic acids, phosphate-containing polymers in the envelope of gram-positive bacteria," J. Bacteriol., vol. 196, no. 6, pp. 1133–1142, 2014.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Kotoulas et al., "Differentiating bacteria by their unique surface interactions," PLoS ONE, vol. 20, no. 6, pe0327489, 2025.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Tan and N. S. Mohamad, "Electrochemical Aptamer-Based Biosensors for Sepsis Diagnosis: Recent Advances and Future Perspectives," Biosensors (Basel), vol. 15, no. 7, p. 402, 2025.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</a:rPr>
              <a:t>Y. Liu et al., "A reproducible gold SERS substrate assisted by silver nanoparticles," Analyst, vol. 141, no. 18, pp. 5170–5178, 2016.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</a:rPr>
              <a:t>C. H. Lai et al., "Near infrared surface-enhanced Raman scattering based on star-shaped gold/silver nanoparticles," Sci. Rep., vol. 7, p. 5446, 2017.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</a:rPr>
              <a:t>Y. Yang et al., "Gold and silver nanoparticles for SERS applications," Nanomaterials, vol. 9, no. 7, p. 1014, 2020.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</a:rPr>
              <a:t>C. C. Burda et al., "Chemistry and properties of nanocrystals of different shapes," Chem. Rev., vol. 105, no. 4, pp. 1025–1102, 2005.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/>
        </p:nvSpPr>
        <p:spPr>
          <a:xfrm>
            <a:off x="93000" y="290600"/>
            <a:ext cx="8742000" cy="43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J. Durkin et al., "Rapid Detection of Sepsis: Recent Advances in Biomarker Sensing Platforms," ACS Pharmacol. Transl. Sci., vol. 4, no. 6, pp. 1784–1802, 2021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S.Singhet al."Point-of-Care for Evaluating Antimicrobial Resistance,"ACSPharmacol. Transl. Sci.,vol. 4, no. 6, pp.1838– 1853, 2021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Cialla-May et al., "Recent advances of surface enhanced Raman spectroscopy (SERS) in bioanalytical and clinical research," Anal. Bioanal. Chem., vol. 416, pp. 673–704, 2024.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W. Vollmer et al., "Peptidoglycan structure and architecture," FEMS Microbiol. Rev., vol. 32, no. 2, pp. 149–167, 2008.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T. Rietschel et al., "Bacterial endotoxin: molecular relationships of structure to activity and function," FASEB J., vol. 8, no. 2,pp. 217–225, 1994.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T. Schultz et al., "Point-of-care rapid sepsis diagnostics," Lancet Infect. Dis., vol. 21, no. 1, pp. e1–e14, 2021.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Mobed et al., "Bacterial biomarker detection methods," Biosens. Bioelectron., vol. 165, p. 112431, 2020.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Bank, "Global Sepsis Burden and Economic Impact," 2020.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SNS Insider, "Sepsis Diagnostics Market Report 2032," 2024.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E. Dina et al., "SERS-based microdevices for use as in vitro diagnostic biosensors," Chem. Soc. Rev., vol. 53, pp. 1102–1145, 2024.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Reali et al., "Novel diagnostics for point-of-care bacterial detection and identification," Chem. Soc. Rev., vol. 48, pp. 1448– 1472, 2019.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Y. Yang et al., "Specific and quantitative detection of bacteria based on surface cell imprinted SERS," Biosens. Bioelectron., vol. 215, p. 114524, 2022.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Kundu et al., "Ultrasensitive and label-free detection of biomarkers on AgNP-laden black phosphorus SERS platform," Sens. Diagn., vol. 1, pp. 1156–1167, 2022.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Verma et al., "Gram-positive bacterial identification," J. Microbiol. Methods, vol. 179, p. 106086, 2021.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Takahashi et al., "Early antibiotic therapy and survival in sepsis," Crit. Care Med., vol. 45, no. 6, pp. 967–974, 2017.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